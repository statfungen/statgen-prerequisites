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4"/>
  </p:notesMasterIdLst>
  <p:sldIdLst>
    <p:sldId id="257" r:id="rId2"/>
    <p:sldId id="258" r:id="rId3"/>
    <p:sldId id="259" r:id="rId4"/>
    <p:sldId id="260" r:id="rId5"/>
    <p:sldId id="261" r:id="rId6"/>
    <p:sldId id="262" r:id="rId7"/>
    <p:sldId id="263" r:id="rId8"/>
    <p:sldId id="264" r:id="rId9"/>
    <p:sldId id="269" r:id="rId10"/>
    <p:sldId id="265" r:id="rId11"/>
    <p:sldId id="270" r:id="rId12"/>
    <p:sldId id="271" r:id="rId13"/>
    <p:sldId id="273" r:id="rId14"/>
    <p:sldId id="266" r:id="rId15"/>
    <p:sldId id="286" r:id="rId16"/>
    <p:sldId id="287" r:id="rId17"/>
    <p:sldId id="274" r:id="rId18"/>
    <p:sldId id="288" r:id="rId19"/>
    <p:sldId id="277" r:id="rId20"/>
    <p:sldId id="278" r:id="rId21"/>
    <p:sldId id="279" r:id="rId22"/>
    <p:sldId id="294" r:id="rId23"/>
    <p:sldId id="276" r:id="rId24"/>
    <p:sldId id="281" r:id="rId25"/>
    <p:sldId id="290" r:id="rId26"/>
    <p:sldId id="282" r:id="rId27"/>
    <p:sldId id="283" r:id="rId28"/>
    <p:sldId id="285" r:id="rId29"/>
    <p:sldId id="284" r:id="rId30"/>
    <p:sldId id="291" r:id="rId31"/>
    <p:sldId id="292" r:id="rId32"/>
    <p:sldId id="293" r:id="rId33"/>
  </p:sldIdLst>
  <p:sldSz cx="9144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0FFF"/>
    <a:srgbClr val="006400"/>
    <a:srgbClr val="FF6346"/>
    <a:srgbClr val="BF9000"/>
    <a:srgbClr val="C55A11"/>
    <a:srgbClr val="BDD8EE"/>
    <a:srgbClr val="6CA8BD"/>
    <a:srgbClr val="026FC0"/>
    <a:srgbClr val="03ADED"/>
    <a:srgbClr val="2C4C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075"/>
  </p:normalViewPr>
  <p:slideViewPr>
    <p:cSldViewPr snapToGrid="0">
      <p:cViewPr varScale="1">
        <p:scale>
          <a:sx n="116" d="100"/>
          <a:sy n="116" d="100"/>
        </p:scale>
        <p:origin x="4416"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ofPieChart>
        <c:ofPieType val="bar"/>
        <c:varyColors val="1"/>
        <c:ser>
          <c:idx val="0"/>
          <c:order val="0"/>
          <c:tx>
            <c:strRef>
              <c:f>Sheet1!$B$1</c:f>
              <c:strCache>
                <c:ptCount val="1"/>
                <c:pt idx="0">
                  <c:v>Partion of Phenotypic Variance</c:v>
                </c:pt>
              </c:strCache>
            </c:strRef>
          </c:tx>
          <c:dPt>
            <c:idx val="0"/>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6-9FE4-B947-BD68-BB9BC9253F47}"/>
              </c:ext>
            </c:extLst>
          </c:dPt>
          <c:dPt>
            <c:idx val="1"/>
            <c:bubble3D val="0"/>
            <c:spPr>
              <a:solidFill>
                <a:schemeClr val="accent6">
                  <a:lumMod val="7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9FE4-B947-BD68-BB9BC9253F4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8-9FE4-B947-BD68-BB9BC9253F47}"/>
              </c:ext>
            </c:extLst>
          </c:dPt>
          <c:dPt>
            <c:idx val="3"/>
            <c:bubble3D val="0"/>
            <c:spPr>
              <a:solidFill>
                <a:srgbClr val="2C4D79"/>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4-9FE4-B947-BD68-BB9BC9253F47}"/>
              </c:ext>
            </c:extLst>
          </c:dPt>
          <c:dPt>
            <c:idx val="4"/>
            <c:bubble3D val="0"/>
            <c:spPr>
              <a:solidFill>
                <a:srgbClr val="00B0F0"/>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9FE4-B947-BD68-BB9BC9253F47}"/>
              </c:ext>
            </c:extLst>
          </c:dPt>
          <c:dPt>
            <c:idx val="5"/>
            <c:bubble3D val="0"/>
            <c:spPr>
              <a:solidFill>
                <a:srgbClr val="6CA8BD"/>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9FE4-B947-BD68-BB9BC9253F47}"/>
              </c:ext>
            </c:extLst>
          </c:dPt>
          <c:dPt>
            <c:idx val="6"/>
            <c:bubble3D val="0"/>
            <c:spPr>
              <a:solidFill>
                <a:schemeClr val="accent5">
                  <a:lumMod val="40000"/>
                  <a:lumOff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9FE4-B947-BD68-BB9BC9253F47}"/>
              </c:ext>
            </c:extLst>
          </c:dPt>
          <c:dPt>
            <c:idx val="7"/>
            <c:bubble3D val="0"/>
            <c:spPr>
              <a:solidFill>
                <a:schemeClr val="accent5">
                  <a:lumMod val="75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9FE4-B947-BD68-BB9BC9253F47}"/>
              </c:ext>
            </c:extLst>
          </c:dPt>
          <c:dLbls>
            <c:dLbl>
              <c:idx val="0"/>
              <c:layout>
                <c:manualLayout>
                  <c:x val="1.4009087867411897E-2"/>
                  <c:y val="0.11795306556858211"/>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rgbClr val="FFC00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6-9FE4-B947-BD68-BB9BC9253F47}"/>
                </c:ext>
              </c:extLst>
            </c:dLbl>
            <c:dLbl>
              <c:idx val="1"/>
              <c:layout>
                <c:manualLayout>
                  <c:x val="6.3988971727455346E-3"/>
                  <c:y val="2.5453333217535141E-2"/>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rgbClr val="538235"/>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FE4-B947-BD68-BB9BC9253F47}"/>
                </c:ext>
              </c:extLst>
            </c:dLbl>
            <c:dLbl>
              <c:idx val="2"/>
              <c:layout>
                <c:manualLayout>
                  <c:x val="-2.4859885833747444E-2"/>
                  <c:y val="1.5892095354002243E-2"/>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8-9FE4-B947-BD68-BB9BC9253F47}"/>
                </c:ext>
              </c:extLst>
            </c:dLbl>
            <c:dLbl>
              <c:idx val="3"/>
              <c:layout>
                <c:manualLayout>
                  <c:x val="7.9986214659319189E-3"/>
                  <c:y val="-5.656296270563365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rgbClr val="2C4C79"/>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9FE4-B947-BD68-BB9BC9253F47}"/>
                </c:ext>
              </c:extLst>
            </c:dLbl>
            <c:dLbl>
              <c:idx val="4"/>
              <c:layout>
                <c:manualLayout>
                  <c:x val="0"/>
                  <c:y val="-5.6875204605190835E-3"/>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rgbClr val="03ADED"/>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9FE4-B947-BD68-BB9BC9253F47}"/>
                </c:ext>
              </c:extLst>
            </c:dLbl>
            <c:dLbl>
              <c:idx val="5"/>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rgbClr val="6CA8BD"/>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12118717681160587"/>
                      <c:h val="9.132090328824552E-2"/>
                    </c:manualLayout>
                  </c15:layout>
                </c:ext>
                <c:ext xmlns:c16="http://schemas.microsoft.com/office/drawing/2014/chart" uri="{C3380CC4-5D6E-409C-BE32-E72D297353CC}">
                  <c16:uniqueId val="{00000003-9FE4-B947-BD68-BB9BC9253F47}"/>
                </c:ext>
              </c:extLst>
            </c:dLbl>
            <c:dLbl>
              <c:idx val="6"/>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rgbClr val="BDD8EE"/>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1212111096947323"/>
                      <c:h val="9.132090328824552E-2"/>
                    </c:manualLayout>
                  </c15:layout>
                </c:ext>
                <c:ext xmlns:c16="http://schemas.microsoft.com/office/drawing/2014/chart" uri="{C3380CC4-5D6E-409C-BE32-E72D297353CC}">
                  <c16:uniqueId val="{00000005-9FE4-B947-BD68-BB9BC9253F47}"/>
                </c:ext>
              </c:extLst>
            </c:dLbl>
            <c:dLbl>
              <c:idx val="7"/>
              <c:layout>
                <c:manualLayout>
                  <c:x val="-8.9921882756819962E-3"/>
                  <c:y val="0"/>
                </c:manualLayout>
              </c:layout>
              <c:tx>
                <c:rich>
                  <a:bodyPr rot="0" spcFirstLastPara="1" vertOverflow="ellipsis" vert="horz" wrap="square" lIns="38100" tIns="19050" rIns="38100" bIns="19050" anchor="ctr" anchorCtr="1">
                    <a:spAutoFit/>
                  </a:bodyPr>
                  <a:lstStyle/>
                  <a:p>
                    <a:pPr>
                      <a:defRPr sz="1330" b="1" i="0" u="none" strike="noStrike" kern="1200" spc="0" baseline="0">
                        <a:solidFill>
                          <a:srgbClr val="2D75B7"/>
                        </a:solidFill>
                        <a:latin typeface="+mn-lt"/>
                        <a:ea typeface="+mn-ea"/>
                        <a:cs typeface="+mn-cs"/>
                      </a:defRPr>
                    </a:pPr>
                    <a:r>
                      <a:rPr lang="en-US">
                        <a:solidFill>
                          <a:srgbClr val="2D75B7"/>
                        </a:solidFill>
                      </a:rPr>
                      <a:t>Genetic</a:t>
                    </a:r>
                    <a:r>
                      <a:rPr lang="en-US" baseline="0">
                        <a:solidFill>
                          <a:srgbClr val="2D75B7"/>
                        </a:solidFill>
                      </a:rPr>
                      <a:t> (G)</a:t>
                    </a:r>
                    <a:r>
                      <a:rPr lang="en-US">
                        <a:solidFill>
                          <a:srgbClr val="2D75B7"/>
                        </a:solidFill>
                      </a:rPr>
                      <a:t> </a:t>
                    </a:r>
                  </a:p>
                  <a:p>
                    <a:pPr>
                      <a:defRPr>
                        <a:solidFill>
                          <a:srgbClr val="2D75B7"/>
                        </a:solidFill>
                      </a:defRPr>
                    </a:pPr>
                    <a:fld id="{BE7CB971-048A-8F40-AE00-3C5F908B035A}" type="PERCENTAGE">
                      <a:rPr lang="en-US" baseline="0" smtClean="0">
                        <a:solidFill>
                          <a:srgbClr val="2D75B7"/>
                        </a:solidFill>
                      </a:rPr>
                      <a:pPr>
                        <a:defRPr>
                          <a:solidFill>
                            <a:srgbClr val="2D75B7"/>
                          </a:solidFill>
                        </a:defRPr>
                      </a:pPr>
                      <a:t>[PERCENTAGE]</a:t>
                    </a:fld>
                    <a:endParaRPr lang="en-US"/>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rgbClr val="2D75B7"/>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FE4-B947-BD68-BB9BC9253F47}"/>
                </c:ext>
              </c:extLst>
            </c:dLbl>
            <c:spPr>
              <a:noFill/>
              <a:ln>
                <a:noFill/>
              </a:ln>
              <a:effectLst/>
            </c:spPr>
            <c:dLblPos val="outEnd"/>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Environment (E)</c:v>
                </c:pt>
                <c:pt idx="1">
                  <c:v>GxE Interaction</c:v>
                </c:pt>
                <c:pt idx="2">
                  <c:v>Random Noise</c:v>
                </c:pt>
                <c:pt idx="3">
                  <c:v>Additive (A)</c:v>
                </c:pt>
                <c:pt idx="4">
                  <c:v>Dominance (D)</c:v>
                </c:pt>
                <c:pt idx="5">
                  <c:v>Recessive (R)</c:v>
                </c:pt>
                <c:pt idx="6">
                  <c:v>Epistasis (I)</c:v>
                </c:pt>
              </c:strCache>
            </c:strRef>
          </c:cat>
          <c:val>
            <c:numRef>
              <c:f>Sheet1!$B$2:$B$8</c:f>
              <c:numCache>
                <c:formatCode>General</c:formatCode>
                <c:ptCount val="7"/>
                <c:pt idx="0">
                  <c:v>12</c:v>
                </c:pt>
                <c:pt idx="1">
                  <c:v>3</c:v>
                </c:pt>
                <c:pt idx="2">
                  <c:v>1</c:v>
                </c:pt>
                <c:pt idx="3">
                  <c:v>4</c:v>
                </c:pt>
                <c:pt idx="4">
                  <c:v>3</c:v>
                </c:pt>
                <c:pt idx="5">
                  <c:v>2</c:v>
                </c:pt>
                <c:pt idx="6">
                  <c:v>1</c:v>
                </c:pt>
              </c:numCache>
            </c:numRef>
          </c:val>
          <c:extLst>
            <c:ext xmlns:c16="http://schemas.microsoft.com/office/drawing/2014/chart" uri="{C3380CC4-5D6E-409C-BE32-E72D297353CC}">
              <c16:uniqueId val="{00000000-9FE4-B947-BD68-BB9BC9253F47}"/>
            </c:ext>
          </c:extLst>
        </c:ser>
        <c:dLbls>
          <c:dLblPos val="outEnd"/>
          <c:showLegendKey val="0"/>
          <c:showVal val="0"/>
          <c:showCatName val="0"/>
          <c:showSerName val="0"/>
          <c:showPercent val="1"/>
          <c:showBubbleSize val="0"/>
          <c:showLeaderLines val="0"/>
        </c:dLbls>
        <c:gapWidth val="100"/>
        <c:splitType val="pos"/>
        <c:splitPos val="4"/>
        <c:secondPieSize val="75"/>
        <c:serLines>
          <c:spPr>
            <a:ln w="9525" cap="flat" cmpd="sng" algn="ctr">
              <a:solidFill>
                <a:schemeClr val="tx1">
                  <a:lumMod val="35000"/>
                  <a:lumOff val="65000"/>
                </a:schemeClr>
              </a:solidFill>
              <a:round/>
            </a:ln>
            <a:effectLst/>
          </c:spPr>
        </c:serLines>
      </c:of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6F8B70-8D32-A041-BFFF-A89B182C23A0}" type="datetimeFigureOut">
              <a:rPr lang="en-US" smtClean="0"/>
              <a:t>3/2/26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656DF-10EE-9243-8549-0C8B64AFE086}" type="slidenum">
              <a:rPr lang="en-US" smtClean="0"/>
              <a:t>‹#›</a:t>
            </a:fld>
            <a:endParaRPr lang="en-US"/>
          </a:p>
        </p:txBody>
      </p:sp>
    </p:spTree>
    <p:extLst>
      <p:ext uri="{BB962C8B-B14F-4D97-AF65-F5344CB8AC3E}">
        <p14:creationId xmlns:p14="http://schemas.microsoft.com/office/powerpoint/2010/main" val="3804056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7656DF-10EE-9243-8549-0C8B64AFE086}" type="slidenum">
              <a:rPr lang="en-US" smtClean="0"/>
              <a:t>8</a:t>
            </a:fld>
            <a:endParaRPr lang="en-US"/>
          </a:p>
        </p:txBody>
      </p:sp>
    </p:spTree>
    <p:extLst>
      <p:ext uri="{BB962C8B-B14F-4D97-AF65-F5344CB8AC3E}">
        <p14:creationId xmlns:p14="http://schemas.microsoft.com/office/powerpoint/2010/main" val="2522321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7656DF-10EE-9243-8549-0C8B64AFE086}" type="slidenum">
              <a:rPr lang="en-US" smtClean="0"/>
              <a:t>19</a:t>
            </a:fld>
            <a:endParaRPr lang="en-US"/>
          </a:p>
        </p:txBody>
      </p:sp>
    </p:spTree>
    <p:extLst>
      <p:ext uri="{BB962C8B-B14F-4D97-AF65-F5344CB8AC3E}">
        <p14:creationId xmlns:p14="http://schemas.microsoft.com/office/powerpoint/2010/main" val="945354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4C4D2-27C6-92F7-DF21-780457329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418AB-0ECF-2F21-6064-A54791299F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23C671-4982-211B-537E-8145902A63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46E7C4-CB79-6CB6-3BCF-4AC606317DDA}"/>
              </a:ext>
            </a:extLst>
          </p:cNvPr>
          <p:cNvSpPr>
            <a:spLocks noGrp="1"/>
          </p:cNvSpPr>
          <p:nvPr>
            <p:ph type="sldNum" sz="quarter" idx="5"/>
          </p:nvPr>
        </p:nvSpPr>
        <p:spPr/>
        <p:txBody>
          <a:bodyPr/>
          <a:lstStyle/>
          <a:p>
            <a:fld id="{197656DF-10EE-9243-8549-0C8B64AFE086}" type="slidenum">
              <a:rPr lang="en-US" smtClean="0"/>
              <a:t>20</a:t>
            </a:fld>
            <a:endParaRPr lang="en-US"/>
          </a:p>
        </p:txBody>
      </p:sp>
    </p:spTree>
    <p:extLst>
      <p:ext uri="{BB962C8B-B14F-4D97-AF65-F5344CB8AC3E}">
        <p14:creationId xmlns:p14="http://schemas.microsoft.com/office/powerpoint/2010/main" val="2639053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29397-C3B9-8FEF-687B-C657B4A72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86D7E-C408-2052-7822-6E280ABDB4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488006-757F-99A6-9A2F-45AB086621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909B15-91C6-67FF-E803-36A1CBB1B989}"/>
              </a:ext>
            </a:extLst>
          </p:cNvPr>
          <p:cNvSpPr>
            <a:spLocks noGrp="1"/>
          </p:cNvSpPr>
          <p:nvPr>
            <p:ph type="sldNum" sz="quarter" idx="5"/>
          </p:nvPr>
        </p:nvSpPr>
        <p:spPr/>
        <p:txBody>
          <a:bodyPr/>
          <a:lstStyle/>
          <a:p>
            <a:fld id="{197656DF-10EE-9243-8549-0C8B64AFE086}" type="slidenum">
              <a:rPr lang="en-US" smtClean="0"/>
              <a:t>21</a:t>
            </a:fld>
            <a:endParaRPr lang="en-US"/>
          </a:p>
        </p:txBody>
      </p:sp>
    </p:spTree>
    <p:extLst>
      <p:ext uri="{BB962C8B-B14F-4D97-AF65-F5344CB8AC3E}">
        <p14:creationId xmlns:p14="http://schemas.microsoft.com/office/powerpoint/2010/main" val="3902442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7656DF-10EE-9243-8549-0C8B64AFE086}" type="slidenum">
              <a:rPr lang="en-US" smtClean="0"/>
              <a:t>30</a:t>
            </a:fld>
            <a:endParaRPr lang="en-US"/>
          </a:p>
        </p:txBody>
      </p:sp>
    </p:spTree>
    <p:extLst>
      <p:ext uri="{BB962C8B-B14F-4D97-AF65-F5344CB8AC3E}">
        <p14:creationId xmlns:p14="http://schemas.microsoft.com/office/powerpoint/2010/main" val="4079237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96484"/>
            <a:ext cx="7772400" cy="3183467"/>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4802717"/>
            <a:ext cx="6858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0E646F-6890-0B41-B79E-66B0581B350E}"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2683964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0E646F-6890-0B41-B79E-66B0581B350E}"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3028502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2279653"/>
            <a:ext cx="7886700" cy="3803649"/>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6119286"/>
            <a:ext cx="7886700" cy="2000249"/>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0E646F-6890-0B41-B79E-66B0581B350E}"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2227493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2434167"/>
            <a:ext cx="38862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2434167"/>
            <a:ext cx="38862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0E646F-6890-0B41-B79E-66B0581B350E}"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344266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486836"/>
            <a:ext cx="78867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2241551"/>
            <a:ext cx="3868340"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3340100"/>
            <a:ext cx="3868340"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2241551"/>
            <a:ext cx="3887391"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3340100"/>
            <a:ext cx="3887391"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0E646F-6890-0B41-B79E-66B0581B350E}" type="datetimeFigureOut">
              <a:rPr lang="en-US" smtClean="0"/>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3438109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0E646F-6890-0B41-B79E-66B0581B350E}" type="datetimeFigureOut">
              <a:rPr lang="en-US" smtClean="0"/>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3593257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0E646F-6890-0B41-B79E-66B0581B350E}" type="datetimeFigureOut">
              <a:rPr lang="en-US" smtClean="0"/>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122649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609600"/>
            <a:ext cx="2949178" cy="21336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1316569"/>
            <a:ext cx="462915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743200"/>
            <a:ext cx="2949178"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0E646F-6890-0B41-B79E-66B0581B350E}"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252560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609600"/>
            <a:ext cx="2949178" cy="21336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1316569"/>
            <a:ext cx="4629150" cy="6498167"/>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743200"/>
            <a:ext cx="2949178"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0E646F-6890-0B41-B79E-66B0581B350E}"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2013987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0E646F-6890-0B41-B79E-66B0581B350E}"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2450278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486834"/>
            <a:ext cx="1971675"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486834"/>
            <a:ext cx="5800725"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0E646F-6890-0B41-B79E-66B0581B350E}"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D2F6C2-7820-BA44-9A40-D98B8B6C6159}" type="slidenum">
              <a:rPr lang="en-US" smtClean="0"/>
              <a:t>‹#›</a:t>
            </a:fld>
            <a:endParaRPr lang="en-US"/>
          </a:p>
        </p:txBody>
      </p:sp>
    </p:spTree>
    <p:extLst>
      <p:ext uri="{BB962C8B-B14F-4D97-AF65-F5344CB8AC3E}">
        <p14:creationId xmlns:p14="http://schemas.microsoft.com/office/powerpoint/2010/main" val="3000603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486836"/>
            <a:ext cx="78867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2434167"/>
            <a:ext cx="78867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8475136"/>
            <a:ext cx="20574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80E646F-6890-0B41-B79E-66B0581B350E}" type="datetimeFigureOut">
              <a:rPr lang="en-US" smtClean="0"/>
              <a:t>3/2/26</a:t>
            </a:fld>
            <a:endParaRPr lang="en-US"/>
          </a:p>
        </p:txBody>
      </p:sp>
      <p:sp>
        <p:nvSpPr>
          <p:cNvPr id="5" name="Footer Placeholder 4"/>
          <p:cNvSpPr>
            <a:spLocks noGrp="1"/>
          </p:cNvSpPr>
          <p:nvPr>
            <p:ph type="ftr" sz="quarter" idx="3"/>
          </p:nvPr>
        </p:nvSpPr>
        <p:spPr>
          <a:xfrm>
            <a:off x="3028950" y="8475136"/>
            <a:ext cx="30861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8475136"/>
            <a:ext cx="20574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D6D2F6C2-7820-BA44-9A40-D98B8B6C6159}" type="slidenum">
              <a:rPr lang="en-US" smtClean="0"/>
              <a:t>‹#›</a:t>
            </a:fld>
            <a:endParaRPr lang="en-US"/>
          </a:p>
        </p:txBody>
      </p:sp>
    </p:spTree>
    <p:extLst>
      <p:ext uri="{BB962C8B-B14F-4D97-AF65-F5344CB8AC3E}">
        <p14:creationId xmlns:p14="http://schemas.microsoft.com/office/powerpoint/2010/main" val="23640139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11.png"/><Relationship Id="rId7"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10.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26" Type="http://schemas.openxmlformats.org/officeDocument/2006/relationships/image" Target="../media/image56.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8.png"/><Relationship Id="rId12" Type="http://schemas.openxmlformats.org/officeDocument/2006/relationships/image" Target="../media/image44.png"/><Relationship Id="rId25" Type="http://schemas.openxmlformats.org/officeDocument/2006/relationships/image" Target="../media/image54.png"/><Relationship Id="rId2" Type="http://schemas.openxmlformats.org/officeDocument/2006/relationships/image" Target="../media/image34.png"/><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3.png"/><Relationship Id="rId24" Type="http://schemas.openxmlformats.org/officeDocument/2006/relationships/image" Target="../media/image50.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58.png"/><Relationship Id="rId10" Type="http://schemas.openxmlformats.org/officeDocument/2006/relationships/image" Target="../media/image41.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2.png"/><Relationship Id="rId14" Type="http://schemas.openxmlformats.org/officeDocument/2006/relationships/image" Target="../media/image46.png"/><Relationship Id="rId22" Type="http://schemas.openxmlformats.org/officeDocument/2006/relationships/image" Target="../media/image49.png"/><Relationship Id="rId27" Type="http://schemas.openxmlformats.org/officeDocument/2006/relationships/image" Target="../media/image57.png"/></Relationships>
</file>

<file path=ppt/slides/_rels/slide8.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80.png"/><Relationship Id="rId4" Type="http://schemas.openxmlformats.org/officeDocument/2006/relationships/image" Target="../media/image570.png"/></Relationships>
</file>

<file path=ppt/slides/_rels/slide9.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 Id="rId2" Type="http://schemas.openxmlformats.org/officeDocument/2006/relationships/image" Target="../media/image59.png"/><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8" Type="http://schemas.openxmlformats.org/officeDocument/2006/relationships/image" Target="../media/image65.png"/><Relationship Id="rId3" Type="http://schemas.openxmlformats.org/officeDocument/2006/relationships/image" Target="../media/image60.png"/></Relationships>
</file>

<file path=ppt/slides/_rels/slide10.xml.rels><?xml version="1.0" encoding="UTF-8" standalone="yes"?>
<Relationships xmlns="http://schemas.openxmlformats.org/package/2006/relationships"><Relationship Id="rId8" Type="http://schemas.openxmlformats.org/officeDocument/2006/relationships/image" Target="../media/image650.png"/><Relationship Id="rId13" Type="http://schemas.openxmlformats.org/officeDocument/2006/relationships/image" Target="../media/image101.png"/><Relationship Id="rId3" Type="http://schemas.openxmlformats.org/officeDocument/2006/relationships/image" Target="../media/image97.png"/><Relationship Id="rId7" Type="http://schemas.openxmlformats.org/officeDocument/2006/relationships/image" Target="../media/image640.png"/><Relationship Id="rId12" Type="http://schemas.openxmlformats.org/officeDocument/2006/relationships/image" Target="../media/image100.png"/><Relationship Id="rId17" Type="http://schemas.openxmlformats.org/officeDocument/2006/relationships/image" Target="../media/image105.png"/><Relationship Id="rId2" Type="http://schemas.openxmlformats.org/officeDocument/2006/relationships/image" Target="../media/image940.png"/><Relationship Id="rId16" Type="http://schemas.openxmlformats.org/officeDocument/2006/relationships/image" Target="../media/image104.png"/><Relationship Id="rId1" Type="http://schemas.openxmlformats.org/officeDocument/2006/relationships/slideLayout" Target="../slideLayouts/slideLayout7.xml"/><Relationship Id="rId11" Type="http://schemas.openxmlformats.org/officeDocument/2006/relationships/image" Target="../media/image99.png"/><Relationship Id="rId15" Type="http://schemas.openxmlformats.org/officeDocument/2006/relationships/image" Target="../media/image102.png"/><Relationship Id="rId10" Type="http://schemas.openxmlformats.org/officeDocument/2006/relationships/image" Target="../media/image670.png"/><Relationship Id="rId4" Type="http://schemas.openxmlformats.org/officeDocument/2006/relationships/image" Target="../media/image98.png"/><Relationship Id="rId9" Type="http://schemas.openxmlformats.org/officeDocument/2006/relationships/image" Target="../media/image660.png"/><Relationship Id="rId14" Type="http://schemas.openxmlformats.org/officeDocument/2006/relationships/image" Target="../media/image103.png"/></Relationships>
</file>

<file path=ppt/slides/_rels/slide11.xml.rels><?xml version="1.0" encoding="UTF-8" standalone="yes"?>
<Relationships xmlns="http://schemas.openxmlformats.org/package/2006/relationships"><Relationship Id="rId8" Type="http://schemas.openxmlformats.org/officeDocument/2006/relationships/image" Target="../media/image720.png"/><Relationship Id="rId13" Type="http://schemas.openxmlformats.org/officeDocument/2006/relationships/image" Target="../media/image112.png"/><Relationship Id="rId18" Type="http://schemas.openxmlformats.org/officeDocument/2006/relationships/image" Target="../media/image116.png"/><Relationship Id="rId3" Type="http://schemas.openxmlformats.org/officeDocument/2006/relationships/image" Target="../media/image106.png"/><Relationship Id="rId21" Type="http://schemas.openxmlformats.org/officeDocument/2006/relationships/image" Target="../media/image119.png"/><Relationship Id="rId7" Type="http://schemas.openxmlformats.org/officeDocument/2006/relationships/image" Target="../media/image53.png"/><Relationship Id="rId12" Type="http://schemas.openxmlformats.org/officeDocument/2006/relationships/image" Target="../media/image111.png"/><Relationship Id="rId17" Type="http://schemas.openxmlformats.org/officeDocument/2006/relationships/image" Target="../media/image40.png"/><Relationship Id="rId25" Type="http://schemas.openxmlformats.org/officeDocument/2006/relationships/image" Target="../media/image123.png"/><Relationship Id="rId2" Type="http://schemas.openxmlformats.org/officeDocument/2006/relationships/image" Target="../media/image1050.png"/><Relationship Id="rId16" Type="http://schemas.openxmlformats.org/officeDocument/2006/relationships/image" Target="../media/image115.png"/><Relationship Id="rId20" Type="http://schemas.openxmlformats.org/officeDocument/2006/relationships/image" Target="../media/image118.png"/><Relationship Id="rId1" Type="http://schemas.openxmlformats.org/officeDocument/2006/relationships/slideLayout" Target="../slideLayouts/slideLayout7.xml"/><Relationship Id="rId6" Type="http://schemas.openxmlformats.org/officeDocument/2006/relationships/image" Target="../media/image108.png"/><Relationship Id="rId11" Type="http://schemas.openxmlformats.org/officeDocument/2006/relationships/image" Target="../media/image110.png"/><Relationship Id="rId24" Type="http://schemas.openxmlformats.org/officeDocument/2006/relationships/image" Target="../media/image122.png"/><Relationship Id="rId5" Type="http://schemas.openxmlformats.org/officeDocument/2006/relationships/image" Target="../media/image641.png"/><Relationship Id="rId15" Type="http://schemas.openxmlformats.org/officeDocument/2006/relationships/image" Target="../media/image114.png"/><Relationship Id="rId23" Type="http://schemas.openxmlformats.org/officeDocument/2006/relationships/image" Target="../media/image121.png"/><Relationship Id="rId10" Type="http://schemas.openxmlformats.org/officeDocument/2006/relationships/image" Target="../media/image109.png"/><Relationship Id="rId19" Type="http://schemas.openxmlformats.org/officeDocument/2006/relationships/image" Target="../media/image117.png"/><Relationship Id="rId4" Type="http://schemas.openxmlformats.org/officeDocument/2006/relationships/image" Target="../media/image107.png"/><Relationship Id="rId9" Type="http://schemas.openxmlformats.org/officeDocument/2006/relationships/image" Target="../media/image740.png"/><Relationship Id="rId14" Type="http://schemas.openxmlformats.org/officeDocument/2006/relationships/image" Target="../media/image113.png"/><Relationship Id="rId22" Type="http://schemas.openxmlformats.org/officeDocument/2006/relationships/image" Target="../media/image120.png"/></Relationships>
</file>

<file path=ppt/slides/_rels/slide1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image" Target="../media/image126.png"/><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image" Target="../media/image125.png"/><Relationship Id="rId16" Type="http://schemas.openxmlformats.org/officeDocument/2006/relationships/image" Target="../media/image139.png"/><Relationship Id="rId1" Type="http://schemas.openxmlformats.org/officeDocument/2006/relationships/slideLayout" Target="../slideLayouts/slideLayout7.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5" Type="http://schemas.openxmlformats.org/officeDocument/2006/relationships/image" Target="../media/image13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50.png"/><Relationship Id="rId7" Type="http://schemas.openxmlformats.org/officeDocument/2006/relationships/image" Target="../media/image145.png"/><Relationship Id="rId2" Type="http://schemas.openxmlformats.org/officeDocument/2006/relationships/image" Target="../media/image142.png"/><Relationship Id="rId1" Type="http://schemas.openxmlformats.org/officeDocument/2006/relationships/slideLayout" Target="../slideLayouts/slideLayout7.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360.png"/></Relationships>
</file>

<file path=ppt/slides/_rels/slide18.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350.png"/><Relationship Id="rId7" Type="http://schemas.openxmlformats.org/officeDocument/2006/relationships/image" Target="../media/image148.png"/><Relationship Id="rId2" Type="http://schemas.openxmlformats.org/officeDocument/2006/relationships/image" Target="../media/image146.png"/><Relationship Id="rId1" Type="http://schemas.openxmlformats.org/officeDocument/2006/relationships/slideLayout" Target="../slideLayouts/slideLayout7.xml"/><Relationship Id="rId6" Type="http://schemas.openxmlformats.org/officeDocument/2006/relationships/image" Target="../media/image147.png"/><Relationship Id="rId5" Type="http://schemas.openxmlformats.org/officeDocument/2006/relationships/image" Target="../media/image1400.png"/><Relationship Id="rId4" Type="http://schemas.openxmlformats.org/officeDocument/2006/relationships/image" Target="../media/image1360.png"/></Relationships>
</file>

<file path=ppt/slides/_rels/slide19.xml.rels><?xml version="1.0" encoding="UTF-8" standalone="yes"?>
<Relationships xmlns="http://schemas.openxmlformats.org/package/2006/relationships"><Relationship Id="rId8" Type="http://schemas.openxmlformats.org/officeDocument/2006/relationships/image" Target="../media/image1480.png"/><Relationship Id="rId3" Type="http://schemas.openxmlformats.org/officeDocument/2006/relationships/image" Target="../media/image1430.png"/><Relationship Id="rId7" Type="http://schemas.openxmlformats.org/officeDocument/2006/relationships/image" Target="../media/image15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0.png"/><Relationship Id="rId11" Type="http://schemas.openxmlformats.org/officeDocument/2006/relationships/image" Target="../media/image152.png"/><Relationship Id="rId5" Type="http://schemas.openxmlformats.org/officeDocument/2006/relationships/image" Target="../media/image1450.png"/><Relationship Id="rId10" Type="http://schemas.openxmlformats.org/officeDocument/2006/relationships/image" Target="../media/image1500.png"/><Relationship Id="rId4" Type="http://schemas.openxmlformats.org/officeDocument/2006/relationships/image" Target="../media/image1440.png"/><Relationship Id="rId9" Type="http://schemas.openxmlformats.org/officeDocument/2006/relationships/image" Target="../media/image1490.png"/></Relationships>
</file>

<file path=ppt/slides/_rels/slide2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21.xml.rels><?xml version="1.0" encoding="UTF-8" standalone="yes"?>
<Relationships xmlns="http://schemas.openxmlformats.org/package/2006/relationships"><Relationship Id="rId13" Type="http://schemas.openxmlformats.org/officeDocument/2006/relationships/image" Target="../media/image162.png"/><Relationship Id="rId3" Type="http://schemas.openxmlformats.org/officeDocument/2006/relationships/image" Target="../media/image1540.png"/><Relationship Id="rId7" Type="http://schemas.openxmlformats.org/officeDocument/2006/relationships/image" Target="../media/image1580.png"/><Relationship Id="rId12" Type="http://schemas.openxmlformats.org/officeDocument/2006/relationships/image" Target="../media/image15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8.png"/><Relationship Id="rId11" Type="http://schemas.openxmlformats.org/officeDocument/2006/relationships/image" Target="../media/image161.png"/><Relationship Id="rId5" Type="http://schemas.openxmlformats.org/officeDocument/2006/relationships/image" Target="../media/image157.png"/><Relationship Id="rId10" Type="http://schemas.openxmlformats.org/officeDocument/2006/relationships/image" Target="../media/image160.png"/><Relationship Id="rId4" Type="http://schemas.openxmlformats.org/officeDocument/2006/relationships/image" Target="../media/image1550.png"/><Relationship Id="rId14" Type="http://schemas.openxmlformats.org/officeDocument/2006/relationships/image" Target="../media/image163.png"/></Relationships>
</file>

<file path=ppt/slides/_rels/slide2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7.xml"/><Relationship Id="rId6" Type="http://schemas.openxmlformats.org/officeDocument/2006/relationships/image" Target="../media/image167.png"/><Relationship Id="rId5" Type="http://schemas.openxmlformats.org/officeDocument/2006/relationships/image" Target="../media/image225.png"/><Relationship Id="rId4" Type="http://schemas.openxmlformats.org/officeDocument/2006/relationships/image" Target="../media/image166.png"/></Relationships>
</file>

<file path=ppt/slides/_rels/slide2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1670.png"/><Relationship Id="rId4" Type="http://schemas.openxmlformats.org/officeDocument/2006/relationships/image" Target="../media/image1660.png"/></Relationships>
</file>

<file path=ppt/slides/_rels/slide2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1712.png"/><Relationship Id="rId7" Type="http://schemas.openxmlformats.org/officeDocument/2006/relationships/image" Target="../media/image175.png"/><Relationship Id="rId2" Type="http://schemas.openxmlformats.org/officeDocument/2006/relationships/image" Target="../media/image173.png"/><Relationship Id="rId1" Type="http://schemas.openxmlformats.org/officeDocument/2006/relationships/slideLayout" Target="../slideLayouts/slideLayout7.xml"/><Relationship Id="rId6" Type="http://schemas.openxmlformats.org/officeDocument/2006/relationships/image" Target="../media/image1740.png"/><Relationship Id="rId5" Type="http://schemas.openxmlformats.org/officeDocument/2006/relationships/image" Target="../media/image174.png"/><Relationship Id="rId10" Type="http://schemas.openxmlformats.org/officeDocument/2006/relationships/image" Target="../media/image178.png"/><Relationship Id="rId4" Type="http://schemas.openxmlformats.org/officeDocument/2006/relationships/image" Target="../media/image1720.png"/><Relationship Id="rId9" Type="http://schemas.openxmlformats.org/officeDocument/2006/relationships/image" Target="../media/image177.png"/></Relationships>
</file>

<file path=ppt/slides/_rels/slide2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7.xml"/><Relationship Id="rId4" Type="http://schemas.openxmlformats.org/officeDocument/2006/relationships/image" Target="../media/image181.png"/></Relationships>
</file>

<file path=ppt/slides/_rels/slide27.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7.xml"/><Relationship Id="rId4" Type="http://schemas.openxmlformats.org/officeDocument/2006/relationships/image" Target="../media/image186.png"/></Relationships>
</file>

<file path=ppt/slides/_rels/slide30.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1.png"/><Relationship Id="rId3" Type="http://schemas.openxmlformats.org/officeDocument/2006/relationships/image" Target="../media/image1830.png"/><Relationship Id="rId7" Type="http://schemas.openxmlformats.org/officeDocument/2006/relationships/image" Target="../media/image18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40.png"/><Relationship Id="rId14" Type="http://schemas.openxmlformats.org/officeDocument/2006/relationships/image" Target="../media/image1910.png"/></Relationships>
</file>

<file path=ppt/slides/_rels/slide31.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05.png"/><Relationship Id="rId3" Type="http://schemas.openxmlformats.org/officeDocument/2006/relationships/image" Target="../media/image194.png"/><Relationship Id="rId7" Type="http://schemas.openxmlformats.org/officeDocument/2006/relationships/image" Target="../media/image199.png"/><Relationship Id="rId12" Type="http://schemas.openxmlformats.org/officeDocument/2006/relationships/image" Target="../media/image204.png"/><Relationship Id="rId2" Type="http://schemas.openxmlformats.org/officeDocument/2006/relationships/image" Target="../media/image192.png"/><Relationship Id="rId1" Type="http://schemas.openxmlformats.org/officeDocument/2006/relationships/slideLayout" Target="../slideLayouts/slideLayout7.xml"/><Relationship Id="rId6" Type="http://schemas.openxmlformats.org/officeDocument/2006/relationships/image" Target="../media/image198.png"/><Relationship Id="rId11" Type="http://schemas.openxmlformats.org/officeDocument/2006/relationships/image" Target="../media/image203.png"/><Relationship Id="rId5" Type="http://schemas.openxmlformats.org/officeDocument/2006/relationships/image" Target="../media/image197.png"/><Relationship Id="rId15" Type="http://schemas.openxmlformats.org/officeDocument/2006/relationships/image" Target="../media/image196.png"/><Relationship Id="rId10" Type="http://schemas.openxmlformats.org/officeDocument/2006/relationships/image" Target="../media/image202.png"/><Relationship Id="rId4" Type="http://schemas.openxmlformats.org/officeDocument/2006/relationships/image" Target="../media/image193.png"/><Relationship Id="rId9" Type="http://schemas.openxmlformats.org/officeDocument/2006/relationships/image" Target="../media/image201.png"/><Relationship Id="rId14" Type="http://schemas.openxmlformats.org/officeDocument/2006/relationships/image" Target="../media/image195.png"/></Relationships>
</file>

<file path=ppt/slides/_rels/slide32.xml.rels><?xml version="1.0" encoding="UTF-8" standalone="yes"?>
<Relationships xmlns="http://schemas.openxmlformats.org/package/2006/relationships"><Relationship Id="rId8" Type="http://schemas.openxmlformats.org/officeDocument/2006/relationships/image" Target="../media/image212.png"/><Relationship Id="rId13" Type="http://schemas.openxmlformats.org/officeDocument/2006/relationships/image" Target="../media/image217.png"/><Relationship Id="rId18" Type="http://schemas.openxmlformats.org/officeDocument/2006/relationships/image" Target="../media/image222.png"/><Relationship Id="rId3" Type="http://schemas.openxmlformats.org/officeDocument/2006/relationships/image" Target="../media/image207.png"/><Relationship Id="rId7" Type="http://schemas.openxmlformats.org/officeDocument/2006/relationships/image" Target="../media/image211.png"/><Relationship Id="rId12" Type="http://schemas.openxmlformats.org/officeDocument/2006/relationships/image" Target="../media/image216.png"/><Relationship Id="rId17" Type="http://schemas.openxmlformats.org/officeDocument/2006/relationships/image" Target="../media/image221.png"/><Relationship Id="rId2" Type="http://schemas.openxmlformats.org/officeDocument/2006/relationships/image" Target="../media/image206.png"/><Relationship Id="rId16" Type="http://schemas.openxmlformats.org/officeDocument/2006/relationships/image" Target="../media/image220.png"/><Relationship Id="rId20" Type="http://schemas.openxmlformats.org/officeDocument/2006/relationships/image" Target="../media/image224.png"/><Relationship Id="rId1" Type="http://schemas.openxmlformats.org/officeDocument/2006/relationships/slideLayout" Target="../slideLayouts/slideLayout7.xml"/><Relationship Id="rId6" Type="http://schemas.openxmlformats.org/officeDocument/2006/relationships/image" Target="../media/image210.png"/><Relationship Id="rId11" Type="http://schemas.openxmlformats.org/officeDocument/2006/relationships/image" Target="../media/image215.png"/><Relationship Id="rId5" Type="http://schemas.openxmlformats.org/officeDocument/2006/relationships/image" Target="../media/image209.png"/><Relationship Id="rId15" Type="http://schemas.openxmlformats.org/officeDocument/2006/relationships/image" Target="../media/image219.png"/><Relationship Id="rId10" Type="http://schemas.openxmlformats.org/officeDocument/2006/relationships/image" Target="../media/image214.png"/><Relationship Id="rId19" Type="http://schemas.openxmlformats.org/officeDocument/2006/relationships/image" Target="../media/image223.png"/><Relationship Id="rId4" Type="http://schemas.openxmlformats.org/officeDocument/2006/relationships/image" Target="../media/image208.png"/><Relationship Id="rId9" Type="http://schemas.openxmlformats.org/officeDocument/2006/relationships/image" Target="../media/image213.png"/><Relationship Id="rId14" Type="http://schemas.openxmlformats.org/officeDocument/2006/relationships/image" Target="../media/image2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F1D82E7-7D6D-7EFF-EAB2-27A2176F6DEF}"/>
              </a:ext>
            </a:extLst>
          </p:cNvPr>
          <p:cNvSpPr/>
          <p:nvPr/>
        </p:nvSpPr>
        <p:spPr>
          <a:xfrm>
            <a:off x="474568" y="665559"/>
            <a:ext cx="8206442" cy="181300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3" name="TextBox 2">
            <a:extLst>
              <a:ext uri="{FF2B5EF4-FFF2-40B4-BE49-F238E27FC236}">
                <a16:creationId xmlns:a16="http://schemas.microsoft.com/office/drawing/2014/main" id="{BF872BA4-ECCC-DD17-5D41-51C1D13477D5}"/>
              </a:ext>
            </a:extLst>
          </p:cNvPr>
          <p:cNvSpPr txBox="1"/>
          <p:nvPr/>
        </p:nvSpPr>
        <p:spPr>
          <a:xfrm>
            <a:off x="2165465" y="732315"/>
            <a:ext cx="4813064" cy="369332"/>
          </a:xfrm>
          <a:prstGeom prst="rect">
            <a:avLst/>
          </a:prstGeom>
          <a:noFill/>
        </p:spPr>
        <p:txBody>
          <a:bodyPr wrap="square" rtlCol="0" anchor="ctr">
            <a:spAutoFit/>
          </a:bodyPr>
          <a:lstStyle/>
          <a:p>
            <a:pPr algn="ctr"/>
            <a:r>
              <a:rPr lang="en-US" b="1" dirty="0"/>
              <a:t>DNA Sequences at a SNP Position (T is risk allele)</a:t>
            </a:r>
          </a:p>
        </p:txBody>
      </p:sp>
      <p:graphicFrame>
        <p:nvGraphicFramePr>
          <p:cNvPr id="4" name="Table 3">
            <a:extLst>
              <a:ext uri="{FF2B5EF4-FFF2-40B4-BE49-F238E27FC236}">
                <a16:creationId xmlns:a16="http://schemas.microsoft.com/office/drawing/2014/main" id="{992715C0-5457-D0C0-C994-3CA14F86549F}"/>
              </a:ext>
            </a:extLst>
          </p:cNvPr>
          <p:cNvGraphicFramePr>
            <a:graphicFrameLocks noGrp="1"/>
          </p:cNvGraphicFramePr>
          <p:nvPr>
            <p:extLst>
              <p:ext uri="{D42A27DB-BD31-4B8C-83A1-F6EECF244321}">
                <p14:modId xmlns:p14="http://schemas.microsoft.com/office/powerpoint/2010/main" val="3606548911"/>
              </p:ext>
            </p:extLst>
          </p:nvPr>
        </p:nvGraphicFramePr>
        <p:xfrm>
          <a:off x="1541324" y="1183480"/>
          <a:ext cx="6061345" cy="1078186"/>
        </p:xfrm>
        <a:graphic>
          <a:graphicData uri="http://schemas.openxmlformats.org/drawingml/2006/table">
            <a:tbl>
              <a:tblPr firstRow="1" bandRow="1">
                <a:tableStyleId>{5C22544A-7EE6-4342-B048-85BDC9FD1C3A}</a:tableStyleId>
              </a:tblPr>
              <a:tblGrid>
                <a:gridCol w="1212269">
                  <a:extLst>
                    <a:ext uri="{9D8B030D-6E8A-4147-A177-3AD203B41FA5}">
                      <a16:colId xmlns:a16="http://schemas.microsoft.com/office/drawing/2014/main" val="17109212"/>
                    </a:ext>
                  </a:extLst>
                </a:gridCol>
                <a:gridCol w="1212269">
                  <a:extLst>
                    <a:ext uri="{9D8B030D-6E8A-4147-A177-3AD203B41FA5}">
                      <a16:colId xmlns:a16="http://schemas.microsoft.com/office/drawing/2014/main" val="3648244921"/>
                    </a:ext>
                  </a:extLst>
                </a:gridCol>
                <a:gridCol w="1212269">
                  <a:extLst>
                    <a:ext uri="{9D8B030D-6E8A-4147-A177-3AD203B41FA5}">
                      <a16:colId xmlns:a16="http://schemas.microsoft.com/office/drawing/2014/main" val="2525484480"/>
                    </a:ext>
                  </a:extLst>
                </a:gridCol>
                <a:gridCol w="1212269">
                  <a:extLst>
                    <a:ext uri="{9D8B030D-6E8A-4147-A177-3AD203B41FA5}">
                      <a16:colId xmlns:a16="http://schemas.microsoft.com/office/drawing/2014/main" val="3039640157"/>
                    </a:ext>
                  </a:extLst>
                </a:gridCol>
                <a:gridCol w="1212269">
                  <a:extLst>
                    <a:ext uri="{9D8B030D-6E8A-4147-A177-3AD203B41FA5}">
                      <a16:colId xmlns:a16="http://schemas.microsoft.com/office/drawing/2014/main" val="489363311"/>
                    </a:ext>
                  </a:extLst>
                </a:gridCol>
              </a:tblGrid>
              <a:tr h="539093">
                <a:tc>
                  <a:txBody>
                    <a:bodyPr/>
                    <a:lstStyle/>
                    <a:p>
                      <a:pPr algn="ctr"/>
                      <a:r>
                        <a:rPr lang="en-US" sz="1600" dirty="0"/>
                        <a:t>Individual 1</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Individual 2</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Individual 3</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Individual 4</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Individual 5</a:t>
                      </a:r>
                    </a:p>
                  </a:txBody>
                  <a:tcPr marL="60960" marR="60960" marT="30480" marB="30480" anchor="ctr"/>
                </a:tc>
                <a:extLst>
                  <a:ext uri="{0D108BD9-81ED-4DB2-BD59-A6C34878D82A}">
                    <a16:rowId xmlns:a16="http://schemas.microsoft.com/office/drawing/2014/main" val="1903707579"/>
                  </a:ext>
                </a:extLst>
              </a:tr>
              <a:tr h="539093">
                <a:tc>
                  <a:txBody>
                    <a:bodyPr/>
                    <a:lstStyle/>
                    <a:p>
                      <a:pPr algn="ctr"/>
                      <a:r>
                        <a:rPr lang="en-US" sz="1800" dirty="0"/>
                        <a:t>CC</a:t>
                      </a:r>
                    </a:p>
                  </a:txBody>
                  <a:tcPr marL="60960" marR="60960" marT="30480" marB="30480" anchor="ctr"/>
                </a:tc>
                <a:tc>
                  <a:txBody>
                    <a:bodyPr/>
                    <a:lstStyle/>
                    <a:p>
                      <a:pPr algn="ctr"/>
                      <a:r>
                        <a:rPr lang="en-US" sz="1800" dirty="0"/>
                        <a:t>TT</a:t>
                      </a:r>
                    </a:p>
                  </a:txBody>
                  <a:tcPr marL="60960" marR="60960" marT="30480" marB="30480" anchor="ctr"/>
                </a:tc>
                <a:tc>
                  <a:txBody>
                    <a:bodyPr/>
                    <a:lstStyle/>
                    <a:p>
                      <a:pPr algn="ctr"/>
                      <a:r>
                        <a:rPr lang="en-US" sz="1800" dirty="0"/>
                        <a:t>CT</a:t>
                      </a:r>
                    </a:p>
                  </a:txBody>
                  <a:tcPr marL="60960" marR="60960" marT="30480" marB="30480" anchor="ctr"/>
                </a:tc>
                <a:tc>
                  <a:txBody>
                    <a:bodyPr/>
                    <a:lstStyle/>
                    <a:p>
                      <a:pPr algn="ctr"/>
                      <a:r>
                        <a:rPr lang="en-US" sz="1800" dirty="0"/>
                        <a:t>CC</a:t>
                      </a:r>
                    </a:p>
                  </a:txBody>
                  <a:tcPr marL="60960" marR="60960" marT="30480" marB="30480" anchor="ctr"/>
                </a:tc>
                <a:tc>
                  <a:txBody>
                    <a:bodyPr/>
                    <a:lstStyle/>
                    <a:p>
                      <a:pPr algn="ctr"/>
                      <a:r>
                        <a:rPr lang="en-US" sz="1800" dirty="0"/>
                        <a:t>CC</a:t>
                      </a:r>
                    </a:p>
                  </a:txBody>
                  <a:tcPr marL="60960" marR="60960" marT="30480" marB="30480" anchor="ctr"/>
                </a:tc>
                <a:extLst>
                  <a:ext uri="{0D108BD9-81ED-4DB2-BD59-A6C34878D82A}">
                    <a16:rowId xmlns:a16="http://schemas.microsoft.com/office/drawing/2014/main" val="3809915198"/>
                  </a:ext>
                </a:extLst>
              </a:tr>
            </a:tbl>
          </a:graphicData>
        </a:graphic>
      </p:graphicFrame>
      <p:cxnSp>
        <p:nvCxnSpPr>
          <p:cNvPr id="6" name="Straight Arrow Connector 5">
            <a:extLst>
              <a:ext uri="{FF2B5EF4-FFF2-40B4-BE49-F238E27FC236}">
                <a16:creationId xmlns:a16="http://schemas.microsoft.com/office/drawing/2014/main" id="{09DB614E-4E5D-3785-9B6D-7ED9F8983FEF}"/>
              </a:ext>
            </a:extLst>
          </p:cNvPr>
          <p:cNvCxnSpPr>
            <a:cxnSpLocks/>
          </p:cNvCxnSpPr>
          <p:nvPr/>
        </p:nvCxnSpPr>
        <p:spPr>
          <a:xfrm>
            <a:off x="4571999" y="2548118"/>
            <a:ext cx="0" cy="401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3119CB63-DB9B-CF93-BA3F-D8E321AE46EF}"/>
              </a:ext>
            </a:extLst>
          </p:cNvPr>
          <p:cNvSpPr/>
          <p:nvPr/>
        </p:nvSpPr>
        <p:spPr>
          <a:xfrm>
            <a:off x="474564" y="2963125"/>
            <a:ext cx="8206442" cy="287592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0" name="TextBox 9">
            <a:extLst>
              <a:ext uri="{FF2B5EF4-FFF2-40B4-BE49-F238E27FC236}">
                <a16:creationId xmlns:a16="http://schemas.microsoft.com/office/drawing/2014/main" id="{6046B8C0-81DE-7108-EF89-D1287FDAD932}"/>
              </a:ext>
            </a:extLst>
          </p:cNvPr>
          <p:cNvSpPr txBox="1"/>
          <p:nvPr/>
        </p:nvSpPr>
        <p:spPr>
          <a:xfrm>
            <a:off x="3538419" y="177951"/>
            <a:ext cx="2067157" cy="400110"/>
          </a:xfrm>
          <a:prstGeom prst="rect">
            <a:avLst/>
          </a:prstGeom>
          <a:noFill/>
        </p:spPr>
        <p:txBody>
          <a:bodyPr wrap="square" rtlCol="0" anchor="ctr">
            <a:spAutoFit/>
          </a:bodyPr>
          <a:lstStyle/>
          <a:p>
            <a:pPr algn="ctr"/>
            <a:r>
              <a:rPr lang="en-US" sz="2000" b="1" dirty="0"/>
              <a:t>Genotype Coding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230B065-6A6D-DE67-7801-BED9E06CCE2B}"/>
                  </a:ext>
                </a:extLst>
              </p:cNvPr>
              <p:cNvSpPr txBox="1"/>
              <p:nvPr/>
            </p:nvSpPr>
            <p:spPr>
              <a:xfrm>
                <a:off x="2844608" y="2983538"/>
                <a:ext cx="3454776" cy="369332"/>
              </a:xfrm>
              <a:prstGeom prst="rect">
                <a:avLst/>
              </a:prstGeom>
              <a:noFill/>
            </p:spPr>
            <p:txBody>
              <a:bodyPr wrap="square" rtlCol="0" anchor="ctr">
                <a:spAutoFit/>
              </a:bodyPr>
              <a:lstStyle/>
              <a:p>
                <a:pPr algn="ctr"/>
                <a:r>
                  <a:rPr lang="en-US" b="1" dirty="0"/>
                  <a:t>Genotype Coding Models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𝒓𝒂𝒘</m:t>
                        </m:r>
                      </m:sub>
                    </m:sSub>
                  </m:oMath>
                </a14:m>
                <a:endParaRPr lang="en-US" b="1" dirty="0"/>
              </a:p>
            </p:txBody>
          </p:sp>
        </mc:Choice>
        <mc:Fallback xmlns="">
          <p:sp>
            <p:nvSpPr>
              <p:cNvPr id="11" name="TextBox 10">
                <a:extLst>
                  <a:ext uri="{FF2B5EF4-FFF2-40B4-BE49-F238E27FC236}">
                    <a16:creationId xmlns:a16="http://schemas.microsoft.com/office/drawing/2014/main" id="{7230B065-6A6D-DE67-7801-BED9E06CCE2B}"/>
                  </a:ext>
                </a:extLst>
              </p:cNvPr>
              <p:cNvSpPr txBox="1">
                <a:spLocks noRot="1" noChangeAspect="1" noMove="1" noResize="1" noEditPoints="1" noAdjustHandles="1" noChangeArrowheads="1" noChangeShapeType="1" noTextEdit="1"/>
              </p:cNvSpPr>
              <p:nvPr/>
            </p:nvSpPr>
            <p:spPr>
              <a:xfrm>
                <a:off x="2844608" y="2983538"/>
                <a:ext cx="3454776" cy="369332"/>
              </a:xfrm>
              <a:prstGeom prst="rect">
                <a:avLst/>
              </a:prstGeom>
              <a:blipFill>
                <a:blip r:embed="rId2"/>
                <a:stretch>
                  <a:fillRect t="-6667" b="-26667"/>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CA132235-8A45-3B92-F6CB-106FADFF923B}"/>
              </a:ext>
            </a:extLst>
          </p:cNvPr>
          <p:cNvGraphicFramePr>
            <a:graphicFrameLocks noGrp="1"/>
          </p:cNvGraphicFramePr>
          <p:nvPr>
            <p:extLst>
              <p:ext uri="{D42A27DB-BD31-4B8C-83A1-F6EECF244321}">
                <p14:modId xmlns:p14="http://schemas.microsoft.com/office/powerpoint/2010/main" val="3886695828"/>
              </p:ext>
            </p:extLst>
          </p:nvPr>
        </p:nvGraphicFramePr>
        <p:xfrm>
          <a:off x="914399" y="3333458"/>
          <a:ext cx="7501699" cy="2218011"/>
        </p:xfrm>
        <a:graphic>
          <a:graphicData uri="http://schemas.openxmlformats.org/drawingml/2006/table">
            <a:tbl>
              <a:tblPr firstRow="1" bandRow="1">
                <a:tableStyleId>{5C22544A-7EE6-4342-B048-85BDC9FD1C3A}</a:tableStyleId>
              </a:tblPr>
              <a:tblGrid>
                <a:gridCol w="1429819">
                  <a:extLst>
                    <a:ext uri="{9D8B030D-6E8A-4147-A177-3AD203B41FA5}">
                      <a16:colId xmlns:a16="http://schemas.microsoft.com/office/drawing/2014/main" val="2756020621"/>
                    </a:ext>
                  </a:extLst>
                </a:gridCol>
                <a:gridCol w="1011980">
                  <a:extLst>
                    <a:ext uri="{9D8B030D-6E8A-4147-A177-3AD203B41FA5}">
                      <a16:colId xmlns:a16="http://schemas.microsoft.com/office/drawing/2014/main" val="17109212"/>
                    </a:ext>
                  </a:extLst>
                </a:gridCol>
                <a:gridCol w="1011980">
                  <a:extLst>
                    <a:ext uri="{9D8B030D-6E8A-4147-A177-3AD203B41FA5}">
                      <a16:colId xmlns:a16="http://schemas.microsoft.com/office/drawing/2014/main" val="3648244921"/>
                    </a:ext>
                  </a:extLst>
                </a:gridCol>
                <a:gridCol w="1011980">
                  <a:extLst>
                    <a:ext uri="{9D8B030D-6E8A-4147-A177-3AD203B41FA5}">
                      <a16:colId xmlns:a16="http://schemas.microsoft.com/office/drawing/2014/main" val="2525484480"/>
                    </a:ext>
                  </a:extLst>
                </a:gridCol>
                <a:gridCol w="1011980">
                  <a:extLst>
                    <a:ext uri="{9D8B030D-6E8A-4147-A177-3AD203B41FA5}">
                      <a16:colId xmlns:a16="http://schemas.microsoft.com/office/drawing/2014/main" val="3039640157"/>
                    </a:ext>
                  </a:extLst>
                </a:gridCol>
                <a:gridCol w="1011980">
                  <a:extLst>
                    <a:ext uri="{9D8B030D-6E8A-4147-A177-3AD203B41FA5}">
                      <a16:colId xmlns:a16="http://schemas.microsoft.com/office/drawing/2014/main" val="489363311"/>
                    </a:ext>
                  </a:extLst>
                </a:gridCol>
                <a:gridCol w="1011980">
                  <a:extLst>
                    <a:ext uri="{9D8B030D-6E8A-4147-A177-3AD203B41FA5}">
                      <a16:colId xmlns:a16="http://schemas.microsoft.com/office/drawing/2014/main" val="349492179"/>
                    </a:ext>
                  </a:extLst>
                </a:gridCol>
              </a:tblGrid>
              <a:tr h="470006">
                <a:tc>
                  <a:txBody>
                    <a:bodyPr/>
                    <a:lstStyle/>
                    <a:p>
                      <a:pPr algn="ctr"/>
                      <a:r>
                        <a:rPr lang="en-US" sz="1400" dirty="0"/>
                        <a:t>Coding Model</a:t>
                      </a:r>
                    </a:p>
                  </a:txBody>
                  <a:tcPr marL="60960" marR="60960" marT="30480" marB="30480" anchor="ctr"/>
                </a:tc>
                <a:tc>
                  <a:txBody>
                    <a:bodyPr/>
                    <a:lstStyle/>
                    <a:p>
                      <a:pPr algn="ctr"/>
                      <a:r>
                        <a:rPr lang="en-US" sz="1400" dirty="0"/>
                        <a:t>Individual 1</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2</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3</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4</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5</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mean</a:t>
                      </a:r>
                    </a:p>
                  </a:txBody>
                  <a:tcPr marL="60960" marR="60960" marT="30480" marB="30480" anchor="ctr"/>
                </a:tc>
                <a:extLst>
                  <a:ext uri="{0D108BD9-81ED-4DB2-BD59-A6C34878D82A}">
                    <a16:rowId xmlns:a16="http://schemas.microsoft.com/office/drawing/2014/main" val="1903707579"/>
                  </a:ext>
                </a:extLst>
              </a:tr>
              <a:tr h="461667">
                <a:tc>
                  <a:txBody>
                    <a:bodyPr/>
                    <a:lstStyle/>
                    <a:p>
                      <a:pPr algn="ctr"/>
                      <a:r>
                        <a:rPr lang="en-US" sz="1400" dirty="0"/>
                        <a:t>Additive (0,1,2)</a:t>
                      </a:r>
                    </a:p>
                    <a:p>
                      <a:pPr algn="ctr"/>
                      <a:r>
                        <a:rPr lang="en-US" sz="1200" dirty="0">
                          <a:solidFill>
                            <a:schemeClr val="accent3">
                              <a:lumMod val="50000"/>
                            </a:schemeClr>
                          </a:solidFill>
                        </a:rPr>
                        <a:t>Count risk alleles</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2</a:t>
                      </a:r>
                    </a:p>
                  </a:txBody>
                  <a:tcPr marL="60960" marR="60960" marT="30480" marB="30480" anchor="ctr"/>
                </a:tc>
                <a:tc>
                  <a:txBody>
                    <a:bodyPr/>
                    <a:lstStyle/>
                    <a:p>
                      <a:pPr algn="ctr"/>
                      <a:r>
                        <a:rPr lang="en-US" sz="2000" dirty="0"/>
                        <a:t>1</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0.6</a:t>
                      </a:r>
                    </a:p>
                  </a:txBody>
                  <a:tcPr marL="60960" marR="60960" marT="30480" marB="30480" anchor="ctr"/>
                </a:tc>
                <a:extLst>
                  <a:ext uri="{0D108BD9-81ED-4DB2-BD59-A6C34878D82A}">
                    <a16:rowId xmlns:a16="http://schemas.microsoft.com/office/drawing/2014/main" val="3809915198"/>
                  </a:ext>
                </a:extLst>
              </a:tr>
              <a:tr h="646258">
                <a:tc>
                  <a:txBody>
                    <a:bodyPr/>
                    <a:lstStyle/>
                    <a:p>
                      <a:pPr algn="ctr"/>
                      <a:r>
                        <a:rPr lang="en-US" sz="1400" dirty="0"/>
                        <a:t>Dominant (0,1,1)</a:t>
                      </a:r>
                    </a:p>
                    <a:p>
                      <a:pPr algn="ctr"/>
                      <a:r>
                        <a:rPr lang="en-US" sz="1200" dirty="0">
                          <a:solidFill>
                            <a:schemeClr val="accent3">
                              <a:lumMod val="50000"/>
                            </a:schemeClr>
                          </a:solidFill>
                        </a:rPr>
                        <a:t>1 if any risk allele</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1</a:t>
                      </a:r>
                    </a:p>
                  </a:txBody>
                  <a:tcPr marL="60960" marR="60960" marT="30480" marB="30480" anchor="ctr"/>
                </a:tc>
                <a:tc>
                  <a:txBody>
                    <a:bodyPr/>
                    <a:lstStyle/>
                    <a:p>
                      <a:pPr algn="ctr"/>
                      <a:r>
                        <a:rPr lang="en-US" sz="2000" dirty="0"/>
                        <a:t>1</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0.4</a:t>
                      </a:r>
                    </a:p>
                  </a:txBody>
                  <a:tcPr marL="60960" marR="60960" marT="30480" marB="30480" anchor="ctr"/>
                </a:tc>
                <a:extLst>
                  <a:ext uri="{0D108BD9-81ED-4DB2-BD59-A6C34878D82A}">
                    <a16:rowId xmlns:a16="http://schemas.microsoft.com/office/drawing/2014/main" val="829851584"/>
                  </a:ext>
                </a:extLst>
              </a:tr>
              <a:tr h="609735">
                <a:tc>
                  <a:txBody>
                    <a:bodyPr/>
                    <a:lstStyle/>
                    <a:p>
                      <a:pPr algn="ctr"/>
                      <a:r>
                        <a:rPr lang="en-US" sz="1400" dirty="0"/>
                        <a:t>Recessive (0,0,1)</a:t>
                      </a:r>
                    </a:p>
                    <a:p>
                      <a:pPr algn="ctr"/>
                      <a:r>
                        <a:rPr lang="en-US" sz="1200" dirty="0">
                          <a:solidFill>
                            <a:schemeClr val="accent3">
                              <a:lumMod val="50000"/>
                            </a:schemeClr>
                          </a:solidFill>
                        </a:rPr>
                        <a:t>1 if both alleles are risk alleles</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1</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0</a:t>
                      </a:r>
                    </a:p>
                  </a:txBody>
                  <a:tcPr marL="60960" marR="60960" marT="30480" marB="30480" anchor="ctr"/>
                </a:tc>
                <a:tc>
                  <a:txBody>
                    <a:bodyPr/>
                    <a:lstStyle/>
                    <a:p>
                      <a:pPr algn="ctr"/>
                      <a:r>
                        <a:rPr lang="en-US" sz="2000" dirty="0"/>
                        <a:t>0.2</a:t>
                      </a:r>
                    </a:p>
                  </a:txBody>
                  <a:tcPr marL="60960" marR="60960" marT="30480" marB="30480" anchor="ctr"/>
                </a:tc>
                <a:extLst>
                  <a:ext uri="{0D108BD9-81ED-4DB2-BD59-A6C34878D82A}">
                    <a16:rowId xmlns:a16="http://schemas.microsoft.com/office/drawing/2014/main" val="3123893244"/>
                  </a:ext>
                </a:extLst>
              </a:tr>
            </a:tbl>
          </a:graphicData>
        </a:graphic>
      </p:graphicFrame>
      <p:sp>
        <p:nvSpPr>
          <p:cNvPr id="13" name="Rounded Rectangle 12">
            <a:extLst>
              <a:ext uri="{FF2B5EF4-FFF2-40B4-BE49-F238E27FC236}">
                <a16:creationId xmlns:a16="http://schemas.microsoft.com/office/drawing/2014/main" id="{64A63CB3-7A21-C43B-E6BB-37B41750D27F}"/>
              </a:ext>
            </a:extLst>
          </p:cNvPr>
          <p:cNvSpPr/>
          <p:nvPr/>
        </p:nvSpPr>
        <p:spPr>
          <a:xfrm>
            <a:off x="862237" y="3850130"/>
            <a:ext cx="7606022" cy="369332"/>
          </a:xfrm>
          <a:prstGeom prst="roundRect">
            <a:avLst/>
          </a:prstGeom>
          <a:noFill/>
          <a:ln w="38100">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15" name="Elbow Connector 14">
            <a:extLst>
              <a:ext uri="{FF2B5EF4-FFF2-40B4-BE49-F238E27FC236}">
                <a16:creationId xmlns:a16="http://schemas.microsoft.com/office/drawing/2014/main" id="{F30AE15E-0330-6FC4-739A-8654C88E6BCA}"/>
              </a:ext>
            </a:extLst>
          </p:cNvPr>
          <p:cNvCxnSpPr>
            <a:cxnSpLocks/>
          </p:cNvCxnSpPr>
          <p:nvPr/>
        </p:nvCxnSpPr>
        <p:spPr>
          <a:xfrm rot="10800000" flipH="1" flipV="1">
            <a:off x="801189" y="4018739"/>
            <a:ext cx="566057" cy="2099787"/>
          </a:xfrm>
          <a:prstGeom prst="bentConnector4">
            <a:avLst>
              <a:gd name="adj1" fmla="val -31154"/>
              <a:gd name="adj2" fmla="val 100029"/>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479E80A7-2741-714B-5E18-4B19B7AF3F94}"/>
              </a:ext>
            </a:extLst>
          </p:cNvPr>
          <p:cNvSpPr/>
          <p:nvPr/>
        </p:nvSpPr>
        <p:spPr>
          <a:xfrm>
            <a:off x="474564" y="6363144"/>
            <a:ext cx="8206441" cy="260290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C51787C-DEC4-C352-9BB4-3A759AD5C147}"/>
                  </a:ext>
                </a:extLst>
              </p:cNvPr>
              <p:cNvSpPr txBox="1"/>
              <p:nvPr/>
            </p:nvSpPr>
            <p:spPr>
              <a:xfrm>
                <a:off x="1932189" y="6462047"/>
                <a:ext cx="5264439" cy="491160"/>
              </a:xfrm>
              <a:prstGeom prst="rect">
                <a:avLst/>
              </a:prstGeom>
              <a:noFill/>
            </p:spPr>
            <p:txBody>
              <a:bodyPr wrap="square" rtlCol="0" anchor="ctr">
                <a:spAutoFit/>
              </a:bodyPr>
              <a:lstStyle/>
              <a:p>
                <a:pPr algn="ctr"/>
                <a:r>
                  <a:rPr lang="en-US" b="1" dirty="0"/>
                  <a:t>Standardized Genotype Vector </a:t>
                </a:r>
                <a14:m>
                  <m:oMath xmlns:m="http://schemas.openxmlformats.org/officeDocument/2006/math">
                    <m:r>
                      <a:rPr lang="en-US" b="1" i="1">
                        <a:latin typeface="Cambria Math" panose="02040503050406030204" pitchFamily="18" charset="0"/>
                      </a:rPr>
                      <m:t>𝑿</m:t>
                    </m:r>
                    <m:r>
                      <a:rPr lang="en-US" b="1" i="1">
                        <a:latin typeface="Cambria Math" panose="02040503050406030204" pitchFamily="18" charset="0"/>
                      </a:rPr>
                      <m:t>=</m:t>
                    </m:r>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𝒓𝒂𝒘</m:t>
                            </m:r>
                          </m:sub>
                        </m:sSub>
                        <m:r>
                          <a:rPr lang="en-US" b="1" i="1">
                            <a:latin typeface="Cambria Math" panose="02040503050406030204" pitchFamily="18" charset="0"/>
                          </a:rPr>
                          <m:t>−</m:t>
                        </m:r>
                        <m:r>
                          <a:rPr lang="en-US" b="1" i="1">
                            <a:latin typeface="Cambria Math" panose="02040503050406030204" pitchFamily="18" charset="0"/>
                          </a:rPr>
                          <m:t>𝒎𝒆𝒂𝒏</m:t>
                        </m:r>
                      </m:num>
                      <m:den>
                        <m:r>
                          <a:rPr lang="en-US" b="1" i="1">
                            <a:latin typeface="Cambria Math" panose="02040503050406030204" pitchFamily="18" charset="0"/>
                          </a:rPr>
                          <m:t>𝒔𝒅</m:t>
                        </m:r>
                      </m:den>
                    </m:f>
                  </m:oMath>
                </a14:m>
                <a:endParaRPr lang="en-US" b="1" dirty="0"/>
              </a:p>
            </p:txBody>
          </p:sp>
        </mc:Choice>
        <mc:Fallback xmlns="">
          <p:sp>
            <p:nvSpPr>
              <p:cNvPr id="20" name="TextBox 19">
                <a:extLst>
                  <a:ext uri="{FF2B5EF4-FFF2-40B4-BE49-F238E27FC236}">
                    <a16:creationId xmlns:a16="http://schemas.microsoft.com/office/drawing/2014/main" id="{5C51787C-DEC4-C352-9BB4-3A759AD5C147}"/>
                  </a:ext>
                </a:extLst>
              </p:cNvPr>
              <p:cNvSpPr txBox="1">
                <a:spLocks noRot="1" noChangeAspect="1" noMove="1" noResize="1" noEditPoints="1" noAdjustHandles="1" noChangeArrowheads="1" noChangeShapeType="1" noTextEdit="1"/>
              </p:cNvSpPr>
              <p:nvPr/>
            </p:nvSpPr>
            <p:spPr>
              <a:xfrm>
                <a:off x="1932189" y="6462047"/>
                <a:ext cx="5264439" cy="491160"/>
              </a:xfrm>
              <a:prstGeom prst="rect">
                <a:avLst/>
              </a:prstGeom>
              <a:blipFill>
                <a:blip r:embed="rId3"/>
                <a:stretch>
                  <a:fillRect b="-10000"/>
                </a:stretch>
              </a:blipFill>
            </p:spPr>
            <p:txBody>
              <a:bodyPr/>
              <a:lstStyle/>
              <a:p>
                <a:r>
                  <a:rPr lang="en-US">
                    <a:noFill/>
                  </a:rPr>
                  <a:t> </a:t>
                </a:r>
              </a:p>
            </p:txBody>
          </p:sp>
        </mc:Fallback>
      </mc:AlternateContent>
      <p:graphicFrame>
        <p:nvGraphicFramePr>
          <p:cNvPr id="21" name="Table 20">
            <a:extLst>
              <a:ext uri="{FF2B5EF4-FFF2-40B4-BE49-F238E27FC236}">
                <a16:creationId xmlns:a16="http://schemas.microsoft.com/office/drawing/2014/main" id="{FF850774-096F-A408-F428-9FAFFE7451BF}"/>
              </a:ext>
            </a:extLst>
          </p:cNvPr>
          <p:cNvGraphicFramePr>
            <a:graphicFrameLocks noGrp="1"/>
          </p:cNvGraphicFramePr>
          <p:nvPr>
            <p:extLst>
              <p:ext uri="{D42A27DB-BD31-4B8C-83A1-F6EECF244321}">
                <p14:modId xmlns:p14="http://schemas.microsoft.com/office/powerpoint/2010/main" val="3960286117"/>
              </p:ext>
            </p:extLst>
          </p:nvPr>
        </p:nvGraphicFramePr>
        <p:xfrm>
          <a:off x="914399" y="6984661"/>
          <a:ext cx="7501699" cy="1073790"/>
        </p:xfrm>
        <a:graphic>
          <a:graphicData uri="http://schemas.openxmlformats.org/drawingml/2006/table">
            <a:tbl>
              <a:tblPr firstRow="1" bandRow="1">
                <a:tableStyleId>{5C22544A-7EE6-4342-B048-85BDC9FD1C3A}</a:tableStyleId>
              </a:tblPr>
              <a:tblGrid>
                <a:gridCol w="1005069">
                  <a:extLst>
                    <a:ext uri="{9D8B030D-6E8A-4147-A177-3AD203B41FA5}">
                      <a16:colId xmlns:a16="http://schemas.microsoft.com/office/drawing/2014/main" val="2425925835"/>
                    </a:ext>
                  </a:extLst>
                </a:gridCol>
                <a:gridCol w="1005069">
                  <a:extLst>
                    <a:ext uri="{9D8B030D-6E8A-4147-A177-3AD203B41FA5}">
                      <a16:colId xmlns:a16="http://schemas.microsoft.com/office/drawing/2014/main" val="17109212"/>
                    </a:ext>
                  </a:extLst>
                </a:gridCol>
                <a:gridCol w="1005069">
                  <a:extLst>
                    <a:ext uri="{9D8B030D-6E8A-4147-A177-3AD203B41FA5}">
                      <a16:colId xmlns:a16="http://schemas.microsoft.com/office/drawing/2014/main" val="3648244921"/>
                    </a:ext>
                  </a:extLst>
                </a:gridCol>
                <a:gridCol w="1005069">
                  <a:extLst>
                    <a:ext uri="{9D8B030D-6E8A-4147-A177-3AD203B41FA5}">
                      <a16:colId xmlns:a16="http://schemas.microsoft.com/office/drawing/2014/main" val="2525484480"/>
                    </a:ext>
                  </a:extLst>
                </a:gridCol>
                <a:gridCol w="1005069">
                  <a:extLst>
                    <a:ext uri="{9D8B030D-6E8A-4147-A177-3AD203B41FA5}">
                      <a16:colId xmlns:a16="http://schemas.microsoft.com/office/drawing/2014/main" val="3039640157"/>
                    </a:ext>
                  </a:extLst>
                </a:gridCol>
                <a:gridCol w="1005069">
                  <a:extLst>
                    <a:ext uri="{9D8B030D-6E8A-4147-A177-3AD203B41FA5}">
                      <a16:colId xmlns:a16="http://schemas.microsoft.com/office/drawing/2014/main" val="489363311"/>
                    </a:ext>
                  </a:extLst>
                </a:gridCol>
                <a:gridCol w="729205">
                  <a:extLst>
                    <a:ext uri="{9D8B030D-6E8A-4147-A177-3AD203B41FA5}">
                      <a16:colId xmlns:a16="http://schemas.microsoft.com/office/drawing/2014/main" val="2804950765"/>
                    </a:ext>
                  </a:extLst>
                </a:gridCol>
                <a:gridCol w="742080">
                  <a:extLst>
                    <a:ext uri="{9D8B030D-6E8A-4147-A177-3AD203B41FA5}">
                      <a16:colId xmlns:a16="http://schemas.microsoft.com/office/drawing/2014/main" val="715645811"/>
                    </a:ext>
                  </a:extLst>
                </a:gridCol>
              </a:tblGrid>
              <a:tr h="570819">
                <a:tc>
                  <a:txBody>
                    <a:bodyPr/>
                    <a:lstStyle/>
                    <a:p>
                      <a:pPr algn="ctr"/>
                      <a:r>
                        <a:rPr lang="en-US" sz="1600" dirty="0"/>
                        <a:t>Model</a:t>
                      </a:r>
                    </a:p>
                  </a:txBody>
                  <a:tcPr marL="60960" marR="60960" marT="30480" marB="30480" anchor="ctr"/>
                </a:tc>
                <a:tc>
                  <a:txBody>
                    <a:bodyPr/>
                    <a:lstStyle/>
                    <a:p>
                      <a:pPr algn="ctr"/>
                      <a:r>
                        <a:rPr lang="en-US" sz="1400" dirty="0"/>
                        <a:t>Individual 1</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2</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3</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4</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Individual 5</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mean</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sd</a:t>
                      </a:r>
                      <a:endParaRPr lang="en-US" sz="1600" dirty="0"/>
                    </a:p>
                  </a:txBody>
                  <a:tcPr marL="60960" marR="60960" marT="30480" marB="30480" anchor="ctr"/>
                </a:tc>
                <a:extLst>
                  <a:ext uri="{0D108BD9-81ED-4DB2-BD59-A6C34878D82A}">
                    <a16:rowId xmlns:a16="http://schemas.microsoft.com/office/drawing/2014/main" val="1903707579"/>
                  </a:ext>
                </a:extLst>
              </a:tr>
              <a:tr h="502971">
                <a:tc>
                  <a:txBody>
                    <a:bodyPr/>
                    <a:lstStyle/>
                    <a:p>
                      <a:pPr algn="ctr"/>
                      <a:r>
                        <a:rPr lang="en-US" sz="1600" dirty="0"/>
                        <a:t>Additive</a:t>
                      </a:r>
                    </a:p>
                  </a:txBody>
                  <a:tcPr marL="60960" marR="60960" marT="30480" marB="30480" anchor="ctr"/>
                </a:tc>
                <a:tc>
                  <a:txBody>
                    <a:bodyPr/>
                    <a:lstStyle/>
                    <a:p>
                      <a:pPr algn="ctr"/>
                      <a:r>
                        <a:rPr lang="en-US" sz="1600" dirty="0"/>
                        <a:t>-0.67</a:t>
                      </a:r>
                    </a:p>
                  </a:txBody>
                  <a:tcPr marL="60960" marR="60960" marT="30480" marB="30480" anchor="ctr"/>
                </a:tc>
                <a:tc>
                  <a:txBody>
                    <a:bodyPr/>
                    <a:lstStyle/>
                    <a:p>
                      <a:pPr algn="ctr"/>
                      <a:r>
                        <a:rPr lang="en-US" sz="1600" dirty="0"/>
                        <a:t>1.57</a:t>
                      </a:r>
                    </a:p>
                  </a:txBody>
                  <a:tcPr marL="60960" marR="60960" marT="30480" marB="30480" anchor="ctr"/>
                </a:tc>
                <a:tc>
                  <a:txBody>
                    <a:bodyPr/>
                    <a:lstStyle/>
                    <a:p>
                      <a:pPr algn="ctr"/>
                      <a:r>
                        <a:rPr lang="en-US" sz="1600" dirty="0"/>
                        <a:t>0.45</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-0.67</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-0.67</a:t>
                      </a:r>
                    </a:p>
                  </a:txBody>
                  <a:tcPr marL="60960" marR="60960" marT="30480" marB="30480" anchor="ctr"/>
                </a:tc>
                <a:tc>
                  <a:txBody>
                    <a:bodyPr/>
                    <a:lstStyle/>
                    <a:p>
                      <a:pPr algn="ctr"/>
                      <a:r>
                        <a:rPr lang="en-US" sz="1600" dirty="0"/>
                        <a:t>0.6</a:t>
                      </a:r>
                    </a:p>
                  </a:txBody>
                  <a:tcPr marL="60960" marR="60960" marT="30480" marB="30480" anchor="ctr"/>
                </a:tc>
                <a:tc>
                  <a:txBody>
                    <a:bodyPr/>
                    <a:lstStyle/>
                    <a:p>
                      <a:pPr algn="ctr"/>
                      <a:r>
                        <a:rPr lang="en-US" sz="1600" dirty="0"/>
                        <a:t>0.89</a:t>
                      </a:r>
                    </a:p>
                  </a:txBody>
                  <a:tcPr marL="60960" marR="60960" marT="30480" marB="30480" anchor="ctr"/>
                </a:tc>
                <a:extLst>
                  <a:ext uri="{0D108BD9-81ED-4DB2-BD59-A6C34878D82A}">
                    <a16:rowId xmlns:a16="http://schemas.microsoft.com/office/drawing/2014/main" val="3809915198"/>
                  </a:ext>
                </a:extLst>
              </a:tr>
            </a:tbl>
          </a:graphicData>
        </a:graphic>
      </p:graphicFrame>
      <p:sp>
        <p:nvSpPr>
          <p:cNvPr id="5" name="TextBox 4">
            <a:extLst>
              <a:ext uri="{FF2B5EF4-FFF2-40B4-BE49-F238E27FC236}">
                <a16:creationId xmlns:a16="http://schemas.microsoft.com/office/drawing/2014/main" id="{848FF53F-5D69-CF19-83AC-10B37354446C}"/>
              </a:ext>
            </a:extLst>
          </p:cNvPr>
          <p:cNvSpPr txBox="1"/>
          <p:nvPr/>
        </p:nvSpPr>
        <p:spPr>
          <a:xfrm>
            <a:off x="462995" y="8191504"/>
            <a:ext cx="8218010" cy="553998"/>
          </a:xfrm>
          <a:prstGeom prst="rect">
            <a:avLst/>
          </a:prstGeom>
          <a:noFill/>
        </p:spPr>
        <p:txBody>
          <a:bodyPr wrap="square" rtlCol="0">
            <a:spAutoFit/>
          </a:bodyPr>
          <a:lstStyle/>
          <a:p>
            <a:pPr algn="ctr"/>
            <a:r>
              <a:rPr lang="en-US" sz="1500" b="1" i="1" dirty="0"/>
              <a:t>Why standardize? </a:t>
            </a:r>
            <a:r>
              <a:rPr lang="en-US" sz="1500" dirty="0"/>
              <a:t>Standardization rescales all genetic variants to have mean zero and standard deviation one, ensuring no variant dominates the analysis simply due to its allele frequency.</a:t>
            </a:r>
          </a:p>
        </p:txBody>
      </p:sp>
      <p:sp>
        <p:nvSpPr>
          <p:cNvPr id="14" name="Rounded Rectangle 13">
            <a:extLst>
              <a:ext uri="{FF2B5EF4-FFF2-40B4-BE49-F238E27FC236}">
                <a16:creationId xmlns:a16="http://schemas.microsoft.com/office/drawing/2014/main" id="{34856046-010A-BE80-4F1A-997076C1A328}"/>
              </a:ext>
            </a:extLst>
          </p:cNvPr>
          <p:cNvSpPr/>
          <p:nvPr/>
        </p:nvSpPr>
        <p:spPr>
          <a:xfrm>
            <a:off x="1486325" y="5920751"/>
            <a:ext cx="7115808" cy="369332"/>
          </a:xfrm>
          <a:prstGeom prst="roundRect">
            <a:avLst/>
          </a:prstGeom>
          <a:noFill/>
          <a:ln w="38100">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7" name="TextBox 16">
            <a:extLst>
              <a:ext uri="{FF2B5EF4-FFF2-40B4-BE49-F238E27FC236}">
                <a16:creationId xmlns:a16="http://schemas.microsoft.com/office/drawing/2014/main" id="{423B5AD6-BBBB-6433-A3D4-984BA557FF0E}"/>
              </a:ext>
            </a:extLst>
          </p:cNvPr>
          <p:cNvSpPr txBox="1"/>
          <p:nvPr/>
        </p:nvSpPr>
        <p:spPr>
          <a:xfrm>
            <a:off x="1541324" y="5956939"/>
            <a:ext cx="7187417" cy="292388"/>
          </a:xfrm>
          <a:prstGeom prst="rect">
            <a:avLst/>
          </a:prstGeom>
          <a:noFill/>
        </p:spPr>
        <p:txBody>
          <a:bodyPr wrap="none" rtlCol="0">
            <a:spAutoFit/>
          </a:bodyPr>
          <a:lstStyle/>
          <a:p>
            <a:r>
              <a:rPr lang="en-US" sz="1300" dirty="0">
                <a:solidFill>
                  <a:srgbClr val="548235"/>
                </a:solidFill>
              </a:rPr>
              <a:t>The additive model is particularly valuable as genetic effects often scale with the number of risk alleles.</a:t>
            </a:r>
          </a:p>
        </p:txBody>
      </p:sp>
    </p:spTree>
    <p:extLst>
      <p:ext uri="{BB962C8B-B14F-4D97-AF65-F5344CB8AC3E}">
        <p14:creationId xmlns:p14="http://schemas.microsoft.com/office/powerpoint/2010/main" val="2122622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945D26B-A4DE-4493-5469-6C629E38C3B4}"/>
              </a:ext>
            </a:extLst>
          </p:cNvPr>
          <p:cNvSpPr/>
          <p:nvPr/>
        </p:nvSpPr>
        <p:spPr>
          <a:xfrm>
            <a:off x="428272" y="1158355"/>
            <a:ext cx="8275885" cy="19284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5" name="TextBox 4">
            <a:extLst>
              <a:ext uri="{FF2B5EF4-FFF2-40B4-BE49-F238E27FC236}">
                <a16:creationId xmlns:a16="http://schemas.microsoft.com/office/drawing/2014/main" id="{D85EEB73-D430-DC53-763B-CCA9B03C0725}"/>
              </a:ext>
            </a:extLst>
          </p:cNvPr>
          <p:cNvSpPr txBox="1"/>
          <p:nvPr/>
        </p:nvSpPr>
        <p:spPr>
          <a:xfrm>
            <a:off x="2492892" y="1204535"/>
            <a:ext cx="4031949" cy="369332"/>
          </a:xfrm>
          <a:prstGeom prst="rect">
            <a:avLst/>
          </a:prstGeom>
          <a:noFill/>
        </p:spPr>
        <p:txBody>
          <a:bodyPr wrap="square" rtlCol="0" anchor="ctr">
            <a:spAutoFit/>
          </a:bodyPr>
          <a:lstStyle/>
          <a:p>
            <a:pPr algn="ctr"/>
            <a:r>
              <a:rPr lang="en-US" b="1" dirty="0"/>
              <a:t>Step 1: Raw Genotype Data</a:t>
            </a:r>
          </a:p>
        </p:txBody>
      </p:sp>
      <p:graphicFrame>
        <p:nvGraphicFramePr>
          <p:cNvPr id="6" name="Table 5">
            <a:extLst>
              <a:ext uri="{FF2B5EF4-FFF2-40B4-BE49-F238E27FC236}">
                <a16:creationId xmlns:a16="http://schemas.microsoft.com/office/drawing/2014/main" id="{5CB956A1-A643-25B2-7093-D25929376832}"/>
              </a:ext>
            </a:extLst>
          </p:cNvPr>
          <p:cNvGraphicFramePr>
            <a:graphicFrameLocks noGrp="1"/>
          </p:cNvGraphicFramePr>
          <p:nvPr>
            <p:extLst>
              <p:ext uri="{D42A27DB-BD31-4B8C-83A1-F6EECF244321}">
                <p14:modId xmlns:p14="http://schemas.microsoft.com/office/powerpoint/2010/main" val="1756875790"/>
              </p:ext>
            </p:extLst>
          </p:nvPr>
        </p:nvGraphicFramePr>
        <p:xfrm>
          <a:off x="1030148" y="1585021"/>
          <a:ext cx="7114390" cy="1081346"/>
        </p:xfrm>
        <a:graphic>
          <a:graphicData uri="http://schemas.openxmlformats.org/drawingml/2006/table">
            <a:tbl>
              <a:tblPr firstRow="1" bandRow="1">
                <a:tableStyleId>{5C22544A-7EE6-4342-B048-85BDC9FD1C3A}</a:tableStyleId>
              </a:tblPr>
              <a:tblGrid>
                <a:gridCol w="1422878">
                  <a:extLst>
                    <a:ext uri="{9D8B030D-6E8A-4147-A177-3AD203B41FA5}">
                      <a16:colId xmlns:a16="http://schemas.microsoft.com/office/drawing/2014/main" val="17109212"/>
                    </a:ext>
                  </a:extLst>
                </a:gridCol>
                <a:gridCol w="1422878">
                  <a:extLst>
                    <a:ext uri="{9D8B030D-6E8A-4147-A177-3AD203B41FA5}">
                      <a16:colId xmlns:a16="http://schemas.microsoft.com/office/drawing/2014/main" val="3648244921"/>
                    </a:ext>
                  </a:extLst>
                </a:gridCol>
                <a:gridCol w="1422878">
                  <a:extLst>
                    <a:ext uri="{9D8B030D-6E8A-4147-A177-3AD203B41FA5}">
                      <a16:colId xmlns:a16="http://schemas.microsoft.com/office/drawing/2014/main" val="2525484480"/>
                    </a:ext>
                  </a:extLst>
                </a:gridCol>
                <a:gridCol w="1422878">
                  <a:extLst>
                    <a:ext uri="{9D8B030D-6E8A-4147-A177-3AD203B41FA5}">
                      <a16:colId xmlns:a16="http://schemas.microsoft.com/office/drawing/2014/main" val="3039640157"/>
                    </a:ext>
                  </a:extLst>
                </a:gridCol>
                <a:gridCol w="1422878">
                  <a:extLst>
                    <a:ext uri="{9D8B030D-6E8A-4147-A177-3AD203B41FA5}">
                      <a16:colId xmlns:a16="http://schemas.microsoft.com/office/drawing/2014/main" val="489363311"/>
                    </a:ext>
                  </a:extLst>
                </a:gridCol>
              </a:tblGrid>
              <a:tr h="540673">
                <a:tc>
                  <a:txBody>
                    <a:bodyPr/>
                    <a:lstStyle/>
                    <a:p>
                      <a:pPr algn="ctr"/>
                      <a:r>
                        <a:rPr lang="en-US" sz="1800" dirty="0"/>
                        <a:t>Individual 1</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Individual 2</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Individual 3</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Individual 4</a:t>
                      </a:r>
                    </a:p>
                  </a:txBody>
                  <a:tcPr marL="60960" marR="60960" marT="30480" marB="3048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Individual 5</a:t>
                      </a:r>
                    </a:p>
                  </a:txBody>
                  <a:tcPr marL="60960" marR="60960" marT="30480" marB="30480" anchor="ctr"/>
                </a:tc>
                <a:extLst>
                  <a:ext uri="{0D108BD9-81ED-4DB2-BD59-A6C34878D82A}">
                    <a16:rowId xmlns:a16="http://schemas.microsoft.com/office/drawing/2014/main" val="1903707579"/>
                  </a:ext>
                </a:extLst>
              </a:tr>
              <a:tr h="540673">
                <a:tc>
                  <a:txBody>
                    <a:bodyPr/>
                    <a:lstStyle/>
                    <a:p>
                      <a:pPr algn="ctr"/>
                      <a:r>
                        <a:rPr lang="en-US" sz="2000" dirty="0">
                          <a:solidFill>
                            <a:schemeClr val="accent6">
                              <a:lumMod val="75000"/>
                            </a:schemeClr>
                          </a:solidFill>
                        </a:rPr>
                        <a:t>CC</a:t>
                      </a:r>
                    </a:p>
                  </a:txBody>
                  <a:tcPr marL="60960" marR="60960" marT="30480" marB="30480" anchor="ctr"/>
                </a:tc>
                <a:tc>
                  <a:txBody>
                    <a:bodyPr/>
                    <a:lstStyle/>
                    <a:p>
                      <a:pPr algn="ctr"/>
                      <a:r>
                        <a:rPr lang="en-US" sz="2000" dirty="0">
                          <a:solidFill>
                            <a:srgbClr val="FF0000"/>
                          </a:solidFill>
                        </a:rPr>
                        <a:t>TT</a:t>
                      </a:r>
                    </a:p>
                  </a:txBody>
                  <a:tcPr marL="60960" marR="60960" marT="30480" marB="30480" anchor="ctr"/>
                </a:tc>
                <a:tc>
                  <a:txBody>
                    <a:bodyPr/>
                    <a:lstStyle/>
                    <a:p>
                      <a:pPr algn="ctr"/>
                      <a:r>
                        <a:rPr lang="en-US" sz="2000" dirty="0">
                          <a:solidFill>
                            <a:schemeClr val="accent6">
                              <a:lumMod val="75000"/>
                            </a:schemeClr>
                          </a:solidFill>
                        </a:rPr>
                        <a:t>C</a:t>
                      </a:r>
                      <a:r>
                        <a:rPr lang="en-US" sz="2000" dirty="0">
                          <a:solidFill>
                            <a:srgbClr val="FF0000"/>
                          </a:solidFill>
                        </a:rPr>
                        <a:t>T</a:t>
                      </a:r>
                    </a:p>
                  </a:txBody>
                  <a:tcPr marL="60960" marR="60960" marT="30480" marB="30480" anchor="ctr"/>
                </a:tc>
                <a:tc>
                  <a:txBody>
                    <a:bodyPr/>
                    <a:lstStyle/>
                    <a:p>
                      <a:pPr algn="ctr"/>
                      <a:r>
                        <a:rPr lang="en-US" sz="2000" dirty="0">
                          <a:solidFill>
                            <a:schemeClr val="accent6">
                              <a:lumMod val="75000"/>
                            </a:schemeClr>
                          </a:solidFill>
                        </a:rPr>
                        <a:t>CC</a:t>
                      </a:r>
                    </a:p>
                  </a:txBody>
                  <a:tcPr marL="60960" marR="60960" marT="30480" marB="30480" anchor="ctr"/>
                </a:tc>
                <a:tc>
                  <a:txBody>
                    <a:bodyPr/>
                    <a:lstStyle/>
                    <a:p>
                      <a:pPr algn="ctr"/>
                      <a:r>
                        <a:rPr lang="en-US" sz="2000" dirty="0">
                          <a:solidFill>
                            <a:schemeClr val="accent6">
                              <a:lumMod val="75000"/>
                            </a:schemeClr>
                          </a:solidFill>
                        </a:rPr>
                        <a:t>CC</a:t>
                      </a:r>
                      <a:endParaRPr lang="en-US" sz="2000" dirty="0">
                        <a:solidFill>
                          <a:srgbClr val="FF0000"/>
                        </a:solidFill>
                      </a:endParaRPr>
                    </a:p>
                  </a:txBody>
                  <a:tcPr marL="60960" marR="60960" marT="30480" marB="30480" anchor="ctr"/>
                </a:tc>
                <a:extLst>
                  <a:ext uri="{0D108BD9-81ED-4DB2-BD59-A6C34878D82A}">
                    <a16:rowId xmlns:a16="http://schemas.microsoft.com/office/drawing/2014/main" val="3809915198"/>
                  </a:ext>
                </a:extLst>
              </a:tr>
            </a:tbl>
          </a:graphicData>
        </a:graphic>
      </p:graphicFrame>
      <p:cxnSp>
        <p:nvCxnSpPr>
          <p:cNvPr id="7" name="Straight Arrow Connector 6">
            <a:extLst>
              <a:ext uri="{FF2B5EF4-FFF2-40B4-BE49-F238E27FC236}">
                <a16:creationId xmlns:a16="http://schemas.microsoft.com/office/drawing/2014/main" id="{F251BDB9-58E6-5C5E-71A2-A16AA294074B}"/>
              </a:ext>
            </a:extLst>
          </p:cNvPr>
          <p:cNvCxnSpPr>
            <a:cxnSpLocks/>
          </p:cNvCxnSpPr>
          <p:nvPr/>
        </p:nvCxnSpPr>
        <p:spPr>
          <a:xfrm>
            <a:off x="4571999" y="3126106"/>
            <a:ext cx="0" cy="4247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8F653DB4-CA16-1667-9C03-D32F625ECEC6}"/>
              </a:ext>
            </a:extLst>
          </p:cNvPr>
          <p:cNvSpPr/>
          <p:nvPr/>
        </p:nvSpPr>
        <p:spPr>
          <a:xfrm>
            <a:off x="428271" y="3592057"/>
            <a:ext cx="8275857" cy="261790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9" name="TextBox 8">
            <a:extLst>
              <a:ext uri="{FF2B5EF4-FFF2-40B4-BE49-F238E27FC236}">
                <a16:creationId xmlns:a16="http://schemas.microsoft.com/office/drawing/2014/main" id="{804F627F-E1E4-5EA9-6540-294658F19FC2}"/>
              </a:ext>
            </a:extLst>
          </p:cNvPr>
          <p:cNvSpPr txBox="1"/>
          <p:nvPr/>
        </p:nvSpPr>
        <p:spPr>
          <a:xfrm>
            <a:off x="2362397" y="359845"/>
            <a:ext cx="4475988" cy="369332"/>
          </a:xfrm>
          <a:prstGeom prst="rect">
            <a:avLst/>
          </a:prstGeom>
          <a:noFill/>
        </p:spPr>
        <p:txBody>
          <a:bodyPr wrap="square" rtlCol="0" anchor="ctr">
            <a:spAutoFit/>
          </a:bodyPr>
          <a:lstStyle/>
          <a:p>
            <a:pPr algn="ctr"/>
            <a:r>
              <a:rPr lang="en-US" b="1" dirty="0"/>
              <a:t>Minor Allele Frequency (MAF)</a:t>
            </a:r>
          </a:p>
        </p:txBody>
      </p:sp>
      <p:sp>
        <p:nvSpPr>
          <p:cNvPr id="10" name="TextBox 9">
            <a:extLst>
              <a:ext uri="{FF2B5EF4-FFF2-40B4-BE49-F238E27FC236}">
                <a16:creationId xmlns:a16="http://schemas.microsoft.com/office/drawing/2014/main" id="{596A07A9-0B0E-1BF9-D689-D71A22173A53}"/>
              </a:ext>
            </a:extLst>
          </p:cNvPr>
          <p:cNvSpPr txBox="1"/>
          <p:nvPr/>
        </p:nvSpPr>
        <p:spPr>
          <a:xfrm>
            <a:off x="3223781" y="3726864"/>
            <a:ext cx="2679179" cy="369332"/>
          </a:xfrm>
          <a:prstGeom prst="rect">
            <a:avLst/>
          </a:prstGeom>
          <a:noFill/>
        </p:spPr>
        <p:txBody>
          <a:bodyPr wrap="square" rtlCol="0" anchor="ctr">
            <a:spAutoFit/>
          </a:bodyPr>
          <a:lstStyle/>
          <a:p>
            <a:pPr algn="ctr"/>
            <a:r>
              <a:rPr lang="en-US" b="1" dirty="0"/>
              <a:t>Step 2: Count Alleles</a:t>
            </a:r>
          </a:p>
        </p:txBody>
      </p:sp>
      <p:sp>
        <p:nvSpPr>
          <p:cNvPr id="15" name="Rounded Rectangle 14">
            <a:extLst>
              <a:ext uri="{FF2B5EF4-FFF2-40B4-BE49-F238E27FC236}">
                <a16:creationId xmlns:a16="http://schemas.microsoft.com/office/drawing/2014/main" id="{C09FBD83-D86C-78DC-C317-1B46248CC478}"/>
              </a:ext>
            </a:extLst>
          </p:cNvPr>
          <p:cNvSpPr/>
          <p:nvPr/>
        </p:nvSpPr>
        <p:spPr>
          <a:xfrm>
            <a:off x="428271" y="6770483"/>
            <a:ext cx="8344240" cy="134810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6" name="TextBox 15">
            <a:extLst>
              <a:ext uri="{FF2B5EF4-FFF2-40B4-BE49-F238E27FC236}">
                <a16:creationId xmlns:a16="http://schemas.microsoft.com/office/drawing/2014/main" id="{AD53374B-8929-D21A-E2C9-877873E45181}"/>
              </a:ext>
            </a:extLst>
          </p:cNvPr>
          <p:cNvSpPr txBox="1"/>
          <p:nvPr/>
        </p:nvSpPr>
        <p:spPr>
          <a:xfrm>
            <a:off x="2806367" y="6844581"/>
            <a:ext cx="3531264" cy="369332"/>
          </a:xfrm>
          <a:prstGeom prst="rect">
            <a:avLst/>
          </a:prstGeom>
          <a:noFill/>
        </p:spPr>
        <p:txBody>
          <a:bodyPr wrap="square" rtlCol="0" anchor="ctr">
            <a:spAutoFit/>
          </a:bodyPr>
          <a:lstStyle/>
          <a:p>
            <a:pPr algn="ctr"/>
            <a:r>
              <a:rPr lang="en-US" b="1" dirty="0"/>
              <a:t>Step 3: Calculate MAF</a:t>
            </a:r>
          </a:p>
        </p:txBody>
      </p:sp>
      <p:sp>
        <p:nvSpPr>
          <p:cNvPr id="18" name="Rectangle 17">
            <a:extLst>
              <a:ext uri="{FF2B5EF4-FFF2-40B4-BE49-F238E27FC236}">
                <a16:creationId xmlns:a16="http://schemas.microsoft.com/office/drawing/2014/main" id="{C489FA30-70E8-55E6-4E6E-0365A34C916C}"/>
              </a:ext>
            </a:extLst>
          </p:cNvPr>
          <p:cNvSpPr/>
          <p:nvPr/>
        </p:nvSpPr>
        <p:spPr>
          <a:xfrm>
            <a:off x="3298244" y="2783069"/>
            <a:ext cx="126962" cy="124406"/>
          </a:xfrm>
          <a:prstGeom prst="rect">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 name="Rectangle 18">
            <a:extLst>
              <a:ext uri="{FF2B5EF4-FFF2-40B4-BE49-F238E27FC236}">
                <a16:creationId xmlns:a16="http://schemas.microsoft.com/office/drawing/2014/main" id="{65401167-6D0C-FD45-DBE4-23144BFDA1B2}"/>
              </a:ext>
            </a:extLst>
          </p:cNvPr>
          <p:cNvSpPr/>
          <p:nvPr/>
        </p:nvSpPr>
        <p:spPr>
          <a:xfrm>
            <a:off x="5141227" y="2779807"/>
            <a:ext cx="126962" cy="124406"/>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solidFill>
                <a:srgbClr val="FF0000"/>
              </a:solidFill>
            </a:endParaRPr>
          </a:p>
        </p:txBody>
      </p:sp>
      <p:sp>
        <p:nvSpPr>
          <p:cNvPr id="21" name="TextBox 20">
            <a:extLst>
              <a:ext uri="{FF2B5EF4-FFF2-40B4-BE49-F238E27FC236}">
                <a16:creationId xmlns:a16="http://schemas.microsoft.com/office/drawing/2014/main" id="{F476965F-350D-FE84-6DDB-9BACE5C1D1F9}"/>
              </a:ext>
            </a:extLst>
          </p:cNvPr>
          <p:cNvSpPr txBox="1"/>
          <p:nvPr/>
        </p:nvSpPr>
        <p:spPr>
          <a:xfrm>
            <a:off x="3425206" y="2686512"/>
            <a:ext cx="1178017" cy="307777"/>
          </a:xfrm>
          <a:prstGeom prst="rect">
            <a:avLst/>
          </a:prstGeom>
          <a:noFill/>
        </p:spPr>
        <p:txBody>
          <a:bodyPr wrap="square">
            <a:spAutoFit/>
          </a:bodyPr>
          <a:lstStyle/>
          <a:p>
            <a:r>
              <a:rPr lang="en-US" sz="1400" dirty="0">
                <a:solidFill>
                  <a:schemeClr val="accent6">
                    <a:lumMod val="75000"/>
                  </a:schemeClr>
                </a:solidFill>
              </a:rPr>
              <a:t>C (Cytosine)</a:t>
            </a:r>
            <a:endParaRPr lang="en-US" sz="1400" dirty="0"/>
          </a:p>
        </p:txBody>
      </p:sp>
      <p:sp>
        <p:nvSpPr>
          <p:cNvPr id="22" name="TextBox 21">
            <a:extLst>
              <a:ext uri="{FF2B5EF4-FFF2-40B4-BE49-F238E27FC236}">
                <a16:creationId xmlns:a16="http://schemas.microsoft.com/office/drawing/2014/main" id="{47199FBE-060C-FB9C-E9F1-362A7C247924}"/>
              </a:ext>
            </a:extLst>
          </p:cNvPr>
          <p:cNvSpPr txBox="1"/>
          <p:nvPr/>
        </p:nvSpPr>
        <p:spPr>
          <a:xfrm>
            <a:off x="5268189" y="2693165"/>
            <a:ext cx="1178017" cy="307777"/>
          </a:xfrm>
          <a:prstGeom prst="rect">
            <a:avLst/>
          </a:prstGeom>
          <a:noFill/>
        </p:spPr>
        <p:txBody>
          <a:bodyPr wrap="square">
            <a:spAutoFit/>
          </a:bodyPr>
          <a:lstStyle/>
          <a:p>
            <a:r>
              <a:rPr lang="en-US" sz="1400" dirty="0">
                <a:solidFill>
                  <a:srgbClr val="FF0000"/>
                </a:solidFill>
              </a:rPr>
              <a:t>T (Thymine)</a:t>
            </a:r>
          </a:p>
        </p:txBody>
      </p:sp>
      <p:sp>
        <p:nvSpPr>
          <p:cNvPr id="23" name="TextBox 22">
            <a:extLst>
              <a:ext uri="{FF2B5EF4-FFF2-40B4-BE49-F238E27FC236}">
                <a16:creationId xmlns:a16="http://schemas.microsoft.com/office/drawing/2014/main" id="{3B62762F-323F-EEA1-8871-3391BF9CC774}"/>
              </a:ext>
            </a:extLst>
          </p:cNvPr>
          <p:cNvSpPr txBox="1"/>
          <p:nvPr/>
        </p:nvSpPr>
        <p:spPr>
          <a:xfrm>
            <a:off x="1030147" y="4079389"/>
            <a:ext cx="4998513" cy="338554"/>
          </a:xfrm>
          <a:prstGeom prst="rect">
            <a:avLst/>
          </a:prstGeom>
          <a:noFill/>
        </p:spPr>
        <p:txBody>
          <a:bodyPr wrap="square" rtlCol="0" anchor="ctr">
            <a:spAutoFit/>
          </a:bodyPr>
          <a:lstStyle/>
          <a:p>
            <a:pPr algn="ctr"/>
            <a:r>
              <a:rPr lang="en-US" sz="1600" dirty="0">
                <a:solidFill>
                  <a:srgbClr val="548235"/>
                </a:solidFill>
              </a:rPr>
              <a:t>All alleles extracted from genotypes from all individuals:</a:t>
            </a:r>
          </a:p>
        </p:txBody>
      </p:sp>
      <p:sp>
        <p:nvSpPr>
          <p:cNvPr id="25" name="TextBox 24">
            <a:extLst>
              <a:ext uri="{FF2B5EF4-FFF2-40B4-BE49-F238E27FC236}">
                <a16:creationId xmlns:a16="http://schemas.microsoft.com/office/drawing/2014/main" id="{0A9DD0EC-ACEF-9781-0308-30F3080FD468}"/>
              </a:ext>
            </a:extLst>
          </p:cNvPr>
          <p:cNvSpPr txBox="1"/>
          <p:nvPr/>
        </p:nvSpPr>
        <p:spPr>
          <a:xfrm>
            <a:off x="2789112" y="4492271"/>
            <a:ext cx="3548519" cy="523220"/>
          </a:xfrm>
          <a:prstGeom prst="rect">
            <a:avLst/>
          </a:prstGeom>
          <a:noFill/>
        </p:spPr>
        <p:txBody>
          <a:bodyPr wrap="square">
            <a:spAutoFit/>
          </a:bodyPr>
          <a:lstStyle/>
          <a:p>
            <a:pPr algn="ctr"/>
            <a:r>
              <a:rPr lang="en-US" sz="2800" dirty="0">
                <a:solidFill>
                  <a:schemeClr val="accent6">
                    <a:lumMod val="75000"/>
                  </a:schemeClr>
                </a:solidFill>
              </a:rPr>
              <a:t>CC </a:t>
            </a:r>
            <a:r>
              <a:rPr lang="en-US" sz="2800" dirty="0">
                <a:solidFill>
                  <a:srgbClr val="FF0000"/>
                </a:solidFill>
              </a:rPr>
              <a:t>TT</a:t>
            </a:r>
            <a:r>
              <a:rPr lang="en-US" sz="2800" dirty="0">
                <a:solidFill>
                  <a:schemeClr val="accent6">
                    <a:lumMod val="75000"/>
                  </a:schemeClr>
                </a:solidFill>
              </a:rPr>
              <a:t> C</a:t>
            </a:r>
            <a:r>
              <a:rPr lang="en-US" sz="2800" dirty="0">
                <a:solidFill>
                  <a:srgbClr val="FF0000"/>
                </a:solidFill>
              </a:rPr>
              <a:t>T </a:t>
            </a:r>
            <a:r>
              <a:rPr lang="en-US" sz="2800" dirty="0">
                <a:solidFill>
                  <a:schemeClr val="accent6">
                    <a:lumMod val="75000"/>
                  </a:schemeClr>
                </a:solidFill>
              </a:rPr>
              <a:t>CC CC</a:t>
            </a:r>
            <a:endParaRPr lang="en-US" sz="2800" dirty="0">
              <a:solidFill>
                <a:srgbClr val="FF0000"/>
              </a:solidFill>
            </a:endParaRPr>
          </a:p>
        </p:txBody>
      </p:sp>
      <p:sp>
        <p:nvSpPr>
          <p:cNvPr id="26" name="TextBox 25">
            <a:extLst>
              <a:ext uri="{FF2B5EF4-FFF2-40B4-BE49-F238E27FC236}">
                <a16:creationId xmlns:a16="http://schemas.microsoft.com/office/drawing/2014/main" id="{08F94006-E8D9-0D6C-EDFB-D525C4FCF0C3}"/>
              </a:ext>
            </a:extLst>
          </p:cNvPr>
          <p:cNvSpPr txBox="1"/>
          <p:nvPr/>
        </p:nvSpPr>
        <p:spPr>
          <a:xfrm>
            <a:off x="1030147" y="5481712"/>
            <a:ext cx="1964952" cy="369332"/>
          </a:xfrm>
          <a:prstGeom prst="rect">
            <a:avLst/>
          </a:prstGeom>
          <a:noFill/>
        </p:spPr>
        <p:txBody>
          <a:bodyPr wrap="square" rtlCol="0" anchor="ctr">
            <a:spAutoFit/>
          </a:bodyPr>
          <a:lstStyle/>
          <a:p>
            <a:pPr algn="ctr"/>
            <a:r>
              <a:rPr lang="en-US" dirty="0">
                <a:solidFill>
                  <a:srgbClr val="548235"/>
                </a:solidFill>
              </a:rPr>
              <a:t>Count: </a:t>
            </a:r>
          </a:p>
        </p:txBody>
      </p:sp>
      <p:cxnSp>
        <p:nvCxnSpPr>
          <p:cNvPr id="28" name="Straight Arrow Connector 27">
            <a:extLst>
              <a:ext uri="{FF2B5EF4-FFF2-40B4-BE49-F238E27FC236}">
                <a16:creationId xmlns:a16="http://schemas.microsoft.com/office/drawing/2014/main" id="{B2DEE9A6-639F-786C-35B0-AEF8EF62626D}"/>
              </a:ext>
            </a:extLst>
          </p:cNvPr>
          <p:cNvCxnSpPr>
            <a:cxnSpLocks/>
          </p:cNvCxnSpPr>
          <p:nvPr/>
        </p:nvCxnSpPr>
        <p:spPr>
          <a:xfrm>
            <a:off x="4575541" y="6288786"/>
            <a:ext cx="0" cy="4247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E7987DE1-2C08-9406-D3E3-A258969955E4}"/>
              </a:ext>
            </a:extLst>
          </p:cNvPr>
          <p:cNvSpPr/>
          <p:nvPr/>
        </p:nvSpPr>
        <p:spPr>
          <a:xfrm>
            <a:off x="2592795" y="5574938"/>
            <a:ext cx="3200400" cy="182880"/>
          </a:xfrm>
          <a:prstGeom prst="rect">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30" name="Rectangle 29">
            <a:extLst>
              <a:ext uri="{FF2B5EF4-FFF2-40B4-BE49-F238E27FC236}">
                <a16:creationId xmlns:a16="http://schemas.microsoft.com/office/drawing/2014/main" id="{3D3106B2-F8FE-5586-810C-56B6D8ECB259}"/>
              </a:ext>
            </a:extLst>
          </p:cNvPr>
          <p:cNvSpPr/>
          <p:nvPr/>
        </p:nvSpPr>
        <p:spPr>
          <a:xfrm>
            <a:off x="5793195" y="5574938"/>
            <a:ext cx="1371600" cy="18288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1" name="TextBox 30">
            <a:extLst>
              <a:ext uri="{FF2B5EF4-FFF2-40B4-BE49-F238E27FC236}">
                <a16:creationId xmlns:a16="http://schemas.microsoft.com/office/drawing/2014/main" id="{FFC36204-1BFE-2DD2-5ECB-B13BABC8D6E3}"/>
              </a:ext>
            </a:extLst>
          </p:cNvPr>
          <p:cNvSpPr txBox="1"/>
          <p:nvPr/>
        </p:nvSpPr>
        <p:spPr>
          <a:xfrm>
            <a:off x="2270857" y="5500686"/>
            <a:ext cx="3582702" cy="307777"/>
          </a:xfrm>
          <a:prstGeom prst="rect">
            <a:avLst/>
          </a:prstGeom>
          <a:noFill/>
        </p:spPr>
        <p:txBody>
          <a:bodyPr wrap="square" rtlCol="0" anchor="ctr">
            <a:spAutoFit/>
          </a:bodyPr>
          <a:lstStyle/>
          <a:p>
            <a:pPr algn="ctr"/>
            <a:r>
              <a:rPr lang="en-US" sz="1400" dirty="0">
                <a:solidFill>
                  <a:schemeClr val="bg1">
                    <a:lumMod val="95000"/>
                  </a:schemeClr>
                </a:solidFill>
              </a:rPr>
              <a:t>C: 7 (70%)</a:t>
            </a:r>
          </a:p>
        </p:txBody>
      </p:sp>
      <p:sp>
        <p:nvSpPr>
          <p:cNvPr id="32" name="TextBox 31">
            <a:extLst>
              <a:ext uri="{FF2B5EF4-FFF2-40B4-BE49-F238E27FC236}">
                <a16:creationId xmlns:a16="http://schemas.microsoft.com/office/drawing/2014/main" id="{8DC050A3-6B75-028E-BE5C-E456AA19FE57}"/>
              </a:ext>
            </a:extLst>
          </p:cNvPr>
          <p:cNvSpPr txBox="1"/>
          <p:nvPr/>
        </p:nvSpPr>
        <p:spPr>
          <a:xfrm>
            <a:off x="4687644" y="5500685"/>
            <a:ext cx="3582702" cy="307777"/>
          </a:xfrm>
          <a:prstGeom prst="rect">
            <a:avLst/>
          </a:prstGeom>
          <a:noFill/>
        </p:spPr>
        <p:txBody>
          <a:bodyPr wrap="square" rtlCol="0" anchor="ctr">
            <a:spAutoFit/>
          </a:bodyPr>
          <a:lstStyle/>
          <a:p>
            <a:pPr algn="ctr"/>
            <a:r>
              <a:rPr lang="en-US" sz="1400" dirty="0">
                <a:solidFill>
                  <a:schemeClr val="bg1">
                    <a:lumMod val="95000"/>
                  </a:schemeClr>
                </a:solidFill>
              </a:rPr>
              <a:t>T: 3 (30%)</a:t>
            </a:r>
          </a:p>
        </p:txBody>
      </p:sp>
      <p:sp>
        <p:nvSpPr>
          <p:cNvPr id="33" name="TextBox 32">
            <a:extLst>
              <a:ext uri="{FF2B5EF4-FFF2-40B4-BE49-F238E27FC236}">
                <a16:creationId xmlns:a16="http://schemas.microsoft.com/office/drawing/2014/main" id="{6017FA7F-1D55-A142-A3E0-656837318BE8}"/>
              </a:ext>
            </a:extLst>
          </p:cNvPr>
          <p:cNvSpPr txBox="1"/>
          <p:nvPr/>
        </p:nvSpPr>
        <p:spPr>
          <a:xfrm>
            <a:off x="1183330" y="7342948"/>
            <a:ext cx="3582702" cy="646331"/>
          </a:xfrm>
          <a:prstGeom prst="rect">
            <a:avLst/>
          </a:prstGeom>
          <a:noFill/>
        </p:spPr>
        <p:txBody>
          <a:bodyPr wrap="square" rtlCol="0" anchor="ctr">
            <a:spAutoFit/>
          </a:bodyPr>
          <a:lstStyle/>
          <a:p>
            <a:pPr algn="ctr"/>
            <a:r>
              <a:rPr lang="en-US" dirty="0">
                <a:solidFill>
                  <a:schemeClr val="accent6">
                    <a:lumMod val="50000"/>
                  </a:schemeClr>
                </a:solidFill>
              </a:rPr>
              <a:t>Major allele: C (70%)</a:t>
            </a:r>
          </a:p>
          <a:p>
            <a:pPr algn="ctr"/>
            <a:r>
              <a:rPr lang="en-US" dirty="0">
                <a:solidFill>
                  <a:srgbClr val="FF0000"/>
                </a:solidFill>
              </a:rPr>
              <a:t>Minor allele: T (30%)</a:t>
            </a:r>
          </a:p>
        </p:txBody>
      </p:sp>
      <p:sp>
        <p:nvSpPr>
          <p:cNvPr id="34" name="TextBox 33">
            <a:extLst>
              <a:ext uri="{FF2B5EF4-FFF2-40B4-BE49-F238E27FC236}">
                <a16:creationId xmlns:a16="http://schemas.microsoft.com/office/drawing/2014/main" id="{92C2D870-8A39-D7CD-21F2-AC09E4771687}"/>
              </a:ext>
            </a:extLst>
          </p:cNvPr>
          <p:cNvSpPr txBox="1"/>
          <p:nvPr/>
        </p:nvSpPr>
        <p:spPr>
          <a:xfrm>
            <a:off x="4508866" y="7454858"/>
            <a:ext cx="3582702" cy="369332"/>
          </a:xfrm>
          <a:prstGeom prst="rect">
            <a:avLst/>
          </a:prstGeom>
          <a:noFill/>
        </p:spPr>
        <p:txBody>
          <a:bodyPr wrap="square" rtlCol="0" anchor="ctr">
            <a:spAutoFit/>
          </a:bodyPr>
          <a:lstStyle/>
          <a:p>
            <a:pPr algn="ctr"/>
            <a:r>
              <a:rPr lang="en-US" dirty="0"/>
              <a:t>Minor Allele Frequency (MAF) = 0.3</a:t>
            </a:r>
          </a:p>
        </p:txBody>
      </p:sp>
    </p:spTree>
    <p:extLst>
      <p:ext uri="{BB962C8B-B14F-4D97-AF65-F5344CB8AC3E}">
        <p14:creationId xmlns:p14="http://schemas.microsoft.com/office/powerpoint/2010/main" val="102912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AD74185D-9629-B1E1-6431-CEFCFE489923}"/>
              </a:ext>
            </a:extLst>
          </p:cNvPr>
          <p:cNvSpPr/>
          <p:nvPr/>
        </p:nvSpPr>
        <p:spPr>
          <a:xfrm>
            <a:off x="2555690" y="8087939"/>
            <a:ext cx="4115357" cy="700698"/>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D237A23B-5808-A7DB-4853-1ECE29948599}"/>
              </a:ext>
            </a:extLst>
          </p:cNvPr>
          <p:cNvSpPr txBox="1"/>
          <p:nvPr/>
        </p:nvSpPr>
        <p:spPr>
          <a:xfrm>
            <a:off x="1638822" y="300845"/>
            <a:ext cx="5949483" cy="407099"/>
          </a:xfrm>
          <a:prstGeom prst="rect">
            <a:avLst/>
          </a:prstGeom>
          <a:noFill/>
        </p:spPr>
        <p:txBody>
          <a:bodyPr wrap="square" rtlCol="0" anchor="ctr">
            <a:spAutoFit/>
          </a:bodyPr>
          <a:lstStyle/>
          <a:p>
            <a:pPr algn="ctr"/>
            <a:r>
              <a:rPr lang="en-US" sz="2000" b="1" dirty="0">
                <a:solidFill>
                  <a:schemeClr val="tx1"/>
                </a:solidFill>
              </a:rPr>
              <a:t>Hardy-Weinberg Equilibrium</a:t>
            </a:r>
          </a:p>
        </p:txBody>
      </p:sp>
      <p:sp>
        <p:nvSpPr>
          <p:cNvPr id="6" name="TextBox 5">
            <a:extLst>
              <a:ext uri="{FF2B5EF4-FFF2-40B4-BE49-F238E27FC236}">
                <a16:creationId xmlns:a16="http://schemas.microsoft.com/office/drawing/2014/main" id="{DADBC1A1-65E0-C4B5-2146-D849932C5A1C}"/>
              </a:ext>
            </a:extLst>
          </p:cNvPr>
          <p:cNvSpPr txBox="1"/>
          <p:nvPr/>
        </p:nvSpPr>
        <p:spPr>
          <a:xfrm>
            <a:off x="1413164" y="7434163"/>
            <a:ext cx="3200400" cy="365760"/>
          </a:xfrm>
          <a:prstGeom prst="rect">
            <a:avLst/>
          </a:prstGeom>
          <a:solidFill>
            <a:schemeClr val="accent5">
              <a:lumMod val="60000"/>
              <a:lumOff val="40000"/>
            </a:schemeClr>
          </a:solidFill>
          <a:ln>
            <a:solidFill>
              <a:schemeClr val="accent5">
                <a:lumMod val="60000"/>
                <a:lumOff val="40000"/>
              </a:schemeClr>
            </a:solidFill>
          </a:ln>
        </p:spPr>
        <p:txBody>
          <a:bodyPr wrap="square" rtlCol="0" anchor="ctr">
            <a:spAutoFit/>
          </a:bodyPr>
          <a:lstStyle/>
          <a:p>
            <a:pPr algn="ctr"/>
            <a:endParaRPr lang="en-US" sz="800" dirty="0"/>
          </a:p>
        </p:txBody>
      </p:sp>
      <p:sp>
        <p:nvSpPr>
          <p:cNvPr id="8" name="Rectangle 7">
            <a:extLst>
              <a:ext uri="{FF2B5EF4-FFF2-40B4-BE49-F238E27FC236}">
                <a16:creationId xmlns:a16="http://schemas.microsoft.com/office/drawing/2014/main" id="{38A4EF0D-5861-630B-4E46-8C008CF5C3D5}"/>
              </a:ext>
            </a:extLst>
          </p:cNvPr>
          <p:cNvSpPr/>
          <p:nvPr/>
        </p:nvSpPr>
        <p:spPr>
          <a:xfrm>
            <a:off x="2030725" y="1435776"/>
            <a:ext cx="3840480" cy="384048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FCFDA689-20F3-E2F9-2BA6-7B6943F71B95}"/>
              </a:ext>
            </a:extLst>
          </p:cNvPr>
          <p:cNvSpPr/>
          <p:nvPr/>
        </p:nvSpPr>
        <p:spPr>
          <a:xfrm>
            <a:off x="5880719" y="1435777"/>
            <a:ext cx="1645920" cy="3840479"/>
          </a:xfrm>
          <a:prstGeom prst="rect">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B7E1410B-E6A1-710C-40D4-ED92087DA109}"/>
              </a:ext>
            </a:extLst>
          </p:cNvPr>
          <p:cNvSpPr/>
          <p:nvPr/>
        </p:nvSpPr>
        <p:spPr>
          <a:xfrm>
            <a:off x="2030725" y="5255983"/>
            <a:ext cx="3840480" cy="1645920"/>
          </a:xfrm>
          <a:prstGeom prst="rect">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DBCCE174-A920-8F52-A2BA-26CE4EF6F554}"/>
              </a:ext>
            </a:extLst>
          </p:cNvPr>
          <p:cNvSpPr/>
          <p:nvPr/>
        </p:nvSpPr>
        <p:spPr>
          <a:xfrm>
            <a:off x="5880719" y="5255983"/>
            <a:ext cx="1645920" cy="1645920"/>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FE0E0237-EE02-3176-A98D-DF37C60715AA}"/>
                  </a:ext>
                </a:extLst>
              </p:cNvPr>
              <p:cNvSpPr txBox="1"/>
              <p:nvPr/>
            </p:nvSpPr>
            <p:spPr>
              <a:xfrm>
                <a:off x="2350765" y="2925129"/>
                <a:ext cx="3200400" cy="861774"/>
              </a:xfrm>
              <a:prstGeom prst="rect">
                <a:avLst/>
              </a:prstGeom>
              <a:noFill/>
            </p:spPr>
            <p:txBody>
              <a:bodyPr wrap="square" rtlCol="0" anchor="ctr">
                <a:spAutoFit/>
              </a:bodyPr>
              <a:lstStyle/>
              <a:p>
                <a:pPr algn="ctr"/>
                <a:r>
                  <a:rPr lang="en-US" sz="3200" dirty="0">
                    <a:solidFill>
                      <a:schemeClr val="tx1"/>
                    </a:solidFill>
                    <a:latin typeface="+mj-lt"/>
                  </a:rPr>
                  <a:t>AA</a:t>
                </a:r>
              </a:p>
              <a:p>
                <a:pPr algn="ctr"/>
                <a:r>
                  <a:rPr lang="en-US" dirty="0">
                    <a:solidFill>
                      <a:schemeClr val="tx1"/>
                    </a:solidFill>
                    <a:latin typeface="+mj-lt"/>
                  </a:rPr>
                  <a:t>(</a:t>
                </a:r>
                <a14:m>
                  <m:oMath xmlns:m="http://schemas.openxmlformats.org/officeDocument/2006/math">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𝐴</m:t>
                        </m:r>
                      </m:sub>
                    </m:sSub>
                    <m:r>
                      <a:rPr lang="en-US" b="0" i="1" smtClean="0">
                        <a:solidFill>
                          <a:schemeClr val="tx1"/>
                        </a:solidFill>
                        <a:latin typeface="+mj-lt"/>
                        <a:ea typeface="Cambria Math" panose="02040503050406030204" pitchFamily="18" charset="0"/>
                      </a:rPr>
                      <m:t>×</m:t>
                    </m:r>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𝐴</m:t>
                        </m:r>
                      </m:sub>
                    </m:sSub>
                    <m:r>
                      <a:rPr lang="en-US" b="0" i="1" smtClean="0">
                        <a:solidFill>
                          <a:schemeClr val="tx1"/>
                        </a:solidFill>
                        <a:latin typeface="+mj-lt"/>
                        <a:ea typeface="Cambria Math" panose="02040503050406030204" pitchFamily="18" charset="0"/>
                      </a:rPr>
                      <m:t>=0.49</m:t>
                    </m:r>
                  </m:oMath>
                </a14:m>
                <a:r>
                  <a:rPr lang="en-US" dirty="0">
                    <a:solidFill>
                      <a:schemeClr val="tx1"/>
                    </a:solidFill>
                    <a:latin typeface="+mj-lt"/>
                  </a:rPr>
                  <a:t>)</a:t>
                </a:r>
              </a:p>
            </p:txBody>
          </p:sp>
        </mc:Choice>
        <mc:Fallback>
          <p:sp>
            <p:nvSpPr>
              <p:cNvPr id="12" name="TextBox 11">
                <a:extLst>
                  <a:ext uri="{FF2B5EF4-FFF2-40B4-BE49-F238E27FC236}">
                    <a16:creationId xmlns:a16="http://schemas.microsoft.com/office/drawing/2014/main" id="{FE0E0237-EE02-3176-A98D-DF37C60715AA}"/>
                  </a:ext>
                </a:extLst>
              </p:cNvPr>
              <p:cNvSpPr txBox="1">
                <a:spLocks noRot="1" noChangeAspect="1" noMove="1" noResize="1" noEditPoints="1" noAdjustHandles="1" noChangeArrowheads="1" noChangeShapeType="1" noTextEdit="1"/>
              </p:cNvSpPr>
              <p:nvPr/>
            </p:nvSpPr>
            <p:spPr>
              <a:xfrm>
                <a:off x="2350765" y="2925129"/>
                <a:ext cx="3200400" cy="861774"/>
              </a:xfrm>
              <a:prstGeom prst="rect">
                <a:avLst/>
              </a:prstGeom>
              <a:blipFill>
                <a:blip r:embed="rId2"/>
                <a:stretch>
                  <a:fillRect t="-8696" b="-101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9F79E72-754E-B958-3D63-C24326A74739}"/>
                  </a:ext>
                </a:extLst>
              </p:cNvPr>
              <p:cNvSpPr txBox="1"/>
              <p:nvPr/>
            </p:nvSpPr>
            <p:spPr>
              <a:xfrm>
                <a:off x="5611692" y="2925129"/>
                <a:ext cx="2183974" cy="861774"/>
              </a:xfrm>
              <a:prstGeom prst="rect">
                <a:avLst/>
              </a:prstGeom>
              <a:noFill/>
            </p:spPr>
            <p:txBody>
              <a:bodyPr wrap="square" rtlCol="0" anchor="ctr">
                <a:spAutoFit/>
              </a:bodyPr>
              <a:lstStyle/>
              <a:p>
                <a:pPr algn="ctr"/>
                <a:r>
                  <a:rPr lang="en-US" sz="3200" dirty="0">
                    <a:solidFill>
                      <a:schemeClr val="tx1"/>
                    </a:solidFill>
                    <a:latin typeface="+mj-lt"/>
                  </a:rPr>
                  <a:t>Aa</a:t>
                </a:r>
              </a:p>
              <a:p>
                <a:pPr algn="ctr"/>
                <a:r>
                  <a:rPr lang="en-US" dirty="0">
                    <a:solidFill>
                      <a:schemeClr val="tx1"/>
                    </a:solidFill>
                    <a:latin typeface="+mj-lt"/>
                  </a:rPr>
                  <a:t>(</a:t>
                </a:r>
                <a14:m>
                  <m:oMath xmlns:m="http://schemas.openxmlformats.org/officeDocument/2006/math">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𝐴</m:t>
                        </m:r>
                      </m:sub>
                    </m:sSub>
                    <m:r>
                      <a:rPr lang="en-US" i="1">
                        <a:latin typeface="+mj-lt"/>
                        <a:ea typeface="Cambria Math" panose="02040503050406030204" pitchFamily="18" charset="0"/>
                      </a:rPr>
                      <m:t> ×</m:t>
                    </m:r>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𝑎</m:t>
                        </m:r>
                      </m:sub>
                    </m:sSub>
                    <m:r>
                      <a:rPr lang="en-US" i="1">
                        <a:latin typeface="+mj-lt"/>
                        <a:ea typeface="Cambria Math" panose="02040503050406030204" pitchFamily="18" charset="0"/>
                      </a:rPr>
                      <m:t>=0.21</m:t>
                    </m:r>
                  </m:oMath>
                </a14:m>
                <a:r>
                  <a:rPr lang="en-US" dirty="0">
                    <a:solidFill>
                      <a:schemeClr val="tx1"/>
                    </a:solidFill>
                    <a:latin typeface="+mj-lt"/>
                  </a:rPr>
                  <a:t>)</a:t>
                </a:r>
              </a:p>
            </p:txBody>
          </p:sp>
        </mc:Choice>
        <mc:Fallback>
          <p:sp>
            <p:nvSpPr>
              <p:cNvPr id="13" name="TextBox 12">
                <a:extLst>
                  <a:ext uri="{FF2B5EF4-FFF2-40B4-BE49-F238E27FC236}">
                    <a16:creationId xmlns:a16="http://schemas.microsoft.com/office/drawing/2014/main" id="{59F79E72-754E-B958-3D63-C24326A74739}"/>
                  </a:ext>
                </a:extLst>
              </p:cNvPr>
              <p:cNvSpPr txBox="1">
                <a:spLocks noRot="1" noChangeAspect="1" noMove="1" noResize="1" noEditPoints="1" noAdjustHandles="1" noChangeArrowheads="1" noChangeShapeType="1" noTextEdit="1"/>
              </p:cNvSpPr>
              <p:nvPr/>
            </p:nvSpPr>
            <p:spPr>
              <a:xfrm>
                <a:off x="5611692" y="2925129"/>
                <a:ext cx="2183974" cy="861774"/>
              </a:xfrm>
              <a:prstGeom prst="rect">
                <a:avLst/>
              </a:prstGeom>
              <a:blipFill>
                <a:blip r:embed="rId3"/>
                <a:stretch>
                  <a:fillRect t="-8696" b="-101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C688AB4-2215-39CE-1DF7-0794D60BE8A4}"/>
                  </a:ext>
                </a:extLst>
              </p:cNvPr>
              <p:cNvSpPr txBox="1"/>
              <p:nvPr/>
            </p:nvSpPr>
            <p:spPr>
              <a:xfrm>
                <a:off x="2350765" y="5630887"/>
                <a:ext cx="3200400" cy="896112"/>
              </a:xfrm>
              <a:prstGeom prst="rect">
                <a:avLst/>
              </a:prstGeom>
              <a:noFill/>
            </p:spPr>
            <p:txBody>
              <a:bodyPr wrap="square" rtlCol="0" anchor="ctr">
                <a:spAutoFit/>
              </a:bodyPr>
              <a:lstStyle/>
              <a:p>
                <a:pPr algn="ctr"/>
                <a:r>
                  <a:rPr lang="en-US" sz="3200" dirty="0">
                    <a:solidFill>
                      <a:schemeClr val="tx1"/>
                    </a:solidFill>
                    <a:latin typeface="+mj-lt"/>
                  </a:rPr>
                  <a:t>Aa</a:t>
                </a:r>
              </a:p>
              <a:p>
                <a:pPr algn="ctr"/>
                <a:r>
                  <a:rPr lang="en-US" dirty="0">
                    <a:solidFill>
                      <a:schemeClr val="tx1"/>
                    </a:solidFill>
                    <a:latin typeface="+mj-lt"/>
                  </a:rPr>
                  <a:t>(</a:t>
                </a:r>
                <a14:m>
                  <m:oMath xmlns:m="http://schemas.openxmlformats.org/officeDocument/2006/math">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𝐴</m:t>
                        </m:r>
                      </m:sub>
                    </m:sSub>
                    <m:r>
                      <a:rPr lang="en-US" i="1">
                        <a:latin typeface="+mj-lt"/>
                        <a:ea typeface="Cambria Math" panose="02040503050406030204" pitchFamily="18" charset="0"/>
                      </a:rPr>
                      <m:t> ×</m:t>
                    </m:r>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𝑎</m:t>
                        </m:r>
                      </m:sub>
                    </m:sSub>
                    <m:r>
                      <a:rPr lang="en-US" i="1">
                        <a:latin typeface="+mj-lt"/>
                        <a:ea typeface="Cambria Math" panose="02040503050406030204" pitchFamily="18" charset="0"/>
                      </a:rPr>
                      <m:t>=0.21</m:t>
                    </m:r>
                  </m:oMath>
                </a14:m>
                <a:r>
                  <a:rPr lang="en-US" dirty="0">
                    <a:solidFill>
                      <a:schemeClr val="tx1"/>
                    </a:solidFill>
                    <a:latin typeface="+mj-lt"/>
                  </a:rPr>
                  <a:t>)</a:t>
                </a:r>
              </a:p>
            </p:txBody>
          </p:sp>
        </mc:Choice>
        <mc:Fallback>
          <p:sp>
            <p:nvSpPr>
              <p:cNvPr id="14" name="TextBox 13">
                <a:extLst>
                  <a:ext uri="{FF2B5EF4-FFF2-40B4-BE49-F238E27FC236}">
                    <a16:creationId xmlns:a16="http://schemas.microsoft.com/office/drawing/2014/main" id="{DC688AB4-2215-39CE-1DF7-0794D60BE8A4}"/>
                  </a:ext>
                </a:extLst>
              </p:cNvPr>
              <p:cNvSpPr txBox="1">
                <a:spLocks noRot="1" noChangeAspect="1" noMove="1" noResize="1" noEditPoints="1" noAdjustHandles="1" noChangeArrowheads="1" noChangeShapeType="1" noTextEdit="1"/>
              </p:cNvSpPr>
              <p:nvPr/>
            </p:nvSpPr>
            <p:spPr>
              <a:xfrm>
                <a:off x="2350765" y="5630887"/>
                <a:ext cx="3200400" cy="896112"/>
              </a:xfrm>
              <a:prstGeom prst="rect">
                <a:avLst/>
              </a:prstGeom>
              <a:blipFill>
                <a:blip r:embed="rId4"/>
                <a:stretch>
                  <a:fillRect t="-6944" b="-694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F58E6366-48A2-219C-BFFE-9BB9E3E5A3E3}"/>
                  </a:ext>
                </a:extLst>
              </p:cNvPr>
              <p:cNvSpPr txBox="1"/>
              <p:nvPr/>
            </p:nvSpPr>
            <p:spPr>
              <a:xfrm>
                <a:off x="5764969" y="5648056"/>
                <a:ext cx="1877420" cy="861774"/>
              </a:xfrm>
              <a:prstGeom prst="rect">
                <a:avLst/>
              </a:prstGeom>
              <a:noFill/>
            </p:spPr>
            <p:txBody>
              <a:bodyPr wrap="square" rtlCol="0" anchor="ctr">
                <a:spAutoFit/>
              </a:bodyPr>
              <a:lstStyle/>
              <a:p>
                <a:pPr algn="ctr"/>
                <a:r>
                  <a:rPr lang="en-US" sz="3200" dirty="0">
                    <a:solidFill>
                      <a:schemeClr val="tx1"/>
                    </a:solidFill>
                    <a:latin typeface="+mj-lt"/>
                  </a:rPr>
                  <a:t>aa</a:t>
                </a:r>
              </a:p>
              <a:p>
                <a:pPr algn="ctr"/>
                <a:r>
                  <a:rPr lang="en-US" dirty="0">
                    <a:solidFill>
                      <a:schemeClr val="tx1"/>
                    </a:solidFill>
                    <a:latin typeface="+mj-lt"/>
                  </a:rPr>
                  <a:t>(</a:t>
                </a:r>
                <a14:m>
                  <m:oMath xmlns:m="http://schemas.openxmlformats.org/officeDocument/2006/math">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𝑎</m:t>
                        </m:r>
                      </m:sub>
                    </m:sSub>
                    <m:r>
                      <a:rPr lang="en-US" b="0" i="1" smtClean="0">
                        <a:solidFill>
                          <a:schemeClr val="tx1"/>
                        </a:solidFill>
                        <a:latin typeface="+mj-lt"/>
                        <a:ea typeface="Cambria Math" panose="02040503050406030204" pitchFamily="18" charset="0"/>
                      </a:rPr>
                      <m:t>×</m:t>
                    </m:r>
                    <m:sSub>
                      <m:sSubPr>
                        <m:ctrlPr>
                          <a:rPr lang="en-US" i="1">
                            <a:latin typeface="+mj-lt"/>
                            <a:ea typeface="Cambria Math" panose="02040503050406030204" pitchFamily="18" charset="0"/>
                          </a:rPr>
                        </m:ctrlPr>
                      </m:sSubPr>
                      <m:e>
                        <m:r>
                          <a:rPr lang="en-US" i="1">
                            <a:latin typeface="+mj-lt"/>
                            <a:ea typeface="Cambria Math" panose="02040503050406030204" pitchFamily="18" charset="0"/>
                          </a:rPr>
                          <m:t>𝑓</m:t>
                        </m:r>
                      </m:e>
                      <m:sub>
                        <m:r>
                          <a:rPr lang="en-US" i="1">
                            <a:latin typeface="+mj-lt"/>
                            <a:ea typeface="Cambria Math" panose="02040503050406030204" pitchFamily="18" charset="0"/>
                          </a:rPr>
                          <m:t>𝑎</m:t>
                        </m:r>
                      </m:sub>
                    </m:sSub>
                    <m:r>
                      <a:rPr lang="en-US" b="0" i="1" smtClean="0">
                        <a:solidFill>
                          <a:schemeClr val="tx1"/>
                        </a:solidFill>
                        <a:latin typeface="+mj-lt"/>
                        <a:ea typeface="Cambria Math" panose="02040503050406030204" pitchFamily="18" charset="0"/>
                      </a:rPr>
                      <m:t>=0.09</m:t>
                    </m:r>
                  </m:oMath>
                </a14:m>
                <a:r>
                  <a:rPr lang="en-US" dirty="0">
                    <a:solidFill>
                      <a:schemeClr val="tx1"/>
                    </a:solidFill>
                    <a:latin typeface="+mj-lt"/>
                  </a:rPr>
                  <a:t>)</a:t>
                </a:r>
              </a:p>
            </p:txBody>
          </p:sp>
        </mc:Choice>
        <mc:Fallback>
          <p:sp>
            <p:nvSpPr>
              <p:cNvPr id="15" name="TextBox 14">
                <a:extLst>
                  <a:ext uri="{FF2B5EF4-FFF2-40B4-BE49-F238E27FC236}">
                    <a16:creationId xmlns:a16="http://schemas.microsoft.com/office/drawing/2014/main" id="{F58E6366-48A2-219C-BFFE-9BB9E3E5A3E3}"/>
                  </a:ext>
                </a:extLst>
              </p:cNvPr>
              <p:cNvSpPr txBox="1">
                <a:spLocks noRot="1" noChangeAspect="1" noMove="1" noResize="1" noEditPoints="1" noAdjustHandles="1" noChangeArrowheads="1" noChangeShapeType="1" noTextEdit="1"/>
              </p:cNvSpPr>
              <p:nvPr/>
            </p:nvSpPr>
            <p:spPr>
              <a:xfrm>
                <a:off x="5764969" y="5648056"/>
                <a:ext cx="1877420" cy="861774"/>
              </a:xfrm>
              <a:prstGeom prst="rect">
                <a:avLst/>
              </a:prstGeom>
              <a:blipFill>
                <a:blip r:embed="rId5"/>
                <a:stretch>
                  <a:fillRect t="-8696" b="-101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6C695F4E-72EB-E11A-ECBF-6C05C8FC8768}"/>
                  </a:ext>
                </a:extLst>
              </p:cNvPr>
              <p:cNvSpPr txBox="1"/>
              <p:nvPr/>
            </p:nvSpPr>
            <p:spPr>
              <a:xfrm>
                <a:off x="1664965" y="1056061"/>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𝑓</m:t>
                          </m:r>
                        </m:e>
                        <m:sub>
                          <m:r>
                            <a:rPr lang="en-US" b="0" i="1" smtClean="0">
                              <a:solidFill>
                                <a:schemeClr val="tx1"/>
                              </a:solidFill>
                              <a:latin typeface="Cambria Math" panose="02040503050406030204" pitchFamily="18" charset="0"/>
                              <a:ea typeface="Cambria Math" panose="02040503050406030204" pitchFamily="18" charset="0"/>
                            </a:rPr>
                            <m:t>𝐴</m:t>
                          </m:r>
                        </m:sub>
                      </m:sSub>
                      <m:r>
                        <a:rPr lang="en-US" b="0" i="1" smtClean="0">
                          <a:solidFill>
                            <a:schemeClr val="tx1"/>
                          </a:solidFill>
                          <a:latin typeface="Cambria Math" panose="02040503050406030204" pitchFamily="18" charset="0"/>
                          <a:ea typeface="Cambria Math" panose="02040503050406030204" pitchFamily="18" charset="0"/>
                        </a:rPr>
                        <m:t>=0.7</m:t>
                      </m:r>
                    </m:oMath>
                  </m:oMathPara>
                </a14:m>
                <a:endParaRPr lang="en-US" dirty="0">
                  <a:solidFill>
                    <a:schemeClr val="tx1"/>
                  </a:solidFill>
                </a:endParaRPr>
              </a:p>
            </p:txBody>
          </p:sp>
        </mc:Choice>
        <mc:Fallback>
          <p:sp>
            <p:nvSpPr>
              <p:cNvPr id="17" name="TextBox 16">
                <a:extLst>
                  <a:ext uri="{FF2B5EF4-FFF2-40B4-BE49-F238E27FC236}">
                    <a16:creationId xmlns:a16="http://schemas.microsoft.com/office/drawing/2014/main" id="{6C695F4E-72EB-E11A-ECBF-6C05C8FC8768}"/>
                  </a:ext>
                </a:extLst>
              </p:cNvPr>
              <p:cNvSpPr txBox="1">
                <a:spLocks noRot="1" noChangeAspect="1" noMove="1" noResize="1" noEditPoints="1" noAdjustHandles="1" noChangeArrowheads="1" noChangeShapeType="1" noTextEdit="1"/>
              </p:cNvSpPr>
              <p:nvPr/>
            </p:nvSpPr>
            <p:spPr>
              <a:xfrm>
                <a:off x="1664965" y="1056061"/>
                <a:ext cx="4572000"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81EF444-50C3-C944-3494-717498CABB1D}"/>
                  </a:ext>
                </a:extLst>
              </p:cNvPr>
              <p:cNvSpPr txBox="1"/>
              <p:nvPr/>
            </p:nvSpPr>
            <p:spPr>
              <a:xfrm>
                <a:off x="6194445" y="1071125"/>
                <a:ext cx="10184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𝑎</m:t>
                          </m:r>
                        </m:sub>
                      </m:sSub>
                      <m:r>
                        <a:rPr lang="en-US" i="1">
                          <a:latin typeface="Cambria Math" panose="02040503050406030204" pitchFamily="18" charset="0"/>
                          <a:ea typeface="Cambria Math" panose="02040503050406030204" pitchFamily="18" charset="0"/>
                        </a:rPr>
                        <m:t>=0.3</m:t>
                      </m:r>
                    </m:oMath>
                  </m:oMathPara>
                </a14:m>
                <a:endParaRPr lang="en-US" dirty="0">
                  <a:solidFill>
                    <a:schemeClr val="tx1"/>
                  </a:solidFill>
                </a:endParaRPr>
              </a:p>
            </p:txBody>
          </p:sp>
        </mc:Choice>
        <mc:Fallback>
          <p:sp>
            <p:nvSpPr>
              <p:cNvPr id="18" name="TextBox 17">
                <a:extLst>
                  <a:ext uri="{FF2B5EF4-FFF2-40B4-BE49-F238E27FC236}">
                    <a16:creationId xmlns:a16="http://schemas.microsoft.com/office/drawing/2014/main" id="{A81EF444-50C3-C944-3494-717498CABB1D}"/>
                  </a:ext>
                </a:extLst>
              </p:cNvPr>
              <p:cNvSpPr txBox="1">
                <a:spLocks noRot="1" noChangeAspect="1" noMove="1" noResize="1" noEditPoints="1" noAdjustHandles="1" noChangeArrowheads="1" noChangeShapeType="1" noTextEdit="1"/>
              </p:cNvSpPr>
              <p:nvPr/>
            </p:nvSpPr>
            <p:spPr>
              <a:xfrm>
                <a:off x="6194445" y="1071125"/>
                <a:ext cx="1018468" cy="369332"/>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885DDB2-BECA-AE13-4F74-B55FE67FFCB7}"/>
                  </a:ext>
                </a:extLst>
              </p:cNvPr>
              <p:cNvSpPr txBox="1"/>
              <p:nvPr/>
            </p:nvSpPr>
            <p:spPr>
              <a:xfrm>
                <a:off x="357158" y="5894277"/>
                <a:ext cx="18774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𝑎</m:t>
                          </m:r>
                        </m:sub>
                      </m:sSub>
                      <m:r>
                        <a:rPr lang="en-US" b="0" i="1" smtClean="0">
                          <a:solidFill>
                            <a:schemeClr val="tx1"/>
                          </a:solidFill>
                          <a:latin typeface="Cambria Math" panose="02040503050406030204" pitchFamily="18" charset="0"/>
                          <a:ea typeface="Cambria Math" panose="02040503050406030204" pitchFamily="18" charset="0"/>
                        </a:rPr>
                        <m:t>=0.3</m:t>
                      </m:r>
                    </m:oMath>
                  </m:oMathPara>
                </a14:m>
                <a:endParaRPr lang="en-US" dirty="0">
                  <a:solidFill>
                    <a:schemeClr val="tx1"/>
                  </a:solidFill>
                </a:endParaRPr>
              </a:p>
            </p:txBody>
          </p:sp>
        </mc:Choice>
        <mc:Fallback>
          <p:sp>
            <p:nvSpPr>
              <p:cNvPr id="19" name="TextBox 18">
                <a:extLst>
                  <a:ext uri="{FF2B5EF4-FFF2-40B4-BE49-F238E27FC236}">
                    <a16:creationId xmlns:a16="http://schemas.microsoft.com/office/drawing/2014/main" id="{B885DDB2-BECA-AE13-4F74-B55FE67FFCB7}"/>
                  </a:ext>
                </a:extLst>
              </p:cNvPr>
              <p:cNvSpPr txBox="1">
                <a:spLocks noRot="1" noChangeAspect="1" noMove="1" noResize="1" noEditPoints="1" noAdjustHandles="1" noChangeArrowheads="1" noChangeShapeType="1" noTextEdit="1"/>
              </p:cNvSpPr>
              <p:nvPr/>
            </p:nvSpPr>
            <p:spPr>
              <a:xfrm>
                <a:off x="357158" y="5894277"/>
                <a:ext cx="1877420" cy="369332"/>
              </a:xfrm>
              <a:prstGeom prst="rect">
                <a:avLst/>
              </a:prstGeom>
              <a:blipFill>
                <a:blip r:embed="rId8"/>
                <a:stretch>
                  <a:fillRect b="-172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9FBEA180-58A3-BC2E-2949-98981C24EDE7}"/>
                  </a:ext>
                </a:extLst>
              </p:cNvPr>
              <p:cNvSpPr txBox="1"/>
              <p:nvPr/>
            </p:nvSpPr>
            <p:spPr>
              <a:xfrm>
                <a:off x="357158" y="3171350"/>
                <a:ext cx="18774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 =0.7</m:t>
                      </m:r>
                    </m:oMath>
                  </m:oMathPara>
                </a14:m>
                <a:endParaRPr lang="en-US" dirty="0">
                  <a:solidFill>
                    <a:schemeClr val="tx1"/>
                  </a:solidFill>
                </a:endParaRPr>
              </a:p>
            </p:txBody>
          </p:sp>
        </mc:Choice>
        <mc:Fallback>
          <p:sp>
            <p:nvSpPr>
              <p:cNvPr id="20" name="TextBox 19">
                <a:extLst>
                  <a:ext uri="{FF2B5EF4-FFF2-40B4-BE49-F238E27FC236}">
                    <a16:creationId xmlns:a16="http://schemas.microsoft.com/office/drawing/2014/main" id="{9FBEA180-58A3-BC2E-2949-98981C24EDE7}"/>
                  </a:ext>
                </a:extLst>
              </p:cNvPr>
              <p:cNvSpPr txBox="1">
                <a:spLocks noRot="1" noChangeAspect="1" noMove="1" noResize="1" noEditPoints="1" noAdjustHandles="1" noChangeArrowheads="1" noChangeShapeType="1" noTextEdit="1"/>
              </p:cNvSpPr>
              <p:nvPr/>
            </p:nvSpPr>
            <p:spPr>
              <a:xfrm>
                <a:off x="357158" y="3171350"/>
                <a:ext cx="1877420" cy="369332"/>
              </a:xfrm>
              <a:prstGeom prst="rect">
                <a:avLst/>
              </a:prstGeom>
              <a:blipFill>
                <a:blip r:embed="rId9"/>
                <a:stretch>
                  <a:fillRect b="-16667"/>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1A2FE6A4-A907-31FC-5110-E799C0F771B3}"/>
              </a:ext>
            </a:extLst>
          </p:cNvPr>
          <p:cNvSpPr txBox="1"/>
          <p:nvPr/>
        </p:nvSpPr>
        <p:spPr>
          <a:xfrm>
            <a:off x="4618538" y="7434990"/>
            <a:ext cx="2743200" cy="365760"/>
          </a:xfrm>
          <a:prstGeom prst="rect">
            <a:avLst/>
          </a:prstGeom>
          <a:solidFill>
            <a:schemeClr val="accent6">
              <a:lumMod val="40000"/>
              <a:lumOff val="60000"/>
            </a:schemeClr>
          </a:solidFill>
          <a:ln>
            <a:solidFill>
              <a:schemeClr val="accent6">
                <a:lumMod val="40000"/>
                <a:lumOff val="60000"/>
              </a:schemeClr>
            </a:solidFill>
          </a:ln>
        </p:spPr>
        <p:txBody>
          <a:bodyPr wrap="square" rtlCol="0" anchor="ctr">
            <a:spAutoFit/>
          </a:bodyPr>
          <a:lstStyle/>
          <a:p>
            <a:pPr algn="ctr"/>
            <a:endParaRPr lang="en-US" sz="800" dirty="0"/>
          </a:p>
        </p:txBody>
      </p:sp>
      <p:sp>
        <p:nvSpPr>
          <p:cNvPr id="22" name="TextBox 21">
            <a:extLst>
              <a:ext uri="{FF2B5EF4-FFF2-40B4-BE49-F238E27FC236}">
                <a16:creationId xmlns:a16="http://schemas.microsoft.com/office/drawing/2014/main" id="{A7A467F0-31F6-B316-7F6B-12A8FBA79FDD}"/>
              </a:ext>
            </a:extLst>
          </p:cNvPr>
          <p:cNvSpPr txBox="1"/>
          <p:nvPr/>
        </p:nvSpPr>
        <p:spPr>
          <a:xfrm>
            <a:off x="7361738" y="7434163"/>
            <a:ext cx="585216" cy="365760"/>
          </a:xfrm>
          <a:prstGeom prst="rect">
            <a:avLst/>
          </a:prstGeom>
          <a:solidFill>
            <a:schemeClr val="accent2">
              <a:lumMod val="40000"/>
              <a:lumOff val="60000"/>
            </a:schemeClr>
          </a:solidFill>
          <a:ln>
            <a:solidFill>
              <a:schemeClr val="accent2">
                <a:lumMod val="40000"/>
                <a:lumOff val="60000"/>
              </a:schemeClr>
            </a:solidFill>
          </a:ln>
        </p:spPr>
        <p:txBody>
          <a:bodyPr wrap="square" rtlCol="0" anchor="ctr">
            <a:spAutoFit/>
          </a:bodyPr>
          <a:lstStyle/>
          <a:p>
            <a:pPr algn="ctr"/>
            <a:endParaRPr lang="en-US" sz="80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1422EBA-B9E5-EB2F-E427-59B953A7B62C}"/>
                  </a:ext>
                </a:extLst>
              </p:cNvPr>
              <p:cNvSpPr txBox="1"/>
              <p:nvPr/>
            </p:nvSpPr>
            <p:spPr>
              <a:xfrm>
                <a:off x="4914244" y="7480330"/>
                <a:ext cx="1927151" cy="30777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400" b="0" i="1">
                          <a:latin typeface="Cambria Math" panose="02040503050406030204" pitchFamily="18" charset="0"/>
                        </a:rPr>
                        <m:t>2</m:t>
                      </m:r>
                      <m:sSub>
                        <m:sSubPr>
                          <m:ctrlPr>
                            <a:rPr lang="en-US" sz="1400" i="1">
                              <a:latin typeface="Cambria Math" panose="02040503050406030204" pitchFamily="18" charset="0"/>
                              <a:ea typeface="Cambria Math" panose="02040503050406030204" pitchFamily="18" charset="0"/>
                            </a:rPr>
                          </m:ctrlPr>
                        </m:sSubPr>
                        <m:e>
                          <m:r>
                            <a:rPr lang="en-US" sz="1400" b="0" i="1">
                              <a:latin typeface="Cambria Math" panose="02040503050406030204" pitchFamily="18" charset="0"/>
                              <a:ea typeface="Cambria Math" panose="02040503050406030204" pitchFamily="18" charset="0"/>
                            </a:rPr>
                            <m:t>𝑓</m:t>
                          </m:r>
                        </m:e>
                        <m:sub>
                          <m:r>
                            <a:rPr lang="en-US" sz="1400" b="0" i="1">
                              <a:latin typeface="Cambria Math" panose="02040503050406030204" pitchFamily="18" charset="0"/>
                              <a:ea typeface="Cambria Math" panose="02040503050406030204" pitchFamily="18" charset="0"/>
                            </a:rPr>
                            <m:t>𝐴</m:t>
                          </m:r>
                        </m:sub>
                      </m:sSub>
                      <m:sSub>
                        <m:sSubPr>
                          <m:ctrlPr>
                            <a:rPr lang="en-US" sz="1400" i="1">
                              <a:latin typeface="Cambria Math" panose="02040503050406030204" pitchFamily="18" charset="0"/>
                              <a:ea typeface="Cambria Math" panose="02040503050406030204" pitchFamily="18" charset="0"/>
                            </a:rPr>
                          </m:ctrlPr>
                        </m:sSubPr>
                        <m:e>
                          <m:r>
                            <a:rPr lang="en-US" sz="1400" b="0" i="1">
                              <a:latin typeface="Cambria Math" panose="02040503050406030204" pitchFamily="18" charset="0"/>
                              <a:ea typeface="Cambria Math" panose="02040503050406030204" pitchFamily="18" charset="0"/>
                            </a:rPr>
                            <m:t>𝑓</m:t>
                          </m:r>
                        </m:e>
                        <m:sub>
                          <m:r>
                            <a:rPr lang="en-US" sz="1400" b="0" i="1">
                              <a:latin typeface="Cambria Math" panose="02040503050406030204" pitchFamily="18" charset="0"/>
                              <a:ea typeface="Cambria Math" panose="02040503050406030204" pitchFamily="18" charset="0"/>
                            </a:rPr>
                            <m:t>𝑎</m:t>
                          </m:r>
                        </m:sub>
                      </m:sSub>
                      <m:r>
                        <a:rPr lang="en-US" sz="1400" i="1">
                          <a:latin typeface="Cambria Math" panose="02040503050406030204" pitchFamily="18" charset="0"/>
                          <a:ea typeface="Cambria Math" panose="02040503050406030204" pitchFamily="18" charset="0"/>
                        </a:rPr>
                        <m:t>=0.4</m:t>
                      </m:r>
                      <m:r>
                        <a:rPr lang="en-US" sz="1400" b="0" i="1" smtClean="0">
                          <a:latin typeface="Cambria Math" panose="02040503050406030204" pitchFamily="18" charset="0"/>
                          <a:ea typeface="Cambria Math" panose="02040503050406030204" pitchFamily="18" charset="0"/>
                        </a:rPr>
                        <m:t>2</m:t>
                      </m:r>
                    </m:oMath>
                  </m:oMathPara>
                </a14:m>
                <a:endParaRPr lang="en-US" sz="1400" dirty="0"/>
              </a:p>
            </p:txBody>
          </p:sp>
        </mc:Choice>
        <mc:Fallback xmlns="">
          <p:sp>
            <p:nvSpPr>
              <p:cNvPr id="24" name="TextBox 23">
                <a:extLst>
                  <a:ext uri="{FF2B5EF4-FFF2-40B4-BE49-F238E27FC236}">
                    <a16:creationId xmlns:a16="http://schemas.microsoft.com/office/drawing/2014/main" id="{F1422EBA-B9E5-EB2F-E427-59B953A7B62C}"/>
                  </a:ext>
                </a:extLst>
              </p:cNvPr>
              <p:cNvSpPr txBox="1">
                <a:spLocks noRot="1" noChangeAspect="1" noMove="1" noResize="1" noEditPoints="1" noAdjustHandles="1" noChangeArrowheads="1" noChangeShapeType="1" noTextEdit="1"/>
              </p:cNvSpPr>
              <p:nvPr/>
            </p:nvSpPr>
            <p:spPr>
              <a:xfrm>
                <a:off x="4914244" y="7480330"/>
                <a:ext cx="1927151" cy="307777"/>
              </a:xfrm>
              <a:prstGeom prst="rect">
                <a:avLst/>
              </a:prstGeom>
              <a:blipFill>
                <a:blip r:embed="rId10"/>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9F11074-1B9F-37C0-267A-9F99DF5CA30D}"/>
                  </a:ext>
                </a:extLst>
              </p:cNvPr>
              <p:cNvSpPr txBox="1"/>
              <p:nvPr/>
            </p:nvSpPr>
            <p:spPr>
              <a:xfrm>
                <a:off x="1916110" y="7476290"/>
                <a:ext cx="2044109" cy="31181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US" sz="1400" b="0" i="1" smtClean="0">
                              <a:latin typeface="Cambria Math" panose="02040503050406030204" pitchFamily="18" charset="0"/>
                              <a:ea typeface="Cambria Math" panose="02040503050406030204" pitchFamily="18" charset="0"/>
                            </a:rPr>
                            <m:t>𝑓</m:t>
                          </m:r>
                        </m:e>
                        <m:sub>
                          <m:r>
                            <a:rPr lang="en-US" sz="1400" b="0" i="1" smtClean="0">
                              <a:latin typeface="Cambria Math" panose="02040503050406030204" pitchFamily="18" charset="0"/>
                              <a:ea typeface="Cambria Math" panose="02040503050406030204" pitchFamily="18" charset="0"/>
                            </a:rPr>
                            <m:t>𝐴</m:t>
                          </m:r>
                        </m:sub>
                        <m:sup>
                          <m:r>
                            <a:rPr lang="en-US" sz="1400" b="0" i="1" smtClean="0">
                              <a:latin typeface="Cambria Math" panose="02040503050406030204" pitchFamily="18" charset="0"/>
                              <a:ea typeface="Cambria Math" panose="02040503050406030204" pitchFamily="18" charset="0"/>
                            </a:rPr>
                            <m:t>2</m:t>
                          </m:r>
                        </m:sup>
                      </m:sSubSup>
                      <m:r>
                        <a:rPr lang="en-US" sz="1400" i="1">
                          <a:latin typeface="Cambria Math" panose="02040503050406030204" pitchFamily="18" charset="0"/>
                          <a:ea typeface="Cambria Math" panose="02040503050406030204" pitchFamily="18" charset="0"/>
                        </a:rPr>
                        <m:t>=0.49</m:t>
                      </m:r>
                    </m:oMath>
                  </m:oMathPara>
                </a14:m>
                <a:endParaRPr lang="en-US" sz="1400" dirty="0"/>
              </a:p>
            </p:txBody>
          </p:sp>
        </mc:Choice>
        <mc:Fallback xmlns="">
          <p:sp>
            <p:nvSpPr>
              <p:cNvPr id="28" name="TextBox 27">
                <a:extLst>
                  <a:ext uri="{FF2B5EF4-FFF2-40B4-BE49-F238E27FC236}">
                    <a16:creationId xmlns:a16="http://schemas.microsoft.com/office/drawing/2014/main" id="{39F11074-1B9F-37C0-267A-9F99DF5CA30D}"/>
                  </a:ext>
                </a:extLst>
              </p:cNvPr>
              <p:cNvSpPr txBox="1">
                <a:spLocks noRot="1" noChangeAspect="1" noMove="1" noResize="1" noEditPoints="1" noAdjustHandles="1" noChangeArrowheads="1" noChangeShapeType="1" noTextEdit="1"/>
              </p:cNvSpPr>
              <p:nvPr/>
            </p:nvSpPr>
            <p:spPr>
              <a:xfrm>
                <a:off x="1916110" y="7476290"/>
                <a:ext cx="2044109" cy="311817"/>
              </a:xfrm>
              <a:prstGeom prst="rect">
                <a:avLst/>
              </a:prstGeom>
              <a:blipFill>
                <a:blip r:embed="rId11"/>
                <a:stretch>
                  <a:fillRect b="-7692"/>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DAB877DB-BDAF-68D8-AD72-DF1A4C10DDCD}"/>
              </a:ext>
            </a:extLst>
          </p:cNvPr>
          <p:cNvSpPr/>
          <p:nvPr/>
        </p:nvSpPr>
        <p:spPr>
          <a:xfrm>
            <a:off x="1675557" y="7120377"/>
            <a:ext cx="126962" cy="124406"/>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CE775C4-D94C-D622-0560-7D9AA32E5DD1}"/>
              </a:ext>
            </a:extLst>
          </p:cNvPr>
          <p:cNvSpPr txBox="1"/>
          <p:nvPr/>
        </p:nvSpPr>
        <p:spPr>
          <a:xfrm>
            <a:off x="1802518" y="7045252"/>
            <a:ext cx="1947869" cy="276999"/>
          </a:xfrm>
          <a:prstGeom prst="rect">
            <a:avLst/>
          </a:prstGeom>
          <a:noFill/>
          <a:ln>
            <a:noFill/>
          </a:ln>
        </p:spPr>
        <p:txBody>
          <a:bodyPr wrap="square">
            <a:spAutoFit/>
          </a:bodyPr>
          <a:lstStyle/>
          <a:p>
            <a:r>
              <a:rPr lang="en-US" sz="1200" dirty="0">
                <a:solidFill>
                  <a:schemeClr val="accent5">
                    <a:lumMod val="60000"/>
                    <a:lumOff val="40000"/>
                  </a:schemeClr>
                </a:solidFill>
              </a:rPr>
              <a:t>AA (Homozygous dominant)</a:t>
            </a:r>
          </a:p>
        </p:txBody>
      </p:sp>
      <p:sp>
        <p:nvSpPr>
          <p:cNvPr id="37" name="Rectangle 36">
            <a:extLst>
              <a:ext uri="{FF2B5EF4-FFF2-40B4-BE49-F238E27FC236}">
                <a16:creationId xmlns:a16="http://schemas.microsoft.com/office/drawing/2014/main" id="{DF702066-0B26-6BFA-4325-72C7EBEE1A63}"/>
              </a:ext>
            </a:extLst>
          </p:cNvPr>
          <p:cNvSpPr/>
          <p:nvPr/>
        </p:nvSpPr>
        <p:spPr>
          <a:xfrm>
            <a:off x="4078673" y="7120377"/>
            <a:ext cx="126962" cy="124406"/>
          </a:xfrm>
          <a:prstGeom prst="rect">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FC8118C0-11BE-E4C7-386F-7D93ED9EEBB1}"/>
              </a:ext>
            </a:extLst>
          </p:cNvPr>
          <p:cNvSpPr txBox="1"/>
          <p:nvPr/>
        </p:nvSpPr>
        <p:spPr>
          <a:xfrm>
            <a:off x="4205634" y="7045252"/>
            <a:ext cx="1947869" cy="276999"/>
          </a:xfrm>
          <a:prstGeom prst="rect">
            <a:avLst/>
          </a:prstGeom>
          <a:noFill/>
          <a:ln>
            <a:noFill/>
          </a:ln>
        </p:spPr>
        <p:txBody>
          <a:bodyPr wrap="square">
            <a:spAutoFit/>
          </a:bodyPr>
          <a:lstStyle/>
          <a:p>
            <a:r>
              <a:rPr lang="en-US" sz="1200" dirty="0">
                <a:solidFill>
                  <a:schemeClr val="accent6">
                    <a:lumMod val="40000"/>
                    <a:lumOff val="60000"/>
                  </a:schemeClr>
                </a:solidFill>
              </a:rPr>
              <a:t>Aa (Heterozygous)</a:t>
            </a:r>
          </a:p>
        </p:txBody>
      </p:sp>
      <p:sp>
        <p:nvSpPr>
          <p:cNvPr id="39" name="Rectangle 38">
            <a:extLst>
              <a:ext uri="{FF2B5EF4-FFF2-40B4-BE49-F238E27FC236}">
                <a16:creationId xmlns:a16="http://schemas.microsoft.com/office/drawing/2014/main" id="{C4A8B4FC-AD28-085C-C3FD-8CB710CB44E1}"/>
              </a:ext>
            </a:extLst>
          </p:cNvPr>
          <p:cNvSpPr/>
          <p:nvPr/>
        </p:nvSpPr>
        <p:spPr>
          <a:xfrm>
            <a:off x="5775945" y="7119550"/>
            <a:ext cx="126962" cy="124406"/>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442297BF-3A46-226D-F427-C27E45F857FB}"/>
              </a:ext>
            </a:extLst>
          </p:cNvPr>
          <p:cNvSpPr txBox="1"/>
          <p:nvPr/>
        </p:nvSpPr>
        <p:spPr>
          <a:xfrm>
            <a:off x="5902906" y="7044425"/>
            <a:ext cx="1947869" cy="276999"/>
          </a:xfrm>
          <a:prstGeom prst="rect">
            <a:avLst/>
          </a:prstGeom>
          <a:noFill/>
          <a:ln>
            <a:noFill/>
          </a:ln>
        </p:spPr>
        <p:txBody>
          <a:bodyPr wrap="square">
            <a:spAutoFit/>
          </a:bodyPr>
          <a:lstStyle/>
          <a:p>
            <a:r>
              <a:rPr lang="en-US" sz="1200" dirty="0">
                <a:solidFill>
                  <a:schemeClr val="accent2">
                    <a:lumMod val="40000"/>
                    <a:lumOff val="60000"/>
                  </a:schemeClr>
                </a:solidFill>
              </a:rPr>
              <a:t>aa (Homozygous recessive)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7DAA102-A450-687C-FFE6-DE0B516C0129}"/>
                  </a:ext>
                </a:extLst>
              </p:cNvPr>
              <p:cNvSpPr txBox="1"/>
              <p:nvPr/>
            </p:nvSpPr>
            <p:spPr>
              <a:xfrm>
                <a:off x="2671601" y="8188712"/>
                <a:ext cx="3907720" cy="54514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𝑓</m:t>
                              </m:r>
                            </m:e>
                            <m:sub>
                              <m:r>
                                <a:rPr lang="en-US" sz="1600" i="1">
                                  <a:latin typeface="Cambria Math" panose="02040503050406030204" pitchFamily="18" charset="0"/>
                                  <a:ea typeface="Cambria Math" panose="02040503050406030204" pitchFamily="18" charset="0"/>
                                </a:rPr>
                                <m:t>𝐴</m:t>
                              </m:r>
                            </m:sub>
                          </m:sSub>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𝑎</m:t>
                              </m:r>
                            </m:sub>
                          </m:sSub>
                          <m:r>
                            <a:rPr lang="en-US" sz="1600" b="0" i="1" smtClean="0">
                              <a:latin typeface="Cambria Math" panose="02040503050406030204" pitchFamily="18" charset="0"/>
                            </a:rPr>
                            <m:t>)</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sSup>
                        <m:sSupPr>
                          <m:ctrlPr>
                            <a:rPr lang="en-US" sz="1600" i="1" smtClean="0">
                              <a:latin typeface="Cambria Math" panose="02040503050406030204" pitchFamily="18" charset="0"/>
                            </a:rPr>
                          </m:ctrlPr>
                        </m:sSupPr>
                        <m:e>
                          <m:sSub>
                            <m:sSubPr>
                              <m:ctrlPr>
                                <a:rPr lang="en-US" sz="1600" i="1">
                                  <a:latin typeface="Cambria Math" panose="02040503050406030204" pitchFamily="18" charset="0"/>
                                  <a:ea typeface="Cambria Math" panose="02040503050406030204" pitchFamily="18" charset="0"/>
                                </a:rPr>
                              </m:ctrlPr>
                            </m:sSubPr>
                            <m:e>
                              <m:r>
                                <a:rPr lang="en-US" sz="1600" b="0" i="1">
                                  <a:latin typeface="Cambria Math" panose="02040503050406030204" pitchFamily="18" charset="0"/>
                                  <a:ea typeface="Cambria Math" panose="02040503050406030204" pitchFamily="18" charset="0"/>
                                </a:rPr>
                                <m:t>𝑓</m:t>
                              </m:r>
                            </m:e>
                            <m:sub>
                              <m:r>
                                <a:rPr lang="en-US" sz="1600" b="0" i="1">
                                  <a:latin typeface="Cambria Math" panose="02040503050406030204" pitchFamily="18" charset="0"/>
                                  <a:ea typeface="Cambria Math" panose="02040503050406030204" pitchFamily="18" charset="0"/>
                                </a:rPr>
                                <m:t>𝐴</m:t>
                              </m:r>
                            </m:sub>
                          </m:sSub>
                        </m:e>
                        <m:sup>
                          <m:r>
                            <a:rPr lang="en-US" sz="1600" b="0" i="1">
                              <a:latin typeface="Cambria Math" panose="02040503050406030204" pitchFamily="18" charset="0"/>
                            </a:rPr>
                            <m:t>2</m:t>
                          </m:r>
                        </m:sup>
                      </m:sSup>
                      <m:r>
                        <a:rPr lang="en-US" sz="1600" b="0" i="1">
                          <a:latin typeface="Cambria Math" panose="02040503050406030204" pitchFamily="18" charset="0"/>
                        </a:rPr>
                        <m:t>+2</m:t>
                      </m:r>
                      <m:sSub>
                        <m:sSubPr>
                          <m:ctrlPr>
                            <a:rPr lang="en-US" sz="1600" i="1">
                              <a:latin typeface="Cambria Math" panose="02040503050406030204" pitchFamily="18" charset="0"/>
                              <a:ea typeface="Cambria Math" panose="02040503050406030204" pitchFamily="18" charset="0"/>
                            </a:rPr>
                          </m:ctrlPr>
                        </m:sSubPr>
                        <m:e>
                          <m:r>
                            <a:rPr lang="en-US" sz="1600" b="0" i="1">
                              <a:latin typeface="Cambria Math" panose="02040503050406030204" pitchFamily="18" charset="0"/>
                              <a:ea typeface="Cambria Math" panose="02040503050406030204" pitchFamily="18" charset="0"/>
                            </a:rPr>
                            <m:t>𝑓</m:t>
                          </m:r>
                        </m:e>
                        <m:sub>
                          <m:r>
                            <a:rPr lang="en-US" sz="1600" b="0" i="1">
                              <a:latin typeface="Cambria Math" panose="02040503050406030204" pitchFamily="18" charset="0"/>
                              <a:ea typeface="Cambria Math" panose="02040503050406030204" pitchFamily="18" charset="0"/>
                            </a:rPr>
                            <m:t>𝐴</m:t>
                          </m:r>
                        </m:sub>
                      </m:sSub>
                      <m:sSub>
                        <m:sSubPr>
                          <m:ctrlPr>
                            <a:rPr lang="en-US" sz="1600" i="1">
                              <a:latin typeface="Cambria Math" panose="02040503050406030204" pitchFamily="18" charset="0"/>
                              <a:ea typeface="Cambria Math" panose="02040503050406030204" pitchFamily="18" charset="0"/>
                            </a:rPr>
                          </m:ctrlPr>
                        </m:sSubPr>
                        <m:e>
                          <m:r>
                            <a:rPr lang="en-US" sz="1600" b="0" i="1">
                              <a:latin typeface="Cambria Math" panose="02040503050406030204" pitchFamily="18" charset="0"/>
                              <a:ea typeface="Cambria Math" panose="02040503050406030204" pitchFamily="18" charset="0"/>
                            </a:rPr>
                            <m:t>𝑓</m:t>
                          </m:r>
                        </m:e>
                        <m:sub>
                          <m:r>
                            <a:rPr lang="en-US" sz="1600" b="0" i="1">
                              <a:latin typeface="Cambria Math" panose="02040503050406030204" pitchFamily="18" charset="0"/>
                              <a:ea typeface="Cambria Math" panose="02040503050406030204" pitchFamily="18" charset="0"/>
                            </a:rPr>
                            <m:t>𝑎</m:t>
                          </m:r>
                        </m:sub>
                      </m:sSub>
                      <m:r>
                        <a:rPr lang="en-US" sz="1600" b="0" i="1">
                          <a:latin typeface="Cambria Math" panose="02040503050406030204" pitchFamily="18" charset="0"/>
                        </a:rPr>
                        <m:t>+</m:t>
                      </m:r>
                      <m:sSup>
                        <m:sSupPr>
                          <m:ctrlPr>
                            <a:rPr lang="en-US" sz="1600" i="1">
                              <a:latin typeface="Cambria Math" panose="02040503050406030204" pitchFamily="18" charset="0"/>
                            </a:rPr>
                          </m:ctrlPr>
                        </m:sSupPr>
                        <m:e>
                          <m:sSub>
                            <m:sSubPr>
                              <m:ctrlPr>
                                <a:rPr lang="en-US" sz="1600" i="1">
                                  <a:latin typeface="Cambria Math" panose="02040503050406030204" pitchFamily="18" charset="0"/>
                                  <a:ea typeface="Cambria Math" panose="02040503050406030204" pitchFamily="18" charset="0"/>
                                </a:rPr>
                              </m:ctrlPr>
                            </m:sSubPr>
                            <m:e>
                              <m:r>
                                <a:rPr lang="en-US" sz="1600" b="0" i="1">
                                  <a:latin typeface="Cambria Math" panose="02040503050406030204" pitchFamily="18" charset="0"/>
                                  <a:ea typeface="Cambria Math" panose="02040503050406030204" pitchFamily="18" charset="0"/>
                                </a:rPr>
                                <m:t>𝑓</m:t>
                              </m:r>
                            </m:e>
                            <m:sub>
                              <m:r>
                                <a:rPr lang="en-US" sz="1600" b="0" i="1">
                                  <a:latin typeface="Cambria Math" panose="02040503050406030204" pitchFamily="18" charset="0"/>
                                  <a:ea typeface="Cambria Math" panose="02040503050406030204" pitchFamily="18" charset="0"/>
                                </a:rPr>
                                <m:t>𝑎</m:t>
                              </m:r>
                            </m:sub>
                          </m:sSub>
                        </m:e>
                        <m:sup>
                          <m:r>
                            <a:rPr lang="en-US" sz="1600" b="0" i="1">
                              <a:latin typeface="Cambria Math" panose="02040503050406030204" pitchFamily="18" charset="0"/>
                            </a:rPr>
                            <m:t>2</m:t>
                          </m:r>
                        </m:sup>
                      </m:sSup>
                      <m:r>
                        <a:rPr lang="en-US" sz="1600" b="0" i="1">
                          <a:latin typeface="Cambria Math" panose="02040503050406030204" pitchFamily="18" charset="0"/>
                        </a:rPr>
                        <m:t>=1</m:t>
                      </m:r>
                    </m:oMath>
                  </m:oMathPara>
                </a14:m>
                <a:endParaRPr lang="en-US" sz="1600" dirty="0"/>
              </a:p>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0.49+0.42+0.09=1</m:t>
                      </m:r>
                    </m:oMath>
                  </m:oMathPara>
                </a14:m>
                <a:endParaRPr lang="en-US" sz="1200" dirty="0"/>
              </a:p>
            </p:txBody>
          </p:sp>
        </mc:Choice>
        <mc:Fallback xmlns="">
          <p:sp>
            <p:nvSpPr>
              <p:cNvPr id="3" name="TextBox 2">
                <a:extLst>
                  <a:ext uri="{FF2B5EF4-FFF2-40B4-BE49-F238E27FC236}">
                    <a16:creationId xmlns:a16="http://schemas.microsoft.com/office/drawing/2014/main" id="{E7DAA102-A450-687C-FFE6-DE0B516C0129}"/>
                  </a:ext>
                </a:extLst>
              </p:cNvPr>
              <p:cNvSpPr txBox="1">
                <a:spLocks noRot="1" noChangeAspect="1" noMove="1" noResize="1" noEditPoints="1" noAdjustHandles="1" noChangeArrowheads="1" noChangeShapeType="1" noTextEdit="1"/>
              </p:cNvSpPr>
              <p:nvPr/>
            </p:nvSpPr>
            <p:spPr>
              <a:xfrm>
                <a:off x="2671601" y="8188712"/>
                <a:ext cx="3907720" cy="54514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4A497D3-F618-D12D-CBC9-4B34EC15B022}"/>
                  </a:ext>
                </a:extLst>
              </p:cNvPr>
              <p:cNvSpPr txBox="1"/>
              <p:nvPr/>
            </p:nvSpPr>
            <p:spPr>
              <a:xfrm>
                <a:off x="7064407" y="7502026"/>
                <a:ext cx="1213958" cy="2616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sz="1100" i="1" smtClean="0">
                              <a:latin typeface="Cambria Math" panose="02040503050406030204" pitchFamily="18" charset="0"/>
                              <a:ea typeface="Cambria Math" panose="02040503050406030204" pitchFamily="18" charset="0"/>
                            </a:rPr>
                          </m:ctrlPr>
                        </m:sSubSupPr>
                        <m:e>
                          <m:r>
                            <a:rPr lang="en-US" sz="1100" b="0" i="1" smtClean="0">
                              <a:latin typeface="Cambria Math" panose="02040503050406030204" pitchFamily="18" charset="0"/>
                              <a:ea typeface="Cambria Math" panose="02040503050406030204" pitchFamily="18" charset="0"/>
                            </a:rPr>
                            <m:t>𝑓</m:t>
                          </m:r>
                        </m:e>
                        <m:sub>
                          <m:r>
                            <a:rPr lang="en-US" sz="1100" b="0" i="1" smtClean="0">
                              <a:latin typeface="Cambria Math" panose="02040503050406030204" pitchFamily="18" charset="0"/>
                              <a:ea typeface="Cambria Math" panose="02040503050406030204" pitchFamily="18" charset="0"/>
                            </a:rPr>
                            <m:t>𝑎</m:t>
                          </m:r>
                        </m:sub>
                        <m:sup>
                          <m:r>
                            <a:rPr lang="en-US" sz="1100" b="0" i="1" smtClean="0">
                              <a:latin typeface="Cambria Math" panose="02040503050406030204" pitchFamily="18" charset="0"/>
                              <a:ea typeface="Cambria Math" panose="02040503050406030204" pitchFamily="18" charset="0"/>
                            </a:rPr>
                            <m:t>2</m:t>
                          </m:r>
                        </m:sup>
                      </m:sSubSup>
                      <m:r>
                        <a:rPr lang="en-US" sz="1100" i="1">
                          <a:latin typeface="Cambria Math" panose="02040503050406030204" pitchFamily="18" charset="0"/>
                          <a:ea typeface="Cambria Math" panose="02040503050406030204" pitchFamily="18" charset="0"/>
                        </a:rPr>
                        <m:t>=0.</m:t>
                      </m:r>
                      <m:r>
                        <a:rPr lang="en-US" sz="1100" b="0" i="1" smtClean="0">
                          <a:latin typeface="Cambria Math" panose="02040503050406030204" pitchFamily="18" charset="0"/>
                          <a:ea typeface="Cambria Math" panose="02040503050406030204" pitchFamily="18" charset="0"/>
                        </a:rPr>
                        <m:t>0</m:t>
                      </m:r>
                      <m:r>
                        <a:rPr lang="en-US" sz="1100" i="1">
                          <a:latin typeface="Cambria Math" panose="02040503050406030204" pitchFamily="18" charset="0"/>
                          <a:ea typeface="Cambria Math" panose="02040503050406030204" pitchFamily="18" charset="0"/>
                        </a:rPr>
                        <m:t>9</m:t>
                      </m:r>
                    </m:oMath>
                  </m:oMathPara>
                </a14:m>
                <a:endParaRPr lang="en-US" sz="1100" dirty="0"/>
              </a:p>
            </p:txBody>
          </p:sp>
        </mc:Choice>
        <mc:Fallback xmlns="">
          <p:sp>
            <p:nvSpPr>
              <p:cNvPr id="4" name="TextBox 3">
                <a:extLst>
                  <a:ext uri="{FF2B5EF4-FFF2-40B4-BE49-F238E27FC236}">
                    <a16:creationId xmlns:a16="http://schemas.microsoft.com/office/drawing/2014/main" id="{B4A497D3-F618-D12D-CBC9-4B34EC15B022}"/>
                  </a:ext>
                </a:extLst>
              </p:cNvPr>
              <p:cNvSpPr txBox="1">
                <a:spLocks noRot="1" noChangeAspect="1" noMove="1" noResize="1" noEditPoints="1" noAdjustHandles="1" noChangeArrowheads="1" noChangeShapeType="1" noTextEdit="1"/>
              </p:cNvSpPr>
              <p:nvPr/>
            </p:nvSpPr>
            <p:spPr>
              <a:xfrm>
                <a:off x="7064407" y="7502026"/>
                <a:ext cx="1213958" cy="261610"/>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5261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7C456F47-8E15-AC38-959B-4BA613A0503A}"/>
              </a:ext>
            </a:extLst>
          </p:cNvPr>
          <p:cNvSpPr/>
          <p:nvPr/>
        </p:nvSpPr>
        <p:spPr>
          <a:xfrm>
            <a:off x="3707184" y="3542215"/>
            <a:ext cx="1739515" cy="651029"/>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8" name="Rounded Rectangle 7">
            <a:extLst>
              <a:ext uri="{FF2B5EF4-FFF2-40B4-BE49-F238E27FC236}">
                <a16:creationId xmlns:a16="http://schemas.microsoft.com/office/drawing/2014/main" id="{72638F3D-7079-F9CA-94E8-2BEA0B1FA89A}"/>
              </a:ext>
            </a:extLst>
          </p:cNvPr>
          <p:cNvSpPr/>
          <p:nvPr/>
        </p:nvSpPr>
        <p:spPr>
          <a:xfrm>
            <a:off x="454791" y="5347321"/>
            <a:ext cx="8209751" cy="370662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5083FCF7-2D40-7A42-32C8-8E3656B95178}"/>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Linkage Disequilibrium (LD)</a:t>
            </a:r>
          </a:p>
        </p:txBody>
      </p:sp>
      <p:sp>
        <p:nvSpPr>
          <p:cNvPr id="3" name="TextBox 2">
            <a:extLst>
              <a:ext uri="{FF2B5EF4-FFF2-40B4-BE49-F238E27FC236}">
                <a16:creationId xmlns:a16="http://schemas.microsoft.com/office/drawing/2014/main" id="{C8D3AE9D-4557-3F58-28D9-699207550D33}"/>
              </a:ext>
            </a:extLst>
          </p:cNvPr>
          <p:cNvSpPr txBox="1"/>
          <p:nvPr/>
        </p:nvSpPr>
        <p:spPr>
          <a:xfrm>
            <a:off x="577728" y="499364"/>
            <a:ext cx="7988544" cy="461665"/>
          </a:xfrm>
          <a:prstGeom prst="rect">
            <a:avLst/>
          </a:prstGeom>
          <a:noFill/>
        </p:spPr>
        <p:txBody>
          <a:bodyPr wrap="square" rtlCol="0">
            <a:spAutoFit/>
          </a:bodyPr>
          <a:lstStyle/>
          <a:p>
            <a:pPr algn="ctr"/>
            <a:r>
              <a:rPr lang="en-US" sz="1200" dirty="0"/>
              <a:t>Non-random association between alleles at different genetic loci,</a:t>
            </a:r>
          </a:p>
          <a:p>
            <a:pPr algn="ctr"/>
            <a:r>
              <a:rPr lang="en-US" sz="1200" dirty="0"/>
              <a:t>where certain combinations occur more or less frequently than expected by chance</a:t>
            </a:r>
          </a:p>
        </p:txBody>
      </p:sp>
      <p:graphicFrame>
        <p:nvGraphicFramePr>
          <p:cNvPr id="4" name="Table 3">
            <a:extLst>
              <a:ext uri="{FF2B5EF4-FFF2-40B4-BE49-F238E27FC236}">
                <a16:creationId xmlns:a16="http://schemas.microsoft.com/office/drawing/2014/main" id="{8723BFAF-8C3A-9C2F-297F-ADC5968AAD17}"/>
              </a:ext>
            </a:extLst>
          </p:cNvPr>
          <p:cNvGraphicFramePr>
            <a:graphicFrameLocks noGrp="1"/>
          </p:cNvGraphicFramePr>
          <p:nvPr>
            <p:extLst>
              <p:ext uri="{D42A27DB-BD31-4B8C-83A1-F6EECF244321}">
                <p14:modId xmlns:p14="http://schemas.microsoft.com/office/powerpoint/2010/main" val="844444345"/>
              </p:ext>
            </p:extLst>
          </p:nvPr>
        </p:nvGraphicFramePr>
        <p:xfrm>
          <a:off x="573930" y="1292851"/>
          <a:ext cx="3414176" cy="2157270"/>
        </p:xfrm>
        <a:graphic>
          <a:graphicData uri="http://schemas.openxmlformats.org/drawingml/2006/table">
            <a:tbl>
              <a:tblPr firstRow="1" firstCol="1" bandRow="1">
                <a:tableStyleId>{5C22544A-7EE6-4342-B048-85BDC9FD1C3A}</a:tableStyleId>
              </a:tblPr>
              <a:tblGrid>
                <a:gridCol w="853544">
                  <a:extLst>
                    <a:ext uri="{9D8B030D-6E8A-4147-A177-3AD203B41FA5}">
                      <a16:colId xmlns:a16="http://schemas.microsoft.com/office/drawing/2014/main" val="4160922130"/>
                    </a:ext>
                  </a:extLst>
                </a:gridCol>
                <a:gridCol w="853544">
                  <a:extLst>
                    <a:ext uri="{9D8B030D-6E8A-4147-A177-3AD203B41FA5}">
                      <a16:colId xmlns:a16="http://schemas.microsoft.com/office/drawing/2014/main" val="1403903358"/>
                    </a:ext>
                  </a:extLst>
                </a:gridCol>
                <a:gridCol w="853544">
                  <a:extLst>
                    <a:ext uri="{9D8B030D-6E8A-4147-A177-3AD203B41FA5}">
                      <a16:colId xmlns:a16="http://schemas.microsoft.com/office/drawing/2014/main" val="2306704740"/>
                    </a:ext>
                  </a:extLst>
                </a:gridCol>
                <a:gridCol w="853544">
                  <a:extLst>
                    <a:ext uri="{9D8B030D-6E8A-4147-A177-3AD203B41FA5}">
                      <a16:colId xmlns:a16="http://schemas.microsoft.com/office/drawing/2014/main" val="3844363200"/>
                    </a:ext>
                  </a:extLst>
                </a:gridCol>
              </a:tblGrid>
              <a:tr h="359545">
                <a:tc>
                  <a:txBody>
                    <a:bodyPr/>
                    <a:lstStyle/>
                    <a:p>
                      <a:pPr algn="ctr"/>
                      <a:endParaRPr lang="en-US" sz="1050" dirty="0"/>
                    </a:p>
                  </a:txBody>
                  <a:tcPr anchor="ctr"/>
                </a:tc>
                <a:tc>
                  <a:txBody>
                    <a:bodyPr/>
                    <a:lstStyle/>
                    <a:p>
                      <a:pPr algn="ctr"/>
                      <a:r>
                        <a:rPr lang="en-US" sz="1400" dirty="0"/>
                        <a:t>Variant 1</a:t>
                      </a:r>
                    </a:p>
                  </a:txBody>
                  <a:tcPr anchor="ctr"/>
                </a:tc>
                <a:tc>
                  <a:txBody>
                    <a:bodyPr/>
                    <a:lstStyle/>
                    <a:p>
                      <a:pPr algn="ctr"/>
                      <a:r>
                        <a:rPr lang="en-US" sz="1400" dirty="0"/>
                        <a:t>Variant 2</a:t>
                      </a:r>
                    </a:p>
                  </a:txBody>
                  <a:tcPr anchor="ctr"/>
                </a:tc>
                <a:tc>
                  <a:txBody>
                    <a:bodyPr/>
                    <a:lstStyle/>
                    <a:p>
                      <a:pPr algn="ctr"/>
                      <a:r>
                        <a:rPr lang="en-US" sz="1400" dirty="0"/>
                        <a:t>Variant 3</a:t>
                      </a:r>
                    </a:p>
                  </a:txBody>
                  <a:tcPr anchor="ctr"/>
                </a:tc>
                <a:extLst>
                  <a:ext uri="{0D108BD9-81ED-4DB2-BD59-A6C34878D82A}">
                    <a16:rowId xmlns:a16="http://schemas.microsoft.com/office/drawing/2014/main" val="1627297001"/>
                  </a:ext>
                </a:extLst>
              </a:tr>
              <a:tr h="359545">
                <a:tc>
                  <a:txBody>
                    <a:bodyPr/>
                    <a:lstStyle/>
                    <a:p>
                      <a:pPr algn="ctr"/>
                      <a:r>
                        <a:rPr lang="en-US" sz="1050" dirty="0"/>
                        <a:t>Individual 1</a:t>
                      </a:r>
                    </a:p>
                  </a:txBody>
                  <a:tcPr anchor="ctr"/>
                </a:tc>
                <a:tc>
                  <a:txBody>
                    <a:bodyPr/>
                    <a:lstStyle/>
                    <a:p>
                      <a:pPr algn="ctr"/>
                      <a:r>
                        <a:rPr lang="en-US" sz="1600" dirty="0"/>
                        <a:t>CC</a:t>
                      </a:r>
                    </a:p>
                  </a:txBody>
                  <a:tcPr anchor="ctr"/>
                </a:tc>
                <a:tc>
                  <a:txBody>
                    <a:bodyPr/>
                    <a:lstStyle/>
                    <a:p>
                      <a:pPr algn="ctr"/>
                      <a:r>
                        <a:rPr lang="en-US" sz="1600" dirty="0"/>
                        <a:t>CT</a:t>
                      </a:r>
                    </a:p>
                  </a:txBody>
                  <a:tcPr anchor="ctr"/>
                </a:tc>
                <a:tc>
                  <a:txBody>
                    <a:bodyPr/>
                    <a:lstStyle/>
                    <a:p>
                      <a:pPr algn="ctr"/>
                      <a:r>
                        <a:rPr lang="en-US" sz="1600" dirty="0"/>
                        <a:t>AT</a:t>
                      </a:r>
                    </a:p>
                  </a:txBody>
                  <a:tcPr anchor="ctr"/>
                </a:tc>
                <a:extLst>
                  <a:ext uri="{0D108BD9-81ED-4DB2-BD59-A6C34878D82A}">
                    <a16:rowId xmlns:a16="http://schemas.microsoft.com/office/drawing/2014/main" val="612860694"/>
                  </a:ext>
                </a:extLst>
              </a:tr>
              <a:tr h="359545">
                <a:tc>
                  <a:txBody>
                    <a:bodyPr/>
                    <a:lstStyle/>
                    <a:p>
                      <a:pPr algn="ctr"/>
                      <a:r>
                        <a:rPr lang="en-US" sz="1050" dirty="0"/>
                        <a:t>Individual 2</a:t>
                      </a:r>
                    </a:p>
                  </a:txBody>
                  <a:tcPr anchor="ctr"/>
                </a:tc>
                <a:tc>
                  <a:txBody>
                    <a:bodyPr/>
                    <a:lstStyle/>
                    <a:p>
                      <a:pPr algn="ctr"/>
                      <a:r>
                        <a:rPr lang="en-US" sz="1600" dirty="0"/>
                        <a:t>TT</a:t>
                      </a:r>
                    </a:p>
                  </a:txBody>
                  <a:tcPr anchor="ctr"/>
                </a:tc>
                <a:tc>
                  <a:txBody>
                    <a:bodyPr/>
                    <a:lstStyle/>
                    <a:p>
                      <a:pPr algn="ctr"/>
                      <a:r>
                        <a:rPr lang="en-US" sz="1600" dirty="0"/>
                        <a:t>TT</a:t>
                      </a:r>
                    </a:p>
                  </a:txBody>
                  <a:tcPr anchor="ctr"/>
                </a:tc>
                <a:tc>
                  <a:txBody>
                    <a:bodyPr/>
                    <a:lstStyle/>
                    <a:p>
                      <a:pPr algn="ctr"/>
                      <a:r>
                        <a:rPr lang="en-US" sz="1600" dirty="0"/>
                        <a:t>AA</a:t>
                      </a:r>
                    </a:p>
                  </a:txBody>
                  <a:tcPr anchor="ctr"/>
                </a:tc>
                <a:extLst>
                  <a:ext uri="{0D108BD9-81ED-4DB2-BD59-A6C34878D82A}">
                    <a16:rowId xmlns:a16="http://schemas.microsoft.com/office/drawing/2014/main" val="3817050502"/>
                  </a:ext>
                </a:extLst>
              </a:tr>
              <a:tr h="359545">
                <a:tc>
                  <a:txBody>
                    <a:bodyPr/>
                    <a:lstStyle/>
                    <a:p>
                      <a:pPr algn="ctr"/>
                      <a:r>
                        <a:rPr lang="en-US" sz="1050" dirty="0"/>
                        <a:t>Individual 3</a:t>
                      </a:r>
                    </a:p>
                  </a:txBody>
                  <a:tcPr anchor="ctr"/>
                </a:tc>
                <a:tc>
                  <a:txBody>
                    <a:bodyPr/>
                    <a:lstStyle/>
                    <a:p>
                      <a:pPr algn="ctr"/>
                      <a:r>
                        <a:rPr lang="en-US" sz="1600" dirty="0"/>
                        <a:t>CT</a:t>
                      </a:r>
                    </a:p>
                  </a:txBody>
                  <a:tcPr anchor="ctr"/>
                </a:tc>
                <a:tc>
                  <a:txBody>
                    <a:bodyPr/>
                    <a:lstStyle/>
                    <a:p>
                      <a:pPr algn="ctr"/>
                      <a:r>
                        <a:rPr lang="en-US" sz="1600" dirty="0"/>
                        <a:t>CT</a:t>
                      </a:r>
                    </a:p>
                  </a:txBody>
                  <a:tcPr anchor="ctr"/>
                </a:tc>
                <a:tc>
                  <a:txBody>
                    <a:bodyPr/>
                    <a:lstStyle/>
                    <a:p>
                      <a:pPr algn="ctr"/>
                      <a:r>
                        <a:rPr lang="en-US" sz="1600" dirty="0"/>
                        <a:t>AA</a:t>
                      </a:r>
                    </a:p>
                  </a:txBody>
                  <a:tcPr anchor="ctr"/>
                </a:tc>
                <a:extLst>
                  <a:ext uri="{0D108BD9-81ED-4DB2-BD59-A6C34878D82A}">
                    <a16:rowId xmlns:a16="http://schemas.microsoft.com/office/drawing/2014/main" val="4061852596"/>
                  </a:ext>
                </a:extLst>
              </a:tr>
              <a:tr h="359545">
                <a:tc>
                  <a:txBody>
                    <a:bodyPr/>
                    <a:lstStyle/>
                    <a:p>
                      <a:pPr algn="ctr"/>
                      <a:r>
                        <a:rPr lang="en-US" sz="1050" dirty="0"/>
                        <a:t>Individual 4</a:t>
                      </a:r>
                    </a:p>
                  </a:txBody>
                  <a:tcPr anchor="ctr"/>
                </a:tc>
                <a:tc>
                  <a:txBody>
                    <a:bodyPr/>
                    <a:lstStyle/>
                    <a:p>
                      <a:pPr algn="ctr"/>
                      <a:r>
                        <a:rPr lang="en-US" sz="1600" dirty="0"/>
                        <a:t>CC</a:t>
                      </a:r>
                    </a:p>
                  </a:txBody>
                  <a:tcPr anchor="ctr"/>
                </a:tc>
                <a:tc>
                  <a:txBody>
                    <a:bodyPr/>
                    <a:lstStyle/>
                    <a:p>
                      <a:pPr algn="ctr"/>
                      <a:r>
                        <a:rPr lang="en-US" sz="1600" dirty="0"/>
                        <a:t>TT</a:t>
                      </a:r>
                    </a:p>
                  </a:txBody>
                  <a:tcPr anchor="ctr"/>
                </a:tc>
                <a:tc>
                  <a:txBody>
                    <a:bodyPr/>
                    <a:lstStyle/>
                    <a:p>
                      <a:pPr algn="ctr"/>
                      <a:r>
                        <a:rPr lang="en-US" sz="1600" dirty="0"/>
                        <a:t>AA</a:t>
                      </a:r>
                    </a:p>
                  </a:txBody>
                  <a:tcPr anchor="ctr"/>
                </a:tc>
                <a:extLst>
                  <a:ext uri="{0D108BD9-81ED-4DB2-BD59-A6C34878D82A}">
                    <a16:rowId xmlns:a16="http://schemas.microsoft.com/office/drawing/2014/main" val="1350519049"/>
                  </a:ext>
                </a:extLst>
              </a:tr>
              <a:tr h="359545">
                <a:tc>
                  <a:txBody>
                    <a:bodyPr/>
                    <a:lstStyle/>
                    <a:p>
                      <a:pPr algn="ctr"/>
                      <a:r>
                        <a:rPr lang="en-US" sz="1050" dirty="0"/>
                        <a:t>Individual 5</a:t>
                      </a:r>
                    </a:p>
                  </a:txBody>
                  <a:tcPr anchor="ctr"/>
                </a:tc>
                <a:tc>
                  <a:txBody>
                    <a:bodyPr/>
                    <a:lstStyle/>
                    <a:p>
                      <a:pPr algn="ctr"/>
                      <a:r>
                        <a:rPr lang="en-US" sz="1600" dirty="0"/>
                        <a:t>CC</a:t>
                      </a:r>
                    </a:p>
                  </a:txBody>
                  <a:tcPr anchor="ctr"/>
                </a:tc>
                <a:tc>
                  <a:txBody>
                    <a:bodyPr/>
                    <a:lstStyle/>
                    <a:p>
                      <a:pPr algn="ctr"/>
                      <a:r>
                        <a:rPr lang="en-US" sz="1600" dirty="0"/>
                        <a:t>CC</a:t>
                      </a:r>
                    </a:p>
                  </a:txBody>
                  <a:tcPr anchor="ctr"/>
                </a:tc>
                <a:tc>
                  <a:txBody>
                    <a:bodyPr/>
                    <a:lstStyle/>
                    <a:p>
                      <a:pPr algn="ctr"/>
                      <a:r>
                        <a:rPr lang="en-US" sz="1600" dirty="0"/>
                        <a:t>TT</a:t>
                      </a:r>
                    </a:p>
                  </a:txBody>
                  <a:tcPr anchor="ctr"/>
                </a:tc>
                <a:extLst>
                  <a:ext uri="{0D108BD9-81ED-4DB2-BD59-A6C34878D82A}">
                    <a16:rowId xmlns:a16="http://schemas.microsoft.com/office/drawing/2014/main" val="3523511550"/>
                  </a:ext>
                </a:extLst>
              </a:tr>
            </a:tbl>
          </a:graphicData>
        </a:graphic>
      </p:graphicFrame>
      <p:graphicFrame>
        <p:nvGraphicFramePr>
          <p:cNvPr id="5" name="Table 4">
            <a:extLst>
              <a:ext uri="{FF2B5EF4-FFF2-40B4-BE49-F238E27FC236}">
                <a16:creationId xmlns:a16="http://schemas.microsoft.com/office/drawing/2014/main" id="{45ACC476-EE10-AD57-7308-E1E170FF3817}"/>
              </a:ext>
            </a:extLst>
          </p:cNvPr>
          <p:cNvGraphicFramePr>
            <a:graphicFrameLocks noGrp="1"/>
          </p:cNvGraphicFramePr>
          <p:nvPr>
            <p:extLst>
              <p:ext uri="{D42A27DB-BD31-4B8C-83A1-F6EECF244321}">
                <p14:modId xmlns:p14="http://schemas.microsoft.com/office/powerpoint/2010/main" val="1127036167"/>
              </p:ext>
            </p:extLst>
          </p:nvPr>
        </p:nvGraphicFramePr>
        <p:xfrm>
          <a:off x="5233393" y="1292851"/>
          <a:ext cx="3414176" cy="2157270"/>
        </p:xfrm>
        <a:graphic>
          <a:graphicData uri="http://schemas.openxmlformats.org/drawingml/2006/table">
            <a:tbl>
              <a:tblPr firstRow="1" firstCol="1" bandRow="1">
                <a:tableStyleId>{5C22544A-7EE6-4342-B048-85BDC9FD1C3A}</a:tableStyleId>
              </a:tblPr>
              <a:tblGrid>
                <a:gridCol w="853544">
                  <a:extLst>
                    <a:ext uri="{9D8B030D-6E8A-4147-A177-3AD203B41FA5}">
                      <a16:colId xmlns:a16="http://schemas.microsoft.com/office/drawing/2014/main" val="4160922130"/>
                    </a:ext>
                  </a:extLst>
                </a:gridCol>
                <a:gridCol w="853544">
                  <a:extLst>
                    <a:ext uri="{9D8B030D-6E8A-4147-A177-3AD203B41FA5}">
                      <a16:colId xmlns:a16="http://schemas.microsoft.com/office/drawing/2014/main" val="1403903358"/>
                    </a:ext>
                  </a:extLst>
                </a:gridCol>
                <a:gridCol w="853544">
                  <a:extLst>
                    <a:ext uri="{9D8B030D-6E8A-4147-A177-3AD203B41FA5}">
                      <a16:colId xmlns:a16="http://schemas.microsoft.com/office/drawing/2014/main" val="2306704740"/>
                    </a:ext>
                  </a:extLst>
                </a:gridCol>
                <a:gridCol w="853544">
                  <a:extLst>
                    <a:ext uri="{9D8B030D-6E8A-4147-A177-3AD203B41FA5}">
                      <a16:colId xmlns:a16="http://schemas.microsoft.com/office/drawing/2014/main" val="3844363200"/>
                    </a:ext>
                  </a:extLst>
                </a:gridCol>
              </a:tblGrid>
              <a:tr h="359545">
                <a:tc>
                  <a:txBody>
                    <a:bodyPr/>
                    <a:lstStyle/>
                    <a:p>
                      <a:pPr algn="ctr"/>
                      <a:endParaRPr lang="en-US" sz="1050" dirty="0"/>
                    </a:p>
                  </a:txBody>
                  <a:tcPr anchor="ctr"/>
                </a:tc>
                <a:tc>
                  <a:txBody>
                    <a:bodyPr/>
                    <a:lstStyle/>
                    <a:p>
                      <a:pPr algn="ctr"/>
                      <a:r>
                        <a:rPr lang="en-US" sz="1400" dirty="0"/>
                        <a:t>Variant 1</a:t>
                      </a:r>
                    </a:p>
                  </a:txBody>
                  <a:tcPr anchor="ctr"/>
                </a:tc>
                <a:tc>
                  <a:txBody>
                    <a:bodyPr/>
                    <a:lstStyle/>
                    <a:p>
                      <a:pPr algn="ctr"/>
                      <a:r>
                        <a:rPr lang="en-US" sz="1400" dirty="0"/>
                        <a:t>Variant 2</a:t>
                      </a:r>
                    </a:p>
                  </a:txBody>
                  <a:tcPr anchor="ctr"/>
                </a:tc>
                <a:tc>
                  <a:txBody>
                    <a:bodyPr/>
                    <a:lstStyle/>
                    <a:p>
                      <a:pPr algn="ctr"/>
                      <a:r>
                        <a:rPr lang="en-US" sz="1400" dirty="0"/>
                        <a:t>Variant 3</a:t>
                      </a:r>
                    </a:p>
                  </a:txBody>
                  <a:tcPr anchor="ctr"/>
                </a:tc>
                <a:extLst>
                  <a:ext uri="{0D108BD9-81ED-4DB2-BD59-A6C34878D82A}">
                    <a16:rowId xmlns:a16="http://schemas.microsoft.com/office/drawing/2014/main" val="1627297001"/>
                  </a:ext>
                </a:extLst>
              </a:tr>
              <a:tr h="359545">
                <a:tc>
                  <a:txBody>
                    <a:bodyPr/>
                    <a:lstStyle/>
                    <a:p>
                      <a:pPr algn="ctr"/>
                      <a:r>
                        <a:rPr lang="en-US" sz="1050" dirty="0"/>
                        <a:t>Individual 1</a:t>
                      </a:r>
                    </a:p>
                  </a:txBody>
                  <a:tcPr anchor="ctr"/>
                </a:tc>
                <a:tc>
                  <a:txBody>
                    <a:bodyPr/>
                    <a:lstStyle/>
                    <a:p>
                      <a:pPr algn="ctr"/>
                      <a:r>
                        <a:rPr lang="en-US" sz="1600" dirty="0"/>
                        <a:t>-0.671</a:t>
                      </a:r>
                    </a:p>
                  </a:txBody>
                  <a:tcPr anchor="ctr"/>
                </a:tc>
                <a:tc>
                  <a:txBody>
                    <a:bodyPr/>
                    <a:lstStyle/>
                    <a:p>
                      <a:pPr algn="ctr"/>
                      <a:r>
                        <a:rPr lang="en-US" sz="1600" dirty="0"/>
                        <a:t>0.239</a:t>
                      </a:r>
                    </a:p>
                  </a:txBody>
                  <a:tcPr anchor="ctr"/>
                </a:tc>
                <a:tc>
                  <a:txBody>
                    <a:bodyPr/>
                    <a:lstStyle/>
                    <a:p>
                      <a:pPr algn="ctr"/>
                      <a:r>
                        <a:rPr lang="en-US" sz="1600" dirty="0"/>
                        <a:t>0.447</a:t>
                      </a:r>
                    </a:p>
                  </a:txBody>
                  <a:tcPr anchor="ctr"/>
                </a:tc>
                <a:extLst>
                  <a:ext uri="{0D108BD9-81ED-4DB2-BD59-A6C34878D82A}">
                    <a16:rowId xmlns:a16="http://schemas.microsoft.com/office/drawing/2014/main" val="612860694"/>
                  </a:ext>
                </a:extLst>
              </a:tr>
              <a:tr h="359545">
                <a:tc>
                  <a:txBody>
                    <a:bodyPr/>
                    <a:lstStyle/>
                    <a:p>
                      <a:pPr algn="ctr"/>
                      <a:r>
                        <a:rPr lang="en-US" sz="1050" dirty="0"/>
                        <a:t>Individual 2</a:t>
                      </a:r>
                    </a:p>
                  </a:txBody>
                  <a:tcPr anchor="ctr"/>
                </a:tc>
                <a:tc>
                  <a:txBody>
                    <a:bodyPr/>
                    <a:lstStyle/>
                    <a:p>
                      <a:pPr algn="ctr"/>
                      <a:r>
                        <a:rPr lang="en-US" sz="1600" dirty="0"/>
                        <a:t>1.565</a:t>
                      </a:r>
                    </a:p>
                  </a:txBody>
                  <a:tcPr anchor="ctr"/>
                </a:tc>
                <a:tc>
                  <a:txBody>
                    <a:bodyPr/>
                    <a:lstStyle/>
                    <a:p>
                      <a:pPr algn="ctr"/>
                      <a:r>
                        <a:rPr lang="en-US" sz="1600" dirty="0"/>
                        <a:t>-0.956</a:t>
                      </a:r>
                    </a:p>
                  </a:txBody>
                  <a:tcPr anchor="ctr"/>
                </a:tc>
                <a:tc>
                  <a:txBody>
                    <a:bodyPr/>
                    <a:lstStyle/>
                    <a:p>
                      <a:pPr algn="ctr"/>
                      <a:r>
                        <a:rPr lang="en-US" sz="1600" dirty="0"/>
                        <a:t>-0.671</a:t>
                      </a:r>
                    </a:p>
                  </a:txBody>
                  <a:tcPr anchor="ctr"/>
                </a:tc>
                <a:extLst>
                  <a:ext uri="{0D108BD9-81ED-4DB2-BD59-A6C34878D82A}">
                    <a16:rowId xmlns:a16="http://schemas.microsoft.com/office/drawing/2014/main" val="3817050502"/>
                  </a:ext>
                </a:extLst>
              </a:tr>
              <a:tr h="359545">
                <a:tc>
                  <a:txBody>
                    <a:bodyPr/>
                    <a:lstStyle/>
                    <a:p>
                      <a:pPr algn="ctr"/>
                      <a:r>
                        <a:rPr lang="en-US" sz="1050" dirty="0"/>
                        <a:t>Individual 3</a:t>
                      </a:r>
                    </a:p>
                  </a:txBody>
                  <a:tcPr anchor="ctr"/>
                </a:tc>
                <a:tc>
                  <a:txBody>
                    <a:bodyPr/>
                    <a:lstStyle/>
                    <a:p>
                      <a:pPr algn="ctr"/>
                      <a:r>
                        <a:rPr lang="en-US" sz="1600" dirty="0"/>
                        <a:t>0.447</a:t>
                      </a:r>
                    </a:p>
                  </a:txBody>
                  <a:tcPr anchor="ctr"/>
                </a:tc>
                <a:tc>
                  <a:txBody>
                    <a:bodyPr/>
                    <a:lstStyle/>
                    <a:p>
                      <a:pPr algn="ctr"/>
                      <a:r>
                        <a:rPr lang="en-US" sz="1600" dirty="0"/>
                        <a:t>0.239</a:t>
                      </a:r>
                    </a:p>
                  </a:txBody>
                  <a:tcPr anchor="ctr"/>
                </a:tc>
                <a:tc>
                  <a:txBody>
                    <a:bodyPr/>
                    <a:lstStyle/>
                    <a:p>
                      <a:pPr algn="ctr"/>
                      <a:r>
                        <a:rPr lang="en-US" sz="1600" dirty="0"/>
                        <a:t>-0.671</a:t>
                      </a:r>
                    </a:p>
                  </a:txBody>
                  <a:tcPr anchor="ctr"/>
                </a:tc>
                <a:extLst>
                  <a:ext uri="{0D108BD9-81ED-4DB2-BD59-A6C34878D82A}">
                    <a16:rowId xmlns:a16="http://schemas.microsoft.com/office/drawing/2014/main" val="4061852596"/>
                  </a:ext>
                </a:extLst>
              </a:tr>
              <a:tr h="359545">
                <a:tc>
                  <a:txBody>
                    <a:bodyPr/>
                    <a:lstStyle/>
                    <a:p>
                      <a:pPr algn="ctr"/>
                      <a:r>
                        <a:rPr lang="en-US" sz="1050" dirty="0"/>
                        <a:t>Individual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-0.671</a:t>
                      </a:r>
                    </a:p>
                  </a:txBody>
                  <a:tcPr anchor="ctr"/>
                </a:tc>
                <a:tc>
                  <a:txBody>
                    <a:bodyPr/>
                    <a:lstStyle/>
                    <a:p>
                      <a:pPr algn="ctr"/>
                      <a:r>
                        <a:rPr lang="en-US" sz="1600" dirty="0"/>
                        <a:t>-0.956</a:t>
                      </a:r>
                    </a:p>
                  </a:txBody>
                  <a:tcPr anchor="ctr"/>
                </a:tc>
                <a:tc>
                  <a:txBody>
                    <a:bodyPr/>
                    <a:lstStyle/>
                    <a:p>
                      <a:pPr algn="ctr"/>
                      <a:r>
                        <a:rPr lang="en-US" sz="1600" dirty="0"/>
                        <a:t>-0.671</a:t>
                      </a:r>
                    </a:p>
                  </a:txBody>
                  <a:tcPr anchor="ctr"/>
                </a:tc>
                <a:extLst>
                  <a:ext uri="{0D108BD9-81ED-4DB2-BD59-A6C34878D82A}">
                    <a16:rowId xmlns:a16="http://schemas.microsoft.com/office/drawing/2014/main" val="1350519049"/>
                  </a:ext>
                </a:extLst>
              </a:tr>
              <a:tr h="359545">
                <a:tc>
                  <a:txBody>
                    <a:bodyPr/>
                    <a:lstStyle/>
                    <a:p>
                      <a:pPr algn="ctr"/>
                      <a:r>
                        <a:rPr lang="en-US" sz="1050" dirty="0"/>
                        <a:t>Individual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-0.671</a:t>
                      </a:r>
                    </a:p>
                  </a:txBody>
                  <a:tcPr anchor="ctr"/>
                </a:tc>
                <a:tc>
                  <a:txBody>
                    <a:bodyPr/>
                    <a:lstStyle/>
                    <a:p>
                      <a:pPr algn="ctr"/>
                      <a:r>
                        <a:rPr lang="en-US" sz="1600" dirty="0"/>
                        <a:t>1.434</a:t>
                      </a:r>
                    </a:p>
                  </a:txBody>
                  <a:tcPr anchor="ctr"/>
                </a:tc>
                <a:tc>
                  <a:txBody>
                    <a:bodyPr/>
                    <a:lstStyle/>
                    <a:p>
                      <a:pPr algn="ctr"/>
                      <a:r>
                        <a:rPr lang="en-US" sz="1600" dirty="0"/>
                        <a:t>1.565</a:t>
                      </a:r>
                    </a:p>
                  </a:txBody>
                  <a:tcPr anchor="ctr"/>
                </a:tc>
                <a:extLst>
                  <a:ext uri="{0D108BD9-81ED-4DB2-BD59-A6C34878D82A}">
                    <a16:rowId xmlns:a16="http://schemas.microsoft.com/office/drawing/2014/main" val="3523511550"/>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63246F3-1BA5-6A79-1018-2B984E9D6B6F}"/>
                  </a:ext>
                </a:extLst>
              </p:cNvPr>
              <p:cNvSpPr txBox="1"/>
              <p:nvPr/>
            </p:nvSpPr>
            <p:spPr>
              <a:xfrm>
                <a:off x="866592" y="923519"/>
                <a:ext cx="2828851" cy="369332"/>
              </a:xfrm>
              <a:prstGeom prst="rect">
                <a:avLst/>
              </a:prstGeom>
              <a:noFill/>
            </p:spPr>
            <p:txBody>
              <a:bodyPr wrap="none" rtlCol="0">
                <a:spAutoFit/>
              </a:bodyPr>
              <a:lstStyle/>
              <a:p>
                <a:r>
                  <a:rPr lang="en-US" b="1" dirty="0"/>
                  <a:t>Raw Genotype Matrix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𝒓𝒂𝒘</m:t>
                        </m:r>
                      </m:sub>
                    </m:sSub>
                  </m:oMath>
                </a14:m>
                <a:endParaRPr lang="en-US" b="1" dirty="0"/>
              </a:p>
            </p:txBody>
          </p:sp>
        </mc:Choice>
        <mc:Fallback xmlns="">
          <p:sp>
            <p:nvSpPr>
              <p:cNvPr id="6" name="TextBox 5">
                <a:extLst>
                  <a:ext uri="{FF2B5EF4-FFF2-40B4-BE49-F238E27FC236}">
                    <a16:creationId xmlns:a16="http://schemas.microsoft.com/office/drawing/2014/main" id="{A63246F3-1BA5-6A79-1018-2B984E9D6B6F}"/>
                  </a:ext>
                </a:extLst>
              </p:cNvPr>
              <p:cNvSpPr txBox="1">
                <a:spLocks noRot="1" noChangeAspect="1" noMove="1" noResize="1" noEditPoints="1" noAdjustHandles="1" noChangeArrowheads="1" noChangeShapeType="1" noTextEdit="1"/>
              </p:cNvSpPr>
              <p:nvPr/>
            </p:nvSpPr>
            <p:spPr>
              <a:xfrm>
                <a:off x="866592" y="923519"/>
                <a:ext cx="2828851" cy="369332"/>
              </a:xfrm>
              <a:prstGeom prst="rect">
                <a:avLst/>
              </a:prstGeom>
              <a:blipFill>
                <a:blip r:embed="rId2"/>
                <a:stretch>
                  <a:fillRect l="-1794"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7A5D6CE-0D31-7AC2-EA8C-223AF8AC7C83}"/>
                  </a:ext>
                </a:extLst>
              </p:cNvPr>
              <p:cNvSpPr txBox="1"/>
              <p:nvPr/>
            </p:nvSpPr>
            <p:spPr>
              <a:xfrm>
                <a:off x="5216419" y="923519"/>
                <a:ext cx="3448123" cy="369332"/>
              </a:xfrm>
              <a:prstGeom prst="rect">
                <a:avLst/>
              </a:prstGeom>
              <a:noFill/>
            </p:spPr>
            <p:txBody>
              <a:bodyPr wrap="none" rtlCol="0">
                <a:spAutoFit/>
              </a:bodyPr>
              <a:lstStyle/>
              <a:p>
                <a:r>
                  <a:rPr lang="en-US" b="1" dirty="0"/>
                  <a:t>Standardized Genotyped Matrix </a:t>
                </a:r>
                <a14:m>
                  <m:oMath xmlns:m="http://schemas.openxmlformats.org/officeDocument/2006/math">
                    <m:r>
                      <a:rPr lang="en-US" b="1" i="1">
                        <a:latin typeface="Cambria Math" panose="02040503050406030204" pitchFamily="18" charset="0"/>
                      </a:rPr>
                      <m:t>𝑿</m:t>
                    </m:r>
                  </m:oMath>
                </a14:m>
                <a:endParaRPr lang="en-US" b="1" dirty="0"/>
              </a:p>
            </p:txBody>
          </p:sp>
        </mc:Choice>
        <mc:Fallback xmlns="">
          <p:sp>
            <p:nvSpPr>
              <p:cNvPr id="7" name="TextBox 6">
                <a:extLst>
                  <a:ext uri="{FF2B5EF4-FFF2-40B4-BE49-F238E27FC236}">
                    <a16:creationId xmlns:a16="http://schemas.microsoft.com/office/drawing/2014/main" id="{17A5D6CE-0D31-7AC2-EA8C-223AF8AC7C83}"/>
                  </a:ext>
                </a:extLst>
              </p:cNvPr>
              <p:cNvSpPr txBox="1">
                <a:spLocks noRot="1" noChangeAspect="1" noMove="1" noResize="1" noEditPoints="1" noAdjustHandles="1" noChangeArrowheads="1" noChangeShapeType="1" noTextEdit="1"/>
              </p:cNvSpPr>
              <p:nvPr/>
            </p:nvSpPr>
            <p:spPr>
              <a:xfrm>
                <a:off x="5216419" y="923519"/>
                <a:ext cx="3448123" cy="369332"/>
              </a:xfrm>
              <a:prstGeom prst="rect">
                <a:avLst/>
              </a:prstGeom>
              <a:blipFill>
                <a:blip r:embed="rId3"/>
                <a:stretch>
                  <a:fillRect l="-1465" t="-6667" b="-26667"/>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1ADF69D0-61AE-437D-0EE3-AC4A96D50944}"/>
              </a:ext>
            </a:extLst>
          </p:cNvPr>
          <p:cNvCxnSpPr>
            <a:cxnSpLocks/>
          </p:cNvCxnSpPr>
          <p:nvPr/>
        </p:nvCxnSpPr>
        <p:spPr>
          <a:xfrm>
            <a:off x="4133046" y="2371486"/>
            <a:ext cx="98050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974DCCE-4BCC-B2E8-B822-931B08D1CFD6}"/>
              </a:ext>
            </a:extLst>
          </p:cNvPr>
          <p:cNvSpPr txBox="1"/>
          <p:nvPr/>
        </p:nvSpPr>
        <p:spPr>
          <a:xfrm>
            <a:off x="3952172" y="2417653"/>
            <a:ext cx="1443487" cy="369332"/>
          </a:xfrm>
          <a:prstGeom prst="rect">
            <a:avLst/>
          </a:prstGeom>
          <a:noFill/>
        </p:spPr>
        <p:txBody>
          <a:bodyPr wrap="square" rtlCol="0">
            <a:spAutoFit/>
          </a:bodyPr>
          <a:lstStyle/>
          <a:p>
            <a:r>
              <a:rPr lang="en-US" b="1" i="1" dirty="0"/>
              <a:t>Standardize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B8755EA-8201-0C7D-59AB-06FC800295D2}"/>
                  </a:ext>
                </a:extLst>
              </p:cNvPr>
              <p:cNvSpPr txBox="1"/>
              <p:nvPr/>
            </p:nvSpPr>
            <p:spPr>
              <a:xfrm>
                <a:off x="3707185" y="3541142"/>
                <a:ext cx="1739514" cy="652102"/>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𝑳𝑫</m:t>
                      </m:r>
                      <m:r>
                        <a:rPr lang="en-US" b="1" i="1" smtClean="0">
                          <a:latin typeface="Cambria Math" panose="02040503050406030204" pitchFamily="18" charset="0"/>
                        </a:rPr>
                        <m:t>=</m:t>
                      </m:r>
                      <m:r>
                        <a:rPr lang="en-US" b="1" i="1" smtClean="0">
                          <a:latin typeface="Cambria Math" panose="02040503050406030204" pitchFamily="18" charset="0"/>
                        </a:rPr>
                        <m:t>𝑹</m:t>
                      </m:r>
                      <m:r>
                        <a:rPr lang="en-US" b="1" i="1" smtClean="0">
                          <a:latin typeface="Cambria Math" panose="02040503050406030204" pitchFamily="18" charset="0"/>
                        </a:rPr>
                        <m:t>=</m:t>
                      </m:r>
                      <m:f>
                        <m:fPr>
                          <m:ctrlPr>
                            <a:rPr lang="en-US" b="1" i="1" smtClean="0">
                              <a:latin typeface="Cambria Math" panose="02040503050406030204" pitchFamily="18" charset="0"/>
                            </a:rPr>
                          </m:ctrlPr>
                        </m:fPr>
                        <m:num>
                          <m:sSup>
                            <m:sSupPr>
                              <m:ctrlPr>
                                <a:rPr lang="en-US" b="1" i="1" smtClean="0">
                                  <a:latin typeface="Cambria Math" panose="02040503050406030204" pitchFamily="18" charset="0"/>
                                </a:rPr>
                              </m:ctrlPr>
                            </m:sSupPr>
                            <m:e>
                              <m:r>
                                <a:rPr lang="en-US" b="1" i="1" smtClean="0">
                                  <a:latin typeface="Cambria Math" panose="02040503050406030204" pitchFamily="18" charset="0"/>
                                </a:rPr>
                                <m:t>𝑿</m:t>
                              </m:r>
                            </m:e>
                            <m:sup>
                              <m:r>
                                <a:rPr lang="en-US" b="1" i="1" smtClean="0">
                                  <a:latin typeface="Cambria Math" panose="02040503050406030204" pitchFamily="18" charset="0"/>
                                </a:rPr>
                                <m:t>𝑻</m:t>
                              </m:r>
                            </m:sup>
                          </m:sSup>
                          <m:r>
                            <a:rPr lang="en-US" b="1" i="1" smtClean="0">
                              <a:latin typeface="Cambria Math" panose="02040503050406030204" pitchFamily="18" charset="0"/>
                            </a:rPr>
                            <m:t>𝑿</m:t>
                          </m:r>
                        </m:num>
                        <m:den>
                          <m:r>
                            <a:rPr lang="en-US" b="1" i="1" smtClean="0">
                              <a:latin typeface="Cambria Math" panose="02040503050406030204" pitchFamily="18" charset="0"/>
                            </a:rPr>
                            <m:t>𝑵</m:t>
                          </m:r>
                        </m:den>
                      </m:f>
                    </m:oMath>
                  </m:oMathPara>
                </a14:m>
                <a:endParaRPr lang="en-US" b="1" dirty="0"/>
              </a:p>
            </p:txBody>
          </p:sp>
        </mc:Choice>
        <mc:Fallback xmlns="">
          <p:sp>
            <p:nvSpPr>
              <p:cNvPr id="12" name="TextBox 11">
                <a:extLst>
                  <a:ext uri="{FF2B5EF4-FFF2-40B4-BE49-F238E27FC236}">
                    <a16:creationId xmlns:a16="http://schemas.microsoft.com/office/drawing/2014/main" id="{AB8755EA-8201-0C7D-59AB-06FC800295D2}"/>
                  </a:ext>
                </a:extLst>
              </p:cNvPr>
              <p:cNvSpPr txBox="1">
                <a:spLocks noRot="1" noChangeAspect="1" noMove="1" noResize="1" noEditPoints="1" noAdjustHandles="1" noChangeArrowheads="1" noChangeShapeType="1" noTextEdit="1"/>
              </p:cNvSpPr>
              <p:nvPr/>
            </p:nvSpPr>
            <p:spPr>
              <a:xfrm>
                <a:off x="3707185" y="3541142"/>
                <a:ext cx="1739514" cy="652102"/>
              </a:xfrm>
              <a:prstGeom prst="rect">
                <a:avLst/>
              </a:prstGeom>
              <a:blipFill>
                <a:blip r:embed="rId4"/>
                <a:stretch>
                  <a:fillRect b="-3774"/>
                </a:stretch>
              </a:blipFill>
              <a:ln>
                <a:noFill/>
              </a:ln>
            </p:spPr>
            <p:txBody>
              <a:bodyPr/>
              <a:lstStyle/>
              <a:p>
                <a:r>
                  <a:rPr lang="en-US">
                    <a:noFill/>
                  </a:rPr>
                  <a:t> </a:t>
                </a:r>
              </a:p>
            </p:txBody>
          </p:sp>
        </mc:Fallback>
      </mc:AlternateContent>
      <p:sp>
        <p:nvSpPr>
          <p:cNvPr id="16" name="TextBox 15">
            <a:extLst>
              <a:ext uri="{FF2B5EF4-FFF2-40B4-BE49-F238E27FC236}">
                <a16:creationId xmlns:a16="http://schemas.microsoft.com/office/drawing/2014/main" id="{EAFA4B69-8235-E860-EECF-6138B1CB9BC2}"/>
              </a:ext>
            </a:extLst>
          </p:cNvPr>
          <p:cNvSpPr txBox="1"/>
          <p:nvPr/>
        </p:nvSpPr>
        <p:spPr>
          <a:xfrm>
            <a:off x="463760" y="5437754"/>
            <a:ext cx="4475988" cy="369332"/>
          </a:xfrm>
          <a:prstGeom prst="rect">
            <a:avLst/>
          </a:prstGeom>
          <a:noFill/>
        </p:spPr>
        <p:txBody>
          <a:bodyPr wrap="square" rtlCol="0" anchor="ctr">
            <a:spAutoFit/>
          </a:bodyPr>
          <a:lstStyle/>
          <a:p>
            <a:pPr algn="ctr"/>
            <a:r>
              <a:rPr lang="en-US" b="1" dirty="0"/>
              <a:t>LD Matrix (correlation)</a:t>
            </a:r>
          </a:p>
        </p:txBody>
      </p:sp>
      <p:cxnSp>
        <p:nvCxnSpPr>
          <p:cNvPr id="14" name="Straight Arrow Connector 13">
            <a:extLst>
              <a:ext uri="{FF2B5EF4-FFF2-40B4-BE49-F238E27FC236}">
                <a16:creationId xmlns:a16="http://schemas.microsoft.com/office/drawing/2014/main" id="{A0026F5E-6547-37CD-619A-45D7DE16D387}"/>
              </a:ext>
            </a:extLst>
          </p:cNvPr>
          <p:cNvCxnSpPr>
            <a:cxnSpLocks/>
          </p:cNvCxnSpPr>
          <p:nvPr/>
        </p:nvCxnSpPr>
        <p:spPr>
          <a:xfrm>
            <a:off x="573930" y="4572000"/>
            <a:ext cx="7992342"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F62DAED-0ED8-F0D9-5A6E-6C8620D3CDEC}"/>
              </a:ext>
            </a:extLst>
          </p:cNvPr>
          <p:cNvSpPr txBox="1"/>
          <p:nvPr/>
        </p:nvSpPr>
        <p:spPr>
          <a:xfrm>
            <a:off x="454791" y="4224597"/>
            <a:ext cx="372218"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42DEC759-5174-9F46-0816-5C680F7FDCBA}"/>
              </a:ext>
            </a:extLst>
          </p:cNvPr>
          <p:cNvSpPr txBox="1"/>
          <p:nvPr/>
        </p:nvSpPr>
        <p:spPr>
          <a:xfrm>
            <a:off x="4416585" y="4224597"/>
            <a:ext cx="301686" cy="369332"/>
          </a:xfrm>
          <a:prstGeom prst="rect">
            <a:avLst/>
          </a:prstGeom>
          <a:noFill/>
        </p:spPr>
        <p:txBody>
          <a:bodyPr wrap="none" rtlCol="0">
            <a:spAutoFit/>
          </a:bodyPr>
          <a:lstStyle/>
          <a:p>
            <a:r>
              <a:rPr lang="en-US" dirty="0"/>
              <a:t>0</a:t>
            </a:r>
          </a:p>
        </p:txBody>
      </p:sp>
      <p:sp>
        <p:nvSpPr>
          <p:cNvPr id="19" name="TextBox 18">
            <a:extLst>
              <a:ext uri="{FF2B5EF4-FFF2-40B4-BE49-F238E27FC236}">
                <a16:creationId xmlns:a16="http://schemas.microsoft.com/office/drawing/2014/main" id="{4507EE39-084E-32D2-8727-A86A9C679B74}"/>
              </a:ext>
            </a:extLst>
          </p:cNvPr>
          <p:cNvSpPr txBox="1"/>
          <p:nvPr/>
        </p:nvSpPr>
        <p:spPr>
          <a:xfrm>
            <a:off x="8264586" y="4224597"/>
            <a:ext cx="301686" cy="369332"/>
          </a:xfrm>
          <a:prstGeom prst="rect">
            <a:avLst/>
          </a:prstGeom>
          <a:noFill/>
        </p:spPr>
        <p:txBody>
          <a:bodyPr wrap="none" rtlCol="0">
            <a:spAutoFit/>
          </a:bodyPr>
          <a:lstStyle/>
          <a:p>
            <a:r>
              <a:rPr lang="en-US" dirty="0"/>
              <a:t>1</a:t>
            </a:r>
          </a:p>
        </p:txBody>
      </p:sp>
      <p:sp>
        <p:nvSpPr>
          <p:cNvPr id="20" name="TextBox 19">
            <a:extLst>
              <a:ext uri="{FF2B5EF4-FFF2-40B4-BE49-F238E27FC236}">
                <a16:creationId xmlns:a16="http://schemas.microsoft.com/office/drawing/2014/main" id="{AD722B37-1023-9382-316F-DEB27A61E8EB}"/>
              </a:ext>
            </a:extLst>
          </p:cNvPr>
          <p:cNvSpPr txBox="1"/>
          <p:nvPr/>
        </p:nvSpPr>
        <p:spPr>
          <a:xfrm>
            <a:off x="454791" y="4590329"/>
            <a:ext cx="1383515" cy="646331"/>
          </a:xfrm>
          <a:prstGeom prst="rect">
            <a:avLst/>
          </a:prstGeom>
          <a:noFill/>
        </p:spPr>
        <p:txBody>
          <a:bodyPr wrap="square" rtlCol="0">
            <a:spAutoFit/>
          </a:bodyPr>
          <a:lstStyle/>
          <a:p>
            <a:pPr algn="ctr"/>
            <a:r>
              <a:rPr lang="en-US" sz="1200" dirty="0"/>
              <a:t>Perfect negative LD</a:t>
            </a:r>
          </a:p>
          <a:p>
            <a:pPr algn="ctr"/>
            <a:r>
              <a:rPr lang="en-US" sz="1200" dirty="0"/>
              <a:t>(never appear together)</a:t>
            </a:r>
          </a:p>
        </p:txBody>
      </p:sp>
      <p:sp>
        <p:nvSpPr>
          <p:cNvPr id="21" name="TextBox 20">
            <a:extLst>
              <a:ext uri="{FF2B5EF4-FFF2-40B4-BE49-F238E27FC236}">
                <a16:creationId xmlns:a16="http://schemas.microsoft.com/office/drawing/2014/main" id="{39536F2D-E559-2B27-E399-D86A2FD8279F}"/>
              </a:ext>
            </a:extLst>
          </p:cNvPr>
          <p:cNvSpPr txBox="1"/>
          <p:nvPr/>
        </p:nvSpPr>
        <p:spPr>
          <a:xfrm>
            <a:off x="1815516" y="4682662"/>
            <a:ext cx="1107312" cy="461665"/>
          </a:xfrm>
          <a:prstGeom prst="rect">
            <a:avLst/>
          </a:prstGeom>
          <a:noFill/>
        </p:spPr>
        <p:txBody>
          <a:bodyPr wrap="square" rtlCol="0">
            <a:spAutoFit/>
          </a:bodyPr>
          <a:lstStyle/>
          <a:p>
            <a:pPr algn="ctr"/>
            <a:r>
              <a:rPr lang="en-US" sz="1200" dirty="0"/>
              <a:t>Strong negative LD</a:t>
            </a:r>
          </a:p>
        </p:txBody>
      </p:sp>
      <p:sp>
        <p:nvSpPr>
          <p:cNvPr id="22" name="TextBox 21">
            <a:extLst>
              <a:ext uri="{FF2B5EF4-FFF2-40B4-BE49-F238E27FC236}">
                <a16:creationId xmlns:a16="http://schemas.microsoft.com/office/drawing/2014/main" id="{7E25F6D4-C89E-5DAC-E212-2B0A263497BD}"/>
              </a:ext>
            </a:extLst>
          </p:cNvPr>
          <p:cNvSpPr txBox="1"/>
          <p:nvPr/>
        </p:nvSpPr>
        <p:spPr>
          <a:xfrm>
            <a:off x="2900038" y="4682662"/>
            <a:ext cx="1119011" cy="461665"/>
          </a:xfrm>
          <a:prstGeom prst="rect">
            <a:avLst/>
          </a:prstGeom>
          <a:noFill/>
        </p:spPr>
        <p:txBody>
          <a:bodyPr wrap="square" rtlCol="0">
            <a:spAutoFit/>
          </a:bodyPr>
          <a:lstStyle/>
          <a:p>
            <a:pPr algn="ctr"/>
            <a:r>
              <a:rPr lang="en-US" sz="1200" dirty="0"/>
              <a:t>Moderate negative LD</a:t>
            </a:r>
          </a:p>
        </p:txBody>
      </p:sp>
      <p:sp>
        <p:nvSpPr>
          <p:cNvPr id="23" name="TextBox 22">
            <a:extLst>
              <a:ext uri="{FF2B5EF4-FFF2-40B4-BE49-F238E27FC236}">
                <a16:creationId xmlns:a16="http://schemas.microsoft.com/office/drawing/2014/main" id="{8E44BA0D-9678-C04D-9596-72C6C318B15B}"/>
              </a:ext>
            </a:extLst>
          </p:cNvPr>
          <p:cNvSpPr txBox="1"/>
          <p:nvPr/>
        </p:nvSpPr>
        <p:spPr>
          <a:xfrm>
            <a:off x="3996259" y="4682662"/>
            <a:ext cx="1358228" cy="461665"/>
          </a:xfrm>
          <a:prstGeom prst="rect">
            <a:avLst/>
          </a:prstGeom>
          <a:noFill/>
        </p:spPr>
        <p:txBody>
          <a:bodyPr wrap="square" rtlCol="0">
            <a:spAutoFit/>
          </a:bodyPr>
          <a:lstStyle/>
          <a:p>
            <a:pPr algn="ctr"/>
            <a:r>
              <a:rPr lang="en-US" sz="1200" dirty="0"/>
              <a:t>Independent SNPs</a:t>
            </a:r>
          </a:p>
          <a:p>
            <a:pPr algn="ctr"/>
            <a:r>
              <a:rPr lang="en-US" sz="1200" dirty="0"/>
              <a:t>(no correlation)</a:t>
            </a:r>
          </a:p>
        </p:txBody>
      </p:sp>
      <p:sp>
        <p:nvSpPr>
          <p:cNvPr id="24" name="TextBox 23">
            <a:extLst>
              <a:ext uri="{FF2B5EF4-FFF2-40B4-BE49-F238E27FC236}">
                <a16:creationId xmlns:a16="http://schemas.microsoft.com/office/drawing/2014/main" id="{050B58C8-F9FD-1366-8757-BEE61B76F349}"/>
              </a:ext>
            </a:extLst>
          </p:cNvPr>
          <p:cNvSpPr txBox="1"/>
          <p:nvPr/>
        </p:nvSpPr>
        <p:spPr>
          <a:xfrm>
            <a:off x="5331697" y="4682662"/>
            <a:ext cx="1119011" cy="461665"/>
          </a:xfrm>
          <a:prstGeom prst="rect">
            <a:avLst/>
          </a:prstGeom>
          <a:noFill/>
        </p:spPr>
        <p:txBody>
          <a:bodyPr wrap="square" rtlCol="0">
            <a:spAutoFit/>
          </a:bodyPr>
          <a:lstStyle/>
          <a:p>
            <a:pPr algn="ctr"/>
            <a:r>
              <a:rPr lang="en-US" sz="1200" dirty="0"/>
              <a:t>Moderate positive LD</a:t>
            </a:r>
          </a:p>
        </p:txBody>
      </p:sp>
      <p:sp>
        <p:nvSpPr>
          <p:cNvPr id="25" name="TextBox 24">
            <a:extLst>
              <a:ext uri="{FF2B5EF4-FFF2-40B4-BE49-F238E27FC236}">
                <a16:creationId xmlns:a16="http://schemas.microsoft.com/office/drawing/2014/main" id="{86F2294D-5EC3-F3F0-AD43-D6B4D08BB758}"/>
              </a:ext>
            </a:extLst>
          </p:cNvPr>
          <p:cNvSpPr txBox="1"/>
          <p:nvPr/>
        </p:nvSpPr>
        <p:spPr>
          <a:xfrm>
            <a:off x="6427918" y="4682662"/>
            <a:ext cx="895234" cy="461665"/>
          </a:xfrm>
          <a:prstGeom prst="rect">
            <a:avLst/>
          </a:prstGeom>
          <a:noFill/>
        </p:spPr>
        <p:txBody>
          <a:bodyPr wrap="square" rtlCol="0">
            <a:spAutoFit/>
          </a:bodyPr>
          <a:lstStyle/>
          <a:p>
            <a:pPr algn="ctr"/>
            <a:r>
              <a:rPr lang="en-US" sz="1200" dirty="0"/>
              <a:t>Strong positive LD</a:t>
            </a:r>
          </a:p>
        </p:txBody>
      </p:sp>
      <p:sp>
        <p:nvSpPr>
          <p:cNvPr id="26" name="TextBox 25">
            <a:extLst>
              <a:ext uri="{FF2B5EF4-FFF2-40B4-BE49-F238E27FC236}">
                <a16:creationId xmlns:a16="http://schemas.microsoft.com/office/drawing/2014/main" id="{CDF6CE1F-1390-B7F3-DEDB-1FD27FD715D8}"/>
              </a:ext>
            </a:extLst>
          </p:cNvPr>
          <p:cNvSpPr txBox="1"/>
          <p:nvPr/>
        </p:nvSpPr>
        <p:spPr>
          <a:xfrm>
            <a:off x="7300362" y="4590329"/>
            <a:ext cx="1500738" cy="646331"/>
          </a:xfrm>
          <a:prstGeom prst="rect">
            <a:avLst/>
          </a:prstGeom>
          <a:noFill/>
        </p:spPr>
        <p:txBody>
          <a:bodyPr wrap="square" rtlCol="0">
            <a:spAutoFit/>
          </a:bodyPr>
          <a:lstStyle/>
          <a:p>
            <a:pPr algn="ctr"/>
            <a:r>
              <a:rPr lang="en-US" sz="1200" dirty="0"/>
              <a:t>Perfect (positive) LD</a:t>
            </a:r>
          </a:p>
          <a:p>
            <a:pPr algn="ctr"/>
            <a:r>
              <a:rPr lang="en-US" sz="1200" dirty="0"/>
              <a:t>(always appear together)</a:t>
            </a:r>
          </a:p>
        </p:txBody>
      </p:sp>
      <p:sp>
        <p:nvSpPr>
          <p:cNvPr id="30" name="TextBox 29">
            <a:extLst>
              <a:ext uri="{FF2B5EF4-FFF2-40B4-BE49-F238E27FC236}">
                <a16:creationId xmlns:a16="http://schemas.microsoft.com/office/drawing/2014/main" id="{E2940380-3303-6266-5C5C-36C9C4C6CF4A}"/>
              </a:ext>
            </a:extLst>
          </p:cNvPr>
          <p:cNvSpPr txBox="1"/>
          <p:nvPr/>
        </p:nvSpPr>
        <p:spPr>
          <a:xfrm>
            <a:off x="4133046" y="5829313"/>
            <a:ext cx="4475988" cy="3108543"/>
          </a:xfrm>
          <a:prstGeom prst="rect">
            <a:avLst/>
          </a:prstGeom>
          <a:noFill/>
        </p:spPr>
        <p:txBody>
          <a:bodyPr wrap="square" rtlCol="0">
            <a:spAutoFit/>
          </a:bodyPr>
          <a:lstStyle/>
          <a:p>
            <a:r>
              <a:rPr lang="en-US" sz="1400" b="1" dirty="0"/>
              <a:t>LD blocks</a:t>
            </a:r>
            <a:r>
              <a:rPr lang="en-US" sz="1400" dirty="0"/>
              <a:t>:  regions of the genome with consistently high LD among SNPs (SNPs inherited together as </a:t>
            </a:r>
            <a:r>
              <a:rPr lang="en-US" sz="1400" i="1" dirty="0"/>
              <a:t>haplotypes</a:t>
            </a:r>
            <a:r>
              <a:rPr lang="en-US" sz="1400" dirty="0"/>
              <a:t>)</a:t>
            </a:r>
          </a:p>
          <a:p>
            <a:pPr marL="285750" indent="-285750">
              <a:buFont typeface="Arial" panose="020B0604020202020204" pitchFamily="34" charset="0"/>
              <a:buChar char="•"/>
            </a:pPr>
            <a:r>
              <a:rPr lang="en-US" sz="1400" b="1" dirty="0"/>
              <a:t>Block size</a:t>
            </a:r>
            <a:r>
              <a:rPr lang="en-US" sz="1400" dirty="0"/>
              <a:t>: typically a few kb to &gt;100 kb</a:t>
            </a:r>
          </a:p>
          <a:p>
            <a:pPr marL="285750" indent="-285750">
              <a:buFont typeface="Arial" panose="020B0604020202020204" pitchFamily="34" charset="0"/>
              <a:buChar char="•"/>
            </a:pPr>
            <a:r>
              <a:rPr lang="en-US" sz="1400" b="1" dirty="0"/>
              <a:t>Allow efficient tagging</a:t>
            </a:r>
            <a:r>
              <a:rPr lang="en-US" sz="1400" dirty="0"/>
              <a:t>: genotype fewer SNPs to capture maximum information</a:t>
            </a:r>
          </a:p>
          <a:p>
            <a:pPr marL="285750" indent="-285750">
              <a:buFont typeface="Arial" panose="020B0604020202020204" pitchFamily="34" charset="0"/>
              <a:buChar char="•"/>
            </a:pPr>
            <a:r>
              <a:rPr lang="en-US" sz="1400" b="1" dirty="0"/>
              <a:t>Population difference</a:t>
            </a:r>
            <a:r>
              <a:rPr lang="en-US" sz="1400" dirty="0"/>
              <a:t>:</a:t>
            </a:r>
          </a:p>
          <a:p>
            <a:pPr marL="742950" lvl="1" indent="-285750">
              <a:buFont typeface="Arial" panose="020B0604020202020204" pitchFamily="34" charset="0"/>
              <a:buChar char="•"/>
            </a:pPr>
            <a:r>
              <a:rPr lang="en-US" sz="1400" i="1" dirty="0"/>
              <a:t>African</a:t>
            </a:r>
            <a:r>
              <a:rPr lang="en-US" sz="1400" dirty="0"/>
              <a:t>: Shorter blocks (~5-15 kb) due to older, larger ancestral population</a:t>
            </a:r>
          </a:p>
          <a:p>
            <a:pPr marL="742950" lvl="1" indent="-285750">
              <a:buFont typeface="Arial" panose="020B0604020202020204" pitchFamily="34" charset="0"/>
              <a:buChar char="•"/>
            </a:pPr>
            <a:r>
              <a:rPr lang="en-US" sz="1400" i="1" dirty="0"/>
              <a:t>European</a:t>
            </a:r>
            <a:r>
              <a:rPr lang="en-US" sz="1400" dirty="0"/>
              <a:t>: Intermediate blocks (~15-50 kb) from out-of-Africa bottleneck</a:t>
            </a:r>
          </a:p>
          <a:p>
            <a:pPr marL="742950" lvl="1" indent="-285750">
              <a:buFont typeface="Arial" panose="020B0604020202020204" pitchFamily="34" charset="0"/>
              <a:buChar char="•"/>
            </a:pPr>
            <a:r>
              <a:rPr lang="en-US" sz="1400" i="1" dirty="0"/>
              <a:t>East Asian:</a:t>
            </a:r>
            <a:r>
              <a:rPr lang="en-US" sz="1400" dirty="0"/>
              <a:t> Longer blocks (&gt;50 kb) from recent bottlenecks</a:t>
            </a:r>
          </a:p>
          <a:p>
            <a:pPr marL="742950" lvl="1" indent="-285750">
              <a:buFont typeface="Arial" panose="020B0604020202020204" pitchFamily="34" charset="0"/>
              <a:buChar char="•"/>
            </a:pPr>
            <a:r>
              <a:rPr lang="en-US" sz="1400" i="1" dirty="0"/>
              <a:t>Isolated populations</a:t>
            </a:r>
            <a:r>
              <a:rPr lang="en-US" sz="1400" dirty="0"/>
              <a:t> (Finnish, Sardinian): Most extensive LD from founder effects</a:t>
            </a:r>
          </a:p>
        </p:txBody>
      </p:sp>
      <p:pic>
        <p:nvPicPr>
          <p:cNvPr id="29" name="Picture 28">
            <a:extLst>
              <a:ext uri="{FF2B5EF4-FFF2-40B4-BE49-F238E27FC236}">
                <a16:creationId xmlns:a16="http://schemas.microsoft.com/office/drawing/2014/main" id="{3A097AC6-8F5B-D1A4-A80D-1A55AFB582A9}"/>
              </a:ext>
            </a:extLst>
          </p:cNvPr>
          <p:cNvPicPr>
            <a:picLocks noChangeAspect="1"/>
          </p:cNvPicPr>
          <p:nvPr/>
        </p:nvPicPr>
        <p:blipFill>
          <a:blip r:embed="rId5"/>
          <a:stretch>
            <a:fillRect/>
          </a:stretch>
        </p:blipFill>
        <p:spPr>
          <a:xfrm>
            <a:off x="583680" y="5807086"/>
            <a:ext cx="3678496" cy="3152997"/>
          </a:xfrm>
          <a:prstGeom prst="rect">
            <a:avLst/>
          </a:prstGeom>
        </p:spPr>
      </p:pic>
    </p:spTree>
    <p:extLst>
      <p:ext uri="{BB962C8B-B14F-4D97-AF65-F5344CB8AC3E}">
        <p14:creationId xmlns:p14="http://schemas.microsoft.com/office/powerpoint/2010/main" val="28011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4D04880-05EF-42E1-866C-B9786BBFD751}"/>
              </a:ext>
            </a:extLst>
          </p:cNvPr>
          <p:cNvSpPr/>
          <p:nvPr/>
        </p:nvSpPr>
        <p:spPr>
          <a:xfrm>
            <a:off x="401781" y="522652"/>
            <a:ext cx="8368145" cy="208133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2" name="Picture 1">
            <a:extLst>
              <a:ext uri="{FF2B5EF4-FFF2-40B4-BE49-F238E27FC236}">
                <a16:creationId xmlns:a16="http://schemas.microsoft.com/office/drawing/2014/main" id="{9EE4EB81-722D-D316-3433-2CA1BC7EEF73}"/>
              </a:ext>
            </a:extLst>
          </p:cNvPr>
          <p:cNvPicPr>
            <a:picLocks noChangeAspect="1"/>
          </p:cNvPicPr>
          <p:nvPr/>
        </p:nvPicPr>
        <p:blipFill>
          <a:blip r:embed="rId2"/>
          <a:srcRect t="2763" b="2763"/>
          <a:stretch/>
        </p:blipFill>
        <p:spPr>
          <a:xfrm>
            <a:off x="5747492" y="728651"/>
            <a:ext cx="2234037" cy="1809070"/>
          </a:xfrm>
          <a:prstGeom prst="rect">
            <a:avLst/>
          </a:prstGeom>
        </p:spPr>
      </p:pic>
      <p:sp>
        <p:nvSpPr>
          <p:cNvPr id="3" name="TextBox 2">
            <a:extLst>
              <a:ext uri="{FF2B5EF4-FFF2-40B4-BE49-F238E27FC236}">
                <a16:creationId xmlns:a16="http://schemas.microsoft.com/office/drawing/2014/main" id="{9EBCB39D-1A76-7616-9774-DACD6AEF3745}"/>
              </a:ext>
            </a:extLst>
          </p:cNvPr>
          <p:cNvSpPr txBox="1"/>
          <p:nvPr/>
        </p:nvSpPr>
        <p:spPr>
          <a:xfrm>
            <a:off x="2334006" y="145048"/>
            <a:ext cx="4475988" cy="400110"/>
          </a:xfrm>
          <a:prstGeom prst="rect">
            <a:avLst/>
          </a:prstGeom>
          <a:noFill/>
        </p:spPr>
        <p:txBody>
          <a:bodyPr wrap="square" rtlCol="0" anchor="ctr">
            <a:spAutoFit/>
          </a:bodyPr>
          <a:lstStyle/>
          <a:p>
            <a:pPr algn="ctr"/>
            <a:r>
              <a:rPr lang="en-US" sz="2000" b="1" dirty="0"/>
              <a:t>Linkage Disequilibrium (LD) Scores</a:t>
            </a:r>
          </a:p>
        </p:txBody>
      </p:sp>
      <p:sp>
        <p:nvSpPr>
          <p:cNvPr id="5" name="TextBox 4">
            <a:extLst>
              <a:ext uri="{FF2B5EF4-FFF2-40B4-BE49-F238E27FC236}">
                <a16:creationId xmlns:a16="http://schemas.microsoft.com/office/drawing/2014/main" id="{710F4CDC-D790-44A6-638F-C3C7CF59E890}"/>
              </a:ext>
            </a:extLst>
          </p:cNvPr>
          <p:cNvSpPr txBox="1"/>
          <p:nvPr/>
        </p:nvSpPr>
        <p:spPr>
          <a:xfrm>
            <a:off x="2250921" y="493295"/>
            <a:ext cx="4475988" cy="369332"/>
          </a:xfrm>
          <a:prstGeom prst="rect">
            <a:avLst/>
          </a:prstGeom>
          <a:noFill/>
        </p:spPr>
        <p:txBody>
          <a:bodyPr wrap="square" rtlCol="0" anchor="ctr">
            <a:spAutoFit/>
          </a:bodyPr>
          <a:lstStyle/>
          <a:p>
            <a:pPr algn="ctr"/>
            <a:r>
              <a:rPr lang="en-US" b="1" dirty="0"/>
              <a:t>LD matrix (correlation)</a:t>
            </a:r>
          </a:p>
        </p:txBody>
      </p:sp>
      <p:sp>
        <p:nvSpPr>
          <p:cNvPr id="6" name="Rounded Rectangle 5">
            <a:extLst>
              <a:ext uri="{FF2B5EF4-FFF2-40B4-BE49-F238E27FC236}">
                <a16:creationId xmlns:a16="http://schemas.microsoft.com/office/drawing/2014/main" id="{6BE8EDB1-07FF-8D53-2C1E-7FBFFB2E0A28}"/>
              </a:ext>
            </a:extLst>
          </p:cNvPr>
          <p:cNvSpPr/>
          <p:nvPr/>
        </p:nvSpPr>
        <p:spPr>
          <a:xfrm>
            <a:off x="401781" y="2778994"/>
            <a:ext cx="8368145" cy="215522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4B99E53-13F8-65C2-4242-35DB6F1AA499}"/>
                  </a:ext>
                </a:extLst>
              </p:cNvPr>
              <p:cNvSpPr txBox="1"/>
              <p:nvPr/>
            </p:nvSpPr>
            <p:spPr>
              <a:xfrm>
                <a:off x="2250921" y="2753179"/>
                <a:ext cx="4475988" cy="375552"/>
              </a:xfrm>
              <a:prstGeom prst="rect">
                <a:avLst/>
              </a:prstGeom>
              <a:noFill/>
            </p:spPr>
            <p:txBody>
              <a:bodyPr wrap="square" rtlCol="0" anchor="ctr">
                <a:spAutoFit/>
              </a:bodyPr>
              <a:lstStyle/>
              <a:p>
                <a:pPr algn="ctr"/>
                <a:r>
                  <a:rPr lang="en-US" b="1" dirty="0"/>
                  <a:t>Squared Correlations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𝒓</m:t>
                        </m:r>
                      </m:e>
                      <m:sup>
                        <m:r>
                          <a:rPr lang="en-US" b="1" i="1" smtClean="0">
                            <a:latin typeface="Cambria Math" panose="02040503050406030204" pitchFamily="18" charset="0"/>
                          </a:rPr>
                          <m:t>𝟐</m:t>
                        </m:r>
                      </m:sup>
                    </m:sSup>
                  </m:oMath>
                </a14:m>
                <a:r>
                  <a:rPr lang="en-US" b="1" dirty="0"/>
                  <a:t>)</a:t>
                </a:r>
              </a:p>
            </p:txBody>
          </p:sp>
        </mc:Choice>
        <mc:Fallback xmlns="">
          <p:sp>
            <p:nvSpPr>
              <p:cNvPr id="8" name="TextBox 7">
                <a:extLst>
                  <a:ext uri="{FF2B5EF4-FFF2-40B4-BE49-F238E27FC236}">
                    <a16:creationId xmlns:a16="http://schemas.microsoft.com/office/drawing/2014/main" id="{74B99E53-13F8-65C2-4242-35DB6F1AA499}"/>
                  </a:ext>
                </a:extLst>
              </p:cNvPr>
              <p:cNvSpPr txBox="1">
                <a:spLocks noRot="1" noChangeAspect="1" noMove="1" noResize="1" noEditPoints="1" noAdjustHandles="1" noChangeArrowheads="1" noChangeShapeType="1" noTextEdit="1"/>
              </p:cNvSpPr>
              <p:nvPr/>
            </p:nvSpPr>
            <p:spPr>
              <a:xfrm>
                <a:off x="2250921" y="2753179"/>
                <a:ext cx="4475988" cy="375552"/>
              </a:xfrm>
              <a:prstGeom prst="rect">
                <a:avLst/>
              </a:prstGeom>
              <a:blipFill>
                <a:blip r:embed="rId3"/>
                <a:stretch>
                  <a:fillRect t="-6452" b="-22581"/>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026FED4-DC21-AF8D-3004-B3E9F94813AB}"/>
              </a:ext>
            </a:extLst>
          </p:cNvPr>
          <p:cNvCxnSpPr/>
          <p:nvPr/>
        </p:nvCxnSpPr>
        <p:spPr>
          <a:xfrm>
            <a:off x="1454227" y="3941872"/>
            <a:ext cx="6323681" cy="0"/>
          </a:xfrm>
          <a:prstGeom prst="line">
            <a:avLst/>
          </a:prstGeom>
          <a:ln w="38100"/>
        </p:spPr>
        <p:style>
          <a:lnRef idx="1">
            <a:schemeClr val="dk1"/>
          </a:lnRef>
          <a:fillRef idx="0">
            <a:schemeClr val="dk1"/>
          </a:fillRef>
          <a:effectRef idx="0">
            <a:schemeClr val="dk1"/>
          </a:effectRef>
          <a:fontRef idx="minor">
            <a:schemeClr val="tx1"/>
          </a:fontRef>
        </p:style>
      </p:cxnSp>
      <p:sp>
        <p:nvSpPr>
          <p:cNvPr id="14" name="Arc 13">
            <a:extLst>
              <a:ext uri="{FF2B5EF4-FFF2-40B4-BE49-F238E27FC236}">
                <a16:creationId xmlns:a16="http://schemas.microsoft.com/office/drawing/2014/main" id="{84B81864-E2FE-74D1-2155-59230529F6B8}"/>
              </a:ext>
            </a:extLst>
          </p:cNvPr>
          <p:cNvSpPr/>
          <p:nvPr/>
        </p:nvSpPr>
        <p:spPr>
          <a:xfrm>
            <a:off x="1952740" y="3188471"/>
            <a:ext cx="2845932" cy="3003643"/>
          </a:xfrm>
          <a:prstGeom prst="arc">
            <a:avLst>
              <a:gd name="adj1" fmla="val 13014533"/>
              <a:gd name="adj2" fmla="val 1922475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10B6FF51-9EEF-6B01-E79A-FE3AE905EF15}"/>
              </a:ext>
            </a:extLst>
          </p:cNvPr>
          <p:cNvSpPr/>
          <p:nvPr/>
        </p:nvSpPr>
        <p:spPr>
          <a:xfrm>
            <a:off x="4370114" y="3188470"/>
            <a:ext cx="2845932" cy="3003643"/>
          </a:xfrm>
          <a:prstGeom prst="arc">
            <a:avLst>
              <a:gd name="adj1" fmla="val 13014533"/>
              <a:gd name="adj2" fmla="val 1922475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Arc 15">
            <a:extLst>
              <a:ext uri="{FF2B5EF4-FFF2-40B4-BE49-F238E27FC236}">
                <a16:creationId xmlns:a16="http://schemas.microsoft.com/office/drawing/2014/main" id="{D48EDD97-5127-9E5C-2C6B-9BA3616ACF13}"/>
              </a:ext>
            </a:extLst>
          </p:cNvPr>
          <p:cNvSpPr/>
          <p:nvPr/>
        </p:nvSpPr>
        <p:spPr>
          <a:xfrm rot="10800000">
            <a:off x="1222870" y="-165254"/>
            <a:ext cx="6786392" cy="4671154"/>
          </a:xfrm>
          <a:prstGeom prst="arc">
            <a:avLst>
              <a:gd name="adj1" fmla="val 13014533"/>
              <a:gd name="adj2" fmla="val 1947151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10">
            <a:extLst>
              <a:ext uri="{FF2B5EF4-FFF2-40B4-BE49-F238E27FC236}">
                <a16:creationId xmlns:a16="http://schemas.microsoft.com/office/drawing/2014/main" id="{D12BB8C6-046A-A6C3-E8BD-FB84622D3410}"/>
              </a:ext>
            </a:extLst>
          </p:cNvPr>
          <p:cNvSpPr/>
          <p:nvPr/>
        </p:nvSpPr>
        <p:spPr>
          <a:xfrm>
            <a:off x="1927952" y="3699500"/>
            <a:ext cx="502920" cy="502920"/>
          </a:xfrm>
          <a:prstGeom prst="ellipse">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Oval 11">
            <a:extLst>
              <a:ext uri="{FF2B5EF4-FFF2-40B4-BE49-F238E27FC236}">
                <a16:creationId xmlns:a16="http://schemas.microsoft.com/office/drawing/2014/main" id="{C0AB213A-0298-2ED6-1956-6FA03AAB3F95}"/>
              </a:ext>
            </a:extLst>
          </p:cNvPr>
          <p:cNvSpPr/>
          <p:nvPr/>
        </p:nvSpPr>
        <p:spPr>
          <a:xfrm>
            <a:off x="4320539" y="3699500"/>
            <a:ext cx="502920" cy="502920"/>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 name="Oval 12">
            <a:extLst>
              <a:ext uri="{FF2B5EF4-FFF2-40B4-BE49-F238E27FC236}">
                <a16:creationId xmlns:a16="http://schemas.microsoft.com/office/drawing/2014/main" id="{0305425F-561F-3582-0DAB-E30E5A517B03}"/>
              </a:ext>
            </a:extLst>
          </p:cNvPr>
          <p:cNvSpPr/>
          <p:nvPr/>
        </p:nvSpPr>
        <p:spPr>
          <a:xfrm>
            <a:off x="6713126" y="3699500"/>
            <a:ext cx="502920" cy="502920"/>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91DBCB8-957B-6F3A-EA11-BF2691FCD452}"/>
                  </a:ext>
                </a:extLst>
              </p:cNvPr>
              <p:cNvSpPr txBox="1"/>
              <p:nvPr/>
            </p:nvSpPr>
            <p:spPr>
              <a:xfrm>
                <a:off x="4947535" y="3347744"/>
                <a:ext cx="1691089" cy="2811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𝒓</m:t>
                          </m:r>
                        </m:e>
                        <m:sup>
                          <m:r>
                            <a:rPr lang="en-US" sz="1200" b="1" i="1" smtClean="0">
                              <a:latin typeface="Cambria Math" panose="02040503050406030204" pitchFamily="18" charset="0"/>
                            </a:rPr>
                            <m:t>𝟐</m:t>
                          </m:r>
                        </m:sup>
                      </m:sSup>
                      <m:r>
                        <a:rPr lang="en-US" sz="1200" b="1" i="1" smtClean="0">
                          <a:latin typeface="Cambria Math" panose="02040503050406030204" pitchFamily="18" charset="0"/>
                        </a:rPr>
                        <m:t>=</m:t>
                      </m:r>
                      <m:r>
                        <a:rPr lang="en-US" sz="1200" b="1" i="1" smtClean="0">
                          <a:latin typeface="Cambria Math" panose="02040503050406030204" pitchFamily="18" charset="0"/>
                        </a:rPr>
                        <m:t>𝟎</m:t>
                      </m:r>
                      <m:r>
                        <a:rPr lang="en-US" sz="1200" b="1" i="1" smtClean="0">
                          <a:latin typeface="Cambria Math" panose="02040503050406030204" pitchFamily="18" charset="0"/>
                        </a:rPr>
                        <m:t>.</m:t>
                      </m:r>
                      <m:r>
                        <a:rPr lang="en-US" sz="1200" b="1" i="1" smtClean="0">
                          <a:latin typeface="Cambria Math" panose="02040503050406030204" pitchFamily="18" charset="0"/>
                        </a:rPr>
                        <m:t>𝟕𝟓𝟒</m:t>
                      </m:r>
                    </m:oMath>
                  </m:oMathPara>
                </a14:m>
                <a:endParaRPr lang="en-US" sz="1200" dirty="0"/>
              </a:p>
            </p:txBody>
          </p:sp>
        </mc:Choice>
        <mc:Fallback xmlns="">
          <p:sp>
            <p:nvSpPr>
              <p:cNvPr id="18" name="TextBox 17">
                <a:extLst>
                  <a:ext uri="{FF2B5EF4-FFF2-40B4-BE49-F238E27FC236}">
                    <a16:creationId xmlns:a16="http://schemas.microsoft.com/office/drawing/2014/main" id="{391DBCB8-957B-6F3A-EA11-BF2691FCD452}"/>
                  </a:ext>
                </a:extLst>
              </p:cNvPr>
              <p:cNvSpPr txBox="1">
                <a:spLocks noRot="1" noChangeAspect="1" noMove="1" noResize="1" noEditPoints="1" noAdjustHandles="1" noChangeArrowheads="1" noChangeShapeType="1" noTextEdit="1"/>
              </p:cNvSpPr>
              <p:nvPr/>
            </p:nvSpPr>
            <p:spPr>
              <a:xfrm>
                <a:off x="4947535" y="3347744"/>
                <a:ext cx="1691089" cy="28116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F2908D1-5873-BFDB-6655-48E326F7098E}"/>
                  </a:ext>
                </a:extLst>
              </p:cNvPr>
              <p:cNvSpPr txBox="1"/>
              <p:nvPr/>
            </p:nvSpPr>
            <p:spPr>
              <a:xfrm>
                <a:off x="2530162" y="3380267"/>
                <a:ext cx="1691089" cy="2811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𝒓</m:t>
                          </m:r>
                        </m:e>
                        <m:sup>
                          <m:r>
                            <a:rPr lang="en-US" sz="1200" b="1" i="1" smtClean="0">
                              <a:latin typeface="Cambria Math" panose="02040503050406030204" pitchFamily="18" charset="0"/>
                            </a:rPr>
                            <m:t>𝟐</m:t>
                          </m:r>
                        </m:sup>
                      </m:sSup>
                      <m:r>
                        <a:rPr lang="en-US" sz="1200" b="1" i="1" smtClean="0">
                          <a:latin typeface="Cambria Math" panose="02040503050406030204" pitchFamily="18" charset="0"/>
                        </a:rPr>
                        <m:t>=</m:t>
                      </m:r>
                      <m:r>
                        <a:rPr lang="en-US" sz="1200" b="1" i="1" smtClean="0">
                          <a:latin typeface="Cambria Math" panose="02040503050406030204" pitchFamily="18" charset="0"/>
                        </a:rPr>
                        <m:t>𝟎</m:t>
                      </m:r>
                      <m:r>
                        <a:rPr lang="en-US" sz="1200" b="1" i="1" smtClean="0">
                          <a:latin typeface="Cambria Math" panose="02040503050406030204" pitchFamily="18" charset="0"/>
                        </a:rPr>
                        <m:t>.</m:t>
                      </m:r>
                      <m:r>
                        <a:rPr lang="en-US" sz="1200" b="1" i="1" smtClean="0">
                          <a:latin typeface="Cambria Math" panose="02040503050406030204" pitchFamily="18" charset="0"/>
                        </a:rPr>
                        <m:t>𝟐𝟏𝟗</m:t>
                      </m:r>
                    </m:oMath>
                  </m:oMathPara>
                </a14:m>
                <a:endParaRPr lang="en-US" sz="1200" dirty="0"/>
              </a:p>
            </p:txBody>
          </p:sp>
        </mc:Choice>
        <mc:Fallback xmlns="">
          <p:sp>
            <p:nvSpPr>
              <p:cNvPr id="19" name="TextBox 18">
                <a:extLst>
                  <a:ext uri="{FF2B5EF4-FFF2-40B4-BE49-F238E27FC236}">
                    <a16:creationId xmlns:a16="http://schemas.microsoft.com/office/drawing/2014/main" id="{FF2908D1-5873-BFDB-6655-48E326F7098E}"/>
                  </a:ext>
                </a:extLst>
              </p:cNvPr>
              <p:cNvSpPr txBox="1">
                <a:spLocks noRot="1" noChangeAspect="1" noMove="1" noResize="1" noEditPoints="1" noAdjustHandles="1" noChangeArrowheads="1" noChangeShapeType="1" noTextEdit="1"/>
              </p:cNvSpPr>
              <p:nvPr/>
            </p:nvSpPr>
            <p:spPr>
              <a:xfrm>
                <a:off x="2530162" y="3380267"/>
                <a:ext cx="1691089" cy="28116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AD15408-2007-7706-AFAD-EF578302DC0A}"/>
                  </a:ext>
                </a:extLst>
              </p:cNvPr>
              <p:cNvSpPr txBox="1"/>
              <p:nvPr/>
            </p:nvSpPr>
            <p:spPr>
              <a:xfrm>
                <a:off x="3726454" y="4601569"/>
                <a:ext cx="1691089" cy="2811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𝒓</m:t>
                          </m:r>
                        </m:e>
                        <m:sup>
                          <m:r>
                            <a:rPr lang="en-US" sz="1200" b="1" i="1" smtClean="0">
                              <a:latin typeface="Cambria Math" panose="02040503050406030204" pitchFamily="18" charset="0"/>
                            </a:rPr>
                            <m:t>𝟐</m:t>
                          </m:r>
                        </m:sup>
                      </m:sSup>
                      <m:r>
                        <a:rPr lang="en-US" sz="1200" b="1" i="1" smtClean="0">
                          <a:latin typeface="Cambria Math" panose="02040503050406030204" pitchFamily="18" charset="0"/>
                        </a:rPr>
                        <m:t>=</m:t>
                      </m:r>
                      <m:r>
                        <a:rPr lang="en-US" sz="1200" b="1" i="1" smtClean="0">
                          <a:latin typeface="Cambria Math" panose="02040503050406030204" pitchFamily="18" charset="0"/>
                        </a:rPr>
                        <m:t>𝟎</m:t>
                      </m:r>
                      <m:r>
                        <a:rPr lang="en-US" sz="1200" b="1" i="1" smtClean="0">
                          <a:latin typeface="Cambria Math" panose="02040503050406030204" pitchFamily="18" charset="0"/>
                        </a:rPr>
                        <m:t>.</m:t>
                      </m:r>
                      <m:r>
                        <a:rPr lang="en-US" sz="1200" b="1" i="1" smtClean="0">
                          <a:latin typeface="Cambria Math" panose="02040503050406030204" pitchFamily="18" charset="0"/>
                        </a:rPr>
                        <m:t>𝟑𝟏𝟔</m:t>
                      </m:r>
                    </m:oMath>
                  </m:oMathPara>
                </a14:m>
                <a:endParaRPr lang="en-US" sz="1200" dirty="0"/>
              </a:p>
            </p:txBody>
          </p:sp>
        </mc:Choice>
        <mc:Fallback xmlns="">
          <p:sp>
            <p:nvSpPr>
              <p:cNvPr id="20" name="TextBox 19">
                <a:extLst>
                  <a:ext uri="{FF2B5EF4-FFF2-40B4-BE49-F238E27FC236}">
                    <a16:creationId xmlns:a16="http://schemas.microsoft.com/office/drawing/2014/main" id="{AAD15408-2007-7706-AFAD-EF578302DC0A}"/>
                  </a:ext>
                </a:extLst>
              </p:cNvPr>
              <p:cNvSpPr txBox="1">
                <a:spLocks noRot="1" noChangeAspect="1" noMove="1" noResize="1" noEditPoints="1" noAdjustHandles="1" noChangeArrowheads="1" noChangeShapeType="1" noTextEdit="1"/>
              </p:cNvSpPr>
              <p:nvPr/>
            </p:nvSpPr>
            <p:spPr>
              <a:xfrm>
                <a:off x="3726454" y="4601569"/>
                <a:ext cx="1691089" cy="281167"/>
              </a:xfrm>
              <a:prstGeom prst="rect">
                <a:avLst/>
              </a:prstGeom>
              <a:blipFill>
                <a:blip r:embed="rId6"/>
                <a:stretch>
                  <a:fillRect/>
                </a:stretch>
              </a:blipFill>
            </p:spPr>
            <p:txBody>
              <a:bodyPr/>
              <a:lstStyle/>
              <a:p>
                <a:r>
                  <a:rPr lang="en-US">
                    <a:noFill/>
                  </a:rPr>
                  <a:t> </a:t>
                </a:r>
              </a:p>
            </p:txBody>
          </p:sp>
        </mc:Fallback>
      </mc:AlternateContent>
      <p:sp>
        <p:nvSpPr>
          <p:cNvPr id="22" name="Rounded Rectangle 21">
            <a:extLst>
              <a:ext uri="{FF2B5EF4-FFF2-40B4-BE49-F238E27FC236}">
                <a16:creationId xmlns:a16="http://schemas.microsoft.com/office/drawing/2014/main" id="{168B91C9-D57A-F7F4-7277-ADAB830E9CDC}"/>
              </a:ext>
            </a:extLst>
          </p:cNvPr>
          <p:cNvSpPr/>
          <p:nvPr/>
        </p:nvSpPr>
        <p:spPr>
          <a:xfrm>
            <a:off x="401781" y="5122588"/>
            <a:ext cx="8368145" cy="359739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7" name="TextBox 26">
            <a:extLst>
              <a:ext uri="{FF2B5EF4-FFF2-40B4-BE49-F238E27FC236}">
                <a16:creationId xmlns:a16="http://schemas.microsoft.com/office/drawing/2014/main" id="{89620B43-ADE6-8D88-DFFF-CD431E3A5308}"/>
              </a:ext>
            </a:extLst>
          </p:cNvPr>
          <p:cNvSpPr txBox="1"/>
          <p:nvPr/>
        </p:nvSpPr>
        <p:spPr>
          <a:xfrm>
            <a:off x="2430872" y="5148701"/>
            <a:ext cx="4475988" cy="369332"/>
          </a:xfrm>
          <a:prstGeom prst="rect">
            <a:avLst/>
          </a:prstGeom>
          <a:noFill/>
        </p:spPr>
        <p:txBody>
          <a:bodyPr wrap="square" rtlCol="0" anchor="ctr">
            <a:spAutoFit/>
          </a:bodyPr>
          <a:lstStyle/>
          <a:p>
            <a:pPr algn="ctr"/>
            <a:r>
              <a:rPr lang="en-US" b="1" dirty="0"/>
              <a:t>LD Scores</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494CFE-423B-A4C1-B2AD-6756355C45CE}"/>
                  </a:ext>
                </a:extLst>
              </p:cNvPr>
              <p:cNvSpPr txBox="1"/>
              <p:nvPr/>
            </p:nvSpPr>
            <p:spPr>
              <a:xfrm>
                <a:off x="682689" y="5577772"/>
                <a:ext cx="4829952" cy="379335"/>
              </a:xfrm>
              <a:prstGeom prst="rect">
                <a:avLst/>
              </a:prstGeom>
              <a:noFill/>
            </p:spPr>
            <p:txBody>
              <a:bodyPr wrap="square" rtlCol="0" anchor="ctr">
                <a:spAutoFit/>
              </a:bodyPr>
              <a:lstStyle/>
              <a:p>
                <a:pPr algn="ctr"/>
                <a:r>
                  <a:rPr lang="en-US" sz="1200" b="1" dirty="0"/>
                  <a:t>Raw LD score</a:t>
                </a:r>
                <a:r>
                  <a:rPr lang="en-US" sz="1200" dirty="0"/>
                  <a:t>: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𝑙</m:t>
                        </m:r>
                      </m:e>
                      <m:sub>
                        <m:r>
                          <a:rPr lang="en-US" sz="1200" b="0" i="1" smtClean="0">
                            <a:latin typeface="Cambria Math" panose="02040503050406030204" pitchFamily="18" charset="0"/>
                          </a:rPr>
                          <m:t>𝑗</m:t>
                        </m:r>
                      </m:sub>
                    </m:sSub>
                    <m:r>
                      <a:rPr lang="en-US" sz="1200" b="0" i="1" smtClean="0">
                        <a:latin typeface="Cambria Math" panose="02040503050406030204" pitchFamily="18" charset="0"/>
                      </a:rPr>
                      <m:t>=</m:t>
                    </m:r>
                    <m:nary>
                      <m:naryPr>
                        <m:chr m:val="∑"/>
                        <m:limLoc m:val="subSup"/>
                        <m:supHide m:val="on"/>
                        <m:ctrlPr>
                          <a:rPr lang="en-US" sz="1200" i="1" smtClean="0">
                            <a:latin typeface="Cambria Math" panose="02040503050406030204" pitchFamily="18" charset="0"/>
                          </a:rPr>
                        </m:ctrlPr>
                      </m:naryPr>
                      <m:sub>
                        <m:r>
                          <m:rPr>
                            <m:brk m:alnAt="9"/>
                          </m:rPr>
                          <a:rPr lang="en-US" sz="1200" b="0" i="1" smtClean="0">
                            <a:latin typeface="Cambria Math" panose="02040503050406030204" pitchFamily="18" charset="0"/>
                          </a:rPr>
                          <m:t>𝑘</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𝑗</m:t>
                        </m:r>
                      </m:sub>
                      <m:sup/>
                      <m:e>
                        <m:sSubSup>
                          <m:sSubSupPr>
                            <m:ctrlPr>
                              <a:rPr lang="en-US" sz="1200" i="1" smtClean="0">
                                <a:latin typeface="Cambria Math" panose="02040503050406030204" pitchFamily="18" charset="0"/>
                              </a:rPr>
                            </m:ctrlPr>
                          </m:sSubSupPr>
                          <m:e>
                            <m:r>
                              <a:rPr lang="en-US" sz="1200" b="0" i="1" smtClean="0">
                                <a:latin typeface="Cambria Math" panose="02040503050406030204" pitchFamily="18" charset="0"/>
                              </a:rPr>
                              <m:t>𝑟</m:t>
                            </m:r>
                          </m:e>
                          <m:sub>
                            <m:r>
                              <a:rPr lang="en-US" sz="1200" b="0" i="1" smtClean="0">
                                <a:latin typeface="Cambria Math" panose="02040503050406030204" pitchFamily="18" charset="0"/>
                              </a:rPr>
                              <m:t>𝑘𝑗</m:t>
                            </m:r>
                          </m:sub>
                          <m:sup>
                            <m:r>
                              <a:rPr lang="en-US" sz="1200" b="0" i="1" smtClean="0">
                                <a:latin typeface="Cambria Math" panose="02040503050406030204" pitchFamily="18" charset="0"/>
                              </a:rPr>
                              <m:t>2</m:t>
                            </m:r>
                          </m:sup>
                        </m:sSubSup>
                      </m:e>
                    </m:nary>
                    <m:r>
                      <a:rPr lang="en-US" sz="1200" b="0" i="1" smtClean="0">
                        <a:latin typeface="Cambria Math" panose="02040503050406030204" pitchFamily="18" charset="0"/>
                      </a:rPr>
                      <m:t> </m:t>
                    </m:r>
                  </m:oMath>
                </a14:m>
                <a:r>
                  <a:rPr lang="en-US" sz="1200" b="1" dirty="0"/>
                  <a:t>    Adjusted LD score</a:t>
                </a:r>
                <a:r>
                  <a:rPr lang="en-US" sz="1200" dirty="0"/>
                  <a:t>: </a:t>
                </a:r>
                <a14:m>
                  <m:oMath xmlns:m="http://schemas.openxmlformats.org/officeDocument/2006/math">
                    <m:sSubSup>
                      <m:sSubSupPr>
                        <m:ctrlPr>
                          <a:rPr lang="en-US" sz="1200" i="1" smtClean="0">
                            <a:latin typeface="Cambria Math" panose="02040503050406030204" pitchFamily="18" charset="0"/>
                          </a:rPr>
                        </m:ctrlPr>
                      </m:sSubSupPr>
                      <m:e>
                        <m:r>
                          <a:rPr lang="en-US" sz="1200" b="0" i="1" smtClean="0">
                            <a:latin typeface="Cambria Math" panose="02040503050406030204" pitchFamily="18" charset="0"/>
                          </a:rPr>
                          <m:t>𝑟</m:t>
                        </m:r>
                      </m:e>
                      <m:sub>
                        <m:r>
                          <a:rPr lang="en-US" sz="1200" b="0" i="1" smtClean="0">
                            <a:latin typeface="Cambria Math" panose="02040503050406030204" pitchFamily="18" charset="0"/>
                          </a:rPr>
                          <m:t>𝑎𝑑𝑗</m:t>
                        </m:r>
                      </m:sub>
                      <m:sup>
                        <m:r>
                          <a:rPr lang="en-US" sz="1200" b="0" i="1" smtClean="0">
                            <a:latin typeface="Cambria Math" panose="02040503050406030204" pitchFamily="18" charset="0"/>
                          </a:rPr>
                          <m:t>2</m:t>
                        </m:r>
                      </m:sup>
                    </m:sSubSup>
                    <m:r>
                      <a:rPr lang="en-US" sz="1200" b="0" i="1">
                        <a:latin typeface="Cambria Math" panose="02040503050406030204" pitchFamily="18" charset="0"/>
                      </a:rPr>
                      <m:t>=</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𝑟</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1−</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𝑟</m:t>
                            </m:r>
                          </m:e>
                          <m:sup>
                            <m:r>
                              <a:rPr lang="en-US" sz="1200" b="0" i="1" smtClean="0">
                                <a:latin typeface="Cambria Math" panose="02040503050406030204" pitchFamily="18" charset="0"/>
                              </a:rPr>
                              <m:t>2</m:t>
                            </m:r>
                          </m:sup>
                        </m:sSup>
                      </m:num>
                      <m:den>
                        <m:r>
                          <a:rPr lang="en-US" sz="1200" b="0" i="1" smtClean="0">
                            <a:latin typeface="Cambria Math" panose="02040503050406030204" pitchFamily="18" charset="0"/>
                          </a:rPr>
                          <m:t>𝑁</m:t>
                        </m:r>
                        <m:r>
                          <a:rPr lang="en-US" sz="1200" b="0" i="1" smtClean="0">
                            <a:latin typeface="Cambria Math" panose="02040503050406030204" pitchFamily="18" charset="0"/>
                          </a:rPr>
                          <m:t>−2</m:t>
                        </m:r>
                      </m:den>
                    </m:f>
                  </m:oMath>
                </a14:m>
                <a:endParaRPr lang="en-US" sz="1200" dirty="0"/>
              </a:p>
            </p:txBody>
          </p:sp>
        </mc:Choice>
        <mc:Fallback xmlns="">
          <p:sp>
            <p:nvSpPr>
              <p:cNvPr id="28" name="TextBox 27">
                <a:extLst>
                  <a:ext uri="{FF2B5EF4-FFF2-40B4-BE49-F238E27FC236}">
                    <a16:creationId xmlns:a16="http://schemas.microsoft.com/office/drawing/2014/main" id="{71494CFE-423B-A4C1-B2AD-6756355C45CE}"/>
                  </a:ext>
                </a:extLst>
              </p:cNvPr>
              <p:cNvSpPr txBox="1">
                <a:spLocks noRot="1" noChangeAspect="1" noMove="1" noResize="1" noEditPoints="1" noAdjustHandles="1" noChangeArrowheads="1" noChangeShapeType="1" noTextEdit="1"/>
              </p:cNvSpPr>
              <p:nvPr/>
            </p:nvSpPr>
            <p:spPr>
              <a:xfrm>
                <a:off x="682689" y="5577772"/>
                <a:ext cx="4829952" cy="379335"/>
              </a:xfrm>
              <a:prstGeom prst="rect">
                <a:avLst/>
              </a:prstGeom>
              <a:blipFill>
                <a:blip r:embed="rId7"/>
                <a:stretch>
                  <a:fillRect t="-53333" b="-106667"/>
                </a:stretch>
              </a:blipFill>
            </p:spPr>
            <p:txBody>
              <a:bodyPr/>
              <a:lstStyle/>
              <a:p>
                <a:r>
                  <a:rPr lang="en-US">
                    <a:noFill/>
                  </a:rPr>
                  <a:t> </a:t>
                </a:r>
              </a:p>
            </p:txBody>
          </p:sp>
        </mc:Fallback>
      </mc:AlternateContent>
      <p:pic>
        <p:nvPicPr>
          <p:cNvPr id="36" name="Picture 35">
            <a:extLst>
              <a:ext uri="{FF2B5EF4-FFF2-40B4-BE49-F238E27FC236}">
                <a16:creationId xmlns:a16="http://schemas.microsoft.com/office/drawing/2014/main" id="{AFC41531-6B8B-3F54-83B5-68D32BD68C17}"/>
              </a:ext>
            </a:extLst>
          </p:cNvPr>
          <p:cNvPicPr>
            <a:picLocks noChangeAspect="1"/>
          </p:cNvPicPr>
          <p:nvPr/>
        </p:nvPicPr>
        <p:blipFill>
          <a:blip r:embed="rId8"/>
          <a:srcRect t="4892"/>
          <a:stretch>
            <a:fillRect/>
          </a:stretch>
        </p:blipFill>
        <p:spPr>
          <a:xfrm>
            <a:off x="493061" y="5862522"/>
            <a:ext cx="4861222" cy="2799890"/>
          </a:xfrm>
          <a:prstGeom prst="rect">
            <a:avLst/>
          </a:prstGeom>
        </p:spPr>
      </p:pic>
      <p:graphicFrame>
        <p:nvGraphicFramePr>
          <p:cNvPr id="7" name="Table 6">
            <a:extLst>
              <a:ext uri="{FF2B5EF4-FFF2-40B4-BE49-F238E27FC236}">
                <a16:creationId xmlns:a16="http://schemas.microsoft.com/office/drawing/2014/main" id="{314411F6-11C5-C6A2-02A8-A7CD7DF3FC83}"/>
              </a:ext>
            </a:extLst>
          </p:cNvPr>
          <p:cNvGraphicFramePr>
            <a:graphicFrameLocks noGrp="1"/>
          </p:cNvGraphicFramePr>
          <p:nvPr>
            <p:extLst>
              <p:ext uri="{D42A27DB-BD31-4B8C-83A1-F6EECF244321}">
                <p14:modId xmlns:p14="http://schemas.microsoft.com/office/powerpoint/2010/main" val="784790487"/>
              </p:ext>
            </p:extLst>
          </p:nvPr>
        </p:nvGraphicFramePr>
        <p:xfrm>
          <a:off x="912008" y="787530"/>
          <a:ext cx="3236308" cy="1630680"/>
        </p:xfrm>
        <a:graphic>
          <a:graphicData uri="http://schemas.openxmlformats.org/drawingml/2006/table">
            <a:tbl>
              <a:tblPr firstRow="1" firstCol="1" bandRow="1">
                <a:tableStyleId>{5C22544A-7EE6-4342-B048-85BDC9FD1C3A}</a:tableStyleId>
              </a:tblPr>
              <a:tblGrid>
                <a:gridCol w="809077">
                  <a:extLst>
                    <a:ext uri="{9D8B030D-6E8A-4147-A177-3AD203B41FA5}">
                      <a16:colId xmlns:a16="http://schemas.microsoft.com/office/drawing/2014/main" val="4160922130"/>
                    </a:ext>
                  </a:extLst>
                </a:gridCol>
                <a:gridCol w="809077">
                  <a:extLst>
                    <a:ext uri="{9D8B030D-6E8A-4147-A177-3AD203B41FA5}">
                      <a16:colId xmlns:a16="http://schemas.microsoft.com/office/drawing/2014/main" val="1403903358"/>
                    </a:ext>
                  </a:extLst>
                </a:gridCol>
                <a:gridCol w="809077">
                  <a:extLst>
                    <a:ext uri="{9D8B030D-6E8A-4147-A177-3AD203B41FA5}">
                      <a16:colId xmlns:a16="http://schemas.microsoft.com/office/drawing/2014/main" val="2306704740"/>
                    </a:ext>
                  </a:extLst>
                </a:gridCol>
                <a:gridCol w="809077">
                  <a:extLst>
                    <a:ext uri="{9D8B030D-6E8A-4147-A177-3AD203B41FA5}">
                      <a16:colId xmlns:a16="http://schemas.microsoft.com/office/drawing/2014/main" val="3844363200"/>
                    </a:ext>
                  </a:extLst>
                </a:gridCol>
              </a:tblGrid>
              <a:tr h="198937">
                <a:tc>
                  <a:txBody>
                    <a:bodyPr/>
                    <a:lstStyle/>
                    <a:p>
                      <a:pPr algn="ctr"/>
                      <a:endParaRPr lang="en-US" sz="900" dirty="0"/>
                    </a:p>
                  </a:txBody>
                  <a:tcPr anchor="ctr"/>
                </a:tc>
                <a:tc>
                  <a:txBody>
                    <a:bodyPr/>
                    <a:lstStyle/>
                    <a:p>
                      <a:pPr algn="ctr"/>
                      <a:r>
                        <a:rPr lang="en-US" sz="1100" dirty="0"/>
                        <a:t>Variant 1</a:t>
                      </a:r>
                    </a:p>
                  </a:txBody>
                  <a:tcPr anchor="ctr"/>
                </a:tc>
                <a:tc>
                  <a:txBody>
                    <a:bodyPr/>
                    <a:lstStyle/>
                    <a:p>
                      <a:pPr algn="ctr"/>
                      <a:r>
                        <a:rPr lang="en-US" sz="1100" dirty="0"/>
                        <a:t>Variant 2</a:t>
                      </a:r>
                    </a:p>
                  </a:txBody>
                  <a:tcPr anchor="ctr"/>
                </a:tc>
                <a:tc>
                  <a:txBody>
                    <a:bodyPr/>
                    <a:lstStyle/>
                    <a:p>
                      <a:pPr algn="ctr"/>
                      <a:r>
                        <a:rPr lang="en-US" sz="1100" dirty="0"/>
                        <a:t>Variant 3</a:t>
                      </a:r>
                    </a:p>
                  </a:txBody>
                  <a:tcPr anchor="ctr"/>
                </a:tc>
                <a:extLst>
                  <a:ext uri="{0D108BD9-81ED-4DB2-BD59-A6C34878D82A}">
                    <a16:rowId xmlns:a16="http://schemas.microsoft.com/office/drawing/2014/main" val="1627297001"/>
                  </a:ext>
                </a:extLst>
              </a:tr>
              <a:tr h="261089">
                <a:tc>
                  <a:txBody>
                    <a:bodyPr/>
                    <a:lstStyle/>
                    <a:p>
                      <a:pPr algn="ctr"/>
                      <a:r>
                        <a:rPr lang="en-US" sz="900" dirty="0"/>
                        <a:t>Individual 1</a:t>
                      </a:r>
                    </a:p>
                  </a:txBody>
                  <a:tcPr anchor="ctr"/>
                </a:tc>
                <a:tc>
                  <a:txBody>
                    <a:bodyPr/>
                    <a:lstStyle/>
                    <a:p>
                      <a:pPr algn="ctr"/>
                      <a:r>
                        <a:rPr lang="en-US" sz="1200" dirty="0"/>
                        <a:t>CC</a:t>
                      </a:r>
                    </a:p>
                  </a:txBody>
                  <a:tcPr anchor="ctr"/>
                </a:tc>
                <a:tc>
                  <a:txBody>
                    <a:bodyPr/>
                    <a:lstStyle/>
                    <a:p>
                      <a:pPr algn="ctr"/>
                      <a:r>
                        <a:rPr lang="en-US" sz="1200" dirty="0"/>
                        <a:t>CT</a:t>
                      </a:r>
                    </a:p>
                  </a:txBody>
                  <a:tcPr anchor="ctr"/>
                </a:tc>
                <a:tc>
                  <a:txBody>
                    <a:bodyPr/>
                    <a:lstStyle/>
                    <a:p>
                      <a:pPr algn="ctr"/>
                      <a:r>
                        <a:rPr lang="en-US" sz="1200" dirty="0"/>
                        <a:t>AT</a:t>
                      </a:r>
                    </a:p>
                  </a:txBody>
                  <a:tcPr anchor="ctr"/>
                </a:tc>
                <a:extLst>
                  <a:ext uri="{0D108BD9-81ED-4DB2-BD59-A6C34878D82A}">
                    <a16:rowId xmlns:a16="http://schemas.microsoft.com/office/drawing/2014/main" val="612860694"/>
                  </a:ext>
                </a:extLst>
              </a:tr>
              <a:tr h="261089">
                <a:tc>
                  <a:txBody>
                    <a:bodyPr/>
                    <a:lstStyle/>
                    <a:p>
                      <a:pPr algn="ctr"/>
                      <a:r>
                        <a:rPr lang="en-US" sz="900" dirty="0"/>
                        <a:t>Individual 2</a:t>
                      </a:r>
                    </a:p>
                  </a:txBody>
                  <a:tcPr anchor="ctr"/>
                </a:tc>
                <a:tc>
                  <a:txBody>
                    <a:bodyPr/>
                    <a:lstStyle/>
                    <a:p>
                      <a:pPr algn="ctr"/>
                      <a:r>
                        <a:rPr lang="en-US" sz="1200" dirty="0"/>
                        <a:t>TT</a:t>
                      </a:r>
                    </a:p>
                  </a:txBody>
                  <a:tcPr anchor="ctr"/>
                </a:tc>
                <a:tc>
                  <a:txBody>
                    <a:bodyPr/>
                    <a:lstStyle/>
                    <a:p>
                      <a:pPr algn="ctr"/>
                      <a:r>
                        <a:rPr lang="en-US" sz="1200" dirty="0"/>
                        <a:t>TT</a:t>
                      </a:r>
                    </a:p>
                  </a:txBody>
                  <a:tcPr anchor="ctr"/>
                </a:tc>
                <a:tc>
                  <a:txBody>
                    <a:bodyPr/>
                    <a:lstStyle/>
                    <a:p>
                      <a:pPr algn="ctr"/>
                      <a:r>
                        <a:rPr lang="en-US" sz="1200" dirty="0"/>
                        <a:t>AA</a:t>
                      </a:r>
                    </a:p>
                  </a:txBody>
                  <a:tcPr anchor="ctr"/>
                </a:tc>
                <a:extLst>
                  <a:ext uri="{0D108BD9-81ED-4DB2-BD59-A6C34878D82A}">
                    <a16:rowId xmlns:a16="http://schemas.microsoft.com/office/drawing/2014/main" val="3817050502"/>
                  </a:ext>
                </a:extLst>
              </a:tr>
              <a:tr h="261089">
                <a:tc>
                  <a:txBody>
                    <a:bodyPr/>
                    <a:lstStyle/>
                    <a:p>
                      <a:pPr algn="ctr"/>
                      <a:r>
                        <a:rPr lang="en-US" sz="900" dirty="0"/>
                        <a:t>Individual 3</a:t>
                      </a:r>
                    </a:p>
                  </a:txBody>
                  <a:tcPr anchor="ctr"/>
                </a:tc>
                <a:tc>
                  <a:txBody>
                    <a:bodyPr/>
                    <a:lstStyle/>
                    <a:p>
                      <a:pPr algn="ctr"/>
                      <a:r>
                        <a:rPr lang="en-US" sz="1200" dirty="0"/>
                        <a:t>CT</a:t>
                      </a:r>
                    </a:p>
                  </a:txBody>
                  <a:tcPr anchor="ctr"/>
                </a:tc>
                <a:tc>
                  <a:txBody>
                    <a:bodyPr/>
                    <a:lstStyle/>
                    <a:p>
                      <a:pPr algn="ctr"/>
                      <a:r>
                        <a:rPr lang="en-US" sz="1200" dirty="0"/>
                        <a:t>CT</a:t>
                      </a:r>
                    </a:p>
                  </a:txBody>
                  <a:tcPr anchor="ctr"/>
                </a:tc>
                <a:tc>
                  <a:txBody>
                    <a:bodyPr/>
                    <a:lstStyle/>
                    <a:p>
                      <a:pPr algn="ctr"/>
                      <a:r>
                        <a:rPr lang="en-US" sz="1200" dirty="0"/>
                        <a:t>AA</a:t>
                      </a:r>
                    </a:p>
                  </a:txBody>
                  <a:tcPr anchor="ctr"/>
                </a:tc>
                <a:extLst>
                  <a:ext uri="{0D108BD9-81ED-4DB2-BD59-A6C34878D82A}">
                    <a16:rowId xmlns:a16="http://schemas.microsoft.com/office/drawing/2014/main" val="4061852596"/>
                  </a:ext>
                </a:extLst>
              </a:tr>
              <a:tr h="261089">
                <a:tc>
                  <a:txBody>
                    <a:bodyPr/>
                    <a:lstStyle/>
                    <a:p>
                      <a:pPr algn="ctr"/>
                      <a:r>
                        <a:rPr lang="en-US" sz="900" dirty="0"/>
                        <a:t>Individual 4</a:t>
                      </a:r>
                    </a:p>
                  </a:txBody>
                  <a:tcPr anchor="ctr"/>
                </a:tc>
                <a:tc>
                  <a:txBody>
                    <a:bodyPr/>
                    <a:lstStyle/>
                    <a:p>
                      <a:pPr algn="ctr"/>
                      <a:r>
                        <a:rPr lang="en-US" sz="1200" dirty="0"/>
                        <a:t>CC</a:t>
                      </a:r>
                    </a:p>
                  </a:txBody>
                  <a:tcPr anchor="ctr"/>
                </a:tc>
                <a:tc>
                  <a:txBody>
                    <a:bodyPr/>
                    <a:lstStyle/>
                    <a:p>
                      <a:pPr algn="ctr"/>
                      <a:r>
                        <a:rPr lang="en-US" sz="1200" dirty="0"/>
                        <a:t>TT</a:t>
                      </a:r>
                    </a:p>
                  </a:txBody>
                  <a:tcPr anchor="ctr"/>
                </a:tc>
                <a:tc>
                  <a:txBody>
                    <a:bodyPr/>
                    <a:lstStyle/>
                    <a:p>
                      <a:pPr algn="ctr"/>
                      <a:r>
                        <a:rPr lang="en-US" sz="1200" dirty="0"/>
                        <a:t>AA</a:t>
                      </a:r>
                    </a:p>
                  </a:txBody>
                  <a:tcPr anchor="ctr"/>
                </a:tc>
                <a:extLst>
                  <a:ext uri="{0D108BD9-81ED-4DB2-BD59-A6C34878D82A}">
                    <a16:rowId xmlns:a16="http://schemas.microsoft.com/office/drawing/2014/main" val="1350519049"/>
                  </a:ext>
                </a:extLst>
              </a:tr>
              <a:tr h="261089">
                <a:tc>
                  <a:txBody>
                    <a:bodyPr/>
                    <a:lstStyle/>
                    <a:p>
                      <a:pPr algn="ctr"/>
                      <a:r>
                        <a:rPr lang="en-US" sz="900" dirty="0"/>
                        <a:t>Individual 5</a:t>
                      </a:r>
                    </a:p>
                  </a:txBody>
                  <a:tcPr anchor="ctr"/>
                </a:tc>
                <a:tc>
                  <a:txBody>
                    <a:bodyPr/>
                    <a:lstStyle/>
                    <a:p>
                      <a:pPr algn="ctr"/>
                      <a:r>
                        <a:rPr lang="en-US" sz="1200" dirty="0"/>
                        <a:t>CC</a:t>
                      </a:r>
                    </a:p>
                  </a:txBody>
                  <a:tcPr anchor="ctr"/>
                </a:tc>
                <a:tc>
                  <a:txBody>
                    <a:bodyPr/>
                    <a:lstStyle/>
                    <a:p>
                      <a:pPr algn="ctr"/>
                      <a:r>
                        <a:rPr lang="en-US" sz="1200" dirty="0"/>
                        <a:t>CC</a:t>
                      </a:r>
                    </a:p>
                  </a:txBody>
                  <a:tcPr anchor="ctr"/>
                </a:tc>
                <a:tc>
                  <a:txBody>
                    <a:bodyPr/>
                    <a:lstStyle/>
                    <a:p>
                      <a:pPr algn="ctr"/>
                      <a:r>
                        <a:rPr lang="en-US" sz="1200" dirty="0"/>
                        <a:t>TT</a:t>
                      </a:r>
                    </a:p>
                  </a:txBody>
                  <a:tcPr anchor="ctr"/>
                </a:tc>
                <a:extLst>
                  <a:ext uri="{0D108BD9-81ED-4DB2-BD59-A6C34878D82A}">
                    <a16:rowId xmlns:a16="http://schemas.microsoft.com/office/drawing/2014/main" val="3523511550"/>
                  </a:ext>
                </a:extLst>
              </a:tr>
            </a:tbl>
          </a:graphicData>
        </a:graphic>
      </p:graphicFrame>
      <p:cxnSp>
        <p:nvCxnSpPr>
          <p:cNvPr id="9" name="Straight Arrow Connector 8">
            <a:extLst>
              <a:ext uri="{FF2B5EF4-FFF2-40B4-BE49-F238E27FC236}">
                <a16:creationId xmlns:a16="http://schemas.microsoft.com/office/drawing/2014/main" id="{5CB2D04E-FBB0-46FE-641A-6AA6AF7B8429}"/>
              </a:ext>
            </a:extLst>
          </p:cNvPr>
          <p:cNvCxnSpPr>
            <a:cxnSpLocks/>
          </p:cNvCxnSpPr>
          <p:nvPr/>
        </p:nvCxnSpPr>
        <p:spPr>
          <a:xfrm>
            <a:off x="4457284" y="1554068"/>
            <a:ext cx="98050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988A38D-6866-88AC-8CD1-D7CA4F3BC4AE}"/>
              </a:ext>
            </a:extLst>
          </p:cNvPr>
          <p:cNvSpPr txBox="1"/>
          <p:nvPr/>
        </p:nvSpPr>
        <p:spPr>
          <a:xfrm>
            <a:off x="5437785" y="5527710"/>
            <a:ext cx="3232556" cy="2954655"/>
          </a:xfrm>
          <a:prstGeom prst="rect">
            <a:avLst/>
          </a:prstGeom>
          <a:noFill/>
        </p:spPr>
        <p:txBody>
          <a:bodyPr wrap="square" rtlCol="0" anchor="ctr">
            <a:spAutoFit/>
          </a:bodyPr>
          <a:lstStyle/>
          <a:p>
            <a:pPr algn="ctr"/>
            <a:r>
              <a:rPr lang="en-US" b="1" dirty="0"/>
              <a:t>Applications</a:t>
            </a:r>
          </a:p>
          <a:p>
            <a:pPr marL="115888" indent="-115888">
              <a:buFont typeface="Arial" panose="020B0604020202020204" pitchFamily="34" charset="0"/>
              <a:buChar char="•"/>
            </a:pPr>
            <a:r>
              <a:rPr lang="en-US" sz="1400" i="1" dirty="0"/>
              <a:t>LD score regression (LDSC) and stratified LDSC (s-LDSC)</a:t>
            </a:r>
            <a:r>
              <a:rPr lang="en-US" sz="1400" dirty="0"/>
              <a:t>: estimate SNP heritability, genetic correlation, and heritability enrichment across functional annotations</a:t>
            </a:r>
          </a:p>
          <a:p>
            <a:pPr marL="115888" indent="-115888">
              <a:buFont typeface="Arial" panose="020B0604020202020204" pitchFamily="34" charset="0"/>
              <a:buChar char="•"/>
            </a:pPr>
            <a:r>
              <a:rPr lang="en-US" sz="1400" i="1" dirty="0"/>
              <a:t>LDAK</a:t>
            </a:r>
            <a:r>
              <a:rPr lang="en-US" sz="1400" dirty="0"/>
              <a:t>: LD-weighted heritability estimation and polygenic risk score construction</a:t>
            </a:r>
          </a:p>
          <a:p>
            <a:pPr marL="115888" indent="-115888">
              <a:buFont typeface="Arial" panose="020B0604020202020204" pitchFamily="34" charset="0"/>
              <a:buChar char="•"/>
            </a:pPr>
            <a:r>
              <a:rPr lang="en-US" sz="1400" i="1" dirty="0"/>
              <a:t>Genomic SEM</a:t>
            </a:r>
            <a:r>
              <a:rPr lang="en-US" sz="1400" dirty="0"/>
              <a:t>: multivariate genetic architecture modeling across traits</a:t>
            </a:r>
          </a:p>
          <a:p>
            <a:pPr marL="115888" indent="-115888">
              <a:buFont typeface="Arial" panose="020B0604020202020204" pitchFamily="34" charset="0"/>
              <a:buChar char="•"/>
            </a:pPr>
            <a:r>
              <a:rPr lang="en-US" sz="1400" i="1" dirty="0"/>
              <a:t>High-Definition Likelihood (HDL)</a:t>
            </a:r>
            <a:r>
              <a:rPr lang="en-US" sz="1400" dirty="0"/>
              <a:t>: improved genetic correlation estimation</a:t>
            </a:r>
          </a:p>
        </p:txBody>
      </p:sp>
      <p:sp>
        <p:nvSpPr>
          <p:cNvPr id="23" name="Oval 22">
            <a:extLst>
              <a:ext uri="{FF2B5EF4-FFF2-40B4-BE49-F238E27FC236}">
                <a16:creationId xmlns:a16="http://schemas.microsoft.com/office/drawing/2014/main" id="{6C12BD0B-FEA0-124B-1387-EEE1A36F0C09}"/>
              </a:ext>
            </a:extLst>
          </p:cNvPr>
          <p:cNvSpPr>
            <a:spLocks noChangeAspect="1"/>
          </p:cNvSpPr>
          <p:nvPr/>
        </p:nvSpPr>
        <p:spPr>
          <a:xfrm>
            <a:off x="7159118" y="4627118"/>
            <a:ext cx="182880" cy="182880"/>
          </a:xfrm>
          <a:prstGeom prst="ellipse">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a:t>
            </a:r>
          </a:p>
        </p:txBody>
      </p:sp>
      <p:sp>
        <p:nvSpPr>
          <p:cNvPr id="24" name="Oval 23">
            <a:extLst>
              <a:ext uri="{FF2B5EF4-FFF2-40B4-BE49-F238E27FC236}">
                <a16:creationId xmlns:a16="http://schemas.microsoft.com/office/drawing/2014/main" id="{A7675719-325B-EC9D-F3BA-599D534DA457}"/>
              </a:ext>
            </a:extLst>
          </p:cNvPr>
          <p:cNvSpPr>
            <a:spLocks noChangeAspect="1"/>
          </p:cNvSpPr>
          <p:nvPr/>
        </p:nvSpPr>
        <p:spPr>
          <a:xfrm>
            <a:off x="7391573" y="4627118"/>
            <a:ext cx="182880" cy="182880"/>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a:t>
            </a:r>
          </a:p>
        </p:txBody>
      </p:sp>
      <p:sp>
        <p:nvSpPr>
          <p:cNvPr id="25" name="Oval 24">
            <a:extLst>
              <a:ext uri="{FF2B5EF4-FFF2-40B4-BE49-F238E27FC236}">
                <a16:creationId xmlns:a16="http://schemas.microsoft.com/office/drawing/2014/main" id="{ED52535C-614A-2078-7E05-1AAB26588EED}"/>
              </a:ext>
            </a:extLst>
          </p:cNvPr>
          <p:cNvSpPr>
            <a:spLocks noChangeAspect="1"/>
          </p:cNvSpPr>
          <p:nvPr/>
        </p:nvSpPr>
        <p:spPr>
          <a:xfrm>
            <a:off x="7624028" y="4627118"/>
            <a:ext cx="182880" cy="182880"/>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3</a:t>
            </a:r>
          </a:p>
        </p:txBody>
      </p:sp>
      <p:sp>
        <p:nvSpPr>
          <p:cNvPr id="26" name="TextBox 25">
            <a:extLst>
              <a:ext uri="{FF2B5EF4-FFF2-40B4-BE49-F238E27FC236}">
                <a16:creationId xmlns:a16="http://schemas.microsoft.com/office/drawing/2014/main" id="{D36F2BDD-95FD-305E-E3F2-0B77BBE1A96C}"/>
              </a:ext>
            </a:extLst>
          </p:cNvPr>
          <p:cNvSpPr txBox="1"/>
          <p:nvPr/>
        </p:nvSpPr>
        <p:spPr>
          <a:xfrm>
            <a:off x="7773447" y="4577975"/>
            <a:ext cx="763746" cy="281167"/>
          </a:xfrm>
          <a:prstGeom prst="rect">
            <a:avLst/>
          </a:prstGeom>
          <a:noFill/>
        </p:spPr>
        <p:txBody>
          <a:bodyPr wrap="square">
            <a:spAutoFit/>
          </a:bodyPr>
          <a:lstStyle/>
          <a:p>
            <a:pPr algn="ctr"/>
            <a:r>
              <a:rPr lang="en-US" sz="1200" dirty="0"/>
              <a:t>Variants</a:t>
            </a:r>
          </a:p>
        </p:txBody>
      </p:sp>
    </p:spTree>
    <p:extLst>
      <p:ext uri="{BB962C8B-B14F-4D97-AF65-F5344CB8AC3E}">
        <p14:creationId xmlns:p14="http://schemas.microsoft.com/office/powerpoint/2010/main" val="841345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8CBBD270-D97E-B4FD-6370-DB8E7586DF25}"/>
              </a:ext>
            </a:extLst>
          </p:cNvPr>
          <p:cNvSpPr/>
          <p:nvPr/>
        </p:nvSpPr>
        <p:spPr>
          <a:xfrm>
            <a:off x="340209" y="5518762"/>
            <a:ext cx="8402009" cy="312587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1" name="Rounded Rectangle 20">
            <a:extLst>
              <a:ext uri="{FF2B5EF4-FFF2-40B4-BE49-F238E27FC236}">
                <a16:creationId xmlns:a16="http://schemas.microsoft.com/office/drawing/2014/main" id="{C9D5E90D-39B1-9A85-0E16-7A4AD13A9E5A}"/>
              </a:ext>
            </a:extLst>
          </p:cNvPr>
          <p:cNvSpPr/>
          <p:nvPr/>
        </p:nvSpPr>
        <p:spPr>
          <a:xfrm>
            <a:off x="340209" y="2712677"/>
            <a:ext cx="8402009" cy="253167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A759F683-3317-78A5-57E9-8B367D02691F}"/>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Genetic Relationship Matrix (GRM)</a:t>
            </a:r>
          </a:p>
        </p:txBody>
      </p:sp>
      <p:sp>
        <p:nvSpPr>
          <p:cNvPr id="3" name="TextBox 2">
            <a:extLst>
              <a:ext uri="{FF2B5EF4-FFF2-40B4-BE49-F238E27FC236}">
                <a16:creationId xmlns:a16="http://schemas.microsoft.com/office/drawing/2014/main" id="{DF951DE2-86EE-D616-1A58-04171D07458C}"/>
              </a:ext>
            </a:extLst>
          </p:cNvPr>
          <p:cNvSpPr txBox="1"/>
          <p:nvPr/>
        </p:nvSpPr>
        <p:spPr>
          <a:xfrm>
            <a:off x="577728" y="499364"/>
            <a:ext cx="7988544" cy="338554"/>
          </a:xfrm>
          <a:prstGeom prst="rect">
            <a:avLst/>
          </a:prstGeom>
          <a:noFill/>
        </p:spPr>
        <p:txBody>
          <a:bodyPr wrap="square" rtlCol="0">
            <a:spAutoFit/>
          </a:bodyPr>
          <a:lstStyle/>
          <a:p>
            <a:pPr algn="ctr"/>
            <a:r>
              <a:rPr lang="en-US" sz="1600" dirty="0"/>
              <a:t>Quantifying Genetic Similarity Between Individuals</a:t>
            </a:r>
          </a:p>
        </p:txBody>
      </p:sp>
      <p:graphicFrame>
        <p:nvGraphicFramePr>
          <p:cNvPr id="5" name="Table 4">
            <a:extLst>
              <a:ext uri="{FF2B5EF4-FFF2-40B4-BE49-F238E27FC236}">
                <a16:creationId xmlns:a16="http://schemas.microsoft.com/office/drawing/2014/main" id="{EBB91871-0DC0-D39E-9401-3EF94C4D7B4E}"/>
              </a:ext>
            </a:extLst>
          </p:cNvPr>
          <p:cNvGraphicFramePr>
            <a:graphicFrameLocks noGrp="1"/>
          </p:cNvGraphicFramePr>
          <p:nvPr>
            <p:extLst>
              <p:ext uri="{D42A27DB-BD31-4B8C-83A1-F6EECF244321}">
                <p14:modId xmlns:p14="http://schemas.microsoft.com/office/powerpoint/2010/main" val="3749017554"/>
              </p:ext>
            </p:extLst>
          </p:nvPr>
        </p:nvGraphicFramePr>
        <p:xfrm>
          <a:off x="1967832" y="3223041"/>
          <a:ext cx="4931084" cy="1890042"/>
        </p:xfrm>
        <a:graphic>
          <a:graphicData uri="http://schemas.openxmlformats.org/drawingml/2006/table">
            <a:tbl>
              <a:tblPr firstRow="1" firstCol="1" bandRow="1">
                <a:tableStyleId>{5C22544A-7EE6-4342-B048-85BDC9FD1C3A}</a:tableStyleId>
              </a:tblPr>
              <a:tblGrid>
                <a:gridCol w="1232771">
                  <a:extLst>
                    <a:ext uri="{9D8B030D-6E8A-4147-A177-3AD203B41FA5}">
                      <a16:colId xmlns:a16="http://schemas.microsoft.com/office/drawing/2014/main" val="4160922130"/>
                    </a:ext>
                  </a:extLst>
                </a:gridCol>
                <a:gridCol w="1232771">
                  <a:extLst>
                    <a:ext uri="{9D8B030D-6E8A-4147-A177-3AD203B41FA5}">
                      <a16:colId xmlns:a16="http://schemas.microsoft.com/office/drawing/2014/main" val="1403903358"/>
                    </a:ext>
                  </a:extLst>
                </a:gridCol>
                <a:gridCol w="1232771">
                  <a:extLst>
                    <a:ext uri="{9D8B030D-6E8A-4147-A177-3AD203B41FA5}">
                      <a16:colId xmlns:a16="http://schemas.microsoft.com/office/drawing/2014/main" val="2306704740"/>
                    </a:ext>
                  </a:extLst>
                </a:gridCol>
                <a:gridCol w="1232771">
                  <a:extLst>
                    <a:ext uri="{9D8B030D-6E8A-4147-A177-3AD203B41FA5}">
                      <a16:colId xmlns:a16="http://schemas.microsoft.com/office/drawing/2014/main" val="3844363200"/>
                    </a:ext>
                  </a:extLst>
                </a:gridCol>
              </a:tblGrid>
              <a:tr h="315007">
                <a:tc>
                  <a:txBody>
                    <a:bodyPr/>
                    <a:lstStyle/>
                    <a:p>
                      <a:pPr algn="ctr"/>
                      <a:endParaRPr lang="en-US" sz="1400" dirty="0"/>
                    </a:p>
                  </a:txBody>
                  <a:tcPr anchor="ctr"/>
                </a:tc>
                <a:tc>
                  <a:txBody>
                    <a:bodyPr/>
                    <a:lstStyle/>
                    <a:p>
                      <a:pPr algn="ctr"/>
                      <a:r>
                        <a:rPr lang="en-US" sz="1400" dirty="0"/>
                        <a:t>Variant 1</a:t>
                      </a:r>
                    </a:p>
                  </a:txBody>
                  <a:tcPr anchor="ctr"/>
                </a:tc>
                <a:tc>
                  <a:txBody>
                    <a:bodyPr/>
                    <a:lstStyle/>
                    <a:p>
                      <a:pPr algn="ctr"/>
                      <a:r>
                        <a:rPr lang="en-US" sz="1400" dirty="0"/>
                        <a:t>Variant 2</a:t>
                      </a:r>
                    </a:p>
                  </a:txBody>
                  <a:tcPr anchor="ctr"/>
                </a:tc>
                <a:tc>
                  <a:txBody>
                    <a:bodyPr/>
                    <a:lstStyle/>
                    <a:p>
                      <a:pPr algn="ctr"/>
                      <a:r>
                        <a:rPr lang="en-US" sz="1400" dirty="0"/>
                        <a:t>Variant 3</a:t>
                      </a:r>
                    </a:p>
                  </a:txBody>
                  <a:tcPr anchor="ctr"/>
                </a:tc>
                <a:extLst>
                  <a:ext uri="{0D108BD9-81ED-4DB2-BD59-A6C34878D82A}">
                    <a16:rowId xmlns:a16="http://schemas.microsoft.com/office/drawing/2014/main" val="1627297001"/>
                  </a:ext>
                </a:extLst>
              </a:tr>
              <a:tr h="315007">
                <a:tc>
                  <a:txBody>
                    <a:bodyPr/>
                    <a:lstStyle/>
                    <a:p>
                      <a:pPr algn="ctr"/>
                      <a:r>
                        <a:rPr lang="en-US" sz="1400" dirty="0"/>
                        <a:t>Individual 1</a:t>
                      </a:r>
                    </a:p>
                  </a:txBody>
                  <a:tcPr anchor="ctr"/>
                </a:tc>
                <a:tc>
                  <a:txBody>
                    <a:bodyPr/>
                    <a:lstStyle/>
                    <a:p>
                      <a:pPr algn="ctr"/>
                      <a:r>
                        <a:rPr lang="en-US" sz="1400" dirty="0"/>
                        <a:t>-0.671</a:t>
                      </a:r>
                    </a:p>
                  </a:txBody>
                  <a:tcPr anchor="ctr"/>
                </a:tc>
                <a:tc>
                  <a:txBody>
                    <a:bodyPr/>
                    <a:lstStyle/>
                    <a:p>
                      <a:pPr algn="ctr"/>
                      <a:r>
                        <a:rPr lang="en-US" sz="1400" dirty="0"/>
                        <a:t>0.239</a:t>
                      </a:r>
                    </a:p>
                  </a:txBody>
                  <a:tcPr anchor="ctr"/>
                </a:tc>
                <a:tc>
                  <a:txBody>
                    <a:bodyPr/>
                    <a:lstStyle/>
                    <a:p>
                      <a:pPr algn="ctr"/>
                      <a:r>
                        <a:rPr lang="en-US" sz="1400" dirty="0"/>
                        <a:t>0.447</a:t>
                      </a:r>
                    </a:p>
                  </a:txBody>
                  <a:tcPr anchor="ctr"/>
                </a:tc>
                <a:extLst>
                  <a:ext uri="{0D108BD9-81ED-4DB2-BD59-A6C34878D82A}">
                    <a16:rowId xmlns:a16="http://schemas.microsoft.com/office/drawing/2014/main" val="612860694"/>
                  </a:ext>
                </a:extLst>
              </a:tr>
              <a:tr h="315007">
                <a:tc>
                  <a:txBody>
                    <a:bodyPr/>
                    <a:lstStyle/>
                    <a:p>
                      <a:pPr algn="ctr"/>
                      <a:r>
                        <a:rPr lang="en-US" sz="1400" dirty="0"/>
                        <a:t>Individual 2</a:t>
                      </a:r>
                    </a:p>
                  </a:txBody>
                  <a:tcPr anchor="ctr"/>
                </a:tc>
                <a:tc>
                  <a:txBody>
                    <a:bodyPr/>
                    <a:lstStyle/>
                    <a:p>
                      <a:pPr algn="ctr"/>
                      <a:r>
                        <a:rPr lang="en-US" sz="1400" dirty="0"/>
                        <a:t>1.565</a:t>
                      </a:r>
                    </a:p>
                  </a:txBody>
                  <a:tcPr anchor="ctr"/>
                </a:tc>
                <a:tc>
                  <a:txBody>
                    <a:bodyPr/>
                    <a:lstStyle/>
                    <a:p>
                      <a:pPr algn="ctr"/>
                      <a:r>
                        <a:rPr lang="en-US" sz="1400" dirty="0"/>
                        <a:t>-0.956</a:t>
                      </a:r>
                    </a:p>
                  </a:txBody>
                  <a:tcPr anchor="ctr"/>
                </a:tc>
                <a:tc>
                  <a:txBody>
                    <a:bodyPr/>
                    <a:lstStyle/>
                    <a:p>
                      <a:pPr algn="ctr"/>
                      <a:r>
                        <a:rPr lang="en-US" sz="1400" dirty="0"/>
                        <a:t>-0.671</a:t>
                      </a:r>
                    </a:p>
                  </a:txBody>
                  <a:tcPr anchor="ctr"/>
                </a:tc>
                <a:extLst>
                  <a:ext uri="{0D108BD9-81ED-4DB2-BD59-A6C34878D82A}">
                    <a16:rowId xmlns:a16="http://schemas.microsoft.com/office/drawing/2014/main" val="3817050502"/>
                  </a:ext>
                </a:extLst>
              </a:tr>
              <a:tr h="315007">
                <a:tc>
                  <a:txBody>
                    <a:bodyPr/>
                    <a:lstStyle/>
                    <a:p>
                      <a:pPr algn="ctr"/>
                      <a:r>
                        <a:rPr lang="en-US" sz="1400" dirty="0"/>
                        <a:t>Individual 3</a:t>
                      </a:r>
                    </a:p>
                  </a:txBody>
                  <a:tcPr anchor="ctr"/>
                </a:tc>
                <a:tc>
                  <a:txBody>
                    <a:bodyPr/>
                    <a:lstStyle/>
                    <a:p>
                      <a:pPr algn="ctr"/>
                      <a:r>
                        <a:rPr lang="en-US" sz="1400" dirty="0"/>
                        <a:t>0.447</a:t>
                      </a:r>
                    </a:p>
                  </a:txBody>
                  <a:tcPr anchor="ctr"/>
                </a:tc>
                <a:tc>
                  <a:txBody>
                    <a:bodyPr/>
                    <a:lstStyle/>
                    <a:p>
                      <a:pPr algn="ctr"/>
                      <a:r>
                        <a:rPr lang="en-US" sz="1400" dirty="0"/>
                        <a:t>0.239</a:t>
                      </a:r>
                    </a:p>
                  </a:txBody>
                  <a:tcPr anchor="ctr"/>
                </a:tc>
                <a:tc>
                  <a:txBody>
                    <a:bodyPr/>
                    <a:lstStyle/>
                    <a:p>
                      <a:pPr algn="ctr"/>
                      <a:r>
                        <a:rPr lang="en-US" sz="1400" dirty="0"/>
                        <a:t>-0.671</a:t>
                      </a:r>
                    </a:p>
                  </a:txBody>
                  <a:tcPr anchor="ctr"/>
                </a:tc>
                <a:extLst>
                  <a:ext uri="{0D108BD9-81ED-4DB2-BD59-A6C34878D82A}">
                    <a16:rowId xmlns:a16="http://schemas.microsoft.com/office/drawing/2014/main" val="4061852596"/>
                  </a:ext>
                </a:extLst>
              </a:tr>
              <a:tr h="315007">
                <a:tc>
                  <a:txBody>
                    <a:bodyPr/>
                    <a:lstStyle/>
                    <a:p>
                      <a:pPr algn="ctr"/>
                      <a:r>
                        <a:rPr lang="en-US" sz="1400" dirty="0"/>
                        <a:t>Individual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-0.671</a:t>
                      </a:r>
                    </a:p>
                  </a:txBody>
                  <a:tcPr anchor="ctr"/>
                </a:tc>
                <a:tc>
                  <a:txBody>
                    <a:bodyPr/>
                    <a:lstStyle/>
                    <a:p>
                      <a:pPr algn="ctr"/>
                      <a:r>
                        <a:rPr lang="en-US" sz="1400" dirty="0"/>
                        <a:t>-0.956</a:t>
                      </a:r>
                    </a:p>
                  </a:txBody>
                  <a:tcPr anchor="ctr"/>
                </a:tc>
                <a:tc>
                  <a:txBody>
                    <a:bodyPr/>
                    <a:lstStyle/>
                    <a:p>
                      <a:pPr algn="ctr"/>
                      <a:r>
                        <a:rPr lang="en-US" sz="1400" dirty="0"/>
                        <a:t>-0.671</a:t>
                      </a:r>
                    </a:p>
                  </a:txBody>
                  <a:tcPr anchor="ctr"/>
                </a:tc>
                <a:extLst>
                  <a:ext uri="{0D108BD9-81ED-4DB2-BD59-A6C34878D82A}">
                    <a16:rowId xmlns:a16="http://schemas.microsoft.com/office/drawing/2014/main" val="1350519049"/>
                  </a:ext>
                </a:extLst>
              </a:tr>
              <a:tr h="315007">
                <a:tc>
                  <a:txBody>
                    <a:bodyPr/>
                    <a:lstStyle/>
                    <a:p>
                      <a:pPr algn="ctr"/>
                      <a:r>
                        <a:rPr lang="en-US" sz="1400" dirty="0"/>
                        <a:t>Individual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-0.671</a:t>
                      </a:r>
                    </a:p>
                  </a:txBody>
                  <a:tcPr anchor="ctr"/>
                </a:tc>
                <a:tc>
                  <a:txBody>
                    <a:bodyPr/>
                    <a:lstStyle/>
                    <a:p>
                      <a:pPr algn="ctr"/>
                      <a:r>
                        <a:rPr lang="en-US" sz="1400" dirty="0"/>
                        <a:t>1.434</a:t>
                      </a:r>
                    </a:p>
                  </a:txBody>
                  <a:tcPr anchor="ctr"/>
                </a:tc>
                <a:tc>
                  <a:txBody>
                    <a:bodyPr/>
                    <a:lstStyle/>
                    <a:p>
                      <a:pPr algn="ctr"/>
                      <a:r>
                        <a:rPr lang="en-US" sz="1400" dirty="0"/>
                        <a:t>1.565</a:t>
                      </a:r>
                    </a:p>
                  </a:txBody>
                  <a:tcPr anchor="ctr"/>
                </a:tc>
                <a:extLst>
                  <a:ext uri="{0D108BD9-81ED-4DB2-BD59-A6C34878D82A}">
                    <a16:rowId xmlns:a16="http://schemas.microsoft.com/office/drawing/2014/main" val="3523511550"/>
                  </a:ext>
                </a:extLst>
              </a:tr>
            </a:tbl>
          </a:graphicData>
        </a:graphic>
      </p:graphicFrame>
      <p:sp>
        <p:nvSpPr>
          <p:cNvPr id="7" name="TextBox 6">
            <a:extLst>
              <a:ext uri="{FF2B5EF4-FFF2-40B4-BE49-F238E27FC236}">
                <a16:creationId xmlns:a16="http://schemas.microsoft.com/office/drawing/2014/main" id="{CC9B34F8-AB9E-3B2F-BFFB-00FAAB810A23}"/>
              </a:ext>
            </a:extLst>
          </p:cNvPr>
          <p:cNvSpPr txBox="1"/>
          <p:nvPr/>
        </p:nvSpPr>
        <p:spPr>
          <a:xfrm>
            <a:off x="2940607" y="2797095"/>
            <a:ext cx="3414461" cy="369332"/>
          </a:xfrm>
          <a:prstGeom prst="rect">
            <a:avLst/>
          </a:prstGeom>
          <a:noFill/>
        </p:spPr>
        <p:txBody>
          <a:bodyPr wrap="none" rtlCol="0">
            <a:spAutoFit/>
          </a:bodyPr>
          <a:lstStyle/>
          <a:p>
            <a:r>
              <a:rPr lang="en-US" b="1" dirty="0"/>
              <a:t>Standardized Genotyped Matrix X</a:t>
            </a:r>
          </a:p>
        </p:txBody>
      </p:sp>
      <p:sp>
        <p:nvSpPr>
          <p:cNvPr id="13" name="Rounded Rectangle 12">
            <a:extLst>
              <a:ext uri="{FF2B5EF4-FFF2-40B4-BE49-F238E27FC236}">
                <a16:creationId xmlns:a16="http://schemas.microsoft.com/office/drawing/2014/main" id="{1352E1A4-0EBE-20DD-E847-BB5B43AD36B0}"/>
              </a:ext>
            </a:extLst>
          </p:cNvPr>
          <p:cNvSpPr/>
          <p:nvPr/>
        </p:nvSpPr>
        <p:spPr>
          <a:xfrm>
            <a:off x="340209" y="881691"/>
            <a:ext cx="8402009" cy="157052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4" name="TextBox 13">
            <a:extLst>
              <a:ext uri="{FF2B5EF4-FFF2-40B4-BE49-F238E27FC236}">
                <a16:creationId xmlns:a16="http://schemas.microsoft.com/office/drawing/2014/main" id="{1B05CF0C-002E-3236-B6FD-5CE21F0C6EBE}"/>
              </a:ext>
            </a:extLst>
          </p:cNvPr>
          <p:cNvSpPr txBox="1"/>
          <p:nvPr/>
        </p:nvSpPr>
        <p:spPr>
          <a:xfrm>
            <a:off x="2339056" y="852334"/>
            <a:ext cx="4475988" cy="369332"/>
          </a:xfrm>
          <a:prstGeom prst="rect">
            <a:avLst/>
          </a:prstGeom>
          <a:noFill/>
        </p:spPr>
        <p:txBody>
          <a:bodyPr wrap="square" rtlCol="0" anchor="ctr">
            <a:spAutoFit/>
          </a:bodyPr>
          <a:lstStyle/>
          <a:p>
            <a:pPr algn="ctr"/>
            <a:r>
              <a:rPr lang="en-US" b="1" dirty="0"/>
              <a:t>Population with 5 individuals</a:t>
            </a:r>
          </a:p>
        </p:txBody>
      </p:sp>
      <p:pic>
        <p:nvPicPr>
          <p:cNvPr id="16" name="Graphic 15" descr="Man with solid fill">
            <a:extLst>
              <a:ext uri="{FF2B5EF4-FFF2-40B4-BE49-F238E27FC236}">
                <a16:creationId xmlns:a16="http://schemas.microsoft.com/office/drawing/2014/main" id="{892B90BF-F80B-4D63-92C7-E6366A6722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67833" y="1509093"/>
            <a:ext cx="742445" cy="742445"/>
          </a:xfrm>
          <a:prstGeom prst="rect">
            <a:avLst/>
          </a:prstGeom>
        </p:spPr>
      </p:pic>
      <p:pic>
        <p:nvPicPr>
          <p:cNvPr id="17" name="Graphic 16" descr="Man with solid fill">
            <a:extLst>
              <a:ext uri="{FF2B5EF4-FFF2-40B4-BE49-F238E27FC236}">
                <a16:creationId xmlns:a16="http://schemas.microsoft.com/office/drawing/2014/main" id="{35EAA85A-8454-BEE4-2431-3774FF44FA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53416" y="1509092"/>
            <a:ext cx="742445" cy="742445"/>
          </a:xfrm>
          <a:prstGeom prst="rect">
            <a:avLst/>
          </a:prstGeom>
        </p:spPr>
      </p:pic>
      <p:pic>
        <p:nvPicPr>
          <p:cNvPr id="18" name="Graphic 17" descr="Man with solid fill">
            <a:extLst>
              <a:ext uri="{FF2B5EF4-FFF2-40B4-BE49-F238E27FC236}">
                <a16:creationId xmlns:a16="http://schemas.microsoft.com/office/drawing/2014/main" id="{D44ADE72-08B9-1E12-2FFD-FAF04157436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21460" y="1509095"/>
            <a:ext cx="742445" cy="742445"/>
          </a:xfrm>
          <a:prstGeom prst="rect">
            <a:avLst/>
          </a:prstGeom>
        </p:spPr>
      </p:pic>
      <p:pic>
        <p:nvPicPr>
          <p:cNvPr id="19" name="Graphic 18" descr="Man with solid fill">
            <a:extLst>
              <a:ext uri="{FF2B5EF4-FFF2-40B4-BE49-F238E27FC236}">
                <a16:creationId xmlns:a16="http://schemas.microsoft.com/office/drawing/2014/main" id="{72D45E0D-2276-2452-4A34-5ABE7A02F0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48927" y="1509094"/>
            <a:ext cx="742445" cy="742445"/>
          </a:xfrm>
          <a:prstGeom prst="rect">
            <a:avLst/>
          </a:prstGeom>
        </p:spPr>
      </p:pic>
      <p:pic>
        <p:nvPicPr>
          <p:cNvPr id="20" name="Graphic 19" descr="Man with solid fill">
            <a:extLst>
              <a:ext uri="{FF2B5EF4-FFF2-40B4-BE49-F238E27FC236}">
                <a16:creationId xmlns:a16="http://schemas.microsoft.com/office/drawing/2014/main" id="{8BE5FAD1-75E6-549F-CA9A-280B46C5057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33722" y="1509091"/>
            <a:ext cx="742445" cy="742445"/>
          </a:xfrm>
          <a:prstGeom prst="rect">
            <a:avLst/>
          </a:prstGeom>
        </p:spPr>
      </p:pic>
      <p:graphicFrame>
        <p:nvGraphicFramePr>
          <p:cNvPr id="22" name="Table 21">
            <a:extLst>
              <a:ext uri="{FF2B5EF4-FFF2-40B4-BE49-F238E27FC236}">
                <a16:creationId xmlns:a16="http://schemas.microsoft.com/office/drawing/2014/main" id="{08AA84FC-BAB0-B99B-F60B-C1B87BC6A882}"/>
              </a:ext>
            </a:extLst>
          </p:cNvPr>
          <p:cNvGraphicFramePr>
            <a:graphicFrameLocks noGrp="1"/>
          </p:cNvGraphicFramePr>
          <p:nvPr>
            <p:extLst>
              <p:ext uri="{D42A27DB-BD31-4B8C-83A1-F6EECF244321}">
                <p14:modId xmlns:p14="http://schemas.microsoft.com/office/powerpoint/2010/main" val="1749498955"/>
              </p:ext>
            </p:extLst>
          </p:nvPr>
        </p:nvGraphicFramePr>
        <p:xfrm>
          <a:off x="2422928" y="6001324"/>
          <a:ext cx="6068484" cy="2374074"/>
        </p:xfrm>
        <a:graphic>
          <a:graphicData uri="http://schemas.openxmlformats.org/drawingml/2006/table">
            <a:tbl>
              <a:tblPr firstRow="1" firstCol="1" bandRow="1">
                <a:tableStyleId>{5C22544A-7EE6-4342-B048-85BDC9FD1C3A}</a:tableStyleId>
              </a:tblPr>
              <a:tblGrid>
                <a:gridCol w="1011414">
                  <a:extLst>
                    <a:ext uri="{9D8B030D-6E8A-4147-A177-3AD203B41FA5}">
                      <a16:colId xmlns:a16="http://schemas.microsoft.com/office/drawing/2014/main" val="4160922130"/>
                    </a:ext>
                  </a:extLst>
                </a:gridCol>
                <a:gridCol w="1011414">
                  <a:extLst>
                    <a:ext uri="{9D8B030D-6E8A-4147-A177-3AD203B41FA5}">
                      <a16:colId xmlns:a16="http://schemas.microsoft.com/office/drawing/2014/main" val="1403903358"/>
                    </a:ext>
                  </a:extLst>
                </a:gridCol>
                <a:gridCol w="1011414">
                  <a:extLst>
                    <a:ext uri="{9D8B030D-6E8A-4147-A177-3AD203B41FA5}">
                      <a16:colId xmlns:a16="http://schemas.microsoft.com/office/drawing/2014/main" val="2306704740"/>
                    </a:ext>
                  </a:extLst>
                </a:gridCol>
                <a:gridCol w="1011414">
                  <a:extLst>
                    <a:ext uri="{9D8B030D-6E8A-4147-A177-3AD203B41FA5}">
                      <a16:colId xmlns:a16="http://schemas.microsoft.com/office/drawing/2014/main" val="3844363200"/>
                    </a:ext>
                  </a:extLst>
                </a:gridCol>
                <a:gridCol w="1011414">
                  <a:extLst>
                    <a:ext uri="{9D8B030D-6E8A-4147-A177-3AD203B41FA5}">
                      <a16:colId xmlns:a16="http://schemas.microsoft.com/office/drawing/2014/main" val="1656253250"/>
                    </a:ext>
                  </a:extLst>
                </a:gridCol>
                <a:gridCol w="1011414">
                  <a:extLst>
                    <a:ext uri="{9D8B030D-6E8A-4147-A177-3AD203B41FA5}">
                      <a16:colId xmlns:a16="http://schemas.microsoft.com/office/drawing/2014/main" val="3449159927"/>
                    </a:ext>
                  </a:extLst>
                </a:gridCol>
              </a:tblGrid>
              <a:tr h="395679">
                <a:tc>
                  <a:txBody>
                    <a:bodyPr/>
                    <a:lstStyle/>
                    <a:p>
                      <a:pPr algn="ctr"/>
                      <a:endParaRPr lang="en-US" sz="1200" dirty="0"/>
                    </a:p>
                  </a:txBody>
                  <a:tcPr anchor="ctr"/>
                </a:tc>
                <a:tc>
                  <a:txBody>
                    <a:bodyPr/>
                    <a:lstStyle/>
                    <a:p>
                      <a:pPr algn="ctr"/>
                      <a:r>
                        <a:rPr lang="en-US" sz="1200" dirty="0"/>
                        <a:t>Individual 1</a:t>
                      </a:r>
                    </a:p>
                  </a:txBody>
                  <a:tcPr anchor="ctr"/>
                </a:tc>
                <a:tc>
                  <a:txBody>
                    <a:bodyPr/>
                    <a:lstStyle/>
                    <a:p>
                      <a:pPr algn="ctr"/>
                      <a:r>
                        <a:rPr lang="en-US" sz="1200" dirty="0"/>
                        <a:t>Individual 2</a:t>
                      </a:r>
                    </a:p>
                  </a:txBody>
                  <a:tcPr anchor="ctr"/>
                </a:tc>
                <a:tc>
                  <a:txBody>
                    <a:bodyPr/>
                    <a:lstStyle/>
                    <a:p>
                      <a:pPr algn="ctr"/>
                      <a:r>
                        <a:rPr lang="en-US" sz="1200" dirty="0"/>
                        <a:t>Individual 3</a:t>
                      </a:r>
                    </a:p>
                  </a:txBody>
                  <a:tcPr anchor="ctr"/>
                </a:tc>
                <a:tc>
                  <a:txBody>
                    <a:bodyPr/>
                    <a:lstStyle/>
                    <a:p>
                      <a:pPr algn="ctr"/>
                      <a:r>
                        <a:rPr lang="en-US" sz="1200" dirty="0"/>
                        <a:t>Individual 4</a:t>
                      </a:r>
                    </a:p>
                  </a:txBody>
                  <a:tcPr anchor="ctr"/>
                </a:tc>
                <a:tc>
                  <a:txBody>
                    <a:bodyPr/>
                    <a:lstStyle/>
                    <a:p>
                      <a:pPr algn="ctr"/>
                      <a:r>
                        <a:rPr lang="en-US" sz="1200" dirty="0"/>
                        <a:t>Individual 5</a:t>
                      </a:r>
                    </a:p>
                  </a:txBody>
                  <a:tcPr anchor="ctr"/>
                </a:tc>
                <a:extLst>
                  <a:ext uri="{0D108BD9-81ED-4DB2-BD59-A6C34878D82A}">
                    <a16:rowId xmlns:a16="http://schemas.microsoft.com/office/drawing/2014/main" val="1627297001"/>
                  </a:ext>
                </a:extLst>
              </a:tr>
              <a:tr h="395679">
                <a:tc>
                  <a:txBody>
                    <a:bodyPr/>
                    <a:lstStyle/>
                    <a:p>
                      <a:pPr algn="ctr"/>
                      <a:r>
                        <a:rPr lang="en-US" sz="1200" dirty="0"/>
                        <a:t>Individual 1</a:t>
                      </a:r>
                    </a:p>
                  </a:txBody>
                  <a:tcPr anchor="ctr"/>
                </a:tc>
                <a:tc>
                  <a:txBody>
                    <a:bodyPr/>
                    <a:lstStyle/>
                    <a:p>
                      <a:pPr algn="ctr"/>
                      <a:r>
                        <a:rPr lang="en-US" sz="1200" dirty="0"/>
                        <a:t>0.236</a:t>
                      </a:r>
                    </a:p>
                  </a:txBody>
                  <a:tcPr anchor="ctr"/>
                </a:tc>
                <a:tc>
                  <a:txBody>
                    <a:bodyPr/>
                    <a:lstStyle/>
                    <a:p>
                      <a:pPr algn="ctr"/>
                      <a:r>
                        <a:rPr lang="en-US" sz="1200" dirty="0"/>
                        <a:t>-0.526</a:t>
                      </a:r>
                    </a:p>
                  </a:txBody>
                  <a:tcPr anchor="ctr"/>
                </a:tc>
                <a:tc>
                  <a:txBody>
                    <a:bodyPr/>
                    <a:lstStyle/>
                    <a:p>
                      <a:pPr algn="ctr"/>
                      <a:r>
                        <a:rPr lang="en-US" sz="1200" dirty="0"/>
                        <a:t>-0.181</a:t>
                      </a:r>
                    </a:p>
                  </a:txBody>
                  <a:tcPr anchor="ctr"/>
                </a:tc>
                <a:tc>
                  <a:txBody>
                    <a:bodyPr/>
                    <a:lstStyle/>
                    <a:p>
                      <a:pPr algn="ctr"/>
                      <a:r>
                        <a:rPr lang="en-US" sz="1200" dirty="0"/>
                        <a:t>-0.026</a:t>
                      </a:r>
                    </a:p>
                  </a:txBody>
                  <a:tcPr anchor="ctr"/>
                </a:tc>
                <a:tc>
                  <a:txBody>
                    <a:bodyPr/>
                    <a:lstStyle/>
                    <a:p>
                      <a:pPr algn="ctr"/>
                      <a:r>
                        <a:rPr lang="en-US" sz="1200" dirty="0"/>
                        <a:t>0.498</a:t>
                      </a:r>
                    </a:p>
                  </a:txBody>
                  <a:tcPr anchor="ctr"/>
                </a:tc>
                <a:extLst>
                  <a:ext uri="{0D108BD9-81ED-4DB2-BD59-A6C34878D82A}">
                    <a16:rowId xmlns:a16="http://schemas.microsoft.com/office/drawing/2014/main" val="612860694"/>
                  </a:ext>
                </a:extLst>
              </a:tr>
              <a:tr h="395679">
                <a:tc>
                  <a:txBody>
                    <a:bodyPr/>
                    <a:lstStyle/>
                    <a:p>
                      <a:pPr algn="ctr"/>
                      <a:r>
                        <a:rPr lang="en-US" sz="1200" dirty="0"/>
                        <a:t>Individual 2</a:t>
                      </a:r>
                    </a:p>
                  </a:txBody>
                  <a:tcPr anchor="ctr"/>
                </a:tc>
                <a:tc>
                  <a:txBody>
                    <a:bodyPr/>
                    <a:lstStyle/>
                    <a:p>
                      <a:pPr algn="ctr"/>
                      <a:r>
                        <a:rPr lang="en-US" sz="1200" dirty="0"/>
                        <a:t>-0.526</a:t>
                      </a:r>
                    </a:p>
                  </a:txBody>
                  <a:tcPr anchor="ctr"/>
                </a:tc>
                <a:tc>
                  <a:txBody>
                    <a:bodyPr/>
                    <a:lstStyle/>
                    <a:p>
                      <a:pPr algn="ctr"/>
                      <a:r>
                        <a:rPr lang="en-US" sz="1200" dirty="0"/>
                        <a:t>1.271</a:t>
                      </a:r>
                    </a:p>
                  </a:txBody>
                  <a:tcPr anchor="ctr"/>
                </a:tc>
                <a:tc>
                  <a:txBody>
                    <a:bodyPr/>
                    <a:lstStyle/>
                    <a:p>
                      <a:pPr algn="ctr"/>
                      <a:r>
                        <a:rPr lang="en-US" sz="1200" dirty="0"/>
                        <a:t>0.307</a:t>
                      </a:r>
                    </a:p>
                  </a:txBody>
                  <a:tcPr anchor="ctr"/>
                </a:tc>
                <a:tc>
                  <a:txBody>
                    <a:bodyPr/>
                    <a:lstStyle/>
                    <a:p>
                      <a:pPr algn="ctr"/>
                      <a:r>
                        <a:rPr lang="en-US" sz="1200" dirty="0"/>
                        <a:t>0.105</a:t>
                      </a:r>
                    </a:p>
                  </a:txBody>
                  <a:tcPr anchor="ctr"/>
                </a:tc>
                <a:tc>
                  <a:txBody>
                    <a:bodyPr/>
                    <a:lstStyle/>
                    <a:p>
                      <a:pPr algn="ctr"/>
                      <a:r>
                        <a:rPr lang="en-US" sz="1200" dirty="0"/>
                        <a:t>-1.157</a:t>
                      </a:r>
                    </a:p>
                  </a:txBody>
                  <a:tcPr anchor="ctr"/>
                </a:tc>
                <a:extLst>
                  <a:ext uri="{0D108BD9-81ED-4DB2-BD59-A6C34878D82A}">
                    <a16:rowId xmlns:a16="http://schemas.microsoft.com/office/drawing/2014/main" val="3817050502"/>
                  </a:ext>
                </a:extLst>
              </a:tr>
              <a:tr h="395679">
                <a:tc>
                  <a:txBody>
                    <a:bodyPr/>
                    <a:lstStyle/>
                    <a:p>
                      <a:pPr algn="ctr"/>
                      <a:r>
                        <a:rPr lang="en-US" sz="1200" dirty="0"/>
                        <a:t>Individual 3</a:t>
                      </a:r>
                    </a:p>
                  </a:txBody>
                  <a:tcPr anchor="ctr"/>
                </a:tc>
                <a:tc>
                  <a:txBody>
                    <a:bodyPr/>
                    <a:lstStyle/>
                    <a:p>
                      <a:pPr algn="ctr"/>
                      <a:r>
                        <a:rPr lang="en-US" sz="1200" dirty="0"/>
                        <a:t>-0.181</a:t>
                      </a:r>
                    </a:p>
                  </a:txBody>
                  <a:tcPr anchor="ctr"/>
                </a:tc>
                <a:tc>
                  <a:txBody>
                    <a:bodyPr/>
                    <a:lstStyle/>
                    <a:p>
                      <a:pPr algn="ctr"/>
                      <a:r>
                        <a:rPr lang="en-US" sz="1200" dirty="0"/>
                        <a:t>0.307</a:t>
                      </a:r>
                    </a:p>
                  </a:txBody>
                  <a:tcPr anchor="ctr"/>
                </a:tc>
                <a:tc>
                  <a:txBody>
                    <a:bodyPr/>
                    <a:lstStyle/>
                    <a:p>
                      <a:pPr algn="ctr"/>
                      <a:r>
                        <a:rPr lang="en-US" sz="1200" dirty="0"/>
                        <a:t>0.236</a:t>
                      </a:r>
                    </a:p>
                  </a:txBody>
                  <a:tcPr anchor="ctr"/>
                </a:tc>
                <a:tc>
                  <a:txBody>
                    <a:bodyPr/>
                    <a:lstStyle/>
                    <a:p>
                      <a:pPr algn="ctr"/>
                      <a:r>
                        <a:rPr lang="en-US" sz="1200" dirty="0"/>
                        <a:t>-0.026</a:t>
                      </a:r>
                    </a:p>
                  </a:txBody>
                  <a:tcPr anchor="ctr"/>
                </a:tc>
                <a:tc>
                  <a:txBody>
                    <a:bodyPr/>
                    <a:lstStyle/>
                    <a:p>
                      <a:pPr algn="ctr"/>
                      <a:r>
                        <a:rPr lang="en-US" sz="1200" dirty="0"/>
                        <a:t>-0.336</a:t>
                      </a:r>
                    </a:p>
                  </a:txBody>
                  <a:tcPr anchor="ctr"/>
                </a:tc>
                <a:extLst>
                  <a:ext uri="{0D108BD9-81ED-4DB2-BD59-A6C34878D82A}">
                    <a16:rowId xmlns:a16="http://schemas.microsoft.com/office/drawing/2014/main" val="4061852596"/>
                  </a:ext>
                </a:extLst>
              </a:tr>
              <a:tr h="395679">
                <a:tc>
                  <a:txBody>
                    <a:bodyPr/>
                    <a:lstStyle/>
                    <a:p>
                      <a:pPr algn="ctr"/>
                      <a:r>
                        <a:rPr lang="en-US" sz="1200" dirty="0"/>
                        <a:t>Individual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-0.026</a:t>
                      </a:r>
                    </a:p>
                  </a:txBody>
                  <a:tcPr anchor="ctr"/>
                </a:tc>
                <a:tc>
                  <a:txBody>
                    <a:bodyPr/>
                    <a:lstStyle/>
                    <a:p>
                      <a:pPr algn="ctr"/>
                      <a:r>
                        <a:rPr lang="en-US" sz="1200" dirty="0"/>
                        <a:t>0.105</a:t>
                      </a:r>
                    </a:p>
                  </a:txBody>
                  <a:tcPr anchor="ctr"/>
                </a:tc>
                <a:tc>
                  <a:txBody>
                    <a:bodyPr/>
                    <a:lstStyle/>
                    <a:p>
                      <a:pPr algn="ctr"/>
                      <a:r>
                        <a:rPr lang="en-US" sz="1200" dirty="0"/>
                        <a:t>-0.026</a:t>
                      </a:r>
                    </a:p>
                  </a:txBody>
                  <a:tcPr anchor="ctr"/>
                </a:tc>
                <a:tc>
                  <a:txBody>
                    <a:bodyPr/>
                    <a:lstStyle/>
                    <a:p>
                      <a:pPr algn="ctr"/>
                      <a:r>
                        <a:rPr lang="en-US" sz="1200" dirty="0"/>
                        <a:t>0.605</a:t>
                      </a:r>
                    </a:p>
                  </a:txBody>
                  <a:tcPr anchor="ctr"/>
                </a:tc>
                <a:tc>
                  <a:txBody>
                    <a:bodyPr/>
                    <a:lstStyle/>
                    <a:p>
                      <a:pPr algn="ctr"/>
                      <a:r>
                        <a:rPr lang="en-US" sz="1200" dirty="0"/>
                        <a:t>-0.657</a:t>
                      </a:r>
                    </a:p>
                  </a:txBody>
                  <a:tcPr anchor="ctr"/>
                </a:tc>
                <a:extLst>
                  <a:ext uri="{0D108BD9-81ED-4DB2-BD59-A6C34878D82A}">
                    <a16:rowId xmlns:a16="http://schemas.microsoft.com/office/drawing/2014/main" val="1350519049"/>
                  </a:ext>
                </a:extLst>
              </a:tr>
              <a:tr h="395679">
                <a:tc>
                  <a:txBody>
                    <a:bodyPr/>
                    <a:lstStyle/>
                    <a:p>
                      <a:pPr algn="ctr"/>
                      <a:r>
                        <a:rPr lang="en-US" sz="1200" dirty="0"/>
                        <a:t>Individual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0.498</a:t>
                      </a:r>
                    </a:p>
                  </a:txBody>
                  <a:tcPr anchor="ctr"/>
                </a:tc>
                <a:tc>
                  <a:txBody>
                    <a:bodyPr/>
                    <a:lstStyle/>
                    <a:p>
                      <a:pPr algn="ctr"/>
                      <a:r>
                        <a:rPr lang="en-US" sz="1200" dirty="0"/>
                        <a:t>-1.157</a:t>
                      </a:r>
                    </a:p>
                  </a:txBody>
                  <a:tcPr anchor="ctr"/>
                </a:tc>
                <a:tc>
                  <a:txBody>
                    <a:bodyPr/>
                    <a:lstStyle/>
                    <a:p>
                      <a:pPr algn="ctr"/>
                      <a:r>
                        <a:rPr lang="en-US" sz="1200" dirty="0"/>
                        <a:t>-0.336</a:t>
                      </a:r>
                    </a:p>
                  </a:txBody>
                  <a:tcPr anchor="ctr"/>
                </a:tc>
                <a:tc>
                  <a:txBody>
                    <a:bodyPr/>
                    <a:lstStyle/>
                    <a:p>
                      <a:pPr algn="ctr"/>
                      <a:r>
                        <a:rPr lang="en-US" sz="1200" dirty="0"/>
                        <a:t>-0.657</a:t>
                      </a:r>
                    </a:p>
                  </a:txBody>
                  <a:tcPr anchor="ctr"/>
                </a:tc>
                <a:tc>
                  <a:txBody>
                    <a:bodyPr/>
                    <a:lstStyle/>
                    <a:p>
                      <a:pPr algn="ctr"/>
                      <a:r>
                        <a:rPr lang="en-US" sz="1200" dirty="0"/>
                        <a:t>1.652</a:t>
                      </a:r>
                    </a:p>
                  </a:txBody>
                  <a:tcPr anchor="ctr"/>
                </a:tc>
                <a:extLst>
                  <a:ext uri="{0D108BD9-81ED-4DB2-BD59-A6C34878D82A}">
                    <a16:rowId xmlns:a16="http://schemas.microsoft.com/office/drawing/2014/main" val="3523511550"/>
                  </a:ext>
                </a:extLst>
              </a:tr>
            </a:tbl>
          </a:graphicData>
        </a:graphic>
      </p:graphicFrame>
      <p:sp>
        <p:nvSpPr>
          <p:cNvPr id="23" name="TextBox 22">
            <a:extLst>
              <a:ext uri="{FF2B5EF4-FFF2-40B4-BE49-F238E27FC236}">
                <a16:creationId xmlns:a16="http://schemas.microsoft.com/office/drawing/2014/main" id="{CCDEE876-363E-A78B-31B4-EC0F93396428}"/>
              </a:ext>
            </a:extLst>
          </p:cNvPr>
          <p:cNvSpPr txBox="1"/>
          <p:nvPr/>
        </p:nvSpPr>
        <p:spPr>
          <a:xfrm>
            <a:off x="3018715" y="5575377"/>
            <a:ext cx="3524106" cy="369332"/>
          </a:xfrm>
          <a:prstGeom prst="rect">
            <a:avLst/>
          </a:prstGeom>
          <a:noFill/>
        </p:spPr>
        <p:txBody>
          <a:bodyPr wrap="none" rtlCol="0">
            <a:spAutoFit/>
          </a:bodyPr>
          <a:lstStyle/>
          <a:p>
            <a:r>
              <a:rPr lang="en-US" b="1" dirty="0"/>
              <a:t>Genetic Relationship Matrix (GRM)</a:t>
            </a:r>
          </a:p>
        </p:txBody>
      </p:sp>
      <p:sp>
        <p:nvSpPr>
          <p:cNvPr id="6" name="Rounded Rectangle 5">
            <a:extLst>
              <a:ext uri="{FF2B5EF4-FFF2-40B4-BE49-F238E27FC236}">
                <a16:creationId xmlns:a16="http://schemas.microsoft.com/office/drawing/2014/main" id="{27578F8D-A2C1-DABE-AAD7-D1F326BC5EB9}"/>
              </a:ext>
            </a:extLst>
          </p:cNvPr>
          <p:cNvSpPr/>
          <p:nvPr/>
        </p:nvSpPr>
        <p:spPr>
          <a:xfrm>
            <a:off x="743376" y="6577080"/>
            <a:ext cx="1446164" cy="696635"/>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16D2258-9373-7D76-EF9F-C9CEE77F9932}"/>
                  </a:ext>
                </a:extLst>
              </p:cNvPr>
              <p:cNvSpPr txBox="1"/>
              <p:nvPr/>
            </p:nvSpPr>
            <p:spPr>
              <a:xfrm>
                <a:off x="725957" y="6588886"/>
                <a:ext cx="1446165" cy="6521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1" i="1" smtClean="0">
                          <a:latin typeface="Cambria Math" panose="02040503050406030204" pitchFamily="18" charset="0"/>
                        </a:rPr>
                        <m:t>GRM</m:t>
                      </m:r>
                      <m:r>
                        <a:rPr lang="en-US" b="1" i="1" smtClean="0">
                          <a:latin typeface="Cambria Math" panose="02040503050406030204" pitchFamily="18" charset="0"/>
                        </a:rPr>
                        <m:t>=</m:t>
                      </m:r>
                      <m:f>
                        <m:fPr>
                          <m:ctrlPr>
                            <a:rPr lang="en-US" b="1" i="1" smtClean="0">
                              <a:latin typeface="Cambria Math" panose="02040503050406030204" pitchFamily="18" charset="0"/>
                            </a:rPr>
                          </m:ctrlPr>
                        </m:fPr>
                        <m:num>
                          <m:sSup>
                            <m:sSupPr>
                              <m:ctrlPr>
                                <a:rPr lang="en-US" b="1" i="1" smtClean="0">
                                  <a:latin typeface="Cambria Math" panose="02040503050406030204" pitchFamily="18" charset="0"/>
                                </a:rPr>
                              </m:ctrlPr>
                            </m:sSupPr>
                            <m:e>
                              <m:r>
                                <a:rPr lang="en-US" b="1" i="1">
                                  <a:latin typeface="Cambria Math" panose="02040503050406030204" pitchFamily="18" charset="0"/>
                                </a:rPr>
                                <m:t>𝑿</m:t>
                              </m:r>
                              <m:r>
                                <a:rPr lang="en-US" b="1" i="1" smtClean="0">
                                  <a:latin typeface="Cambria Math" panose="02040503050406030204" pitchFamily="18" charset="0"/>
                                </a:rPr>
                                <m:t>𝑿</m:t>
                              </m:r>
                            </m:e>
                            <m:sup>
                              <m:r>
                                <a:rPr lang="en-US" b="1" i="1" smtClean="0">
                                  <a:latin typeface="Cambria Math" panose="02040503050406030204" pitchFamily="18" charset="0"/>
                                </a:rPr>
                                <m:t>𝑻</m:t>
                              </m:r>
                            </m:sup>
                          </m:sSup>
                        </m:num>
                        <m:den>
                          <m:r>
                            <a:rPr lang="en-US" b="1" i="1" smtClean="0">
                              <a:latin typeface="Cambria Math" panose="02040503050406030204" pitchFamily="18" charset="0"/>
                            </a:rPr>
                            <m:t>𝑴</m:t>
                          </m:r>
                        </m:den>
                      </m:f>
                    </m:oMath>
                  </m:oMathPara>
                </a14:m>
                <a:endParaRPr lang="en-US" b="1" dirty="0"/>
              </a:p>
            </p:txBody>
          </p:sp>
        </mc:Choice>
        <mc:Fallback xmlns="">
          <p:sp>
            <p:nvSpPr>
              <p:cNvPr id="10" name="TextBox 9">
                <a:extLst>
                  <a:ext uri="{FF2B5EF4-FFF2-40B4-BE49-F238E27FC236}">
                    <a16:creationId xmlns:a16="http://schemas.microsoft.com/office/drawing/2014/main" id="{116D2258-9373-7D76-EF9F-C9CEE77F9932}"/>
                  </a:ext>
                </a:extLst>
              </p:cNvPr>
              <p:cNvSpPr txBox="1">
                <a:spLocks noRot="1" noChangeAspect="1" noMove="1" noResize="1" noEditPoints="1" noAdjustHandles="1" noChangeArrowheads="1" noChangeShapeType="1" noTextEdit="1"/>
              </p:cNvSpPr>
              <p:nvPr/>
            </p:nvSpPr>
            <p:spPr>
              <a:xfrm>
                <a:off x="725957" y="6588886"/>
                <a:ext cx="1446165" cy="652102"/>
              </a:xfrm>
              <a:prstGeom prst="rect">
                <a:avLst/>
              </a:prstGeom>
              <a:blipFill>
                <a:blip r:embed="rId12"/>
                <a:stretch>
                  <a:fillRect b="-3774"/>
                </a:stretch>
              </a:blipFill>
            </p:spPr>
            <p:txBody>
              <a:bodyPr/>
              <a:lstStyle/>
              <a:p>
                <a:r>
                  <a:rPr lang="en-US">
                    <a:noFill/>
                  </a:rPr>
                  <a:t> </a:t>
                </a:r>
              </a:p>
            </p:txBody>
          </p:sp>
        </mc:Fallback>
      </mc:AlternateContent>
    </p:spTree>
    <p:extLst>
      <p:ext uri="{BB962C8B-B14F-4D97-AF65-F5344CB8AC3E}">
        <p14:creationId xmlns:p14="http://schemas.microsoft.com/office/powerpoint/2010/main" val="171717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ounded Rectangle 56">
            <a:extLst>
              <a:ext uri="{FF2B5EF4-FFF2-40B4-BE49-F238E27FC236}">
                <a16:creationId xmlns:a16="http://schemas.microsoft.com/office/drawing/2014/main" id="{46CF7A03-4C92-B025-75B5-613B0054C4B2}"/>
              </a:ext>
            </a:extLst>
          </p:cNvPr>
          <p:cNvSpPr/>
          <p:nvPr/>
        </p:nvSpPr>
        <p:spPr>
          <a:xfrm>
            <a:off x="4718457" y="788653"/>
            <a:ext cx="4023092" cy="332421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Rounded Rectangle 1">
            <a:extLst>
              <a:ext uri="{FF2B5EF4-FFF2-40B4-BE49-F238E27FC236}">
                <a16:creationId xmlns:a16="http://schemas.microsoft.com/office/drawing/2014/main" id="{47F16303-8982-EE8C-7D78-1466CBC5E774}"/>
              </a:ext>
            </a:extLst>
          </p:cNvPr>
          <p:cNvSpPr/>
          <p:nvPr/>
        </p:nvSpPr>
        <p:spPr>
          <a:xfrm>
            <a:off x="402452" y="4527359"/>
            <a:ext cx="3952679" cy="382798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 name="TextBox 2">
            <a:extLst>
              <a:ext uri="{FF2B5EF4-FFF2-40B4-BE49-F238E27FC236}">
                <a16:creationId xmlns:a16="http://schemas.microsoft.com/office/drawing/2014/main" id="{91542E76-FFF2-AB24-44A9-EBB13578D4CB}"/>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Single Marker Linear Regression and OLS</a:t>
            </a:r>
          </a:p>
        </p:txBody>
      </p:sp>
      <p:sp>
        <p:nvSpPr>
          <p:cNvPr id="9" name="Rounded Rectangle 8">
            <a:extLst>
              <a:ext uri="{FF2B5EF4-FFF2-40B4-BE49-F238E27FC236}">
                <a16:creationId xmlns:a16="http://schemas.microsoft.com/office/drawing/2014/main" id="{D1945AAA-5D87-E427-4324-CFFB0AD01246}"/>
              </a:ext>
            </a:extLst>
          </p:cNvPr>
          <p:cNvSpPr/>
          <p:nvPr/>
        </p:nvSpPr>
        <p:spPr>
          <a:xfrm>
            <a:off x="402451" y="788653"/>
            <a:ext cx="3952680" cy="332421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TextBox 9">
            <a:extLst>
              <a:ext uri="{FF2B5EF4-FFF2-40B4-BE49-F238E27FC236}">
                <a16:creationId xmlns:a16="http://schemas.microsoft.com/office/drawing/2014/main" id="{ECA50362-9EF5-38FE-E9FF-A24FC49BF568}"/>
              </a:ext>
            </a:extLst>
          </p:cNvPr>
          <p:cNvSpPr txBox="1"/>
          <p:nvPr/>
        </p:nvSpPr>
        <p:spPr>
          <a:xfrm>
            <a:off x="168197" y="859454"/>
            <a:ext cx="4475988" cy="369332"/>
          </a:xfrm>
          <a:prstGeom prst="rect">
            <a:avLst/>
          </a:prstGeom>
          <a:noFill/>
        </p:spPr>
        <p:txBody>
          <a:bodyPr wrap="square" rtlCol="0" anchor="ctr">
            <a:spAutoFit/>
          </a:bodyPr>
          <a:lstStyle/>
          <a:p>
            <a:pPr algn="ctr"/>
            <a:r>
              <a:rPr lang="en-US" b="1" dirty="0"/>
              <a:t>Single Variant Regression</a:t>
            </a:r>
          </a:p>
        </p:txBody>
      </p:sp>
      <p:sp>
        <p:nvSpPr>
          <p:cNvPr id="18" name="Rounded Rectangle 17">
            <a:extLst>
              <a:ext uri="{FF2B5EF4-FFF2-40B4-BE49-F238E27FC236}">
                <a16:creationId xmlns:a16="http://schemas.microsoft.com/office/drawing/2014/main" id="{1E309D4E-789B-D918-E065-B551B2B34C48}"/>
              </a:ext>
            </a:extLst>
          </p:cNvPr>
          <p:cNvSpPr/>
          <p:nvPr/>
        </p:nvSpPr>
        <p:spPr>
          <a:xfrm>
            <a:off x="1024117" y="1395303"/>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TextBox 18">
            <a:extLst>
              <a:ext uri="{FF2B5EF4-FFF2-40B4-BE49-F238E27FC236}">
                <a16:creationId xmlns:a16="http://schemas.microsoft.com/office/drawing/2014/main" id="{7BB31A0D-5C03-B87F-145E-6D738D9AC999}"/>
              </a:ext>
            </a:extLst>
          </p:cNvPr>
          <p:cNvSpPr txBox="1"/>
          <p:nvPr/>
        </p:nvSpPr>
        <p:spPr>
          <a:xfrm>
            <a:off x="1463867" y="2138997"/>
            <a:ext cx="300082" cy="369332"/>
          </a:xfrm>
          <a:prstGeom prst="rect">
            <a:avLst/>
          </a:prstGeom>
          <a:noFill/>
        </p:spPr>
        <p:txBody>
          <a:bodyPr wrap="none" rtlCol="0">
            <a:spAutoFit/>
          </a:bodyPr>
          <a:lstStyle/>
          <a:p>
            <a:r>
              <a:rPr lang="en-US" dirty="0"/>
              <a:t>=</a:t>
            </a:r>
          </a:p>
        </p:txBody>
      </p:sp>
      <p:sp>
        <p:nvSpPr>
          <p:cNvPr id="20" name="Rounded Rectangle 19">
            <a:extLst>
              <a:ext uri="{FF2B5EF4-FFF2-40B4-BE49-F238E27FC236}">
                <a16:creationId xmlns:a16="http://schemas.microsoft.com/office/drawing/2014/main" id="{4CD0D2A1-9F83-C196-6174-A667D52F2C73}"/>
              </a:ext>
            </a:extLst>
          </p:cNvPr>
          <p:cNvSpPr/>
          <p:nvPr/>
        </p:nvSpPr>
        <p:spPr>
          <a:xfrm>
            <a:off x="1973352" y="1395303"/>
            <a:ext cx="286187" cy="1856721"/>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21" name="Rounded Rectangle 20">
                <a:extLst>
                  <a:ext uri="{FF2B5EF4-FFF2-40B4-BE49-F238E27FC236}">
                    <a16:creationId xmlns:a16="http://schemas.microsoft.com/office/drawing/2014/main" id="{E8130970-1FF4-5E40-9281-96412FDE2B2B}"/>
                  </a:ext>
                </a:extLst>
              </p:cNvPr>
              <p:cNvSpPr/>
              <p:nvPr/>
            </p:nvSpPr>
            <p:spPr>
              <a:xfrm>
                <a:off x="3530561" y="1394656"/>
                <a:ext cx="286187" cy="1856721"/>
              </a:xfrm>
              <a:prstGeom prst="round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𝜀</m:t>
                      </m:r>
                    </m:oMath>
                  </m:oMathPara>
                </a14:m>
                <a:endParaRPr lang="en-US" dirty="0">
                  <a:solidFill>
                    <a:schemeClr val="tx1"/>
                  </a:solidFill>
                </a:endParaRPr>
              </a:p>
            </p:txBody>
          </p:sp>
        </mc:Choice>
        <mc:Fallback xmlns="">
          <p:sp>
            <p:nvSpPr>
              <p:cNvPr id="21" name="Rounded Rectangle 20">
                <a:extLst>
                  <a:ext uri="{FF2B5EF4-FFF2-40B4-BE49-F238E27FC236}">
                    <a16:creationId xmlns:a16="http://schemas.microsoft.com/office/drawing/2014/main" id="{E8130970-1FF4-5E40-9281-96412FDE2B2B}"/>
                  </a:ext>
                </a:extLst>
              </p:cNvPr>
              <p:cNvSpPr>
                <a:spLocks noRot="1" noChangeAspect="1" noMove="1" noResize="1" noEditPoints="1" noAdjustHandles="1" noChangeArrowheads="1" noChangeShapeType="1" noTextEdit="1"/>
              </p:cNvSpPr>
              <p:nvPr/>
            </p:nvSpPr>
            <p:spPr>
              <a:xfrm>
                <a:off x="3530561" y="1394656"/>
                <a:ext cx="286187" cy="1856721"/>
              </a:xfrm>
              <a:prstGeom prst="roundRect">
                <a:avLst/>
              </a:prstGeom>
              <a:blipFill>
                <a:blip r:embed="rId2"/>
                <a:stretch>
                  <a:fillRect/>
                </a:stretch>
              </a:blipFill>
              <a:ln>
                <a:solidFill>
                  <a:schemeClr val="bg1">
                    <a:lumMod val="65000"/>
                  </a:schemeClr>
                </a:solidFill>
              </a:ln>
            </p:spPr>
            <p:txBody>
              <a:bodyPr/>
              <a:lstStyle/>
              <a:p>
                <a:r>
                  <a:rPr lang="en-US">
                    <a:noFill/>
                  </a:rPr>
                  <a:t> </a:t>
                </a:r>
              </a:p>
            </p:txBody>
          </p:sp>
        </mc:Fallback>
      </mc:AlternateContent>
      <p:sp>
        <p:nvSpPr>
          <p:cNvPr id="23" name="TextBox 22">
            <a:extLst>
              <a:ext uri="{FF2B5EF4-FFF2-40B4-BE49-F238E27FC236}">
                <a16:creationId xmlns:a16="http://schemas.microsoft.com/office/drawing/2014/main" id="{927903E3-F464-04DF-A692-078C4085A8BE}"/>
              </a:ext>
            </a:extLst>
          </p:cNvPr>
          <p:cNvSpPr txBox="1"/>
          <p:nvPr/>
        </p:nvSpPr>
        <p:spPr>
          <a:xfrm>
            <a:off x="3134556" y="2138996"/>
            <a:ext cx="300082"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B1157A8-9D2D-3C91-724A-4CDA38177C10}"/>
                  </a:ext>
                </a:extLst>
              </p:cNvPr>
              <p:cNvSpPr txBox="1"/>
              <p:nvPr/>
            </p:nvSpPr>
            <p:spPr>
              <a:xfrm>
                <a:off x="1013428" y="3362220"/>
                <a:ext cx="450439"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Trait</a:t>
                </a:r>
              </a:p>
            </p:txBody>
          </p:sp>
        </mc:Choice>
        <mc:Fallback xmlns="">
          <p:sp>
            <p:nvSpPr>
              <p:cNvPr id="24" name="TextBox 23">
                <a:extLst>
                  <a:ext uri="{FF2B5EF4-FFF2-40B4-BE49-F238E27FC236}">
                    <a16:creationId xmlns:a16="http://schemas.microsoft.com/office/drawing/2014/main" id="{DB1157A8-9D2D-3C91-724A-4CDA38177C10}"/>
                  </a:ext>
                </a:extLst>
              </p:cNvPr>
              <p:cNvSpPr txBox="1">
                <a:spLocks noRot="1" noChangeAspect="1" noMove="1" noResize="1" noEditPoints="1" noAdjustHandles="1" noChangeArrowheads="1" noChangeShapeType="1" noTextEdit="1"/>
              </p:cNvSpPr>
              <p:nvPr/>
            </p:nvSpPr>
            <p:spPr>
              <a:xfrm>
                <a:off x="1013428" y="3362220"/>
                <a:ext cx="450439" cy="400110"/>
              </a:xfrm>
              <a:prstGeom prst="rect">
                <a:avLst/>
              </a:prstGeom>
              <a:blipFill>
                <a:blip r:embed="rId3"/>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E7B27FA-5C6E-0D10-5436-2152EBCC6E13}"/>
                  </a:ext>
                </a:extLst>
              </p:cNvPr>
              <p:cNvSpPr txBox="1"/>
              <p:nvPr/>
            </p:nvSpPr>
            <p:spPr>
              <a:xfrm>
                <a:off x="1660881" y="3362220"/>
                <a:ext cx="745310"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i="1">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Genotype</a:t>
                </a:r>
              </a:p>
            </p:txBody>
          </p:sp>
        </mc:Choice>
        <mc:Fallback xmlns="">
          <p:sp>
            <p:nvSpPr>
              <p:cNvPr id="25" name="TextBox 24">
                <a:extLst>
                  <a:ext uri="{FF2B5EF4-FFF2-40B4-BE49-F238E27FC236}">
                    <a16:creationId xmlns:a16="http://schemas.microsoft.com/office/drawing/2014/main" id="{DE7B27FA-5C6E-0D10-5436-2152EBCC6E13}"/>
                  </a:ext>
                </a:extLst>
              </p:cNvPr>
              <p:cNvSpPr txBox="1">
                <a:spLocks noRot="1" noChangeAspect="1" noMove="1" noResize="1" noEditPoints="1" noAdjustHandles="1" noChangeArrowheads="1" noChangeShapeType="1" noTextEdit="1"/>
              </p:cNvSpPr>
              <p:nvPr/>
            </p:nvSpPr>
            <p:spPr>
              <a:xfrm>
                <a:off x="1660881" y="3362220"/>
                <a:ext cx="745310" cy="400110"/>
              </a:xfrm>
              <a:prstGeom prst="rect">
                <a:avLst/>
              </a:prstGeom>
              <a:blipFill>
                <a:blip r:embed="rId4"/>
                <a:stretch>
                  <a:fillRect b="-6061"/>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4AF686E6-BC57-0CA3-4CB5-09D65579E03E}"/>
              </a:ext>
            </a:extLst>
          </p:cNvPr>
          <p:cNvSpPr txBox="1"/>
          <p:nvPr/>
        </p:nvSpPr>
        <p:spPr>
          <a:xfrm>
            <a:off x="2299622" y="3365184"/>
            <a:ext cx="1001682" cy="553998"/>
          </a:xfrm>
          <a:prstGeom prst="rect">
            <a:avLst/>
          </a:prstGeom>
          <a:noFill/>
        </p:spPr>
        <p:txBody>
          <a:bodyPr wrap="square" rtlCol="0">
            <a:spAutoFit/>
          </a:bodyPr>
          <a:lstStyle/>
          <a:p>
            <a:pPr algn="ctr"/>
            <a:r>
              <a:rPr lang="en-US" sz="1000" dirty="0"/>
              <a:t>scalar</a:t>
            </a:r>
          </a:p>
          <a:p>
            <a:pPr algn="ctr"/>
            <a:r>
              <a:rPr lang="en-US" sz="1000" dirty="0"/>
              <a:t>Genetic</a:t>
            </a:r>
          </a:p>
          <a:p>
            <a:pPr algn="ctr"/>
            <a:r>
              <a:rPr lang="en-US" sz="1000" dirty="0"/>
              <a:t>Effect</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73A43FF-E2AB-654B-BBE1-70D1FE8878FF}"/>
                  </a:ext>
                </a:extLst>
              </p:cNvPr>
              <p:cNvSpPr txBox="1"/>
              <p:nvPr/>
            </p:nvSpPr>
            <p:spPr>
              <a:xfrm>
                <a:off x="3354459" y="3362220"/>
                <a:ext cx="745310"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Error</a:t>
                </a:r>
              </a:p>
            </p:txBody>
          </p:sp>
        </mc:Choice>
        <mc:Fallback xmlns="">
          <p:sp>
            <p:nvSpPr>
              <p:cNvPr id="28" name="TextBox 27">
                <a:extLst>
                  <a:ext uri="{FF2B5EF4-FFF2-40B4-BE49-F238E27FC236}">
                    <a16:creationId xmlns:a16="http://schemas.microsoft.com/office/drawing/2014/main" id="{173A43FF-E2AB-654B-BBE1-70D1FE8878FF}"/>
                  </a:ext>
                </a:extLst>
              </p:cNvPr>
              <p:cNvSpPr txBox="1">
                <a:spLocks noRot="1" noChangeAspect="1" noMove="1" noResize="1" noEditPoints="1" noAdjustHandles="1" noChangeArrowheads="1" noChangeShapeType="1" noTextEdit="1"/>
              </p:cNvSpPr>
              <p:nvPr/>
            </p:nvSpPr>
            <p:spPr>
              <a:xfrm>
                <a:off x="3354459" y="3362220"/>
                <a:ext cx="745310" cy="400110"/>
              </a:xfrm>
              <a:prstGeom prst="rect">
                <a:avLst/>
              </a:prstGeom>
              <a:blipFill>
                <a:blip r:embed="rId5"/>
                <a:stretch>
                  <a:fillRect b="-6061"/>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34DA3C6F-D385-C4E4-2D2C-C2D803B5999B}"/>
              </a:ext>
            </a:extLst>
          </p:cNvPr>
          <p:cNvGrpSpPr/>
          <p:nvPr/>
        </p:nvGrpSpPr>
        <p:grpSpPr>
          <a:xfrm>
            <a:off x="2578271" y="2138995"/>
            <a:ext cx="490169" cy="379843"/>
            <a:chOff x="4744080" y="2138995"/>
            <a:chExt cx="490169" cy="379843"/>
          </a:xfrm>
        </p:grpSpPr>
        <p:sp>
          <p:nvSpPr>
            <p:cNvPr id="22" name="Rounded Rectangle 21">
              <a:extLst>
                <a:ext uri="{FF2B5EF4-FFF2-40B4-BE49-F238E27FC236}">
                  <a16:creationId xmlns:a16="http://schemas.microsoft.com/office/drawing/2014/main" id="{83C03071-FE89-D5D0-B1E5-69CB762979E9}"/>
                </a:ext>
              </a:extLst>
            </p:cNvPr>
            <p:cNvSpPr/>
            <p:nvPr/>
          </p:nvSpPr>
          <p:spPr>
            <a:xfrm>
              <a:off x="4828327" y="2177114"/>
              <a:ext cx="286187" cy="293097"/>
            </a:xfrm>
            <a:prstGeom prst="round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2AB21CB-3C0B-0C46-E8FE-4FA81DB9261C}"/>
                    </a:ext>
                  </a:extLst>
                </p:cNvPr>
                <p:cNvSpPr txBox="1"/>
                <p:nvPr/>
              </p:nvSpPr>
              <p:spPr>
                <a:xfrm>
                  <a:off x="4744080" y="2138995"/>
                  <a:ext cx="490169" cy="3798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𝛽</m:t>
                        </m:r>
                      </m:oMath>
                    </m:oMathPara>
                  </a14:m>
                  <a:endParaRPr lang="en-US" dirty="0"/>
                </a:p>
              </p:txBody>
            </p:sp>
          </mc:Choice>
          <mc:Fallback xmlns="">
            <p:sp>
              <p:nvSpPr>
                <p:cNvPr id="30" name="TextBox 29">
                  <a:extLst>
                    <a:ext uri="{FF2B5EF4-FFF2-40B4-BE49-F238E27FC236}">
                      <a16:creationId xmlns:a16="http://schemas.microsoft.com/office/drawing/2014/main" id="{12AB21CB-3C0B-0C46-E8FE-4FA81DB9261C}"/>
                    </a:ext>
                  </a:extLst>
                </p:cNvPr>
                <p:cNvSpPr txBox="1">
                  <a:spLocks noRot="1" noChangeAspect="1" noMove="1" noResize="1" noEditPoints="1" noAdjustHandles="1" noChangeArrowheads="1" noChangeShapeType="1" noTextEdit="1"/>
                </p:cNvSpPr>
                <p:nvPr/>
              </p:nvSpPr>
              <p:spPr>
                <a:xfrm>
                  <a:off x="4744080" y="2138995"/>
                  <a:ext cx="490169" cy="379843"/>
                </a:xfrm>
                <a:prstGeom prst="rect">
                  <a:avLst/>
                </a:prstGeom>
                <a:blipFill>
                  <a:blip r:embed="rId6"/>
                  <a:stretch>
                    <a:fillRect b="-967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EDF5CCD-C126-FF1D-CD9C-68EA0430E0BB}"/>
                  </a:ext>
                </a:extLst>
              </p:cNvPr>
              <p:cNvSpPr txBox="1"/>
              <p:nvPr/>
            </p:nvSpPr>
            <p:spPr>
              <a:xfrm>
                <a:off x="1688089" y="2127193"/>
                <a:ext cx="893237"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oMath>
                  </m:oMathPara>
                </a14:m>
                <a:endParaRPr lang="en-US" dirty="0"/>
              </a:p>
            </p:txBody>
          </p:sp>
        </mc:Choice>
        <mc:Fallback xmlns="">
          <p:sp>
            <p:nvSpPr>
              <p:cNvPr id="32" name="TextBox 31">
                <a:extLst>
                  <a:ext uri="{FF2B5EF4-FFF2-40B4-BE49-F238E27FC236}">
                    <a16:creationId xmlns:a16="http://schemas.microsoft.com/office/drawing/2014/main" id="{8EDF5CCD-C126-FF1D-CD9C-68EA0430E0BB}"/>
                  </a:ext>
                </a:extLst>
              </p:cNvPr>
              <p:cNvSpPr txBox="1">
                <a:spLocks noRot="1" noChangeAspect="1" noMove="1" noResize="1" noEditPoints="1" noAdjustHandles="1" noChangeArrowheads="1" noChangeShapeType="1" noTextEdit="1"/>
              </p:cNvSpPr>
              <p:nvPr/>
            </p:nvSpPr>
            <p:spPr>
              <a:xfrm>
                <a:off x="1688089" y="2127193"/>
                <a:ext cx="893237" cy="391646"/>
              </a:xfrm>
              <a:prstGeom prst="rect">
                <a:avLst/>
              </a:prstGeom>
              <a:blipFill>
                <a:blip r:embed="rId7"/>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F777E7A-A44A-7EAB-5480-CD35E22EB1DB}"/>
                  </a:ext>
                </a:extLst>
              </p:cNvPr>
              <p:cNvSpPr txBox="1"/>
              <p:nvPr/>
            </p:nvSpPr>
            <p:spPr>
              <a:xfrm>
                <a:off x="886264" y="2151106"/>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4" name="TextBox 33">
                <a:extLst>
                  <a:ext uri="{FF2B5EF4-FFF2-40B4-BE49-F238E27FC236}">
                    <a16:creationId xmlns:a16="http://schemas.microsoft.com/office/drawing/2014/main" id="{2F777E7A-A44A-7EAB-5480-CD35E22EB1DB}"/>
                  </a:ext>
                </a:extLst>
              </p:cNvPr>
              <p:cNvSpPr txBox="1">
                <a:spLocks noRot="1" noChangeAspect="1" noMove="1" noResize="1" noEditPoints="1" noAdjustHandles="1" noChangeArrowheads="1" noChangeShapeType="1" noTextEdit="1"/>
              </p:cNvSpPr>
              <p:nvPr/>
            </p:nvSpPr>
            <p:spPr>
              <a:xfrm>
                <a:off x="886264" y="2151106"/>
                <a:ext cx="592422" cy="369332"/>
              </a:xfrm>
              <a:prstGeom prst="rect">
                <a:avLst/>
              </a:prstGeom>
              <a:blipFill>
                <a:blip r:embed="rId8"/>
                <a:stretch>
                  <a:fillRect/>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4D5B4E45-F2B3-0AF2-5450-32868A61C664}"/>
              </a:ext>
            </a:extLst>
          </p:cNvPr>
          <p:cNvGrpSpPr/>
          <p:nvPr/>
        </p:nvGrpSpPr>
        <p:grpSpPr>
          <a:xfrm>
            <a:off x="4860474" y="2247815"/>
            <a:ext cx="490169" cy="384336"/>
            <a:chOff x="4744080" y="2138995"/>
            <a:chExt cx="490169" cy="384336"/>
          </a:xfrm>
        </p:grpSpPr>
        <p:sp>
          <p:nvSpPr>
            <p:cNvPr id="39" name="Rounded Rectangle 38">
              <a:extLst>
                <a:ext uri="{FF2B5EF4-FFF2-40B4-BE49-F238E27FC236}">
                  <a16:creationId xmlns:a16="http://schemas.microsoft.com/office/drawing/2014/main" id="{EE7BE836-0A13-7E67-0C5D-5007DB723653}"/>
                </a:ext>
              </a:extLst>
            </p:cNvPr>
            <p:cNvSpPr/>
            <p:nvPr/>
          </p:nvSpPr>
          <p:spPr>
            <a:xfrm>
              <a:off x="4828327" y="2177114"/>
              <a:ext cx="286187" cy="293097"/>
            </a:xfrm>
            <a:prstGeom prst="round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F2594E4-BA98-059A-ABD1-EF7F1A418F54}"/>
                    </a:ext>
                  </a:extLst>
                </p:cNvPr>
                <p:cNvSpPr txBox="1"/>
                <p:nvPr/>
              </p:nvSpPr>
              <p:spPr>
                <a:xfrm>
                  <a:off x="4744080" y="2138995"/>
                  <a:ext cx="490169" cy="3843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latin typeface="Cambria Math" panose="02040503050406030204" pitchFamily="18" charset="0"/>
                                <a:ea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𝛽</m:t>
                            </m:r>
                          </m:e>
                        </m:acc>
                      </m:oMath>
                    </m:oMathPara>
                  </a14:m>
                  <a:endParaRPr lang="en-US" dirty="0"/>
                </a:p>
              </p:txBody>
            </p:sp>
          </mc:Choice>
          <mc:Fallback xmlns="">
            <p:sp>
              <p:nvSpPr>
                <p:cNvPr id="40" name="TextBox 39">
                  <a:extLst>
                    <a:ext uri="{FF2B5EF4-FFF2-40B4-BE49-F238E27FC236}">
                      <a16:creationId xmlns:a16="http://schemas.microsoft.com/office/drawing/2014/main" id="{DF2594E4-BA98-059A-ABD1-EF7F1A418F54}"/>
                    </a:ext>
                  </a:extLst>
                </p:cNvPr>
                <p:cNvSpPr txBox="1">
                  <a:spLocks noRot="1" noChangeAspect="1" noMove="1" noResize="1" noEditPoints="1" noAdjustHandles="1" noChangeArrowheads="1" noChangeShapeType="1" noTextEdit="1"/>
                </p:cNvSpPr>
                <p:nvPr/>
              </p:nvSpPr>
              <p:spPr>
                <a:xfrm>
                  <a:off x="4744080" y="2138995"/>
                  <a:ext cx="490169" cy="384336"/>
                </a:xfrm>
                <a:prstGeom prst="rect">
                  <a:avLst/>
                </a:prstGeom>
                <a:blipFill>
                  <a:blip r:embed="rId9"/>
                  <a:stretch>
                    <a:fillRect t="-6452" b="-12903"/>
                  </a:stretch>
                </a:blipFill>
              </p:spPr>
              <p:txBody>
                <a:bodyPr/>
                <a:lstStyle/>
                <a:p>
                  <a:r>
                    <a:rPr lang="en-US">
                      <a:noFill/>
                    </a:rPr>
                    <a:t> </a:t>
                  </a:r>
                </a:p>
              </p:txBody>
            </p:sp>
          </mc:Fallback>
        </mc:AlternateContent>
      </p:grpSp>
      <p:sp>
        <p:nvSpPr>
          <p:cNvPr id="41" name="TextBox 40">
            <a:extLst>
              <a:ext uri="{FF2B5EF4-FFF2-40B4-BE49-F238E27FC236}">
                <a16:creationId xmlns:a16="http://schemas.microsoft.com/office/drawing/2014/main" id="{D565D144-90B5-6594-A8F6-09D7091BA7EF}"/>
              </a:ext>
            </a:extLst>
          </p:cNvPr>
          <p:cNvSpPr txBox="1"/>
          <p:nvPr/>
        </p:nvSpPr>
        <p:spPr>
          <a:xfrm>
            <a:off x="5207578" y="2258326"/>
            <a:ext cx="300082" cy="369332"/>
          </a:xfrm>
          <a:prstGeom prst="rect">
            <a:avLst/>
          </a:prstGeom>
          <a:noFill/>
        </p:spPr>
        <p:txBody>
          <a:bodyPr wrap="none" rtlCol="0">
            <a:spAutoFit/>
          </a:bodyPr>
          <a:lstStyle/>
          <a:p>
            <a:r>
              <a:rPr lang="en-US" dirty="0"/>
              <a:t>=</a:t>
            </a:r>
          </a:p>
        </p:txBody>
      </p:sp>
      <p:sp>
        <p:nvSpPr>
          <p:cNvPr id="42" name="Rounded Rectangle 41">
            <a:extLst>
              <a:ext uri="{FF2B5EF4-FFF2-40B4-BE49-F238E27FC236}">
                <a16:creationId xmlns:a16="http://schemas.microsoft.com/office/drawing/2014/main" id="{F4C36C40-50E4-F125-725D-E9D78F92B394}"/>
              </a:ext>
            </a:extLst>
          </p:cNvPr>
          <p:cNvSpPr/>
          <p:nvPr/>
        </p:nvSpPr>
        <p:spPr>
          <a:xfrm rot="5400000">
            <a:off x="6953988" y="1520300"/>
            <a:ext cx="286187" cy="1856721"/>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BA5DE1E-8E53-D3E9-734A-D9BA92A98352}"/>
                  </a:ext>
                </a:extLst>
              </p:cNvPr>
              <p:cNvSpPr txBox="1"/>
              <p:nvPr/>
            </p:nvSpPr>
            <p:spPr>
              <a:xfrm>
                <a:off x="6546253" y="2238899"/>
                <a:ext cx="1037968" cy="429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𝑗</m:t>
                          </m:r>
                        </m:sub>
                        <m:sup>
                          <m:r>
                            <a:rPr lang="en-US" b="0" i="1" smtClean="0">
                              <a:latin typeface="Cambria Math" panose="02040503050406030204" pitchFamily="18" charset="0"/>
                            </a:rPr>
                            <m:t>𝑇</m:t>
                          </m:r>
                        </m:sup>
                      </m:sSubSup>
                    </m:oMath>
                  </m:oMathPara>
                </a14:m>
                <a:endParaRPr lang="en-US" dirty="0"/>
              </a:p>
            </p:txBody>
          </p:sp>
        </mc:Choice>
        <mc:Fallback xmlns="">
          <p:sp>
            <p:nvSpPr>
              <p:cNvPr id="46" name="TextBox 45">
                <a:extLst>
                  <a:ext uri="{FF2B5EF4-FFF2-40B4-BE49-F238E27FC236}">
                    <a16:creationId xmlns:a16="http://schemas.microsoft.com/office/drawing/2014/main" id="{0BA5DE1E-8E53-D3E9-734A-D9BA92A98352}"/>
                  </a:ext>
                </a:extLst>
              </p:cNvPr>
              <p:cNvSpPr txBox="1">
                <a:spLocks noRot="1" noChangeAspect="1" noMove="1" noResize="1" noEditPoints="1" noAdjustHandles="1" noChangeArrowheads="1" noChangeShapeType="1" noTextEdit="1"/>
              </p:cNvSpPr>
              <p:nvPr/>
            </p:nvSpPr>
            <p:spPr>
              <a:xfrm>
                <a:off x="6546253" y="2238899"/>
                <a:ext cx="1037968" cy="429852"/>
              </a:xfrm>
              <a:prstGeom prst="rect">
                <a:avLst/>
              </a:prstGeom>
              <a:blipFill>
                <a:blip r:embed="rId10"/>
                <a:stretch>
                  <a:fillRect/>
                </a:stretch>
              </a:blipFill>
            </p:spPr>
            <p:txBody>
              <a:bodyPr/>
              <a:lstStyle/>
              <a:p>
                <a:r>
                  <a:rPr lang="en-US">
                    <a:noFill/>
                  </a:rPr>
                  <a:t> </a:t>
                </a:r>
              </a:p>
            </p:txBody>
          </p:sp>
        </mc:Fallback>
      </mc:AlternateContent>
      <p:sp>
        <p:nvSpPr>
          <p:cNvPr id="48" name="Rounded Rectangle 47">
            <a:extLst>
              <a:ext uri="{FF2B5EF4-FFF2-40B4-BE49-F238E27FC236}">
                <a16:creationId xmlns:a16="http://schemas.microsoft.com/office/drawing/2014/main" id="{01D459BA-D79E-B149-FD9C-019F5A30863A}"/>
              </a:ext>
            </a:extLst>
          </p:cNvPr>
          <p:cNvSpPr/>
          <p:nvPr/>
        </p:nvSpPr>
        <p:spPr>
          <a:xfrm>
            <a:off x="5494512" y="2247814"/>
            <a:ext cx="513875" cy="400109"/>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545DBEE-E2E9-9DF3-213C-EE74376AE7E6}"/>
                  </a:ext>
                </a:extLst>
              </p:cNvPr>
              <p:cNvSpPr txBox="1"/>
              <p:nvPr/>
            </p:nvSpPr>
            <p:spPr>
              <a:xfrm>
                <a:off x="5359709" y="2303652"/>
                <a:ext cx="799713" cy="281103"/>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050" i="1">
                              <a:latin typeface="Cambria Math" panose="02040503050406030204" pitchFamily="18" charset="0"/>
                            </a:rPr>
                          </m:ctrlPr>
                        </m:sSupPr>
                        <m:e>
                          <m:r>
                            <a:rPr lang="en-US" sz="1050" i="1">
                              <a:latin typeface="Cambria Math" panose="02040503050406030204" pitchFamily="18" charset="0"/>
                            </a:rPr>
                            <m:t>(</m:t>
                          </m:r>
                          <m:sSubSup>
                            <m:sSubSupPr>
                              <m:ctrlPr>
                                <a:rPr lang="en-US" sz="1050" i="1">
                                  <a:latin typeface="Cambria Math" panose="02040503050406030204" pitchFamily="18" charset="0"/>
                                </a:rPr>
                              </m:ctrlPr>
                            </m:sSubSupPr>
                            <m:e>
                              <m:r>
                                <a:rPr lang="en-US" sz="1050" i="1">
                                  <a:latin typeface="Cambria Math" panose="02040503050406030204" pitchFamily="18" charset="0"/>
                                </a:rPr>
                                <m:t>𝑋</m:t>
                              </m:r>
                            </m:e>
                            <m:sub>
                              <m:r>
                                <a:rPr lang="en-US" sz="1050" i="1">
                                  <a:latin typeface="Cambria Math" panose="02040503050406030204" pitchFamily="18" charset="0"/>
                                </a:rPr>
                                <m:t>𝑗</m:t>
                              </m:r>
                            </m:sub>
                            <m:sup>
                              <m:r>
                                <a:rPr lang="en-US" sz="1050" i="1">
                                  <a:latin typeface="Cambria Math" panose="02040503050406030204" pitchFamily="18" charset="0"/>
                                </a:rPr>
                                <m:t>𝑇</m:t>
                              </m:r>
                            </m:sup>
                          </m:sSubSup>
                          <m:sSub>
                            <m:sSubPr>
                              <m:ctrlPr>
                                <a:rPr lang="en-US" sz="1050" i="1">
                                  <a:latin typeface="Cambria Math" panose="02040503050406030204" pitchFamily="18" charset="0"/>
                                </a:rPr>
                              </m:ctrlPr>
                            </m:sSubPr>
                            <m:e>
                              <m:r>
                                <a:rPr lang="en-US" sz="1050" i="1">
                                  <a:latin typeface="Cambria Math" panose="02040503050406030204" pitchFamily="18" charset="0"/>
                                </a:rPr>
                                <m:t>𝑋</m:t>
                              </m:r>
                            </m:e>
                            <m:sub>
                              <m:r>
                                <a:rPr lang="en-US" sz="1050" i="1">
                                  <a:latin typeface="Cambria Math" panose="02040503050406030204" pitchFamily="18" charset="0"/>
                                </a:rPr>
                                <m:t>𝑗</m:t>
                              </m:r>
                            </m:sub>
                          </m:sSub>
                          <m:r>
                            <a:rPr lang="en-US" sz="1050" i="1">
                              <a:latin typeface="Cambria Math" panose="02040503050406030204" pitchFamily="18" charset="0"/>
                            </a:rPr>
                            <m:t>)</m:t>
                          </m:r>
                        </m:e>
                        <m:sup>
                          <m:r>
                            <a:rPr lang="en-US" sz="1050" i="1">
                              <a:latin typeface="Cambria Math" panose="02040503050406030204" pitchFamily="18" charset="0"/>
                            </a:rPr>
                            <m:t>−1</m:t>
                          </m:r>
                        </m:sup>
                      </m:sSup>
                    </m:oMath>
                  </m:oMathPara>
                </a14:m>
                <a:endParaRPr lang="en-US" sz="1050" dirty="0"/>
              </a:p>
            </p:txBody>
          </p:sp>
        </mc:Choice>
        <mc:Fallback xmlns="">
          <p:sp>
            <p:nvSpPr>
              <p:cNvPr id="49" name="TextBox 48">
                <a:extLst>
                  <a:ext uri="{FF2B5EF4-FFF2-40B4-BE49-F238E27FC236}">
                    <a16:creationId xmlns:a16="http://schemas.microsoft.com/office/drawing/2014/main" id="{7545DBEE-E2E9-9DF3-213C-EE74376AE7E6}"/>
                  </a:ext>
                </a:extLst>
              </p:cNvPr>
              <p:cNvSpPr txBox="1">
                <a:spLocks noRot="1" noChangeAspect="1" noMove="1" noResize="1" noEditPoints="1" noAdjustHandles="1" noChangeArrowheads="1" noChangeShapeType="1" noTextEdit="1"/>
              </p:cNvSpPr>
              <p:nvPr/>
            </p:nvSpPr>
            <p:spPr>
              <a:xfrm>
                <a:off x="5359709" y="2303652"/>
                <a:ext cx="799713" cy="281103"/>
              </a:xfrm>
              <a:prstGeom prst="rect">
                <a:avLst/>
              </a:prstGeom>
              <a:blipFill>
                <a:blip r:embed="rId11"/>
                <a:stretch>
                  <a:fillRect b="-4348"/>
                </a:stretch>
              </a:blipFill>
              <a:ln>
                <a:noFill/>
              </a:ln>
            </p:spPr>
            <p:txBody>
              <a:bodyPr/>
              <a:lstStyle/>
              <a:p>
                <a:r>
                  <a:rPr lang="en-US">
                    <a:noFill/>
                  </a:rPr>
                  <a:t> </a:t>
                </a:r>
              </a:p>
            </p:txBody>
          </p:sp>
        </mc:Fallback>
      </mc:AlternateContent>
      <p:sp>
        <p:nvSpPr>
          <p:cNvPr id="50" name="Rounded Rectangle 49">
            <a:extLst>
              <a:ext uri="{FF2B5EF4-FFF2-40B4-BE49-F238E27FC236}">
                <a16:creationId xmlns:a16="http://schemas.microsoft.com/office/drawing/2014/main" id="{FAEAB6E5-4B48-C327-ED09-6DD490A7B64F}"/>
              </a:ext>
            </a:extLst>
          </p:cNvPr>
          <p:cNvSpPr/>
          <p:nvPr/>
        </p:nvSpPr>
        <p:spPr>
          <a:xfrm>
            <a:off x="8243622" y="1504826"/>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EF75A7A-5FA3-4B68-AFD4-1A4DACD71B9C}"/>
                  </a:ext>
                </a:extLst>
              </p:cNvPr>
              <p:cNvSpPr txBox="1"/>
              <p:nvPr/>
            </p:nvSpPr>
            <p:spPr>
              <a:xfrm>
                <a:off x="8105769" y="2260629"/>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51" name="TextBox 50">
                <a:extLst>
                  <a:ext uri="{FF2B5EF4-FFF2-40B4-BE49-F238E27FC236}">
                    <a16:creationId xmlns:a16="http://schemas.microsoft.com/office/drawing/2014/main" id="{EEF75A7A-5FA3-4B68-AFD4-1A4DACD71B9C}"/>
                  </a:ext>
                </a:extLst>
              </p:cNvPr>
              <p:cNvSpPr txBox="1">
                <a:spLocks noRot="1" noChangeAspect="1" noMove="1" noResize="1" noEditPoints="1" noAdjustHandles="1" noChangeArrowheads="1" noChangeShapeType="1" noTextEdit="1"/>
              </p:cNvSpPr>
              <p:nvPr/>
            </p:nvSpPr>
            <p:spPr>
              <a:xfrm>
                <a:off x="8105769" y="2260629"/>
                <a:ext cx="592422"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4AFF3014-2A76-4374-7456-B8088FD91C93}"/>
                  </a:ext>
                </a:extLst>
              </p:cNvPr>
              <p:cNvSpPr txBox="1"/>
              <p:nvPr/>
            </p:nvSpPr>
            <p:spPr>
              <a:xfrm>
                <a:off x="5428222" y="1447502"/>
                <a:ext cx="2314673" cy="4222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𝛽</m:t>
                              </m:r>
                            </m:e>
                          </m:acc>
                        </m:e>
                        <m:sub>
                          <m:r>
                            <a:rPr lang="en-US" b="0" i="1" smtClean="0">
                              <a:latin typeface="Cambria Math" panose="02040503050406030204" pitchFamily="18" charset="0"/>
                            </a:rPr>
                            <m:t>𝑂𝐿𝑆</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𝑗</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r>
                            <a:rPr lang="en-US" b="0" i="1" smtClean="0">
                              <a:latin typeface="Cambria Math" panose="02040503050406030204" pitchFamily="18" charset="0"/>
                            </a:rPr>
                            <m:t>)</m:t>
                          </m:r>
                        </m:e>
                        <m:sup>
                          <m:r>
                            <a:rPr lang="en-US" b="0" i="1" smtClean="0">
                              <a:latin typeface="Cambria Math" panose="02040503050406030204" pitchFamily="18" charset="0"/>
                            </a:rPr>
                            <m:t>−1</m:t>
                          </m:r>
                        </m:sup>
                      </m:sSup>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𝑗</m:t>
                          </m:r>
                        </m:sub>
                        <m:sup>
                          <m:r>
                            <a:rPr lang="en-US" i="1">
                              <a:latin typeface="Cambria Math" panose="02040503050406030204" pitchFamily="18" charset="0"/>
                            </a:rPr>
                            <m:t>𝑇</m:t>
                          </m:r>
                        </m:sup>
                      </m:sSubSup>
                      <m:r>
                        <a:rPr lang="en-US" b="0" i="1" smtClean="0">
                          <a:latin typeface="Cambria Math" panose="02040503050406030204" pitchFamily="18" charset="0"/>
                        </a:rPr>
                        <m:t>𝑌</m:t>
                      </m:r>
                    </m:oMath>
                  </m:oMathPara>
                </a14:m>
                <a:endParaRPr lang="en-US" dirty="0"/>
              </a:p>
            </p:txBody>
          </p:sp>
        </mc:Choice>
        <mc:Fallback xmlns="">
          <p:sp>
            <p:nvSpPr>
              <p:cNvPr id="52" name="TextBox 51">
                <a:extLst>
                  <a:ext uri="{FF2B5EF4-FFF2-40B4-BE49-F238E27FC236}">
                    <a16:creationId xmlns:a16="http://schemas.microsoft.com/office/drawing/2014/main" id="{4AFF3014-2A76-4374-7456-B8088FD91C93}"/>
                  </a:ext>
                </a:extLst>
              </p:cNvPr>
              <p:cNvSpPr txBox="1">
                <a:spLocks noRot="1" noChangeAspect="1" noMove="1" noResize="1" noEditPoints="1" noAdjustHandles="1" noChangeArrowheads="1" noChangeShapeType="1" noTextEdit="1"/>
              </p:cNvSpPr>
              <p:nvPr/>
            </p:nvSpPr>
            <p:spPr>
              <a:xfrm>
                <a:off x="5428222" y="1447502"/>
                <a:ext cx="2314673" cy="422231"/>
              </a:xfrm>
              <a:prstGeom prst="rect">
                <a:avLst/>
              </a:prstGeom>
              <a:blipFill>
                <a:blip r:embed="rId13"/>
                <a:stretch>
                  <a:fillRect b="-5714"/>
                </a:stretch>
              </a:blipFill>
            </p:spPr>
            <p:txBody>
              <a:bodyPr/>
              <a:lstStyle/>
              <a:p>
                <a:r>
                  <a:rPr lang="en-US">
                    <a:noFill/>
                  </a:rPr>
                  <a:t> </a:t>
                </a:r>
              </a:p>
            </p:txBody>
          </p:sp>
        </mc:Fallback>
      </mc:AlternateContent>
      <p:pic>
        <p:nvPicPr>
          <p:cNvPr id="56" name="Picture 55">
            <a:extLst>
              <a:ext uri="{FF2B5EF4-FFF2-40B4-BE49-F238E27FC236}">
                <a16:creationId xmlns:a16="http://schemas.microsoft.com/office/drawing/2014/main" id="{56020F65-763F-A1A2-3F5C-030AD8286708}"/>
              </a:ext>
            </a:extLst>
          </p:cNvPr>
          <p:cNvPicPr>
            <a:picLocks noChangeAspect="1"/>
          </p:cNvPicPr>
          <p:nvPr/>
        </p:nvPicPr>
        <p:blipFill>
          <a:blip r:embed="rId14"/>
          <a:srcRect/>
          <a:stretch/>
        </p:blipFill>
        <p:spPr>
          <a:xfrm>
            <a:off x="545769" y="5108948"/>
            <a:ext cx="3154109" cy="3154109"/>
          </a:xfrm>
          <a:prstGeom prst="rect">
            <a:avLst/>
          </a:prstGeom>
        </p:spPr>
      </p:pic>
      <p:sp>
        <p:nvSpPr>
          <p:cNvPr id="58" name="TextBox 57">
            <a:extLst>
              <a:ext uri="{FF2B5EF4-FFF2-40B4-BE49-F238E27FC236}">
                <a16:creationId xmlns:a16="http://schemas.microsoft.com/office/drawing/2014/main" id="{1FAAD7EE-7373-E79F-A65C-7CEAC691F276}"/>
              </a:ext>
            </a:extLst>
          </p:cNvPr>
          <p:cNvSpPr txBox="1"/>
          <p:nvPr/>
        </p:nvSpPr>
        <p:spPr>
          <a:xfrm>
            <a:off x="4644185" y="863624"/>
            <a:ext cx="4475988" cy="369332"/>
          </a:xfrm>
          <a:prstGeom prst="rect">
            <a:avLst/>
          </a:prstGeom>
          <a:noFill/>
        </p:spPr>
        <p:txBody>
          <a:bodyPr wrap="square" rtlCol="0" anchor="ctr">
            <a:spAutoFit/>
          </a:bodyPr>
          <a:lstStyle/>
          <a:p>
            <a:pPr algn="ctr"/>
            <a:r>
              <a:rPr lang="en-US" b="1" dirty="0"/>
              <a:t>Ordinary Least Squares (OLS)</a:t>
            </a:r>
          </a:p>
        </p:txBody>
      </p:sp>
      <p:sp>
        <p:nvSpPr>
          <p:cNvPr id="59" name="TextBox 58">
            <a:extLst>
              <a:ext uri="{FF2B5EF4-FFF2-40B4-BE49-F238E27FC236}">
                <a16:creationId xmlns:a16="http://schemas.microsoft.com/office/drawing/2014/main" id="{37E7C3C7-F127-5564-3677-A60B449BABCD}"/>
              </a:ext>
            </a:extLst>
          </p:cNvPr>
          <p:cNvSpPr txBox="1"/>
          <p:nvPr/>
        </p:nvSpPr>
        <p:spPr>
          <a:xfrm>
            <a:off x="183854" y="4609783"/>
            <a:ext cx="4475988" cy="369332"/>
          </a:xfrm>
          <a:prstGeom prst="rect">
            <a:avLst/>
          </a:prstGeom>
          <a:noFill/>
        </p:spPr>
        <p:txBody>
          <a:bodyPr wrap="square" rtlCol="0" anchor="ctr">
            <a:spAutoFit/>
          </a:bodyPr>
          <a:lstStyle/>
          <a:p>
            <a:pPr algn="ctr"/>
            <a:r>
              <a:rPr lang="en-US" b="1" dirty="0"/>
              <a:t>Ordinary Least Squares</a:t>
            </a:r>
            <a:r>
              <a:rPr lang="zh-CN" altLang="en-US" b="1" dirty="0"/>
              <a:t> </a:t>
            </a:r>
            <a:r>
              <a:rPr lang="en-US" altLang="zh-CN" b="1" dirty="0"/>
              <a:t>Visualization</a:t>
            </a:r>
            <a:endParaRPr lang="en-US" b="1" dirty="0"/>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7DB5D44-5A0D-56BC-081C-4F608E68D77E}"/>
                  </a:ext>
                </a:extLst>
              </p:cNvPr>
              <p:cNvSpPr txBox="1"/>
              <p:nvPr/>
            </p:nvSpPr>
            <p:spPr>
              <a:xfrm>
                <a:off x="3607904" y="5324148"/>
                <a:ext cx="491865" cy="2920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e>
                        <m:sub>
                          <m:r>
                            <a:rPr lang="en-US" i="1">
                              <a:latin typeface="Cambria Math" panose="02040503050406030204" pitchFamily="18" charset="0"/>
                            </a:rPr>
                            <m:t>𝑂𝐿𝑆</m:t>
                          </m:r>
                        </m:sub>
                      </m:sSub>
                    </m:oMath>
                  </m:oMathPara>
                </a14:m>
                <a:endParaRPr lang="en-US" dirty="0"/>
              </a:p>
            </p:txBody>
          </p:sp>
        </mc:Choice>
        <mc:Fallback xmlns="">
          <p:sp>
            <p:nvSpPr>
              <p:cNvPr id="60" name="TextBox 59">
                <a:extLst>
                  <a:ext uri="{FF2B5EF4-FFF2-40B4-BE49-F238E27FC236}">
                    <a16:creationId xmlns:a16="http://schemas.microsoft.com/office/drawing/2014/main" id="{77DB5D44-5A0D-56BC-081C-4F608E68D77E}"/>
                  </a:ext>
                </a:extLst>
              </p:cNvPr>
              <p:cNvSpPr txBox="1">
                <a:spLocks noRot="1" noChangeAspect="1" noMove="1" noResize="1" noEditPoints="1" noAdjustHandles="1" noChangeArrowheads="1" noChangeShapeType="1" noTextEdit="1"/>
              </p:cNvSpPr>
              <p:nvPr/>
            </p:nvSpPr>
            <p:spPr>
              <a:xfrm>
                <a:off x="3607904" y="5324148"/>
                <a:ext cx="491865" cy="292003"/>
              </a:xfrm>
              <a:prstGeom prst="rect">
                <a:avLst/>
              </a:prstGeom>
              <a:blipFill>
                <a:blip r:embed="rId15"/>
                <a:stretch>
                  <a:fillRect l="-17500" t="-25000" b="-29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D0324ED-E380-71E6-2021-1F82644C2BC2}"/>
                  </a:ext>
                </a:extLst>
              </p:cNvPr>
              <p:cNvSpPr txBox="1"/>
              <p:nvPr/>
            </p:nvSpPr>
            <p:spPr>
              <a:xfrm>
                <a:off x="2378791" y="7015870"/>
                <a:ext cx="1883981" cy="751937"/>
              </a:xfrm>
              <a:prstGeom prst="rect">
                <a:avLst/>
              </a:prstGeom>
              <a:noFill/>
            </p:spPr>
            <p:txBody>
              <a:bodyPr wrap="square" lIns="0" tIns="0" rIns="0" bIns="0" rtlCol="0">
                <a:spAutoFit/>
              </a:bodyPr>
              <a:lstStyle/>
              <a:p>
                <a:r>
                  <a:rPr lang="en-US" sz="1600" dirty="0"/>
                  <a:t>OLS finds </a:t>
                </a:r>
                <a14:m>
                  <m:oMath xmlns:m="http://schemas.openxmlformats.org/officeDocument/2006/math">
                    <m:acc>
                      <m:accPr>
                        <m:chr m:val="̂"/>
                        <m:ctrlPr>
                          <a:rPr lang="en-US" sz="1600" i="1" smtClean="0">
                            <a:latin typeface="Cambria Math" panose="02040503050406030204" pitchFamily="18" charset="0"/>
                          </a:rPr>
                        </m:ctrlPr>
                      </m:accPr>
                      <m:e>
                        <m:r>
                          <a:rPr lang="en-US" sz="1600" i="1" smtClean="0">
                            <a:latin typeface="Cambria Math" panose="02040503050406030204" pitchFamily="18" charset="0"/>
                            <a:ea typeface="Cambria Math" panose="02040503050406030204" pitchFamily="18" charset="0"/>
                          </a:rPr>
                          <m:t>𝛽</m:t>
                        </m:r>
                      </m:e>
                    </m:acc>
                  </m:oMath>
                </a14:m>
                <a:r>
                  <a:rPr lang="en-US" sz="1600" dirty="0"/>
                  <a:t> that minimizes the sum of the squared residuals.</a:t>
                </a:r>
              </a:p>
            </p:txBody>
          </p:sp>
        </mc:Choice>
        <mc:Fallback xmlns="">
          <p:sp>
            <p:nvSpPr>
              <p:cNvPr id="63" name="TextBox 62">
                <a:extLst>
                  <a:ext uri="{FF2B5EF4-FFF2-40B4-BE49-F238E27FC236}">
                    <a16:creationId xmlns:a16="http://schemas.microsoft.com/office/drawing/2014/main" id="{3D0324ED-E380-71E6-2021-1F82644C2BC2}"/>
                  </a:ext>
                </a:extLst>
              </p:cNvPr>
              <p:cNvSpPr txBox="1">
                <a:spLocks noRot="1" noChangeAspect="1" noMove="1" noResize="1" noEditPoints="1" noAdjustHandles="1" noChangeArrowheads="1" noChangeShapeType="1" noTextEdit="1"/>
              </p:cNvSpPr>
              <p:nvPr/>
            </p:nvSpPr>
            <p:spPr>
              <a:xfrm>
                <a:off x="2378791" y="7015870"/>
                <a:ext cx="1883981" cy="751937"/>
              </a:xfrm>
              <a:prstGeom prst="rect">
                <a:avLst/>
              </a:prstGeom>
              <a:blipFill>
                <a:blip r:embed="rId16"/>
                <a:stretch>
                  <a:fillRect l="-6711" t="-6667" r="-2685" b="-1500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C6C6FD4-8406-19CD-4BA4-16FCE0FB5D48}"/>
              </a:ext>
            </a:extLst>
          </p:cNvPr>
          <p:cNvSpPr txBox="1"/>
          <p:nvPr/>
        </p:nvSpPr>
        <p:spPr>
          <a:xfrm>
            <a:off x="5493820" y="3400465"/>
            <a:ext cx="844465" cy="400110"/>
          </a:xfrm>
          <a:prstGeom prst="rect">
            <a:avLst/>
          </a:prstGeom>
          <a:noFill/>
        </p:spPr>
        <p:txBody>
          <a:bodyPr wrap="square">
            <a:spAutoFit/>
          </a:bodyPr>
          <a:lstStyle/>
          <a:p>
            <a:pPr algn="ctr"/>
            <a:r>
              <a:rPr lang="en-US" sz="1000" dirty="0"/>
              <a:t>Scalar</a:t>
            </a:r>
          </a:p>
          <a:p>
            <a:pPr algn="ctr"/>
            <a:r>
              <a:rPr lang="en-US" sz="1000" dirty="0"/>
              <a:t>(scale for X)</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B9E8C26-E581-D821-B1D5-947976726B4F}"/>
                  </a:ext>
                </a:extLst>
              </p:cNvPr>
              <p:cNvSpPr txBox="1"/>
              <p:nvPr/>
            </p:nvSpPr>
            <p:spPr>
              <a:xfrm>
                <a:off x="6664333" y="3400464"/>
                <a:ext cx="1078562" cy="41248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000" i="1" smtClean="0">
                          <a:latin typeface="Cambria Math" panose="02040503050406030204" pitchFamily="18" charset="0"/>
                        </a:rPr>
                        <m:t>𝑁</m:t>
                      </m:r>
                      <m:r>
                        <a:rPr lang="en-US" sz="1000" i="1">
                          <a:latin typeface="Cambria Math" panose="02040503050406030204" pitchFamily="18" charset="0"/>
                          <a:ea typeface="Cambria Math" panose="02040503050406030204" pitchFamily="18" charset="0"/>
                        </a:rPr>
                        <m:t>×1</m:t>
                      </m:r>
                    </m:oMath>
                  </m:oMathPara>
                </a14:m>
                <a:endParaRPr lang="en-US" sz="1000" dirty="0">
                  <a:ea typeface="Cambria Math" panose="02040503050406030204" pitchFamily="18" charset="0"/>
                </a:endParaRPr>
              </a:p>
              <a:p>
                <a:pPr algn="ctr"/>
                <a:r>
                  <a:rPr lang="en-US" sz="1000" dirty="0"/>
                  <a:t>Transpose of </a:t>
                </a:r>
                <a14:m>
                  <m:oMath xmlns:m="http://schemas.openxmlformats.org/officeDocument/2006/math">
                    <m:sSub>
                      <m:sSubPr>
                        <m:ctrlPr>
                          <a:rPr lang="en-US" sz="1000" i="1">
                            <a:latin typeface="Cambria Math" panose="02040503050406030204" pitchFamily="18" charset="0"/>
                          </a:rPr>
                        </m:ctrlPr>
                      </m:sSubPr>
                      <m:e>
                        <m:r>
                          <a:rPr lang="en-US" sz="1000" i="1">
                            <a:latin typeface="Cambria Math" panose="02040503050406030204" pitchFamily="18" charset="0"/>
                          </a:rPr>
                          <m:t>𝑋</m:t>
                        </m:r>
                      </m:e>
                      <m:sub>
                        <m:r>
                          <a:rPr lang="en-US" sz="1000" i="1">
                            <a:latin typeface="Cambria Math" panose="02040503050406030204" pitchFamily="18" charset="0"/>
                          </a:rPr>
                          <m:t>𝑗</m:t>
                        </m:r>
                      </m:sub>
                    </m:sSub>
                  </m:oMath>
                </a14:m>
                <a:endParaRPr lang="en-US" sz="1000" dirty="0"/>
              </a:p>
            </p:txBody>
          </p:sp>
        </mc:Choice>
        <mc:Fallback xmlns="">
          <p:sp>
            <p:nvSpPr>
              <p:cNvPr id="6" name="TextBox 5">
                <a:extLst>
                  <a:ext uri="{FF2B5EF4-FFF2-40B4-BE49-F238E27FC236}">
                    <a16:creationId xmlns:a16="http://schemas.microsoft.com/office/drawing/2014/main" id="{CB9E8C26-E581-D821-B1D5-947976726B4F}"/>
                  </a:ext>
                </a:extLst>
              </p:cNvPr>
              <p:cNvSpPr txBox="1">
                <a:spLocks noRot="1" noChangeAspect="1" noMove="1" noResize="1" noEditPoints="1" noAdjustHandles="1" noChangeArrowheads="1" noChangeShapeType="1" noTextEdit="1"/>
              </p:cNvSpPr>
              <p:nvPr/>
            </p:nvSpPr>
            <p:spPr>
              <a:xfrm>
                <a:off x="6664333" y="3400464"/>
                <a:ext cx="1078562" cy="412485"/>
              </a:xfrm>
              <a:prstGeom prst="rect">
                <a:avLst/>
              </a:prstGeom>
              <a:blipFill>
                <a:blip r:embed="rId19"/>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971A86-96C7-45E2-DD50-A9CF4BC5DD51}"/>
                  </a:ext>
                </a:extLst>
              </p:cNvPr>
              <p:cNvSpPr txBox="1"/>
              <p:nvPr/>
            </p:nvSpPr>
            <p:spPr>
              <a:xfrm>
                <a:off x="8158036" y="3401625"/>
                <a:ext cx="450439"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Trait</a:t>
                </a:r>
              </a:p>
            </p:txBody>
          </p:sp>
        </mc:Choice>
        <mc:Fallback xmlns="">
          <p:sp>
            <p:nvSpPr>
              <p:cNvPr id="8" name="TextBox 7">
                <a:extLst>
                  <a:ext uri="{FF2B5EF4-FFF2-40B4-BE49-F238E27FC236}">
                    <a16:creationId xmlns:a16="http://schemas.microsoft.com/office/drawing/2014/main" id="{33971A86-96C7-45E2-DD50-A9CF4BC5DD51}"/>
                  </a:ext>
                </a:extLst>
              </p:cNvPr>
              <p:cNvSpPr txBox="1">
                <a:spLocks noRot="1" noChangeAspect="1" noMove="1" noResize="1" noEditPoints="1" noAdjustHandles="1" noChangeArrowheads="1" noChangeShapeType="1" noTextEdit="1"/>
              </p:cNvSpPr>
              <p:nvPr/>
            </p:nvSpPr>
            <p:spPr>
              <a:xfrm>
                <a:off x="8158036" y="3401625"/>
                <a:ext cx="450439" cy="400110"/>
              </a:xfrm>
              <a:prstGeom prst="rect">
                <a:avLst/>
              </a:prstGeom>
              <a:blipFill>
                <a:blip r:embed="rId20"/>
                <a:stretch>
                  <a:fillRect b="-6061"/>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491CA2B-E454-0D7E-F500-36EBCD06A9A5}"/>
              </a:ext>
            </a:extLst>
          </p:cNvPr>
          <p:cNvSpPr txBox="1"/>
          <p:nvPr/>
        </p:nvSpPr>
        <p:spPr>
          <a:xfrm>
            <a:off x="4627165" y="3283295"/>
            <a:ext cx="1001682" cy="553998"/>
          </a:xfrm>
          <a:prstGeom prst="rect">
            <a:avLst/>
          </a:prstGeom>
          <a:noFill/>
        </p:spPr>
        <p:txBody>
          <a:bodyPr wrap="square" rtlCol="0">
            <a:spAutoFit/>
          </a:bodyPr>
          <a:lstStyle/>
          <a:p>
            <a:pPr algn="ctr"/>
            <a:r>
              <a:rPr lang="en-US" sz="1000" dirty="0"/>
              <a:t>scalar</a:t>
            </a:r>
          </a:p>
          <a:p>
            <a:pPr algn="ctr"/>
            <a:r>
              <a:rPr lang="en-US" sz="1000" dirty="0"/>
              <a:t>Genetic</a:t>
            </a:r>
          </a:p>
          <a:p>
            <a:pPr algn="ctr"/>
            <a:r>
              <a:rPr lang="en-US" sz="1000" dirty="0"/>
              <a:t>Effect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A6E38FF-BA0E-E95F-26E2-BD0DDA952C7E}"/>
                  </a:ext>
                </a:extLst>
              </p:cNvPr>
              <p:cNvSpPr txBox="1"/>
              <p:nvPr/>
            </p:nvSpPr>
            <p:spPr>
              <a:xfrm>
                <a:off x="2192311" y="2128130"/>
                <a:ext cx="5965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5A6E38FF-BA0E-E95F-26E2-BD0DDA952C7E}"/>
                  </a:ext>
                </a:extLst>
              </p:cNvPr>
              <p:cNvSpPr txBox="1">
                <a:spLocks noRot="1" noChangeAspect="1" noMove="1" noResize="1" noEditPoints="1" noAdjustHandles="1" noChangeArrowheads="1" noChangeShapeType="1" noTextEdit="1"/>
              </p:cNvSpPr>
              <p:nvPr/>
            </p:nvSpPr>
            <p:spPr>
              <a:xfrm>
                <a:off x="2192311" y="2128130"/>
                <a:ext cx="59657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B4A5083-71DE-297B-1B66-0DC394701D29}"/>
                  </a:ext>
                </a:extLst>
              </p:cNvPr>
              <p:cNvSpPr txBox="1"/>
              <p:nvPr/>
            </p:nvSpPr>
            <p:spPr>
              <a:xfrm>
                <a:off x="5789177" y="2296181"/>
                <a:ext cx="59657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13" name="TextBox 12">
                <a:extLst>
                  <a:ext uri="{FF2B5EF4-FFF2-40B4-BE49-F238E27FC236}">
                    <a16:creationId xmlns:a16="http://schemas.microsoft.com/office/drawing/2014/main" id="{9B4A5083-71DE-297B-1B66-0DC394701D29}"/>
                  </a:ext>
                </a:extLst>
              </p:cNvPr>
              <p:cNvSpPr txBox="1">
                <a:spLocks noRot="1" noChangeAspect="1" noMove="1" noResize="1" noEditPoints="1" noAdjustHandles="1" noChangeArrowheads="1" noChangeShapeType="1" noTextEdit="1"/>
              </p:cNvSpPr>
              <p:nvPr/>
            </p:nvSpPr>
            <p:spPr>
              <a:xfrm>
                <a:off x="5789177" y="2296181"/>
                <a:ext cx="596578" cy="307777"/>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4E566C-4A07-5460-34CD-E2455799CF89}"/>
                  </a:ext>
                </a:extLst>
              </p:cNvPr>
              <p:cNvSpPr txBox="1"/>
              <p:nvPr/>
            </p:nvSpPr>
            <p:spPr>
              <a:xfrm>
                <a:off x="7847886" y="2283977"/>
                <a:ext cx="59657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smtClean="0">
                          <a:solidFill>
                            <a:schemeClr val="tx1"/>
                          </a:solidFill>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14" name="TextBox 13">
                <a:extLst>
                  <a:ext uri="{FF2B5EF4-FFF2-40B4-BE49-F238E27FC236}">
                    <a16:creationId xmlns:a16="http://schemas.microsoft.com/office/drawing/2014/main" id="{014E566C-4A07-5460-34CD-E2455799CF89}"/>
                  </a:ext>
                </a:extLst>
              </p:cNvPr>
              <p:cNvSpPr txBox="1">
                <a:spLocks noRot="1" noChangeAspect="1" noMove="1" noResize="1" noEditPoints="1" noAdjustHandles="1" noChangeArrowheads="1" noChangeShapeType="1" noTextEdit="1"/>
              </p:cNvSpPr>
              <p:nvPr/>
            </p:nvSpPr>
            <p:spPr>
              <a:xfrm>
                <a:off x="7847886" y="2283977"/>
                <a:ext cx="596578" cy="307777"/>
              </a:xfrm>
              <a:prstGeom prst="rect">
                <a:avLst/>
              </a:prstGeom>
              <a:blipFill>
                <a:blip r:embed="rId23"/>
                <a:stretch>
                  <a:fillRect/>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F62C2997-A0A9-F8B6-7250-2C87F03C19A5}"/>
              </a:ext>
            </a:extLst>
          </p:cNvPr>
          <p:cNvSpPr/>
          <p:nvPr/>
        </p:nvSpPr>
        <p:spPr>
          <a:xfrm>
            <a:off x="4729951" y="4527358"/>
            <a:ext cx="4011597" cy="382798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3358F90-4806-3492-54A3-C4DE8BA3817D}"/>
                  </a:ext>
                </a:extLst>
              </p:cNvPr>
              <p:cNvSpPr txBox="1"/>
              <p:nvPr/>
            </p:nvSpPr>
            <p:spPr>
              <a:xfrm>
                <a:off x="5753517" y="5253947"/>
                <a:ext cx="2667525" cy="10343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𝛽</m:t>
                              </m:r>
                            </m:e>
                          </m:acc>
                        </m:e>
                        <m:sub>
                          <m:r>
                            <a:rPr lang="en-US" b="0" i="1" smtClean="0">
                              <a:latin typeface="Cambria Math" panose="02040503050406030204" pitchFamily="18" charset="0"/>
                            </a:rPr>
                            <m:t>𝑂𝐿𝑆</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𝑗</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r>
                            <a:rPr lang="en-US" b="0" i="1" smtClean="0">
                              <a:latin typeface="Cambria Math" panose="02040503050406030204" pitchFamily="18" charset="0"/>
                            </a:rPr>
                            <m:t>)</m:t>
                          </m:r>
                        </m:e>
                        <m:sup>
                          <m:r>
                            <a:rPr lang="en-US" b="0" i="1" smtClean="0">
                              <a:latin typeface="Cambria Math" panose="02040503050406030204" pitchFamily="18" charset="0"/>
                            </a:rPr>
                            <m:t>−1</m:t>
                          </m:r>
                        </m:sup>
                      </m:sSup>
                      <m:sSubSup>
                        <m:sSubSupPr>
                          <m:ctrlPr>
                            <a:rPr lang="en-US" i="1">
                              <a:latin typeface="Cambria Math" panose="02040503050406030204" pitchFamily="18" charset="0"/>
                            </a:rPr>
                          </m:ctrlPr>
                        </m:sSubSupPr>
                        <m:e>
                          <m:r>
                            <a:rPr lang="en-US" i="1">
                              <a:latin typeface="Cambria Math" panose="02040503050406030204" pitchFamily="18" charset="0"/>
                            </a:rPr>
                            <m:t>𝑋</m:t>
                          </m:r>
                        </m:e>
                        <m:sub>
                          <m:r>
                            <a:rPr lang="en-US" i="1">
                              <a:latin typeface="Cambria Math" panose="02040503050406030204" pitchFamily="18" charset="0"/>
                            </a:rPr>
                            <m:t>𝑗</m:t>
                          </m:r>
                        </m:sub>
                        <m:sup>
                          <m:r>
                            <a:rPr lang="en-US" i="1">
                              <a:latin typeface="Cambria Math" panose="02040503050406030204" pitchFamily="18" charset="0"/>
                            </a:rPr>
                            <m:t>𝑇</m:t>
                          </m:r>
                        </m:sup>
                      </m:sSubSup>
                      <m:r>
                        <a:rPr lang="en-US" b="0" i="1" smtClean="0">
                          <a:latin typeface="Cambria Math" panose="02040503050406030204" pitchFamily="18" charset="0"/>
                        </a:rPr>
                        <m:t>𝑌</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𝑐𝑜𝑠</m:t>
                          </m:r>
                          <m:r>
                            <a:rPr lang="en-US" i="1">
                              <a:latin typeface="Cambria Math" panose="02040503050406030204" pitchFamily="18" charset="0"/>
                              <a:ea typeface="Cambria Math" panose="02040503050406030204" pitchFamily="18" charset="0"/>
                            </a:rPr>
                            <m:t>𝜃</m:t>
                          </m:r>
                        </m:num>
                        <m:den>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r>
                                <a:rPr lang="en-US" i="1">
                                  <a:latin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𝑐𝑜𝑠</m:t>
                          </m:r>
                          <m:r>
                            <a:rPr lang="en-US" b="0" i="1" smtClean="0">
                              <a:latin typeface="Cambria Math" panose="02040503050406030204" pitchFamily="18" charset="0"/>
                              <a:ea typeface="Cambria Math" panose="02040503050406030204" pitchFamily="18" charset="0"/>
                            </a:rPr>
                            <m:t>𝜃</m:t>
                          </m:r>
                        </m:num>
                        <m:den>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sub>
                          </m:sSub>
                          <m:r>
                            <a:rPr lang="en-US" b="0" i="1" smtClean="0">
                              <a:latin typeface="Cambria Math" panose="02040503050406030204" pitchFamily="18" charset="0"/>
                            </a:rPr>
                            <m:t>|</m:t>
                          </m:r>
                        </m:den>
                      </m:f>
                    </m:oMath>
                  </m:oMathPara>
                </a14:m>
                <a:endParaRPr lang="en-US" dirty="0"/>
              </a:p>
            </p:txBody>
          </p:sp>
        </mc:Choice>
        <mc:Fallback xmlns="">
          <p:sp>
            <p:nvSpPr>
              <p:cNvPr id="44" name="TextBox 43">
                <a:extLst>
                  <a:ext uri="{FF2B5EF4-FFF2-40B4-BE49-F238E27FC236}">
                    <a16:creationId xmlns:a16="http://schemas.microsoft.com/office/drawing/2014/main" id="{C3358F90-4806-3492-54A3-C4DE8BA3817D}"/>
                  </a:ext>
                </a:extLst>
              </p:cNvPr>
              <p:cNvSpPr txBox="1">
                <a:spLocks noRot="1" noChangeAspect="1" noMove="1" noResize="1" noEditPoints="1" noAdjustHandles="1" noChangeArrowheads="1" noChangeShapeType="1" noTextEdit="1"/>
              </p:cNvSpPr>
              <p:nvPr/>
            </p:nvSpPr>
            <p:spPr>
              <a:xfrm>
                <a:off x="5753517" y="5253947"/>
                <a:ext cx="2667525" cy="1034322"/>
              </a:xfrm>
              <a:prstGeom prst="rect">
                <a:avLst/>
              </a:prstGeom>
              <a:blipFill>
                <a:blip r:embed="rId24"/>
                <a:stretch>
                  <a:fillRect b="-2410"/>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FDF012A9-07C3-1E03-886A-F5C0C0EB181B}"/>
              </a:ext>
            </a:extLst>
          </p:cNvPr>
          <p:cNvSpPr txBox="1"/>
          <p:nvPr/>
        </p:nvSpPr>
        <p:spPr>
          <a:xfrm>
            <a:off x="4795677" y="4602328"/>
            <a:ext cx="4015980" cy="375521"/>
          </a:xfrm>
          <a:prstGeom prst="rect">
            <a:avLst/>
          </a:prstGeom>
          <a:noFill/>
        </p:spPr>
        <p:txBody>
          <a:bodyPr wrap="square" rtlCol="0" anchor="ctr">
            <a:spAutoFit/>
          </a:bodyPr>
          <a:lstStyle/>
          <a:p>
            <a:pPr algn="ctr"/>
            <a:r>
              <a:rPr lang="en-US" b="1" dirty="0"/>
              <a:t>Geometry Intuition</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C40412A-7D41-5AF2-B56B-D63B1183AE3C}"/>
                  </a:ext>
                </a:extLst>
              </p:cNvPr>
              <p:cNvSpPr txBox="1"/>
              <p:nvPr/>
            </p:nvSpPr>
            <p:spPr>
              <a:xfrm>
                <a:off x="4926015" y="6534774"/>
                <a:ext cx="3755452" cy="1509131"/>
              </a:xfrm>
              <a:prstGeom prst="rect">
                <a:avLst/>
              </a:prstGeom>
              <a:noFill/>
            </p:spPr>
            <p:txBody>
              <a:bodyPr wrap="none" rtlCol="0">
                <a:spAutoFit/>
              </a:bodyPr>
              <a:lstStyle/>
              <a:p>
                <a:pPr marL="285750" indent="-285750">
                  <a:buFont typeface="Arial" panose="020B0604020202020204" pitchFamily="34" charset="0"/>
                  <a:buChar char="•"/>
                </a:pPr>
                <a14:m>
                  <m:oMath xmlns:m="http://schemas.openxmlformats.org/officeDocument/2006/math">
                    <m:sSubSup>
                      <m:sSubSupPr>
                        <m:ctrlPr>
                          <a:rPr lang="en-US" sz="1400" i="1" smtClean="0">
                            <a:latin typeface="Cambria Math" panose="02040503050406030204" pitchFamily="18" charset="0"/>
                          </a:rPr>
                        </m:ctrlPr>
                      </m:sSubSupPr>
                      <m:e>
                        <m:r>
                          <a:rPr lang="en-US" sz="1400" i="1">
                            <a:latin typeface="Cambria Math" panose="02040503050406030204" pitchFamily="18" charset="0"/>
                          </a:rPr>
                          <m:t>𝑋</m:t>
                        </m:r>
                      </m:e>
                      <m:sub>
                        <m:r>
                          <a:rPr lang="en-US" sz="1400" i="1">
                            <a:latin typeface="Cambria Math" panose="02040503050406030204" pitchFamily="18" charset="0"/>
                          </a:rPr>
                          <m:t>𝑗</m:t>
                        </m:r>
                      </m:sub>
                      <m:sup>
                        <m:r>
                          <a:rPr lang="en-US" sz="1400" i="1">
                            <a:latin typeface="Cambria Math" panose="02040503050406030204" pitchFamily="18" charset="0"/>
                          </a:rPr>
                          <m:t>𝑇</m:t>
                        </m:r>
                      </m:sup>
                    </m:sSubSup>
                    <m:r>
                      <a:rPr lang="en-US" sz="1400" i="1">
                        <a:latin typeface="Cambria Math" panose="02040503050406030204" pitchFamily="18" charset="0"/>
                      </a:rPr>
                      <m:t>𝑌</m:t>
                    </m:r>
                  </m:oMath>
                </a14:m>
                <a:r>
                  <a:rPr lang="en-US" sz="1400" dirty="0"/>
                  <a:t>: inner product of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𝑋</m:t>
                        </m:r>
                      </m:e>
                      <m:sub>
                        <m:r>
                          <a:rPr lang="en-US" sz="1400" i="1">
                            <a:latin typeface="Cambria Math" panose="02040503050406030204" pitchFamily="18" charset="0"/>
                          </a:rPr>
                          <m:t>𝑗</m:t>
                        </m:r>
                      </m:sub>
                    </m:sSub>
                  </m:oMath>
                </a14:m>
                <a:r>
                  <a:rPr lang="en-US" sz="1400" dirty="0"/>
                  <a:t> and </a:t>
                </a:r>
                <a14:m>
                  <m:oMath xmlns:m="http://schemas.openxmlformats.org/officeDocument/2006/math">
                    <m:r>
                      <m:rPr>
                        <m:sty m:val="p"/>
                      </m:rPr>
                      <a:rPr lang="en-US" sz="1400" b="0" i="0" smtClean="0">
                        <a:latin typeface="Cambria Math" panose="02040503050406030204" pitchFamily="18" charset="0"/>
                      </a:rPr>
                      <m:t>Y</m:t>
                    </m:r>
                  </m:oMath>
                </a14:m>
                <a:endParaRPr lang="en-US" sz="1400" b="0" dirty="0"/>
              </a:p>
              <a:p>
                <a:pPr marL="742950" lvl="1" indent="-285750">
                  <a:buFont typeface="Arial" panose="020B0604020202020204" pitchFamily="34" charset="0"/>
                  <a:buChar char="•"/>
                </a:pPr>
                <a:r>
                  <a:rPr lang="en-US" sz="1400" dirty="0"/>
                  <a:t>d</a:t>
                </a:r>
                <a:r>
                  <a:rPr lang="en-US" sz="1400" b="0" dirty="0"/>
                  <a:t>escribes how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𝑋</m:t>
                        </m:r>
                      </m:e>
                      <m:sub>
                        <m:r>
                          <a:rPr lang="en-US" sz="1400" i="1">
                            <a:latin typeface="Cambria Math" panose="02040503050406030204" pitchFamily="18" charset="0"/>
                          </a:rPr>
                          <m:t>𝑗</m:t>
                        </m:r>
                      </m:sub>
                    </m:sSub>
                  </m:oMath>
                </a14:m>
                <a:r>
                  <a:rPr lang="en-US" sz="1400" dirty="0"/>
                  <a:t> and </a:t>
                </a:r>
                <a14:m>
                  <m:oMath xmlns:m="http://schemas.openxmlformats.org/officeDocument/2006/math">
                    <m:r>
                      <m:rPr>
                        <m:sty m:val="p"/>
                      </m:rPr>
                      <a:rPr lang="en-US" sz="1400">
                        <a:latin typeface="Cambria Math" panose="02040503050406030204" pitchFamily="18" charset="0"/>
                      </a:rPr>
                      <m:t>Y</m:t>
                    </m:r>
                  </m:oMath>
                </a14:m>
                <a:r>
                  <a:rPr lang="en-US" sz="1400" dirty="0"/>
                  <a:t> align</a:t>
                </a:r>
              </a:p>
              <a:p>
                <a:pPr marL="742950" lvl="1" indent="-285750">
                  <a:buFont typeface="Arial" panose="020B0604020202020204" pitchFamily="34" charset="0"/>
                  <a:buChar char="•"/>
                </a:pPr>
                <a:r>
                  <a:rPr lang="en-US" sz="1400" dirty="0"/>
                  <a:t>p</a:t>
                </a:r>
                <a:r>
                  <a:rPr lang="en-US" sz="1400" b="0" dirty="0"/>
                  <a:t>rojects </a:t>
                </a:r>
                <a14:m>
                  <m:oMath xmlns:m="http://schemas.openxmlformats.org/officeDocument/2006/math">
                    <m:r>
                      <m:rPr>
                        <m:sty m:val="p"/>
                      </m:rPr>
                      <a:rPr lang="en-US" sz="1400">
                        <a:latin typeface="Cambria Math" panose="02040503050406030204" pitchFamily="18" charset="0"/>
                      </a:rPr>
                      <m:t>Y</m:t>
                    </m:r>
                  </m:oMath>
                </a14:m>
                <a:r>
                  <a:rPr lang="en-US" sz="1400" b="0" dirty="0"/>
                  <a:t> to the direction of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𝑋</m:t>
                        </m:r>
                      </m:e>
                      <m:sub>
                        <m:r>
                          <a:rPr lang="en-US" sz="1400" i="1">
                            <a:latin typeface="Cambria Math" panose="02040503050406030204" pitchFamily="18" charset="0"/>
                          </a:rPr>
                          <m:t>𝑗</m:t>
                        </m:r>
                      </m:sub>
                    </m:sSub>
                  </m:oMath>
                </a14:m>
                <a:endParaRPr lang="en-US" sz="1400" b="0" dirty="0"/>
              </a:p>
              <a:p>
                <a:pPr marL="285750" indent="-285750">
                  <a:buFont typeface="Arial" panose="020B0604020202020204" pitchFamily="34" charset="0"/>
                  <a:buChar char="•"/>
                </a:pP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𝑋</m:t>
                        </m:r>
                      </m:e>
                      <m:sub>
                        <m:r>
                          <a:rPr lang="en-US" sz="1400" i="1">
                            <a:latin typeface="Cambria Math" panose="02040503050406030204" pitchFamily="18" charset="0"/>
                          </a:rPr>
                          <m:t>𝑗</m:t>
                        </m:r>
                      </m:sub>
                      <m:sup>
                        <m:r>
                          <a:rPr lang="en-US" sz="1400" i="1">
                            <a:latin typeface="Cambria Math" panose="02040503050406030204" pitchFamily="18" charset="0"/>
                          </a:rPr>
                          <m:t>𝑇</m:t>
                        </m:r>
                      </m:sup>
                    </m:sSubSup>
                    <m:sSub>
                      <m:sSubPr>
                        <m:ctrlPr>
                          <a:rPr lang="en-US" sz="1400" i="1">
                            <a:latin typeface="Cambria Math" panose="02040503050406030204" pitchFamily="18" charset="0"/>
                          </a:rPr>
                        </m:ctrlPr>
                      </m:sSubPr>
                      <m:e>
                        <m:r>
                          <a:rPr lang="en-US" sz="1400" i="1">
                            <a:latin typeface="Cambria Math" panose="02040503050406030204" pitchFamily="18" charset="0"/>
                          </a:rPr>
                          <m:t>𝑋</m:t>
                        </m:r>
                      </m:e>
                      <m:sub>
                        <m:r>
                          <a:rPr lang="en-US" sz="1400" i="1">
                            <a:latin typeface="Cambria Math" panose="02040503050406030204" pitchFamily="18" charset="0"/>
                          </a:rPr>
                          <m:t>𝑗</m:t>
                        </m:r>
                      </m:sub>
                    </m:sSub>
                  </m:oMath>
                </a14:m>
                <a:r>
                  <a:rPr lang="en-US" sz="1400" b="0" dirty="0"/>
                  <a:t>: squared length of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𝑋</m:t>
                        </m:r>
                      </m:e>
                      <m:sub>
                        <m:r>
                          <a:rPr lang="en-US" sz="1400" i="1">
                            <a:latin typeface="Cambria Math" panose="02040503050406030204" pitchFamily="18" charset="0"/>
                          </a:rPr>
                          <m:t>𝑗</m:t>
                        </m:r>
                      </m:sub>
                    </m:sSub>
                  </m:oMath>
                </a14:m>
                <a:endParaRPr lang="en-US" sz="1400" b="0" dirty="0"/>
              </a:p>
              <a:p>
                <a:pPr marL="742950" lvl="1" indent="-285750">
                  <a:buFont typeface="Arial" panose="020B0604020202020204" pitchFamily="34" charset="0"/>
                  <a:buChar char="•"/>
                </a:pPr>
                <a:r>
                  <a:rPr lang="en-US" sz="1400" dirty="0"/>
                  <a:t>Scale so that it is independence of </a:t>
                </a:r>
                <a14:m>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𝑋</m:t>
                        </m:r>
                      </m:e>
                      <m:sub>
                        <m:r>
                          <a:rPr lang="en-US" sz="1400" i="1">
                            <a:latin typeface="Cambria Math" panose="02040503050406030204" pitchFamily="18" charset="0"/>
                          </a:rPr>
                          <m:t>𝑗</m:t>
                        </m:r>
                      </m:sub>
                    </m:sSub>
                    <m:r>
                      <a:rPr lang="en-US" sz="1400" b="0" i="1" smtClean="0">
                        <a:latin typeface="Cambria Math" panose="02040503050406030204" pitchFamily="18" charset="0"/>
                      </a:rPr>
                      <m:t>|</m:t>
                    </m:r>
                  </m:oMath>
                </a14:m>
                <a:endParaRPr lang="en-US" sz="1400" b="0" dirty="0"/>
              </a:p>
              <a:p>
                <a:pPr marL="285750" indent="-285750">
                  <a:buFont typeface="Arial" panose="020B0604020202020204" pitchFamily="34" charset="0"/>
                  <a:buChar char="•"/>
                </a:pPr>
                <a:endParaRPr lang="en-US" sz="1400" dirty="0"/>
              </a:p>
            </p:txBody>
          </p:sp>
        </mc:Choice>
        <mc:Fallback xmlns="">
          <p:sp>
            <p:nvSpPr>
              <p:cNvPr id="66" name="TextBox 65">
                <a:extLst>
                  <a:ext uri="{FF2B5EF4-FFF2-40B4-BE49-F238E27FC236}">
                    <a16:creationId xmlns:a16="http://schemas.microsoft.com/office/drawing/2014/main" id="{FC40412A-7D41-5AF2-B56B-D63B1183AE3C}"/>
                  </a:ext>
                </a:extLst>
              </p:cNvPr>
              <p:cNvSpPr txBox="1">
                <a:spLocks noRot="1" noChangeAspect="1" noMove="1" noResize="1" noEditPoints="1" noAdjustHandles="1" noChangeArrowheads="1" noChangeShapeType="1" noTextEdit="1"/>
              </p:cNvSpPr>
              <p:nvPr/>
            </p:nvSpPr>
            <p:spPr>
              <a:xfrm>
                <a:off x="4926015" y="6534774"/>
                <a:ext cx="3755452" cy="1509131"/>
              </a:xfrm>
              <a:prstGeom prst="rect">
                <a:avLst/>
              </a:prstGeom>
              <a:blipFill>
                <a:blip r:embed="rId25"/>
                <a:stretch>
                  <a:fillRect l="-337"/>
                </a:stretch>
              </a:blipFill>
            </p:spPr>
            <p:txBody>
              <a:bodyPr/>
              <a:lstStyle/>
              <a:p>
                <a:r>
                  <a:rPr lang="en-US">
                    <a:noFill/>
                  </a:rPr>
                  <a:t> </a:t>
                </a:r>
              </a:p>
            </p:txBody>
          </p:sp>
        </mc:Fallback>
      </mc:AlternateContent>
      <p:cxnSp>
        <p:nvCxnSpPr>
          <p:cNvPr id="69" name="Straight Arrow Connector 68">
            <a:extLst>
              <a:ext uri="{FF2B5EF4-FFF2-40B4-BE49-F238E27FC236}">
                <a16:creationId xmlns:a16="http://schemas.microsoft.com/office/drawing/2014/main" id="{42F9C937-8ACB-EFF1-5234-561D58601F5A}"/>
              </a:ext>
            </a:extLst>
          </p:cNvPr>
          <p:cNvCxnSpPr/>
          <p:nvPr/>
        </p:nvCxnSpPr>
        <p:spPr>
          <a:xfrm>
            <a:off x="4910979" y="6128679"/>
            <a:ext cx="709703"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359F98A-FFAF-D9A6-2FC0-1C1D521F1FE8}"/>
              </a:ext>
            </a:extLst>
          </p:cNvPr>
          <p:cNvCxnSpPr>
            <a:cxnSpLocks/>
          </p:cNvCxnSpPr>
          <p:nvPr/>
        </p:nvCxnSpPr>
        <p:spPr>
          <a:xfrm flipV="1">
            <a:off x="4910979" y="5515658"/>
            <a:ext cx="421269" cy="61302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7E9E03C-C71E-909E-E174-3E4618C837DD}"/>
              </a:ext>
            </a:extLst>
          </p:cNvPr>
          <p:cNvCxnSpPr>
            <a:cxnSpLocks/>
          </p:cNvCxnSpPr>
          <p:nvPr/>
        </p:nvCxnSpPr>
        <p:spPr>
          <a:xfrm>
            <a:off x="5332248" y="5515658"/>
            <a:ext cx="0" cy="613021"/>
          </a:xfrm>
          <a:prstGeom prst="line">
            <a:avLst/>
          </a:prstGeom>
          <a:ln>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D45F24C0-3EAB-B88F-E098-21366BA96AB5}"/>
                  </a:ext>
                </a:extLst>
              </p:cNvPr>
              <p:cNvSpPr txBox="1"/>
              <p:nvPr/>
            </p:nvSpPr>
            <p:spPr>
              <a:xfrm>
                <a:off x="4895418" y="5898734"/>
                <a:ext cx="356839"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𝜃</m:t>
                      </m:r>
                    </m:oMath>
                  </m:oMathPara>
                </a14:m>
                <a:endParaRPr lang="en-US" sz="1200" dirty="0"/>
              </a:p>
            </p:txBody>
          </p:sp>
        </mc:Choice>
        <mc:Fallback xmlns="">
          <p:sp>
            <p:nvSpPr>
              <p:cNvPr id="78" name="TextBox 77">
                <a:extLst>
                  <a:ext uri="{FF2B5EF4-FFF2-40B4-BE49-F238E27FC236}">
                    <a16:creationId xmlns:a16="http://schemas.microsoft.com/office/drawing/2014/main" id="{D45F24C0-3EAB-B88F-E098-21366BA96AB5}"/>
                  </a:ext>
                </a:extLst>
              </p:cNvPr>
              <p:cNvSpPr txBox="1">
                <a:spLocks noRot="1" noChangeAspect="1" noMove="1" noResize="1" noEditPoints="1" noAdjustHandles="1" noChangeArrowheads="1" noChangeShapeType="1" noTextEdit="1"/>
              </p:cNvSpPr>
              <p:nvPr/>
            </p:nvSpPr>
            <p:spPr>
              <a:xfrm>
                <a:off x="4895418" y="5898734"/>
                <a:ext cx="356839" cy="276999"/>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8A612C81-7C17-AD53-17E3-8A742D10E09E}"/>
                  </a:ext>
                </a:extLst>
              </p:cNvPr>
              <p:cNvSpPr txBox="1"/>
              <p:nvPr/>
            </p:nvSpPr>
            <p:spPr>
              <a:xfrm>
                <a:off x="5523823" y="6037233"/>
                <a:ext cx="381000" cy="2752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050" b="1" i="1" smtClean="0">
                              <a:solidFill>
                                <a:schemeClr val="accent6">
                                  <a:lumMod val="50000"/>
                                </a:schemeClr>
                              </a:solidFill>
                              <a:latin typeface="Cambria Math" panose="02040503050406030204" pitchFamily="18" charset="0"/>
                            </a:rPr>
                          </m:ctrlPr>
                        </m:sSubPr>
                        <m:e>
                          <m:r>
                            <a:rPr lang="en-US" sz="1050" b="1" i="1">
                              <a:solidFill>
                                <a:schemeClr val="accent6">
                                  <a:lumMod val="50000"/>
                                </a:schemeClr>
                              </a:solidFill>
                              <a:latin typeface="Cambria Math" panose="02040503050406030204" pitchFamily="18" charset="0"/>
                            </a:rPr>
                            <m:t>𝑿</m:t>
                          </m:r>
                        </m:e>
                        <m:sub>
                          <m:r>
                            <a:rPr lang="en-US" sz="1050" b="1" i="1">
                              <a:solidFill>
                                <a:schemeClr val="accent6">
                                  <a:lumMod val="50000"/>
                                </a:schemeClr>
                              </a:solidFill>
                              <a:latin typeface="Cambria Math" panose="02040503050406030204" pitchFamily="18" charset="0"/>
                            </a:rPr>
                            <m:t>𝒋</m:t>
                          </m:r>
                        </m:sub>
                      </m:sSub>
                    </m:oMath>
                  </m:oMathPara>
                </a14:m>
                <a:endParaRPr lang="en-US" sz="1050" b="1" dirty="0">
                  <a:solidFill>
                    <a:schemeClr val="accent6">
                      <a:lumMod val="50000"/>
                    </a:schemeClr>
                  </a:solidFill>
                </a:endParaRPr>
              </a:p>
            </p:txBody>
          </p:sp>
        </mc:Choice>
        <mc:Fallback xmlns="">
          <p:sp>
            <p:nvSpPr>
              <p:cNvPr id="80" name="TextBox 79">
                <a:extLst>
                  <a:ext uri="{FF2B5EF4-FFF2-40B4-BE49-F238E27FC236}">
                    <a16:creationId xmlns:a16="http://schemas.microsoft.com/office/drawing/2014/main" id="{8A612C81-7C17-AD53-17E3-8A742D10E09E}"/>
                  </a:ext>
                </a:extLst>
              </p:cNvPr>
              <p:cNvSpPr txBox="1">
                <a:spLocks noRot="1" noChangeAspect="1" noMove="1" noResize="1" noEditPoints="1" noAdjustHandles="1" noChangeArrowheads="1" noChangeShapeType="1" noTextEdit="1"/>
              </p:cNvSpPr>
              <p:nvPr/>
            </p:nvSpPr>
            <p:spPr>
              <a:xfrm>
                <a:off x="5523823" y="6037233"/>
                <a:ext cx="381000" cy="275204"/>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1AD46E0F-8A82-50D3-8A3D-5C4B260DEB3F}"/>
                  </a:ext>
                </a:extLst>
              </p:cNvPr>
              <p:cNvSpPr txBox="1"/>
              <p:nvPr/>
            </p:nvSpPr>
            <p:spPr>
              <a:xfrm>
                <a:off x="4991244" y="5336896"/>
                <a:ext cx="381000" cy="2539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050" b="1" i="1" smtClean="0">
                          <a:solidFill>
                            <a:schemeClr val="accent2">
                              <a:lumMod val="50000"/>
                            </a:schemeClr>
                          </a:solidFill>
                          <a:latin typeface="Cambria Math" panose="02040503050406030204" pitchFamily="18" charset="0"/>
                        </a:rPr>
                        <m:t>𝒀</m:t>
                      </m:r>
                    </m:oMath>
                  </m:oMathPara>
                </a14:m>
                <a:endParaRPr lang="en-US" sz="1050" b="1" dirty="0">
                  <a:solidFill>
                    <a:schemeClr val="accent6">
                      <a:lumMod val="50000"/>
                    </a:schemeClr>
                  </a:solidFill>
                </a:endParaRPr>
              </a:p>
            </p:txBody>
          </p:sp>
        </mc:Choice>
        <mc:Fallback xmlns="">
          <p:sp>
            <p:nvSpPr>
              <p:cNvPr id="81" name="TextBox 80">
                <a:extLst>
                  <a:ext uri="{FF2B5EF4-FFF2-40B4-BE49-F238E27FC236}">
                    <a16:creationId xmlns:a16="http://schemas.microsoft.com/office/drawing/2014/main" id="{1AD46E0F-8A82-50D3-8A3D-5C4B260DEB3F}"/>
                  </a:ext>
                </a:extLst>
              </p:cNvPr>
              <p:cNvSpPr txBox="1">
                <a:spLocks noRot="1" noChangeAspect="1" noMove="1" noResize="1" noEditPoints="1" noAdjustHandles="1" noChangeArrowheads="1" noChangeShapeType="1" noTextEdit="1"/>
              </p:cNvSpPr>
              <p:nvPr/>
            </p:nvSpPr>
            <p:spPr>
              <a:xfrm>
                <a:off x="4991244" y="5336896"/>
                <a:ext cx="381000" cy="253916"/>
              </a:xfrm>
              <a:prstGeom prst="rect">
                <a:avLst/>
              </a:prstGeom>
              <a:blipFill>
                <a:blip r:embed="rId2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7480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50D18-F833-AD80-4C69-7CE8D97BAA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C77BAA-1F5E-1B86-D97E-06BF782D70C6}"/>
              </a:ext>
            </a:extLst>
          </p:cNvPr>
          <p:cNvSpPr txBox="1"/>
          <p:nvPr/>
        </p:nvSpPr>
        <p:spPr>
          <a:xfrm>
            <a:off x="1737819" y="260467"/>
            <a:ext cx="5668361" cy="400110"/>
          </a:xfrm>
          <a:prstGeom prst="rect">
            <a:avLst/>
          </a:prstGeom>
          <a:noFill/>
        </p:spPr>
        <p:txBody>
          <a:bodyPr wrap="square" rtlCol="0" anchor="ctr">
            <a:spAutoFit/>
          </a:bodyPr>
          <a:lstStyle/>
          <a:p>
            <a:pPr algn="ctr"/>
            <a:r>
              <a:rPr lang="en-US" sz="2000" b="1" dirty="0"/>
              <a:t>Odds, Odds Ratio and Logistic Regression</a:t>
            </a:r>
          </a:p>
        </p:txBody>
      </p:sp>
      <p:sp>
        <p:nvSpPr>
          <p:cNvPr id="7" name="Rounded Rectangle 6">
            <a:extLst>
              <a:ext uri="{FF2B5EF4-FFF2-40B4-BE49-F238E27FC236}">
                <a16:creationId xmlns:a16="http://schemas.microsoft.com/office/drawing/2014/main" id="{4E7B7929-E409-A0DF-DCA1-6145EFC2A34E}"/>
              </a:ext>
            </a:extLst>
          </p:cNvPr>
          <p:cNvSpPr/>
          <p:nvPr/>
        </p:nvSpPr>
        <p:spPr>
          <a:xfrm>
            <a:off x="389741" y="5192851"/>
            <a:ext cx="8364513" cy="210918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5" name="Rounded Rectangle 14">
            <a:extLst>
              <a:ext uri="{FF2B5EF4-FFF2-40B4-BE49-F238E27FC236}">
                <a16:creationId xmlns:a16="http://schemas.microsoft.com/office/drawing/2014/main" id="{CCCAD386-AAA3-6893-F5DD-E7E72091FD0E}"/>
              </a:ext>
            </a:extLst>
          </p:cNvPr>
          <p:cNvSpPr/>
          <p:nvPr/>
        </p:nvSpPr>
        <p:spPr>
          <a:xfrm>
            <a:off x="389743" y="7453070"/>
            <a:ext cx="8364513" cy="142449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200" dirty="0">
              <a:solidFill>
                <a:schemeClr val="tx1"/>
              </a:solidFill>
            </a:endParaRPr>
          </a:p>
        </p:txBody>
      </p:sp>
      <p:sp>
        <p:nvSpPr>
          <p:cNvPr id="16" name="TextBox 15">
            <a:extLst>
              <a:ext uri="{FF2B5EF4-FFF2-40B4-BE49-F238E27FC236}">
                <a16:creationId xmlns:a16="http://schemas.microsoft.com/office/drawing/2014/main" id="{E0FE4354-8F71-5641-96E0-031CE469CD7E}"/>
              </a:ext>
            </a:extLst>
          </p:cNvPr>
          <p:cNvSpPr txBox="1"/>
          <p:nvPr/>
        </p:nvSpPr>
        <p:spPr>
          <a:xfrm>
            <a:off x="1584803" y="7544466"/>
            <a:ext cx="6179206" cy="369332"/>
          </a:xfrm>
          <a:prstGeom prst="rect">
            <a:avLst/>
          </a:prstGeom>
          <a:noFill/>
        </p:spPr>
        <p:txBody>
          <a:bodyPr wrap="square" rtlCol="0" anchor="ctr">
            <a:spAutoFit/>
          </a:bodyPr>
          <a:lstStyle/>
          <a:p>
            <a:pPr algn="ctr"/>
            <a:r>
              <a:rPr lang="en-US" b="1" dirty="0"/>
              <a:t>What is Odds?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469889F-61E8-0901-763A-AD367CAA7B3F}"/>
                  </a:ext>
                </a:extLst>
              </p:cNvPr>
              <p:cNvSpPr txBox="1"/>
              <p:nvPr/>
            </p:nvSpPr>
            <p:spPr>
              <a:xfrm>
                <a:off x="602484" y="7814248"/>
                <a:ext cx="7896747" cy="954613"/>
              </a:xfrm>
              <a:prstGeom prst="rect">
                <a:avLst/>
              </a:prstGeom>
              <a:noFill/>
            </p:spPr>
            <p:txBody>
              <a:bodyPr wrap="square">
                <a:spAutoFit/>
              </a:bodyPr>
              <a:lstStyle/>
              <a:p>
                <a:pPr marL="171450" indent="-171450">
                  <a:buFont typeface="Arial" panose="020B0604020202020204" pitchFamily="34" charset="0"/>
                  <a:buChar char="•"/>
                </a:pPr>
                <a14:m>
                  <m:oMath xmlns:m="http://schemas.openxmlformats.org/officeDocument/2006/math">
                    <m:r>
                      <a:rPr lang="en-US" sz="1400" i="1" smtClean="0">
                        <a:latin typeface="Cambria Math" panose="02040503050406030204" pitchFamily="18" charset="0"/>
                      </a:rPr>
                      <m:t>𝑂𝑑𝑑𝑠</m:t>
                    </m:r>
                    <m:r>
                      <a:rPr lang="en-US" sz="1400" i="1" smtClean="0">
                        <a:latin typeface="Cambria Math" panose="02040503050406030204" pitchFamily="18" charset="0"/>
                      </a:rPr>
                      <m:t>= </m:t>
                    </m:r>
                    <m:f>
                      <m:fPr>
                        <m:ctrlPr>
                          <a:rPr lang="en-US" sz="1400" i="1">
                            <a:latin typeface="Cambria Math" panose="02040503050406030204" pitchFamily="18" charset="0"/>
                          </a:rPr>
                        </m:ctrlPr>
                      </m:fPr>
                      <m:num>
                        <m:r>
                          <a:rPr lang="en-US" sz="1400" i="1">
                            <a:latin typeface="Cambria Math" panose="02040503050406030204" pitchFamily="18" charset="0"/>
                          </a:rPr>
                          <m:t>𝑝</m:t>
                        </m:r>
                      </m:num>
                      <m:den>
                        <m:r>
                          <a:rPr lang="en-US" sz="1400" i="1">
                            <a:latin typeface="Cambria Math" panose="02040503050406030204" pitchFamily="18" charset="0"/>
                          </a:rPr>
                          <m:t>1−</m:t>
                        </m:r>
                        <m:r>
                          <a:rPr lang="en-US" sz="1400" i="1">
                            <a:latin typeface="Cambria Math" panose="02040503050406030204" pitchFamily="18" charset="0"/>
                          </a:rPr>
                          <m:t>𝑝</m:t>
                        </m:r>
                      </m:den>
                    </m:f>
                  </m:oMath>
                </a14:m>
                <a:endParaRPr lang="en-US" sz="1400" dirty="0">
                  <a:solidFill>
                    <a:schemeClr val="tx1"/>
                  </a:solidFill>
                </a:endParaRPr>
              </a:p>
              <a:p>
                <a:pPr marL="171450" indent="-171450">
                  <a:buFont typeface="Arial" panose="020B0604020202020204" pitchFamily="34" charset="0"/>
                  <a:buChar char="•"/>
                </a:pPr>
                <a:r>
                  <a:rPr lang="en-US" sz="1400" dirty="0"/>
                  <a:t>Odds tells you "how many times more likely something is to happen compared to not happen.”</a:t>
                </a:r>
              </a:p>
              <a:p>
                <a:pPr marL="171450" indent="-171450">
                  <a:buFont typeface="Arial" panose="020B0604020202020204" pitchFamily="34" charset="0"/>
                  <a:buChar char="•"/>
                </a:pPr>
                <a:r>
                  <a:rPr lang="en-US" sz="1400" dirty="0"/>
                  <a:t>In the contingency table above, </a:t>
                </a:r>
                <a14:m>
                  <m:oMath xmlns:m="http://schemas.openxmlformats.org/officeDocument/2006/math">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𝑁</m:t>
                            </m:r>
                          </m:e>
                          <m:sub>
                            <m:r>
                              <a:rPr lang="en-US" sz="1400" i="1">
                                <a:latin typeface="Cambria Math" panose="02040503050406030204" pitchFamily="18" charset="0"/>
                              </a:rPr>
                              <m:t>00</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𝑁</m:t>
                            </m:r>
                          </m:e>
                          <m:sub>
                            <m:r>
                              <a:rPr lang="en-US" sz="1400" i="1">
                                <a:latin typeface="Cambria Math" panose="02040503050406030204" pitchFamily="18" charset="0"/>
                              </a:rPr>
                              <m:t>1</m:t>
                            </m:r>
                            <m:r>
                              <a:rPr lang="en-US" sz="1400" b="0" i="1" smtClean="0">
                                <a:latin typeface="Cambria Math" panose="02040503050406030204" pitchFamily="18" charset="0"/>
                              </a:rPr>
                              <m:t>0</m:t>
                            </m:r>
                          </m:sub>
                        </m:sSub>
                      </m:den>
                    </m:f>
                  </m:oMath>
                </a14:m>
                <a:r>
                  <a:rPr lang="en-US" sz="1400" dirty="0"/>
                  <a:t> is the odds for variable2=0, </a:t>
                </a:r>
                <a14:m>
                  <m:oMath xmlns:m="http://schemas.openxmlformats.org/officeDocument/2006/math">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𝑁</m:t>
                            </m:r>
                          </m:e>
                          <m:sub>
                            <m:r>
                              <a:rPr lang="en-US" sz="1400" i="1">
                                <a:latin typeface="Cambria Math" panose="02040503050406030204" pitchFamily="18" charset="0"/>
                              </a:rPr>
                              <m:t>0</m:t>
                            </m:r>
                            <m:r>
                              <a:rPr lang="en-US" sz="1400" b="0" i="1" smtClean="0">
                                <a:latin typeface="Cambria Math" panose="02040503050406030204" pitchFamily="18" charset="0"/>
                              </a:rPr>
                              <m:t>1</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𝑁</m:t>
                            </m:r>
                          </m:e>
                          <m:sub>
                            <m:r>
                              <a:rPr lang="en-US" sz="1400" i="1">
                                <a:latin typeface="Cambria Math" panose="02040503050406030204" pitchFamily="18" charset="0"/>
                              </a:rPr>
                              <m:t>1</m:t>
                            </m:r>
                            <m:r>
                              <a:rPr lang="en-US" sz="1400" b="0" i="1" smtClean="0">
                                <a:latin typeface="Cambria Math" panose="02040503050406030204" pitchFamily="18" charset="0"/>
                              </a:rPr>
                              <m:t>1</m:t>
                            </m:r>
                          </m:sub>
                        </m:sSub>
                      </m:den>
                    </m:f>
                  </m:oMath>
                </a14:m>
                <a:r>
                  <a:rPr lang="en-US" sz="1400" dirty="0"/>
                  <a:t> is the odds for variable2=1</a:t>
                </a:r>
              </a:p>
            </p:txBody>
          </p:sp>
        </mc:Choice>
        <mc:Fallback xmlns="">
          <p:sp>
            <p:nvSpPr>
              <p:cNvPr id="27" name="TextBox 26">
                <a:extLst>
                  <a:ext uri="{FF2B5EF4-FFF2-40B4-BE49-F238E27FC236}">
                    <a16:creationId xmlns:a16="http://schemas.microsoft.com/office/drawing/2014/main" id="{8469889F-61E8-0901-763A-AD367CAA7B3F}"/>
                  </a:ext>
                </a:extLst>
              </p:cNvPr>
              <p:cNvSpPr txBox="1">
                <a:spLocks noRot="1" noChangeAspect="1" noMove="1" noResize="1" noEditPoints="1" noAdjustHandles="1" noChangeArrowheads="1" noChangeShapeType="1" noTextEdit="1"/>
              </p:cNvSpPr>
              <p:nvPr/>
            </p:nvSpPr>
            <p:spPr>
              <a:xfrm>
                <a:off x="602484" y="7814248"/>
                <a:ext cx="7896747" cy="954613"/>
              </a:xfrm>
              <a:prstGeom prst="rect">
                <a:avLst/>
              </a:prstGeom>
              <a:blipFill>
                <a:blip r:embed="rId3"/>
                <a:stretch>
                  <a:fillRect l="-161"/>
                </a:stretch>
              </a:blipFill>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id="{9466BCF6-0ABE-19CE-C891-2CD4B87D27B8}"/>
              </a:ext>
            </a:extLst>
          </p:cNvPr>
          <p:cNvSpPr/>
          <p:nvPr/>
        </p:nvSpPr>
        <p:spPr>
          <a:xfrm>
            <a:off x="389743" y="2289948"/>
            <a:ext cx="8364512" cy="271108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4" name="TextBox 3">
            <a:extLst>
              <a:ext uri="{FF2B5EF4-FFF2-40B4-BE49-F238E27FC236}">
                <a16:creationId xmlns:a16="http://schemas.microsoft.com/office/drawing/2014/main" id="{DBBCF240-08CB-1478-11FF-11AA52997C6A}"/>
              </a:ext>
            </a:extLst>
          </p:cNvPr>
          <p:cNvSpPr txBox="1"/>
          <p:nvPr/>
        </p:nvSpPr>
        <p:spPr>
          <a:xfrm>
            <a:off x="1501658" y="598084"/>
            <a:ext cx="6525376" cy="307777"/>
          </a:xfrm>
          <a:prstGeom prst="rect">
            <a:avLst/>
          </a:prstGeom>
          <a:noFill/>
        </p:spPr>
        <p:txBody>
          <a:bodyPr wrap="none" rtlCol="0">
            <a:spAutoFit/>
          </a:bodyPr>
          <a:lstStyle/>
          <a:p>
            <a:pPr algn="ctr"/>
            <a:r>
              <a:rPr lang="en-US" sz="1400" dirty="0"/>
              <a:t>Odds ratio measures how strongly two </a:t>
            </a:r>
            <a:r>
              <a:rPr lang="en-US" sz="1400" b="1" dirty="0"/>
              <a:t>binary variables</a:t>
            </a:r>
            <a:r>
              <a:rPr lang="en-US" sz="1400" dirty="0"/>
              <a:t> are associated with each other.</a:t>
            </a:r>
          </a:p>
        </p:txBody>
      </p:sp>
      <p:sp>
        <p:nvSpPr>
          <p:cNvPr id="5" name="Rounded Rectangle 4">
            <a:extLst>
              <a:ext uri="{FF2B5EF4-FFF2-40B4-BE49-F238E27FC236}">
                <a16:creationId xmlns:a16="http://schemas.microsoft.com/office/drawing/2014/main" id="{69569B1B-DC25-F8E5-88CA-B42FE243F4C8}"/>
              </a:ext>
            </a:extLst>
          </p:cNvPr>
          <p:cNvSpPr/>
          <p:nvPr/>
        </p:nvSpPr>
        <p:spPr>
          <a:xfrm>
            <a:off x="389743" y="915521"/>
            <a:ext cx="8364512" cy="120419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r>
              <a:rPr lang="en-US" b="1" dirty="0">
                <a:solidFill>
                  <a:schemeClr val="tx1"/>
                </a:solidFill>
              </a:rPr>
              <a:t>Question</a:t>
            </a:r>
            <a:endParaRPr lang="en-US" sz="1600" b="1" dirty="0">
              <a:solidFill>
                <a:schemeClr val="tx1"/>
              </a:solidFill>
            </a:endParaRPr>
          </a:p>
          <a:p>
            <a:pPr algn="ctr">
              <a:spcBef>
                <a:spcPts val="600"/>
              </a:spcBef>
              <a:spcAft>
                <a:spcPts val="600"/>
              </a:spcAft>
            </a:pPr>
            <a:r>
              <a:rPr lang="en-US" sz="1600" dirty="0">
                <a:solidFill>
                  <a:schemeClr val="tx1"/>
                </a:solidFill>
              </a:rPr>
              <a:t>Assume that we have two </a:t>
            </a:r>
            <a:r>
              <a:rPr lang="en-US" sz="1600" b="1" dirty="0">
                <a:solidFill>
                  <a:schemeClr val="tx1"/>
                </a:solidFill>
              </a:rPr>
              <a:t>binary</a:t>
            </a:r>
            <a:r>
              <a:rPr lang="en-US" sz="1600" dirty="0">
                <a:solidFill>
                  <a:schemeClr val="tx1"/>
                </a:solidFill>
              </a:rPr>
              <a:t> variables, are they </a:t>
            </a:r>
            <a:r>
              <a:rPr lang="en-US" sz="1600" b="1" dirty="0">
                <a:solidFill>
                  <a:schemeClr val="tx1"/>
                </a:solidFill>
              </a:rPr>
              <a:t>associated</a:t>
            </a:r>
            <a:r>
              <a:rPr lang="en-US" sz="1600" dirty="0">
                <a:solidFill>
                  <a:schemeClr val="tx1"/>
                </a:solidFill>
              </a:rPr>
              <a:t> with each other?</a:t>
            </a:r>
          </a:p>
          <a:p>
            <a:pPr algn="ctr">
              <a:spcBef>
                <a:spcPts val="600"/>
              </a:spcBef>
              <a:spcAft>
                <a:spcPts val="600"/>
              </a:spcAft>
            </a:pPr>
            <a:r>
              <a:rPr lang="en-US" sz="1600" dirty="0">
                <a:solidFill>
                  <a:schemeClr val="tx1"/>
                </a:solidFill>
              </a:rPr>
              <a:t>In other words, if I see 1 for the first variable, am I </a:t>
            </a:r>
            <a:r>
              <a:rPr lang="en-US" sz="1600" b="1" dirty="0">
                <a:solidFill>
                  <a:schemeClr val="tx1"/>
                </a:solidFill>
              </a:rPr>
              <a:t>more likely </a:t>
            </a:r>
            <a:r>
              <a:rPr lang="en-US" sz="1600" dirty="0">
                <a:solidFill>
                  <a:schemeClr val="tx1"/>
                </a:solidFill>
              </a:rPr>
              <a:t>to see 1 for the second variable?</a:t>
            </a:r>
          </a:p>
        </p:txBody>
      </p:sp>
      <p:sp>
        <p:nvSpPr>
          <p:cNvPr id="8" name="TextBox 7">
            <a:extLst>
              <a:ext uri="{FF2B5EF4-FFF2-40B4-BE49-F238E27FC236}">
                <a16:creationId xmlns:a16="http://schemas.microsoft.com/office/drawing/2014/main" id="{1ACB1B06-841F-6B36-25A8-F156B379149A}"/>
              </a:ext>
            </a:extLst>
          </p:cNvPr>
          <p:cNvSpPr txBox="1"/>
          <p:nvPr/>
        </p:nvSpPr>
        <p:spPr>
          <a:xfrm>
            <a:off x="3612247" y="2325469"/>
            <a:ext cx="1919500" cy="369332"/>
          </a:xfrm>
          <a:prstGeom prst="rect">
            <a:avLst/>
          </a:prstGeom>
          <a:noFill/>
        </p:spPr>
        <p:txBody>
          <a:bodyPr wrap="none" rtlCol="0">
            <a:spAutoFit/>
          </a:bodyPr>
          <a:lstStyle/>
          <a:p>
            <a:r>
              <a:rPr lang="en-US" b="1" dirty="0"/>
              <a:t>Contingency Table</a:t>
            </a:r>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DF165C11-6806-B8CE-A67B-F80DE7E8E1AA}"/>
                  </a:ext>
                </a:extLst>
              </p:cNvPr>
              <p:cNvGraphicFramePr>
                <a:graphicFrameLocks noGrp="1"/>
              </p:cNvGraphicFramePr>
              <p:nvPr>
                <p:extLst>
                  <p:ext uri="{D42A27DB-BD31-4B8C-83A1-F6EECF244321}">
                    <p14:modId xmlns:p14="http://schemas.microsoft.com/office/powerpoint/2010/main" val="3573254991"/>
                  </p:ext>
                </p:extLst>
              </p:nvPr>
            </p:nvGraphicFramePr>
            <p:xfrm>
              <a:off x="686481" y="2813286"/>
              <a:ext cx="3499857" cy="1112520"/>
            </p:xfrm>
            <a:graphic>
              <a:graphicData uri="http://schemas.openxmlformats.org/drawingml/2006/table">
                <a:tbl>
                  <a:tblPr firstRow="1" firstCol="1" bandRow="1">
                    <a:tableStyleId>{5C22544A-7EE6-4342-B048-85BDC9FD1C3A}</a:tableStyleId>
                  </a:tblPr>
                  <a:tblGrid>
                    <a:gridCol w="1166619">
                      <a:extLst>
                        <a:ext uri="{9D8B030D-6E8A-4147-A177-3AD203B41FA5}">
                          <a16:colId xmlns:a16="http://schemas.microsoft.com/office/drawing/2014/main" val="187518742"/>
                        </a:ext>
                      </a:extLst>
                    </a:gridCol>
                    <a:gridCol w="1166619">
                      <a:extLst>
                        <a:ext uri="{9D8B030D-6E8A-4147-A177-3AD203B41FA5}">
                          <a16:colId xmlns:a16="http://schemas.microsoft.com/office/drawing/2014/main" val="3364692515"/>
                        </a:ext>
                      </a:extLst>
                    </a:gridCol>
                    <a:gridCol w="1166619">
                      <a:extLst>
                        <a:ext uri="{9D8B030D-6E8A-4147-A177-3AD203B41FA5}">
                          <a16:colId xmlns:a16="http://schemas.microsoft.com/office/drawing/2014/main" val="3723084272"/>
                        </a:ext>
                      </a:extLst>
                    </a:gridCol>
                  </a:tblGrid>
                  <a:tr h="370840">
                    <a:tc>
                      <a:txBody>
                        <a:bodyPr/>
                        <a:lstStyle/>
                        <a:p>
                          <a:pPr algn="ctr"/>
                          <a:endParaRPr lang="en-US" dirty="0"/>
                        </a:p>
                      </a:txBody>
                      <a:tcPr/>
                    </a:tc>
                    <a:tc>
                      <a:txBody>
                        <a:bodyPr/>
                        <a:lstStyle/>
                        <a:p>
                          <a:pPr algn="ctr"/>
                          <a:r>
                            <a:rPr lang="en-US" dirty="0"/>
                            <a:t>Var1=0</a:t>
                          </a:r>
                        </a:p>
                      </a:txBody>
                      <a:tcPr/>
                    </a:tc>
                    <a:tc>
                      <a:txBody>
                        <a:bodyPr/>
                        <a:lstStyle/>
                        <a:p>
                          <a:pPr algn="ctr"/>
                          <a:r>
                            <a:rPr lang="en-US" dirty="0"/>
                            <a:t>Var1=1</a:t>
                          </a:r>
                        </a:p>
                      </a:txBody>
                      <a:tcPr/>
                    </a:tc>
                    <a:extLst>
                      <a:ext uri="{0D108BD9-81ED-4DB2-BD59-A6C34878D82A}">
                        <a16:rowId xmlns:a16="http://schemas.microsoft.com/office/drawing/2014/main" val="2805466444"/>
                      </a:ext>
                    </a:extLst>
                  </a:tr>
                  <a:tr h="370840">
                    <a:tc>
                      <a:txBody>
                        <a:bodyPr/>
                        <a:lstStyle/>
                        <a:p>
                          <a:pPr algn="ctr"/>
                          <a:r>
                            <a:rPr lang="en-US" dirty="0"/>
                            <a:t>Var2=0</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00</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10</m:t>
                                    </m:r>
                                  </m:sub>
                                </m:sSub>
                              </m:oMath>
                            </m:oMathPara>
                          </a14:m>
                          <a:endParaRPr lang="en-US" dirty="0"/>
                        </a:p>
                      </a:txBody>
                      <a:tcPr/>
                    </a:tc>
                    <a:extLst>
                      <a:ext uri="{0D108BD9-81ED-4DB2-BD59-A6C34878D82A}">
                        <a16:rowId xmlns:a16="http://schemas.microsoft.com/office/drawing/2014/main" val="2402074852"/>
                      </a:ext>
                    </a:extLst>
                  </a:tr>
                  <a:tr h="370840">
                    <a:tc>
                      <a:txBody>
                        <a:bodyPr/>
                        <a:lstStyle/>
                        <a:p>
                          <a:pPr algn="ctr"/>
                          <a:r>
                            <a:rPr lang="en-US" dirty="0"/>
                            <a:t>Var2=1</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01</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11</m:t>
                                    </m:r>
                                  </m:sub>
                                </m:sSub>
                              </m:oMath>
                            </m:oMathPara>
                          </a14:m>
                          <a:endParaRPr lang="en-US" dirty="0"/>
                        </a:p>
                      </a:txBody>
                      <a:tcPr/>
                    </a:tc>
                    <a:extLst>
                      <a:ext uri="{0D108BD9-81ED-4DB2-BD59-A6C34878D82A}">
                        <a16:rowId xmlns:a16="http://schemas.microsoft.com/office/drawing/2014/main" val="3901364977"/>
                      </a:ext>
                    </a:extLst>
                  </a:tr>
                </a:tbl>
              </a:graphicData>
            </a:graphic>
          </p:graphicFrame>
        </mc:Choice>
        <mc:Fallback xmlns="">
          <p:graphicFrame>
            <p:nvGraphicFramePr>
              <p:cNvPr id="12" name="Table 11">
                <a:extLst>
                  <a:ext uri="{FF2B5EF4-FFF2-40B4-BE49-F238E27FC236}">
                    <a16:creationId xmlns:a16="http://schemas.microsoft.com/office/drawing/2014/main" id="{DF165C11-6806-B8CE-A67B-F80DE7E8E1AA}"/>
                  </a:ext>
                </a:extLst>
              </p:cNvPr>
              <p:cNvGraphicFramePr>
                <a:graphicFrameLocks noGrp="1"/>
              </p:cNvGraphicFramePr>
              <p:nvPr>
                <p:extLst>
                  <p:ext uri="{D42A27DB-BD31-4B8C-83A1-F6EECF244321}">
                    <p14:modId xmlns:p14="http://schemas.microsoft.com/office/powerpoint/2010/main" val="3573254991"/>
                  </p:ext>
                </p:extLst>
              </p:nvPr>
            </p:nvGraphicFramePr>
            <p:xfrm>
              <a:off x="686481" y="2813286"/>
              <a:ext cx="3499857" cy="1112520"/>
            </p:xfrm>
            <a:graphic>
              <a:graphicData uri="http://schemas.openxmlformats.org/drawingml/2006/table">
                <a:tbl>
                  <a:tblPr firstRow="1" firstCol="1" bandRow="1">
                    <a:tableStyleId>{5C22544A-7EE6-4342-B048-85BDC9FD1C3A}</a:tableStyleId>
                  </a:tblPr>
                  <a:tblGrid>
                    <a:gridCol w="1166619">
                      <a:extLst>
                        <a:ext uri="{9D8B030D-6E8A-4147-A177-3AD203B41FA5}">
                          <a16:colId xmlns:a16="http://schemas.microsoft.com/office/drawing/2014/main" val="187518742"/>
                        </a:ext>
                      </a:extLst>
                    </a:gridCol>
                    <a:gridCol w="1166619">
                      <a:extLst>
                        <a:ext uri="{9D8B030D-6E8A-4147-A177-3AD203B41FA5}">
                          <a16:colId xmlns:a16="http://schemas.microsoft.com/office/drawing/2014/main" val="3364692515"/>
                        </a:ext>
                      </a:extLst>
                    </a:gridCol>
                    <a:gridCol w="1166619">
                      <a:extLst>
                        <a:ext uri="{9D8B030D-6E8A-4147-A177-3AD203B41FA5}">
                          <a16:colId xmlns:a16="http://schemas.microsoft.com/office/drawing/2014/main" val="3723084272"/>
                        </a:ext>
                      </a:extLst>
                    </a:gridCol>
                  </a:tblGrid>
                  <a:tr h="370840">
                    <a:tc>
                      <a:txBody>
                        <a:bodyPr/>
                        <a:lstStyle/>
                        <a:p>
                          <a:pPr algn="ctr"/>
                          <a:endParaRPr lang="en-US" dirty="0"/>
                        </a:p>
                      </a:txBody>
                      <a:tcPr/>
                    </a:tc>
                    <a:tc>
                      <a:txBody>
                        <a:bodyPr/>
                        <a:lstStyle/>
                        <a:p>
                          <a:pPr algn="ctr"/>
                          <a:r>
                            <a:rPr lang="en-US" dirty="0"/>
                            <a:t>Var1=0</a:t>
                          </a:r>
                        </a:p>
                      </a:txBody>
                      <a:tcPr/>
                    </a:tc>
                    <a:tc>
                      <a:txBody>
                        <a:bodyPr/>
                        <a:lstStyle/>
                        <a:p>
                          <a:pPr algn="ctr"/>
                          <a:r>
                            <a:rPr lang="en-US" dirty="0"/>
                            <a:t>Var1=1</a:t>
                          </a:r>
                        </a:p>
                      </a:txBody>
                      <a:tcPr/>
                    </a:tc>
                    <a:extLst>
                      <a:ext uri="{0D108BD9-81ED-4DB2-BD59-A6C34878D82A}">
                        <a16:rowId xmlns:a16="http://schemas.microsoft.com/office/drawing/2014/main" val="2805466444"/>
                      </a:ext>
                    </a:extLst>
                  </a:tr>
                  <a:tr h="370840">
                    <a:tc>
                      <a:txBody>
                        <a:bodyPr/>
                        <a:lstStyle/>
                        <a:p>
                          <a:pPr algn="ctr"/>
                          <a:r>
                            <a:rPr lang="en-US" dirty="0"/>
                            <a:t>Var2=0</a:t>
                          </a:r>
                        </a:p>
                      </a:txBody>
                      <a:tcPr/>
                    </a:tc>
                    <a:tc>
                      <a:txBody>
                        <a:bodyPr/>
                        <a:lstStyle/>
                        <a:p>
                          <a:endParaRPr lang="en-US"/>
                        </a:p>
                      </a:txBody>
                      <a:tcPr>
                        <a:blipFill>
                          <a:blip r:embed="rId4"/>
                          <a:stretch>
                            <a:fillRect l="-101087" t="-110345" r="-102174" b="-127586"/>
                          </a:stretch>
                        </a:blipFill>
                      </a:tcPr>
                    </a:tc>
                    <a:tc>
                      <a:txBody>
                        <a:bodyPr/>
                        <a:lstStyle/>
                        <a:p>
                          <a:endParaRPr lang="en-US"/>
                        </a:p>
                      </a:txBody>
                      <a:tcPr>
                        <a:blipFill>
                          <a:blip r:embed="rId4"/>
                          <a:stretch>
                            <a:fillRect l="-201087" t="-110345" r="-2174" b="-127586"/>
                          </a:stretch>
                        </a:blipFill>
                      </a:tcPr>
                    </a:tc>
                    <a:extLst>
                      <a:ext uri="{0D108BD9-81ED-4DB2-BD59-A6C34878D82A}">
                        <a16:rowId xmlns:a16="http://schemas.microsoft.com/office/drawing/2014/main" val="2402074852"/>
                      </a:ext>
                    </a:extLst>
                  </a:tr>
                  <a:tr h="370840">
                    <a:tc>
                      <a:txBody>
                        <a:bodyPr/>
                        <a:lstStyle/>
                        <a:p>
                          <a:pPr algn="ctr"/>
                          <a:r>
                            <a:rPr lang="en-US" dirty="0"/>
                            <a:t>Var2=1</a:t>
                          </a:r>
                        </a:p>
                      </a:txBody>
                      <a:tcPr/>
                    </a:tc>
                    <a:tc>
                      <a:txBody>
                        <a:bodyPr/>
                        <a:lstStyle/>
                        <a:p>
                          <a:endParaRPr lang="en-US"/>
                        </a:p>
                      </a:txBody>
                      <a:tcPr>
                        <a:blipFill>
                          <a:blip r:embed="rId4"/>
                          <a:stretch>
                            <a:fillRect l="-101087" t="-203333" r="-102174" b="-23333"/>
                          </a:stretch>
                        </a:blipFill>
                      </a:tcPr>
                    </a:tc>
                    <a:tc>
                      <a:txBody>
                        <a:bodyPr/>
                        <a:lstStyle/>
                        <a:p>
                          <a:endParaRPr lang="en-US"/>
                        </a:p>
                      </a:txBody>
                      <a:tcPr>
                        <a:blipFill>
                          <a:blip r:embed="rId4"/>
                          <a:stretch>
                            <a:fillRect l="-201087" t="-203333" r="-2174" b="-23333"/>
                          </a:stretch>
                        </a:blipFill>
                      </a:tcPr>
                    </a:tc>
                    <a:extLst>
                      <a:ext uri="{0D108BD9-81ED-4DB2-BD59-A6C34878D82A}">
                        <a16:rowId xmlns:a16="http://schemas.microsoft.com/office/drawing/2014/main" val="3901364977"/>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0543A15-3A6B-C104-CA6D-934090BA8838}"/>
                  </a:ext>
                </a:extLst>
              </p:cNvPr>
              <p:cNvSpPr txBox="1"/>
              <p:nvPr/>
            </p:nvSpPr>
            <p:spPr>
              <a:xfrm>
                <a:off x="1577937" y="4117628"/>
                <a:ext cx="1716944" cy="6579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𝑂𝑅</m:t>
                      </m:r>
                      <m:r>
                        <a:rPr lang="en-US"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00</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11</m:t>
                              </m:r>
                            </m:sub>
                          </m:sSub>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10</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0</m:t>
                              </m:r>
                              <m:r>
                                <a:rPr lang="en-US" b="0" i="1" smtClean="0">
                                  <a:latin typeface="Cambria Math" panose="02040503050406030204" pitchFamily="18" charset="0"/>
                                </a:rPr>
                                <m:t>1</m:t>
                              </m:r>
                            </m:sub>
                          </m:sSub>
                        </m:den>
                      </m:f>
                    </m:oMath>
                  </m:oMathPara>
                </a14:m>
                <a:endParaRPr lang="en-US" dirty="0"/>
              </a:p>
            </p:txBody>
          </p:sp>
        </mc:Choice>
        <mc:Fallback xmlns="">
          <p:sp>
            <p:nvSpPr>
              <p:cNvPr id="13" name="TextBox 12">
                <a:extLst>
                  <a:ext uri="{FF2B5EF4-FFF2-40B4-BE49-F238E27FC236}">
                    <a16:creationId xmlns:a16="http://schemas.microsoft.com/office/drawing/2014/main" id="{A0543A15-3A6B-C104-CA6D-934090BA8838}"/>
                  </a:ext>
                </a:extLst>
              </p:cNvPr>
              <p:cNvSpPr txBox="1">
                <a:spLocks noRot="1" noChangeAspect="1" noMove="1" noResize="1" noEditPoints="1" noAdjustHandles="1" noChangeArrowheads="1" noChangeShapeType="1" noTextEdit="1"/>
              </p:cNvSpPr>
              <p:nvPr/>
            </p:nvSpPr>
            <p:spPr>
              <a:xfrm>
                <a:off x="1577937" y="4117628"/>
                <a:ext cx="1716944" cy="657937"/>
              </a:xfrm>
              <a:prstGeom prst="rect">
                <a:avLst/>
              </a:prstGeom>
              <a:blipFill>
                <a:blip r:embed="rId5"/>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DBF1F6D7-DD1F-A7D7-E2AD-5EE4B4F1AB83}"/>
              </a:ext>
            </a:extLst>
          </p:cNvPr>
          <p:cNvSpPr txBox="1"/>
          <p:nvPr/>
        </p:nvSpPr>
        <p:spPr>
          <a:xfrm>
            <a:off x="4283675" y="2749418"/>
            <a:ext cx="4387851" cy="2100575"/>
          </a:xfrm>
          <a:prstGeom prst="rect">
            <a:avLst/>
          </a:prstGeom>
          <a:noFill/>
        </p:spPr>
        <p:txBody>
          <a:bodyPr wrap="square" rtlCol="0">
            <a:spAutoFit/>
          </a:bodyPr>
          <a:lstStyle/>
          <a:p>
            <a:r>
              <a:rPr lang="en-US" sz="1450" b="1" dirty="0"/>
              <a:t>Interpretation</a:t>
            </a:r>
            <a:r>
              <a:rPr lang="en-US" sz="1450" dirty="0"/>
              <a:t>:</a:t>
            </a:r>
          </a:p>
          <a:p>
            <a:pPr marL="285750" indent="-285750">
              <a:buFont typeface="Arial" panose="020B0604020202020204" pitchFamily="34" charset="0"/>
              <a:buChar char="•"/>
            </a:pPr>
            <a:r>
              <a:rPr lang="en-US" sz="1450" dirty="0"/>
              <a:t>OR = 1: No association – two variables are </a:t>
            </a:r>
            <a:r>
              <a:rPr lang="en-US" sz="1450" b="1" dirty="0"/>
              <a:t>independent</a:t>
            </a:r>
            <a:r>
              <a:rPr lang="en-US" sz="1450" dirty="0"/>
              <a:t> with each other</a:t>
            </a:r>
          </a:p>
          <a:p>
            <a:pPr marL="285750" indent="-285750">
              <a:buFont typeface="Arial" panose="020B0604020202020204" pitchFamily="34" charset="0"/>
              <a:buChar char="•"/>
            </a:pPr>
            <a:r>
              <a:rPr lang="en-US" sz="1450" dirty="0"/>
              <a:t>OR &gt; 1: </a:t>
            </a:r>
          </a:p>
          <a:p>
            <a:pPr marL="742950" lvl="1" indent="-285750">
              <a:buFont typeface="Arial" panose="020B0604020202020204" pitchFamily="34" charset="0"/>
              <a:buChar char="•"/>
            </a:pPr>
            <a:r>
              <a:rPr lang="en-US" sz="1450" dirty="0"/>
              <a:t>00 and 11 appears more often than 10 and 01</a:t>
            </a:r>
          </a:p>
          <a:p>
            <a:pPr marL="742950" lvl="1" indent="-285750">
              <a:buFont typeface="Arial" panose="020B0604020202020204" pitchFamily="34" charset="0"/>
              <a:buChar char="•"/>
            </a:pPr>
            <a:r>
              <a:rPr lang="en-US" sz="1450" b="1" dirty="0"/>
              <a:t>Positive</a:t>
            </a:r>
            <a:r>
              <a:rPr lang="en-US" sz="1450" dirty="0"/>
              <a:t> association between two variables</a:t>
            </a:r>
          </a:p>
          <a:p>
            <a:pPr marL="285750" indent="-285750">
              <a:buFont typeface="Arial" panose="020B0604020202020204" pitchFamily="34" charset="0"/>
              <a:buChar char="•"/>
            </a:pPr>
            <a:r>
              <a:rPr lang="en-US" sz="1450" dirty="0"/>
              <a:t>OR &lt; 1: </a:t>
            </a:r>
          </a:p>
          <a:p>
            <a:pPr marL="742950" lvl="1" indent="-285750">
              <a:buFont typeface="Arial" panose="020B0604020202020204" pitchFamily="34" charset="0"/>
              <a:buChar char="•"/>
            </a:pPr>
            <a:r>
              <a:rPr lang="en-US" sz="1450" dirty="0"/>
              <a:t>01 and 10 appears more often than 00 and 11</a:t>
            </a:r>
          </a:p>
          <a:p>
            <a:pPr marL="742950" lvl="1" indent="-285750">
              <a:buFont typeface="Arial" panose="020B0604020202020204" pitchFamily="34" charset="0"/>
              <a:buChar char="•"/>
            </a:pPr>
            <a:r>
              <a:rPr lang="en-US" sz="1450" b="1" dirty="0"/>
              <a:t>Negative</a:t>
            </a:r>
            <a:r>
              <a:rPr lang="en-US" sz="1450" dirty="0"/>
              <a:t> association between two variables</a:t>
            </a:r>
          </a:p>
        </p:txBody>
      </p:sp>
      <p:sp>
        <p:nvSpPr>
          <p:cNvPr id="19" name="TextBox 18">
            <a:extLst>
              <a:ext uri="{FF2B5EF4-FFF2-40B4-BE49-F238E27FC236}">
                <a16:creationId xmlns:a16="http://schemas.microsoft.com/office/drawing/2014/main" id="{37E48690-4F95-3C59-FBD5-30DC3E5D4033}"/>
              </a:ext>
            </a:extLst>
          </p:cNvPr>
          <p:cNvSpPr txBox="1"/>
          <p:nvPr/>
        </p:nvSpPr>
        <p:spPr>
          <a:xfrm>
            <a:off x="4027511" y="5256668"/>
            <a:ext cx="1086772" cy="369332"/>
          </a:xfrm>
          <a:prstGeom prst="rect">
            <a:avLst/>
          </a:prstGeom>
          <a:noFill/>
        </p:spPr>
        <p:txBody>
          <a:bodyPr wrap="none" rtlCol="0">
            <a:spAutoFit/>
          </a:bodyPr>
          <a:lstStyle/>
          <a:p>
            <a:r>
              <a:rPr lang="en-US" b="1" dirty="0"/>
              <a:t>Examples</a:t>
            </a:r>
          </a:p>
        </p:txBody>
      </p:sp>
      <p:sp>
        <p:nvSpPr>
          <p:cNvPr id="20" name="TextBox 19">
            <a:extLst>
              <a:ext uri="{FF2B5EF4-FFF2-40B4-BE49-F238E27FC236}">
                <a16:creationId xmlns:a16="http://schemas.microsoft.com/office/drawing/2014/main" id="{C6A56957-15AD-586C-D44F-3C7AD2BDB28C}"/>
              </a:ext>
            </a:extLst>
          </p:cNvPr>
          <p:cNvSpPr txBox="1"/>
          <p:nvPr/>
        </p:nvSpPr>
        <p:spPr>
          <a:xfrm>
            <a:off x="602484" y="5621923"/>
            <a:ext cx="8069042" cy="1569660"/>
          </a:xfrm>
          <a:prstGeom prst="rect">
            <a:avLst/>
          </a:prstGeom>
          <a:noFill/>
        </p:spPr>
        <p:txBody>
          <a:bodyPr wrap="square" rtlCol="0">
            <a:spAutoFit/>
          </a:bodyPr>
          <a:lstStyle/>
          <a:p>
            <a:pPr marL="285750" indent="-285750">
              <a:buFont typeface="Arial" panose="020B0604020202020204" pitchFamily="34" charset="0"/>
              <a:buChar char="•"/>
            </a:pPr>
            <a:r>
              <a:rPr lang="en-US" sz="1600" b="1" dirty="0"/>
              <a:t>Hardy-Weinberg Equilibrium</a:t>
            </a:r>
            <a:r>
              <a:rPr lang="en-US" sz="1600" dirty="0"/>
              <a:t>: Are maternal allele and paternal allele choices independent across the population?</a:t>
            </a:r>
          </a:p>
          <a:p>
            <a:pPr marL="285750" indent="-285750">
              <a:buFont typeface="Arial" panose="020B0604020202020204" pitchFamily="34" charset="0"/>
              <a:buChar char="•"/>
            </a:pPr>
            <a:r>
              <a:rPr lang="en-US" sz="1600" b="1" dirty="0"/>
              <a:t>Disease Studies</a:t>
            </a:r>
            <a:r>
              <a:rPr lang="en-US" sz="1600" dirty="0"/>
              <a:t>: Are exposure (1/0) and disease status (1/0) independent?</a:t>
            </a:r>
          </a:p>
          <a:p>
            <a:pPr marL="285750" indent="-285750">
              <a:buFont typeface="Arial" panose="020B0604020202020204" pitchFamily="34" charset="0"/>
              <a:buChar char="•"/>
            </a:pPr>
            <a:r>
              <a:rPr lang="en-US" sz="1600" b="1" dirty="0"/>
              <a:t>Pathway Enrichment</a:t>
            </a:r>
            <a:r>
              <a:rPr lang="en-US" sz="1600" dirty="0"/>
              <a:t>: Are pathway membership (1/0) and overexpression (1/0) associated?</a:t>
            </a:r>
          </a:p>
          <a:p>
            <a:pPr marL="285750" indent="-285750">
              <a:buFont typeface="Arial" panose="020B0604020202020204" pitchFamily="34" charset="0"/>
              <a:buChar char="•"/>
            </a:pPr>
            <a:r>
              <a:rPr lang="en-US" sz="1600" b="1" dirty="0"/>
              <a:t>GWAS</a:t>
            </a:r>
            <a:r>
              <a:rPr lang="en-US" sz="1600" dirty="0"/>
              <a:t>: Are genetic variants (1/0) and trait presence (1/0) associated?</a:t>
            </a:r>
          </a:p>
          <a:p>
            <a:pPr marL="285750" indent="-285750">
              <a:buFont typeface="Arial" panose="020B0604020202020204" pitchFamily="34" charset="0"/>
              <a:buChar char="•"/>
            </a:pPr>
            <a:r>
              <a:rPr lang="en-US" sz="1600" dirty="0"/>
              <a:t>…</a:t>
            </a:r>
          </a:p>
        </p:txBody>
      </p:sp>
    </p:spTree>
    <p:extLst>
      <p:ext uri="{BB962C8B-B14F-4D97-AF65-F5344CB8AC3E}">
        <p14:creationId xmlns:p14="http://schemas.microsoft.com/office/powerpoint/2010/main" val="3615703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08735-56BD-649B-9E12-1E1EEBED184A}"/>
            </a:ext>
          </a:extLst>
        </p:cNvPr>
        <p:cNvGrpSpPr/>
        <p:nvPr/>
      </p:nvGrpSpPr>
      <p:grpSpPr>
        <a:xfrm>
          <a:off x="0" y="0"/>
          <a:ext cx="0" cy="0"/>
          <a:chOff x="0" y="0"/>
          <a:chExt cx="0" cy="0"/>
        </a:xfrm>
      </p:grpSpPr>
      <p:sp>
        <p:nvSpPr>
          <p:cNvPr id="57" name="Rounded Rectangle 56">
            <a:extLst>
              <a:ext uri="{FF2B5EF4-FFF2-40B4-BE49-F238E27FC236}">
                <a16:creationId xmlns:a16="http://schemas.microsoft.com/office/drawing/2014/main" id="{DB17D1B4-4D8E-64E4-8779-1486451FC0EB}"/>
              </a:ext>
            </a:extLst>
          </p:cNvPr>
          <p:cNvSpPr/>
          <p:nvPr/>
        </p:nvSpPr>
        <p:spPr>
          <a:xfrm>
            <a:off x="4718457" y="788653"/>
            <a:ext cx="4054274" cy="363094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 name="TextBox 2">
            <a:extLst>
              <a:ext uri="{FF2B5EF4-FFF2-40B4-BE49-F238E27FC236}">
                <a16:creationId xmlns:a16="http://schemas.microsoft.com/office/drawing/2014/main" id="{C776B572-7470-F058-B34D-535FB4ACA26C}"/>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Marginal vs. Joint Effects</a:t>
            </a:r>
          </a:p>
        </p:txBody>
      </p:sp>
      <p:sp>
        <p:nvSpPr>
          <p:cNvPr id="9" name="Rounded Rectangle 8">
            <a:extLst>
              <a:ext uri="{FF2B5EF4-FFF2-40B4-BE49-F238E27FC236}">
                <a16:creationId xmlns:a16="http://schemas.microsoft.com/office/drawing/2014/main" id="{3A25B38E-CEA9-D5B9-55A6-B6E0C121CD9B}"/>
              </a:ext>
            </a:extLst>
          </p:cNvPr>
          <p:cNvSpPr/>
          <p:nvPr/>
        </p:nvSpPr>
        <p:spPr>
          <a:xfrm>
            <a:off x="297521" y="788653"/>
            <a:ext cx="4054274" cy="783539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6B0CC3-E83D-AF59-34CB-F9B9E5E78E99}"/>
                  </a:ext>
                </a:extLst>
              </p:cNvPr>
              <p:cNvSpPr txBox="1"/>
              <p:nvPr/>
            </p:nvSpPr>
            <p:spPr>
              <a:xfrm>
                <a:off x="236469" y="849596"/>
                <a:ext cx="4210109" cy="571503"/>
              </a:xfrm>
              <a:prstGeom prst="rect">
                <a:avLst/>
              </a:prstGeom>
              <a:noFill/>
            </p:spPr>
            <p:txBody>
              <a:bodyPr wrap="square" rtlCol="0" anchor="ctr">
                <a:spAutoFit/>
              </a:bodyPr>
              <a:lstStyle/>
              <a:p>
                <a:pPr algn="ctr"/>
                <a:r>
                  <a:rPr lang="en-US" b="1" dirty="0"/>
                  <a:t>Marginal Effects</a:t>
                </a:r>
              </a:p>
              <a:p>
                <a:pPr algn="ctr"/>
                <a:r>
                  <a:rPr lang="en-US" sz="1200" dirty="0"/>
                  <a:t>(Three </a:t>
                </a:r>
                <a:r>
                  <a:rPr lang="en-US" sz="1200" i="1" dirty="0"/>
                  <a:t>separate</a:t>
                </a:r>
                <a:r>
                  <a:rPr lang="en-US" sz="1200" dirty="0"/>
                  <a:t> models, </a:t>
                </a:r>
                <a14:m>
                  <m:oMath xmlns:m="http://schemas.openxmlformats.org/officeDocument/2006/math">
                    <m:r>
                      <a:rPr lang="en-US" sz="1200" b="1" i="1" smtClean="0">
                        <a:latin typeface="Cambria Math" panose="02040503050406030204" pitchFamily="18" charset="0"/>
                      </a:rPr>
                      <m:t>𝒀</m:t>
                    </m:r>
                    <m:r>
                      <a:rPr lang="en-US" sz="1200" b="0" i="1" smtClean="0">
                        <a:latin typeface="Cambria Math" panose="02040503050406030204" pitchFamily="18" charset="0"/>
                      </a:rPr>
                      <m:t>=</m:t>
                    </m:r>
                    <m:sSub>
                      <m:sSubPr>
                        <m:ctrlPr>
                          <a:rPr lang="en-US" sz="1200" b="1" i="1" smtClean="0">
                            <a:latin typeface="Cambria Math" panose="02040503050406030204" pitchFamily="18" charset="0"/>
                          </a:rPr>
                        </m:ctrlPr>
                      </m:sSubPr>
                      <m:e>
                        <m:r>
                          <a:rPr lang="en-US" sz="1200" b="1" i="1" smtClean="0">
                            <a:latin typeface="Cambria Math" panose="02040503050406030204" pitchFamily="18" charset="0"/>
                          </a:rPr>
                          <m:t>𝑿</m:t>
                        </m:r>
                      </m:e>
                      <m:sub>
                        <m:r>
                          <a:rPr lang="en-US" sz="1200" b="1" i="1" smtClean="0">
                            <a:latin typeface="Cambria Math" panose="02040503050406030204" pitchFamily="18" charset="0"/>
                          </a:rPr>
                          <m:t>𝒋</m:t>
                        </m:r>
                      </m:sub>
                    </m:sSub>
                    <m:sSub>
                      <m:sSubPr>
                        <m:ctrlPr>
                          <a:rPr lang="en-US" sz="1200" i="1" smtClean="0">
                            <a:latin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𝛽</m:t>
                        </m:r>
                      </m:e>
                      <m:sub>
                        <m:r>
                          <a:rPr lang="en-US" sz="1200" b="0" i="1" smtClean="0">
                            <a:latin typeface="Cambria Math" panose="02040503050406030204" pitchFamily="18" charset="0"/>
                          </a:rPr>
                          <m:t>𝑗</m:t>
                        </m:r>
                      </m:sub>
                    </m:sSub>
                    <m:r>
                      <a:rPr lang="en-US" sz="1200" b="0" i="1" smtClean="0">
                        <a:latin typeface="Cambria Math" panose="02040503050406030204" pitchFamily="18" charset="0"/>
                      </a:rPr>
                      <m:t>+</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𝜀</m:t>
                        </m:r>
                      </m:e>
                      <m:sub>
                        <m:r>
                          <a:rPr lang="en-US" sz="1200" b="0" i="1" smtClean="0">
                            <a:latin typeface="Cambria Math" panose="02040503050406030204" pitchFamily="18" charset="0"/>
                          </a:rPr>
                          <m:t>𝑗</m:t>
                        </m:r>
                      </m:sub>
                    </m:sSub>
                  </m:oMath>
                </a14:m>
                <a:r>
                  <a:rPr lang="en-US" sz="1200" dirty="0"/>
                  <a:t>)</a:t>
                </a:r>
              </a:p>
            </p:txBody>
          </p:sp>
        </mc:Choice>
        <mc:Fallback xmlns="">
          <p:sp>
            <p:nvSpPr>
              <p:cNvPr id="10" name="TextBox 9">
                <a:extLst>
                  <a:ext uri="{FF2B5EF4-FFF2-40B4-BE49-F238E27FC236}">
                    <a16:creationId xmlns:a16="http://schemas.microsoft.com/office/drawing/2014/main" id="{186B0CC3-E83D-AF59-34CB-F9B9E5E78E99}"/>
                  </a:ext>
                </a:extLst>
              </p:cNvPr>
              <p:cNvSpPr txBox="1">
                <a:spLocks noRot="1" noChangeAspect="1" noMove="1" noResize="1" noEditPoints="1" noAdjustHandles="1" noChangeArrowheads="1" noChangeShapeType="1" noTextEdit="1"/>
              </p:cNvSpPr>
              <p:nvPr/>
            </p:nvSpPr>
            <p:spPr>
              <a:xfrm>
                <a:off x="236469" y="849596"/>
                <a:ext cx="4210109" cy="571503"/>
              </a:xfrm>
              <a:prstGeom prst="rect">
                <a:avLst/>
              </a:prstGeom>
              <a:blipFill>
                <a:blip r:embed="rId2"/>
                <a:stretch>
                  <a:fillRect t="-4348" b="-4348"/>
                </a:stretch>
              </a:blipFill>
            </p:spPr>
            <p:txBody>
              <a:bodyPr/>
              <a:lstStyle/>
              <a:p>
                <a:r>
                  <a:rPr lang="en-US">
                    <a:noFill/>
                  </a:rPr>
                  <a:t> </a:t>
                </a:r>
              </a:p>
            </p:txBody>
          </p:sp>
        </mc:Fallback>
      </mc:AlternateContent>
      <p:sp>
        <p:nvSpPr>
          <p:cNvPr id="18" name="Rounded Rectangle 17">
            <a:extLst>
              <a:ext uri="{FF2B5EF4-FFF2-40B4-BE49-F238E27FC236}">
                <a16:creationId xmlns:a16="http://schemas.microsoft.com/office/drawing/2014/main" id="{2F629022-D1E2-7CE9-643C-113572085C75}"/>
              </a:ext>
            </a:extLst>
          </p:cNvPr>
          <p:cNvSpPr/>
          <p:nvPr/>
        </p:nvSpPr>
        <p:spPr>
          <a:xfrm>
            <a:off x="974341" y="1714795"/>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TextBox 18">
            <a:extLst>
              <a:ext uri="{FF2B5EF4-FFF2-40B4-BE49-F238E27FC236}">
                <a16:creationId xmlns:a16="http://schemas.microsoft.com/office/drawing/2014/main" id="{75C58730-B864-80AE-72BA-47E1F061F1C5}"/>
              </a:ext>
            </a:extLst>
          </p:cNvPr>
          <p:cNvSpPr txBox="1"/>
          <p:nvPr/>
        </p:nvSpPr>
        <p:spPr>
          <a:xfrm>
            <a:off x="1414091" y="2458489"/>
            <a:ext cx="300082" cy="369332"/>
          </a:xfrm>
          <a:prstGeom prst="rect">
            <a:avLst/>
          </a:prstGeom>
          <a:noFill/>
        </p:spPr>
        <p:txBody>
          <a:bodyPr wrap="none" rtlCol="0">
            <a:spAutoFit/>
          </a:bodyPr>
          <a:lstStyle/>
          <a:p>
            <a:r>
              <a:rPr lang="en-US" dirty="0"/>
              <a:t>=</a:t>
            </a:r>
          </a:p>
        </p:txBody>
      </p:sp>
      <p:sp>
        <p:nvSpPr>
          <p:cNvPr id="20" name="Rounded Rectangle 19">
            <a:extLst>
              <a:ext uri="{FF2B5EF4-FFF2-40B4-BE49-F238E27FC236}">
                <a16:creationId xmlns:a16="http://schemas.microsoft.com/office/drawing/2014/main" id="{F64F323B-79B1-A05B-D28A-120EE0F8AD67}"/>
              </a:ext>
            </a:extLst>
          </p:cNvPr>
          <p:cNvSpPr/>
          <p:nvPr/>
        </p:nvSpPr>
        <p:spPr>
          <a:xfrm>
            <a:off x="1800880" y="1714795"/>
            <a:ext cx="365760" cy="1856721"/>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ounded Rectangle 20">
            <a:extLst>
              <a:ext uri="{FF2B5EF4-FFF2-40B4-BE49-F238E27FC236}">
                <a16:creationId xmlns:a16="http://schemas.microsoft.com/office/drawing/2014/main" id="{E0239794-E778-4345-24A5-D908954D8169}"/>
              </a:ext>
            </a:extLst>
          </p:cNvPr>
          <p:cNvSpPr/>
          <p:nvPr/>
        </p:nvSpPr>
        <p:spPr>
          <a:xfrm>
            <a:off x="3480785" y="1714148"/>
            <a:ext cx="286187" cy="1856721"/>
          </a:xfrm>
          <a:prstGeom prst="round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TextBox 22">
            <a:extLst>
              <a:ext uri="{FF2B5EF4-FFF2-40B4-BE49-F238E27FC236}">
                <a16:creationId xmlns:a16="http://schemas.microsoft.com/office/drawing/2014/main" id="{8D470089-286E-4026-5B43-5E0A38FAB27D}"/>
              </a:ext>
            </a:extLst>
          </p:cNvPr>
          <p:cNvSpPr txBox="1"/>
          <p:nvPr/>
        </p:nvSpPr>
        <p:spPr>
          <a:xfrm>
            <a:off x="3084780" y="2458488"/>
            <a:ext cx="300082"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6944304-628F-0C4A-A283-EC938ECF6B2A}"/>
                  </a:ext>
                </a:extLst>
              </p:cNvPr>
              <p:cNvSpPr txBox="1"/>
              <p:nvPr/>
            </p:nvSpPr>
            <p:spPr>
              <a:xfrm>
                <a:off x="722798" y="3763985"/>
                <a:ext cx="751254" cy="4154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𝑁</m:t>
                      </m:r>
                      <m:r>
                        <a:rPr lang="en-US" sz="1050" b="0" i="1" smtClean="0">
                          <a:latin typeface="Cambria Math" panose="02040503050406030204" pitchFamily="18" charset="0"/>
                          <a:ea typeface="Cambria Math" panose="02040503050406030204" pitchFamily="18" charset="0"/>
                        </a:rPr>
                        <m:t>×1</m:t>
                      </m:r>
                    </m:oMath>
                  </m:oMathPara>
                </a14:m>
                <a:endParaRPr lang="en-US" sz="1050" b="0" dirty="0">
                  <a:ea typeface="Cambria Math" panose="02040503050406030204" pitchFamily="18" charset="0"/>
                </a:endParaRPr>
              </a:p>
              <a:p>
                <a:pPr algn="ctr"/>
                <a:r>
                  <a:rPr lang="en-US" sz="1050" i="1" dirty="0"/>
                  <a:t>Trait</a:t>
                </a:r>
              </a:p>
            </p:txBody>
          </p:sp>
        </mc:Choice>
        <mc:Fallback xmlns="">
          <p:sp>
            <p:nvSpPr>
              <p:cNvPr id="24" name="TextBox 23">
                <a:extLst>
                  <a:ext uri="{FF2B5EF4-FFF2-40B4-BE49-F238E27FC236}">
                    <a16:creationId xmlns:a16="http://schemas.microsoft.com/office/drawing/2014/main" id="{D6944304-628F-0C4A-A283-EC938ECF6B2A}"/>
                  </a:ext>
                </a:extLst>
              </p:cNvPr>
              <p:cNvSpPr txBox="1">
                <a:spLocks noRot="1" noChangeAspect="1" noMove="1" noResize="1" noEditPoints="1" noAdjustHandles="1" noChangeArrowheads="1" noChangeShapeType="1" noTextEdit="1"/>
              </p:cNvSpPr>
              <p:nvPr/>
            </p:nvSpPr>
            <p:spPr>
              <a:xfrm>
                <a:off x="722798" y="3763985"/>
                <a:ext cx="751254" cy="415498"/>
              </a:xfrm>
              <a:prstGeom prst="rect">
                <a:avLst/>
              </a:prstGeom>
              <a:blipFill>
                <a:blip r:embed="rId3"/>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B05C512-7F8E-A223-6F85-642EAE2FBCCA}"/>
                  </a:ext>
                </a:extLst>
              </p:cNvPr>
              <p:cNvSpPr txBox="1"/>
              <p:nvPr/>
            </p:nvSpPr>
            <p:spPr>
              <a:xfrm>
                <a:off x="1435816" y="3764491"/>
                <a:ext cx="1095887" cy="57708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𝑁</m:t>
                      </m:r>
                      <m:r>
                        <a:rPr lang="en-US" sz="1050" b="0" i="1" smtClean="0">
                          <a:latin typeface="Cambria Math" panose="02040503050406030204" pitchFamily="18" charset="0"/>
                          <a:ea typeface="Cambria Math" panose="02040503050406030204" pitchFamily="18" charset="0"/>
                        </a:rPr>
                        <m:t>×1</m:t>
                      </m:r>
                    </m:oMath>
                  </m:oMathPara>
                </a14:m>
                <a:endParaRPr lang="en-US" sz="1050" b="0" dirty="0">
                  <a:ea typeface="Cambria Math" panose="02040503050406030204" pitchFamily="18" charset="0"/>
                </a:endParaRPr>
              </a:p>
              <a:p>
                <a:pPr algn="ctr"/>
                <a:r>
                  <a:rPr lang="en-US" sz="1050" i="1" dirty="0"/>
                  <a:t>Genotype for variant 1</a:t>
                </a:r>
              </a:p>
            </p:txBody>
          </p:sp>
        </mc:Choice>
        <mc:Fallback xmlns="">
          <p:sp>
            <p:nvSpPr>
              <p:cNvPr id="25" name="TextBox 24">
                <a:extLst>
                  <a:ext uri="{FF2B5EF4-FFF2-40B4-BE49-F238E27FC236}">
                    <a16:creationId xmlns:a16="http://schemas.microsoft.com/office/drawing/2014/main" id="{BB05C512-7F8E-A223-6F85-642EAE2FBCCA}"/>
                  </a:ext>
                </a:extLst>
              </p:cNvPr>
              <p:cNvSpPr txBox="1">
                <a:spLocks noRot="1" noChangeAspect="1" noMove="1" noResize="1" noEditPoints="1" noAdjustHandles="1" noChangeArrowheads="1" noChangeShapeType="1" noTextEdit="1"/>
              </p:cNvSpPr>
              <p:nvPr/>
            </p:nvSpPr>
            <p:spPr>
              <a:xfrm>
                <a:off x="1435816" y="3764491"/>
                <a:ext cx="1095887" cy="577081"/>
              </a:xfrm>
              <a:prstGeom prst="rect">
                <a:avLst/>
              </a:prstGeom>
              <a:blipFill>
                <a:blip r:embed="rId4"/>
                <a:stretch>
                  <a:fillRect b="-6522"/>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7F94A0D6-285F-83D7-EC60-A86DE0AB6064}"/>
              </a:ext>
            </a:extLst>
          </p:cNvPr>
          <p:cNvSpPr txBox="1"/>
          <p:nvPr/>
        </p:nvSpPr>
        <p:spPr>
          <a:xfrm>
            <a:off x="2249846" y="3683194"/>
            <a:ext cx="1001682" cy="577081"/>
          </a:xfrm>
          <a:prstGeom prst="rect">
            <a:avLst/>
          </a:prstGeom>
          <a:noFill/>
        </p:spPr>
        <p:txBody>
          <a:bodyPr wrap="square" rtlCol="0">
            <a:spAutoFit/>
          </a:bodyPr>
          <a:lstStyle/>
          <a:p>
            <a:pPr algn="ctr"/>
            <a:r>
              <a:rPr lang="en-US" sz="1050" dirty="0"/>
              <a:t>A scalar</a:t>
            </a:r>
          </a:p>
          <a:p>
            <a:pPr algn="ctr"/>
            <a:r>
              <a:rPr lang="en-US" sz="1050" i="1" dirty="0"/>
              <a:t>Genetic</a:t>
            </a:r>
          </a:p>
          <a:p>
            <a:pPr algn="ctr"/>
            <a:r>
              <a:rPr lang="en-US" sz="1050" i="1" dirty="0"/>
              <a:t>Effect</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8FA981F-7843-28B7-927C-AA267BD29408}"/>
                  </a:ext>
                </a:extLst>
              </p:cNvPr>
              <p:cNvSpPr txBox="1"/>
              <p:nvPr/>
            </p:nvSpPr>
            <p:spPr>
              <a:xfrm>
                <a:off x="3304683" y="3763985"/>
                <a:ext cx="745310" cy="4154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𝑁</m:t>
                      </m:r>
                      <m:r>
                        <a:rPr lang="en-US" sz="1050" b="0" i="1" smtClean="0">
                          <a:latin typeface="Cambria Math" panose="02040503050406030204" pitchFamily="18" charset="0"/>
                          <a:ea typeface="Cambria Math" panose="02040503050406030204" pitchFamily="18" charset="0"/>
                        </a:rPr>
                        <m:t>×1</m:t>
                      </m:r>
                    </m:oMath>
                  </m:oMathPara>
                </a14:m>
                <a:endParaRPr lang="en-US" sz="1050" b="0" dirty="0">
                  <a:ea typeface="Cambria Math" panose="02040503050406030204" pitchFamily="18" charset="0"/>
                </a:endParaRPr>
              </a:p>
              <a:p>
                <a:pPr algn="ctr"/>
                <a:r>
                  <a:rPr lang="en-US" sz="1050" i="1" dirty="0"/>
                  <a:t>Error</a:t>
                </a:r>
              </a:p>
            </p:txBody>
          </p:sp>
        </mc:Choice>
        <mc:Fallback xmlns="">
          <p:sp>
            <p:nvSpPr>
              <p:cNvPr id="28" name="TextBox 27">
                <a:extLst>
                  <a:ext uri="{FF2B5EF4-FFF2-40B4-BE49-F238E27FC236}">
                    <a16:creationId xmlns:a16="http://schemas.microsoft.com/office/drawing/2014/main" id="{B8FA981F-7843-28B7-927C-AA267BD29408}"/>
                  </a:ext>
                </a:extLst>
              </p:cNvPr>
              <p:cNvSpPr txBox="1">
                <a:spLocks noRot="1" noChangeAspect="1" noMove="1" noResize="1" noEditPoints="1" noAdjustHandles="1" noChangeArrowheads="1" noChangeShapeType="1" noTextEdit="1"/>
              </p:cNvSpPr>
              <p:nvPr/>
            </p:nvSpPr>
            <p:spPr>
              <a:xfrm>
                <a:off x="3304683" y="3763985"/>
                <a:ext cx="745310" cy="415498"/>
              </a:xfrm>
              <a:prstGeom prst="rect">
                <a:avLst/>
              </a:prstGeom>
              <a:blipFill>
                <a:blip r:embed="rId5"/>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CC328CC-E588-B6F5-5C9B-B9C747429710}"/>
                  </a:ext>
                </a:extLst>
              </p:cNvPr>
              <p:cNvSpPr txBox="1"/>
              <p:nvPr/>
            </p:nvSpPr>
            <p:spPr>
              <a:xfrm>
                <a:off x="1776772" y="1700190"/>
                <a:ext cx="41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11</m:t>
                          </m:r>
                        </m:sub>
                      </m:sSub>
                    </m:oMath>
                  </m:oMathPara>
                </a14:m>
                <a:endParaRPr lang="en-US" sz="1400" dirty="0">
                  <a:solidFill>
                    <a:schemeClr val="bg1">
                      <a:lumMod val="95000"/>
                    </a:schemeClr>
                  </a:solidFill>
                </a:endParaRPr>
              </a:p>
            </p:txBody>
          </p:sp>
        </mc:Choice>
        <mc:Fallback xmlns="">
          <p:sp>
            <p:nvSpPr>
              <p:cNvPr id="32" name="TextBox 31">
                <a:extLst>
                  <a:ext uri="{FF2B5EF4-FFF2-40B4-BE49-F238E27FC236}">
                    <a16:creationId xmlns:a16="http://schemas.microsoft.com/office/drawing/2014/main" id="{FCC328CC-E588-B6F5-5C9B-B9C747429710}"/>
                  </a:ext>
                </a:extLst>
              </p:cNvPr>
              <p:cNvSpPr txBox="1">
                <a:spLocks noRot="1" noChangeAspect="1" noMove="1" noResize="1" noEditPoints="1" noAdjustHandles="1" noChangeArrowheads="1" noChangeShapeType="1" noTextEdit="1"/>
              </p:cNvSpPr>
              <p:nvPr/>
            </p:nvSpPr>
            <p:spPr>
              <a:xfrm>
                <a:off x="1776772" y="1700190"/>
                <a:ext cx="413977"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97E4DB4-B558-506E-0FF5-0E1006EC98ED}"/>
                  </a:ext>
                </a:extLst>
              </p:cNvPr>
              <p:cNvSpPr txBox="1"/>
              <p:nvPr/>
            </p:nvSpPr>
            <p:spPr>
              <a:xfrm>
                <a:off x="836488" y="2470598"/>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4" name="TextBox 33">
                <a:extLst>
                  <a:ext uri="{FF2B5EF4-FFF2-40B4-BE49-F238E27FC236}">
                    <a16:creationId xmlns:a16="http://schemas.microsoft.com/office/drawing/2014/main" id="{997E4DB4-B558-506E-0FF5-0E1006EC98ED}"/>
                  </a:ext>
                </a:extLst>
              </p:cNvPr>
              <p:cNvSpPr txBox="1">
                <a:spLocks noRot="1" noChangeAspect="1" noMove="1" noResize="1" noEditPoints="1" noAdjustHandles="1" noChangeArrowheads="1" noChangeShapeType="1" noTextEdit="1"/>
              </p:cNvSpPr>
              <p:nvPr/>
            </p:nvSpPr>
            <p:spPr>
              <a:xfrm>
                <a:off x="836488" y="2470598"/>
                <a:ext cx="59242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EFF2A2D-6A3D-2153-0B26-B474A1D9BCB7}"/>
                  </a:ext>
                </a:extLst>
              </p:cNvPr>
              <p:cNvSpPr txBox="1"/>
              <p:nvPr/>
            </p:nvSpPr>
            <p:spPr>
              <a:xfrm>
                <a:off x="4697423" y="834671"/>
                <a:ext cx="4075308" cy="569836"/>
              </a:xfrm>
              <a:prstGeom prst="rect">
                <a:avLst/>
              </a:prstGeom>
              <a:noFill/>
            </p:spPr>
            <p:txBody>
              <a:bodyPr wrap="square" rtlCol="0" anchor="ctr">
                <a:spAutoFit/>
              </a:bodyPr>
              <a:lstStyle/>
              <a:p>
                <a:pPr algn="ctr"/>
                <a:r>
                  <a:rPr lang="en-US" b="1" dirty="0"/>
                  <a:t>Joint Effects</a:t>
                </a:r>
              </a:p>
              <a:p>
                <a:pPr algn="ctr"/>
                <a:r>
                  <a:rPr lang="en-US" sz="1200" dirty="0"/>
                  <a:t>(One model with </a:t>
                </a:r>
                <a:r>
                  <a:rPr lang="en-US" sz="1200" i="1" dirty="0"/>
                  <a:t>all</a:t>
                </a:r>
                <a:r>
                  <a:rPr lang="en-US" sz="1200" dirty="0"/>
                  <a:t> variables, </a:t>
                </a:r>
                <a14:m>
                  <m:oMath xmlns:m="http://schemas.openxmlformats.org/officeDocument/2006/math">
                    <m:r>
                      <a:rPr lang="en-US" sz="1200" b="1" i="1" smtClean="0">
                        <a:latin typeface="Cambria Math" panose="02040503050406030204" pitchFamily="18" charset="0"/>
                      </a:rPr>
                      <m:t>𝒀</m:t>
                    </m:r>
                    <m:r>
                      <a:rPr lang="en-US" sz="1200" b="1" i="1" smtClean="0">
                        <a:latin typeface="Cambria Math" panose="02040503050406030204" pitchFamily="18" charset="0"/>
                      </a:rPr>
                      <m:t>=</m:t>
                    </m:r>
                    <m:r>
                      <a:rPr lang="en-US" sz="1200" b="1" i="1" smtClean="0">
                        <a:latin typeface="Cambria Math" panose="02040503050406030204" pitchFamily="18" charset="0"/>
                      </a:rPr>
                      <m:t>𝑿</m:t>
                    </m:r>
                    <m:r>
                      <a:rPr lang="en-US" sz="1200" b="1" i="1">
                        <a:latin typeface="Cambria Math" panose="02040503050406030204" pitchFamily="18" charset="0"/>
                        <a:ea typeface="Cambria Math" panose="02040503050406030204" pitchFamily="18" charset="0"/>
                      </a:rPr>
                      <m:t>𝜷</m:t>
                    </m:r>
                    <m:r>
                      <a:rPr lang="en-US" sz="1200" b="1" i="1" smtClean="0">
                        <a:latin typeface="Cambria Math" panose="02040503050406030204" pitchFamily="18" charset="0"/>
                        <a:ea typeface="Cambria Math" panose="02040503050406030204" pitchFamily="18" charset="0"/>
                      </a:rPr>
                      <m:t>+</m:t>
                    </m:r>
                    <m:r>
                      <a:rPr lang="en-US" sz="1200" b="1" i="1" smtClean="0">
                        <a:latin typeface="Cambria Math" panose="02040503050406030204" pitchFamily="18" charset="0"/>
                        <a:ea typeface="Cambria Math" panose="02040503050406030204" pitchFamily="18" charset="0"/>
                      </a:rPr>
                      <m:t>𝜺</m:t>
                    </m:r>
                    <m:r>
                      <a:rPr lang="en-US" sz="1200" b="0" i="1" smtClean="0">
                        <a:latin typeface="Cambria Math" panose="02040503050406030204" pitchFamily="18" charset="0"/>
                        <a:ea typeface="Cambria Math" panose="02040503050406030204" pitchFamily="18" charset="0"/>
                      </a:rPr>
                      <m:t>)</m:t>
                    </m:r>
                  </m:oMath>
                </a14:m>
                <a:endParaRPr lang="en-US" sz="1200" dirty="0"/>
              </a:p>
            </p:txBody>
          </p:sp>
        </mc:Choice>
        <mc:Fallback xmlns="">
          <p:sp>
            <p:nvSpPr>
              <p:cNvPr id="58" name="TextBox 57">
                <a:extLst>
                  <a:ext uri="{FF2B5EF4-FFF2-40B4-BE49-F238E27FC236}">
                    <a16:creationId xmlns:a16="http://schemas.microsoft.com/office/drawing/2014/main" id="{7EFF2A2D-6A3D-2153-0B26-B474A1D9BCB7}"/>
                  </a:ext>
                </a:extLst>
              </p:cNvPr>
              <p:cNvSpPr txBox="1">
                <a:spLocks noRot="1" noChangeAspect="1" noMove="1" noResize="1" noEditPoints="1" noAdjustHandles="1" noChangeArrowheads="1" noChangeShapeType="1" noTextEdit="1"/>
              </p:cNvSpPr>
              <p:nvPr/>
            </p:nvSpPr>
            <p:spPr>
              <a:xfrm>
                <a:off x="4697423" y="834671"/>
                <a:ext cx="4075308" cy="569836"/>
              </a:xfrm>
              <a:prstGeom prst="rect">
                <a:avLst/>
              </a:prstGeom>
              <a:blipFill>
                <a:blip r:embed="rId8"/>
                <a:stretch>
                  <a:fillRect t="-2174" b="-6522"/>
                </a:stretch>
              </a:blipFill>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A2BBD631-EF0C-4969-34CA-BEE691E25C74}"/>
              </a:ext>
            </a:extLst>
          </p:cNvPr>
          <p:cNvSpPr/>
          <p:nvPr/>
        </p:nvSpPr>
        <p:spPr>
          <a:xfrm>
            <a:off x="974341" y="5349289"/>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TextBox 6">
            <a:extLst>
              <a:ext uri="{FF2B5EF4-FFF2-40B4-BE49-F238E27FC236}">
                <a16:creationId xmlns:a16="http://schemas.microsoft.com/office/drawing/2014/main" id="{C5FF0416-50C1-FB04-1156-F1DF10B6EA53}"/>
              </a:ext>
            </a:extLst>
          </p:cNvPr>
          <p:cNvSpPr txBox="1"/>
          <p:nvPr/>
        </p:nvSpPr>
        <p:spPr>
          <a:xfrm>
            <a:off x="1414091" y="6092983"/>
            <a:ext cx="300082" cy="369332"/>
          </a:xfrm>
          <a:prstGeom prst="rect">
            <a:avLst/>
          </a:prstGeom>
          <a:noFill/>
        </p:spPr>
        <p:txBody>
          <a:bodyPr wrap="square" rtlCol="0">
            <a:spAutoFit/>
          </a:bodyPr>
          <a:lstStyle/>
          <a:p>
            <a:r>
              <a:rPr lang="en-US" dirty="0"/>
              <a:t>=</a:t>
            </a:r>
          </a:p>
        </p:txBody>
      </p:sp>
      <p:sp>
        <p:nvSpPr>
          <p:cNvPr id="12" name="Rounded Rectangle 11">
            <a:extLst>
              <a:ext uri="{FF2B5EF4-FFF2-40B4-BE49-F238E27FC236}">
                <a16:creationId xmlns:a16="http://schemas.microsoft.com/office/drawing/2014/main" id="{7A18A895-2F0D-69A5-7241-4E8CEAB17682}"/>
              </a:ext>
            </a:extLst>
          </p:cNvPr>
          <p:cNvSpPr/>
          <p:nvPr/>
        </p:nvSpPr>
        <p:spPr>
          <a:xfrm>
            <a:off x="1799094" y="5349289"/>
            <a:ext cx="369332" cy="1856721"/>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Rounded Rectangle 12">
            <a:extLst>
              <a:ext uri="{FF2B5EF4-FFF2-40B4-BE49-F238E27FC236}">
                <a16:creationId xmlns:a16="http://schemas.microsoft.com/office/drawing/2014/main" id="{12CC5E92-A844-6FDC-63BE-1F778E5F4D6F}"/>
              </a:ext>
            </a:extLst>
          </p:cNvPr>
          <p:cNvSpPr/>
          <p:nvPr/>
        </p:nvSpPr>
        <p:spPr>
          <a:xfrm>
            <a:off x="3480785" y="5348642"/>
            <a:ext cx="286187" cy="1856721"/>
          </a:xfrm>
          <a:prstGeom prst="round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TextBox 13">
            <a:extLst>
              <a:ext uri="{FF2B5EF4-FFF2-40B4-BE49-F238E27FC236}">
                <a16:creationId xmlns:a16="http://schemas.microsoft.com/office/drawing/2014/main" id="{2D6FC7B1-EE6F-8407-DF45-2BFC4ABD61CA}"/>
              </a:ext>
            </a:extLst>
          </p:cNvPr>
          <p:cNvSpPr txBox="1"/>
          <p:nvPr/>
        </p:nvSpPr>
        <p:spPr>
          <a:xfrm>
            <a:off x="3084780" y="6092982"/>
            <a:ext cx="300082"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C01AB6E-9E74-5767-22DA-B5605A2C2FCD}"/>
                  </a:ext>
                </a:extLst>
              </p:cNvPr>
              <p:cNvSpPr txBox="1"/>
              <p:nvPr/>
            </p:nvSpPr>
            <p:spPr>
              <a:xfrm>
                <a:off x="697830" y="7398479"/>
                <a:ext cx="821192" cy="4154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𝑁</m:t>
                      </m:r>
                      <m:r>
                        <a:rPr lang="en-US" sz="1050" b="0" i="1" smtClean="0">
                          <a:latin typeface="Cambria Math" panose="02040503050406030204" pitchFamily="18" charset="0"/>
                          <a:ea typeface="Cambria Math" panose="02040503050406030204" pitchFamily="18" charset="0"/>
                        </a:rPr>
                        <m:t>×1</m:t>
                      </m:r>
                    </m:oMath>
                  </m:oMathPara>
                </a14:m>
                <a:endParaRPr lang="en-US" sz="1050" b="0" dirty="0">
                  <a:ea typeface="Cambria Math" panose="02040503050406030204" pitchFamily="18" charset="0"/>
                </a:endParaRPr>
              </a:p>
              <a:p>
                <a:pPr algn="ctr"/>
                <a:r>
                  <a:rPr lang="en-US" sz="1050" i="1" dirty="0"/>
                  <a:t>Trait</a:t>
                </a:r>
              </a:p>
            </p:txBody>
          </p:sp>
        </mc:Choice>
        <mc:Fallback xmlns="">
          <p:sp>
            <p:nvSpPr>
              <p:cNvPr id="15" name="TextBox 14">
                <a:extLst>
                  <a:ext uri="{FF2B5EF4-FFF2-40B4-BE49-F238E27FC236}">
                    <a16:creationId xmlns:a16="http://schemas.microsoft.com/office/drawing/2014/main" id="{3C01AB6E-9E74-5767-22DA-B5605A2C2FCD}"/>
                  </a:ext>
                </a:extLst>
              </p:cNvPr>
              <p:cNvSpPr txBox="1">
                <a:spLocks noRot="1" noChangeAspect="1" noMove="1" noResize="1" noEditPoints="1" noAdjustHandles="1" noChangeArrowheads="1" noChangeShapeType="1" noTextEdit="1"/>
              </p:cNvSpPr>
              <p:nvPr/>
            </p:nvSpPr>
            <p:spPr>
              <a:xfrm>
                <a:off x="697830" y="7398479"/>
                <a:ext cx="821192" cy="415498"/>
              </a:xfrm>
              <a:prstGeom prst="rect">
                <a:avLst/>
              </a:prstGeom>
              <a:blipFill>
                <a:blip r:embed="rId9"/>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BA2AE30-10C7-413A-6129-5A9DDD52C00A}"/>
                  </a:ext>
                </a:extLst>
              </p:cNvPr>
              <p:cNvSpPr txBox="1"/>
              <p:nvPr/>
            </p:nvSpPr>
            <p:spPr>
              <a:xfrm>
                <a:off x="1509031" y="7370648"/>
                <a:ext cx="949458" cy="57708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𝑁</m:t>
                      </m:r>
                      <m:r>
                        <a:rPr lang="en-US" sz="1050" b="0" i="1" smtClean="0">
                          <a:latin typeface="Cambria Math" panose="02040503050406030204" pitchFamily="18" charset="0"/>
                          <a:ea typeface="Cambria Math" panose="02040503050406030204" pitchFamily="18" charset="0"/>
                        </a:rPr>
                        <m:t>×1</m:t>
                      </m:r>
                    </m:oMath>
                  </m:oMathPara>
                </a14:m>
                <a:endParaRPr lang="en-US" sz="1050" b="0" dirty="0">
                  <a:ea typeface="Cambria Math" panose="02040503050406030204" pitchFamily="18" charset="0"/>
                </a:endParaRPr>
              </a:p>
              <a:p>
                <a:pPr algn="ctr"/>
                <a:r>
                  <a:rPr lang="en-US" sz="1050" i="1" dirty="0"/>
                  <a:t>Genotype for variant 3</a:t>
                </a:r>
              </a:p>
            </p:txBody>
          </p:sp>
        </mc:Choice>
        <mc:Fallback xmlns="">
          <p:sp>
            <p:nvSpPr>
              <p:cNvPr id="16" name="TextBox 15">
                <a:extLst>
                  <a:ext uri="{FF2B5EF4-FFF2-40B4-BE49-F238E27FC236}">
                    <a16:creationId xmlns:a16="http://schemas.microsoft.com/office/drawing/2014/main" id="{6BA2AE30-10C7-413A-6129-5A9DDD52C00A}"/>
                  </a:ext>
                </a:extLst>
              </p:cNvPr>
              <p:cNvSpPr txBox="1">
                <a:spLocks noRot="1" noChangeAspect="1" noMove="1" noResize="1" noEditPoints="1" noAdjustHandles="1" noChangeArrowheads="1" noChangeShapeType="1" noTextEdit="1"/>
              </p:cNvSpPr>
              <p:nvPr/>
            </p:nvSpPr>
            <p:spPr>
              <a:xfrm>
                <a:off x="1509031" y="7370648"/>
                <a:ext cx="949458" cy="577081"/>
              </a:xfrm>
              <a:prstGeom prst="rect">
                <a:avLst/>
              </a:prstGeom>
              <a:blipFill>
                <a:blip r:embed="rId10"/>
                <a:stretch>
                  <a:fillRect b="-6522"/>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BBC74DF5-CFF6-82AB-CA40-4274534FD5F4}"/>
              </a:ext>
            </a:extLst>
          </p:cNvPr>
          <p:cNvSpPr txBox="1"/>
          <p:nvPr/>
        </p:nvSpPr>
        <p:spPr>
          <a:xfrm>
            <a:off x="2249846" y="7317688"/>
            <a:ext cx="1001682" cy="577081"/>
          </a:xfrm>
          <a:prstGeom prst="rect">
            <a:avLst/>
          </a:prstGeom>
          <a:noFill/>
        </p:spPr>
        <p:txBody>
          <a:bodyPr wrap="square" rtlCol="0">
            <a:spAutoFit/>
          </a:bodyPr>
          <a:lstStyle/>
          <a:p>
            <a:pPr algn="ctr"/>
            <a:r>
              <a:rPr lang="en-US" sz="1050" dirty="0"/>
              <a:t>scalar</a:t>
            </a:r>
          </a:p>
          <a:p>
            <a:pPr algn="ctr"/>
            <a:r>
              <a:rPr lang="en-US" sz="1050" i="1" dirty="0"/>
              <a:t>Genetic</a:t>
            </a:r>
          </a:p>
          <a:p>
            <a:pPr algn="ctr"/>
            <a:r>
              <a:rPr lang="en-US" sz="1050" i="1" dirty="0"/>
              <a:t>Effect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208DB8-0A69-8346-AFF1-995311887FCA}"/>
                  </a:ext>
                </a:extLst>
              </p:cNvPr>
              <p:cNvSpPr txBox="1"/>
              <p:nvPr/>
            </p:nvSpPr>
            <p:spPr>
              <a:xfrm>
                <a:off x="3304683" y="7398479"/>
                <a:ext cx="745310" cy="41549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𝑁</m:t>
                      </m:r>
                      <m:r>
                        <a:rPr lang="en-US" sz="1050" b="0" i="1" smtClean="0">
                          <a:latin typeface="Cambria Math" panose="02040503050406030204" pitchFamily="18" charset="0"/>
                          <a:ea typeface="Cambria Math" panose="02040503050406030204" pitchFamily="18" charset="0"/>
                        </a:rPr>
                        <m:t>×1</m:t>
                      </m:r>
                    </m:oMath>
                  </m:oMathPara>
                </a14:m>
                <a:endParaRPr lang="en-US" sz="1050" b="0" dirty="0">
                  <a:ea typeface="Cambria Math" panose="02040503050406030204" pitchFamily="18" charset="0"/>
                </a:endParaRPr>
              </a:p>
              <a:p>
                <a:pPr algn="ctr"/>
                <a:r>
                  <a:rPr lang="en-US" sz="1050" i="1" dirty="0"/>
                  <a:t>Error</a:t>
                </a:r>
              </a:p>
            </p:txBody>
          </p:sp>
        </mc:Choice>
        <mc:Fallback xmlns="">
          <p:sp>
            <p:nvSpPr>
              <p:cNvPr id="27" name="TextBox 26">
                <a:extLst>
                  <a:ext uri="{FF2B5EF4-FFF2-40B4-BE49-F238E27FC236}">
                    <a16:creationId xmlns:a16="http://schemas.microsoft.com/office/drawing/2014/main" id="{53208DB8-0A69-8346-AFF1-995311887FCA}"/>
                  </a:ext>
                </a:extLst>
              </p:cNvPr>
              <p:cNvSpPr txBox="1">
                <a:spLocks noRot="1" noChangeAspect="1" noMove="1" noResize="1" noEditPoints="1" noAdjustHandles="1" noChangeArrowheads="1" noChangeShapeType="1" noTextEdit="1"/>
              </p:cNvSpPr>
              <p:nvPr/>
            </p:nvSpPr>
            <p:spPr>
              <a:xfrm>
                <a:off x="3304683" y="7398479"/>
                <a:ext cx="745310" cy="415498"/>
              </a:xfrm>
              <a:prstGeom prst="rect">
                <a:avLst/>
              </a:prstGeom>
              <a:blipFill>
                <a:blip r:embed="rId5"/>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6D34B08-1181-6844-B3AA-B4455AE4D161}"/>
                  </a:ext>
                </a:extLst>
              </p:cNvPr>
              <p:cNvSpPr txBox="1"/>
              <p:nvPr/>
            </p:nvSpPr>
            <p:spPr>
              <a:xfrm>
                <a:off x="836488" y="6105092"/>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6" name="TextBox 35">
                <a:extLst>
                  <a:ext uri="{FF2B5EF4-FFF2-40B4-BE49-F238E27FC236}">
                    <a16:creationId xmlns:a16="http://schemas.microsoft.com/office/drawing/2014/main" id="{56D34B08-1181-6844-B3AA-B4455AE4D161}"/>
                  </a:ext>
                </a:extLst>
              </p:cNvPr>
              <p:cNvSpPr txBox="1">
                <a:spLocks noRot="1" noChangeAspect="1" noMove="1" noResize="1" noEditPoints="1" noAdjustHandles="1" noChangeArrowheads="1" noChangeShapeType="1" noTextEdit="1"/>
              </p:cNvSpPr>
              <p:nvPr/>
            </p:nvSpPr>
            <p:spPr>
              <a:xfrm>
                <a:off x="836488" y="6105092"/>
                <a:ext cx="592422" cy="369332"/>
              </a:xfrm>
              <a:prstGeom prst="rect">
                <a:avLst/>
              </a:prstGeom>
              <a:blipFill>
                <a:blip r:embed="rId7"/>
                <a:stretch>
                  <a:fillRect/>
                </a:stretch>
              </a:blipFill>
            </p:spPr>
            <p:txBody>
              <a:bodyPr/>
              <a:lstStyle/>
              <a:p>
                <a:r>
                  <a:rPr lang="en-US">
                    <a:noFill/>
                  </a:rPr>
                  <a:t> </a:t>
                </a:r>
              </a:p>
            </p:txBody>
          </p:sp>
        </mc:Fallback>
      </mc:AlternateContent>
      <p:sp>
        <p:nvSpPr>
          <p:cNvPr id="43" name="TextBox 42">
            <a:extLst>
              <a:ext uri="{FF2B5EF4-FFF2-40B4-BE49-F238E27FC236}">
                <a16:creationId xmlns:a16="http://schemas.microsoft.com/office/drawing/2014/main" id="{04E2CCB2-4235-21F5-FE9A-52F91E33A711}"/>
              </a:ext>
            </a:extLst>
          </p:cNvPr>
          <p:cNvSpPr txBox="1"/>
          <p:nvPr/>
        </p:nvSpPr>
        <p:spPr>
          <a:xfrm rot="5400000">
            <a:off x="2241198" y="4470084"/>
            <a:ext cx="538930" cy="707886"/>
          </a:xfrm>
          <a:prstGeom prst="rect">
            <a:avLst/>
          </a:prstGeom>
          <a:noFill/>
        </p:spPr>
        <p:txBody>
          <a:bodyPr wrap="none" rtlCol="0">
            <a:spAutoFit/>
          </a:bodyPr>
          <a:lstStyle/>
          <a:p>
            <a:r>
              <a:rPr lang="en-US" sz="4000" dirty="0"/>
              <a:t>…</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D446E55-37C7-08B4-F60C-5976BF469DAB}"/>
                  </a:ext>
                </a:extLst>
              </p:cNvPr>
              <p:cNvSpPr txBox="1"/>
              <p:nvPr/>
            </p:nvSpPr>
            <p:spPr>
              <a:xfrm>
                <a:off x="2132676" y="2460102"/>
                <a:ext cx="5965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FD446E55-37C7-08B4-F60C-5976BF469DAB}"/>
                  </a:ext>
                </a:extLst>
              </p:cNvPr>
              <p:cNvSpPr txBox="1">
                <a:spLocks noRot="1" noChangeAspect="1" noMove="1" noResize="1" noEditPoints="1" noAdjustHandles="1" noChangeArrowheads="1" noChangeShapeType="1" noTextEdit="1"/>
              </p:cNvSpPr>
              <p:nvPr/>
            </p:nvSpPr>
            <p:spPr>
              <a:xfrm>
                <a:off x="2132676" y="2460102"/>
                <a:ext cx="59657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329DBDA-B33A-341E-3C2F-376CC44007D6}"/>
                  </a:ext>
                </a:extLst>
              </p:cNvPr>
              <p:cNvSpPr txBox="1"/>
              <p:nvPr/>
            </p:nvSpPr>
            <p:spPr>
              <a:xfrm>
                <a:off x="2107851" y="6081179"/>
                <a:ext cx="5965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7" name="TextBox 46">
                <a:extLst>
                  <a:ext uri="{FF2B5EF4-FFF2-40B4-BE49-F238E27FC236}">
                    <a16:creationId xmlns:a16="http://schemas.microsoft.com/office/drawing/2014/main" id="{B329DBDA-B33A-341E-3C2F-376CC44007D6}"/>
                  </a:ext>
                </a:extLst>
              </p:cNvPr>
              <p:cNvSpPr txBox="1">
                <a:spLocks noRot="1" noChangeAspect="1" noMove="1" noResize="1" noEditPoints="1" noAdjustHandles="1" noChangeArrowheads="1" noChangeShapeType="1" noTextEdit="1"/>
              </p:cNvSpPr>
              <p:nvPr/>
            </p:nvSpPr>
            <p:spPr>
              <a:xfrm>
                <a:off x="2107851" y="6081179"/>
                <a:ext cx="596578" cy="369332"/>
              </a:xfrm>
              <a:prstGeom prst="rect">
                <a:avLst/>
              </a:prstGeom>
              <a:blipFill>
                <a:blip r:embed="rId12"/>
                <a:stretch>
                  <a:fillRect/>
                </a:stretch>
              </a:blipFill>
            </p:spPr>
            <p:txBody>
              <a:bodyPr/>
              <a:lstStyle/>
              <a:p>
                <a:r>
                  <a:rPr lang="en-US">
                    <a:noFill/>
                  </a:rPr>
                  <a:t> </a:t>
                </a:r>
              </a:p>
            </p:txBody>
          </p:sp>
        </mc:Fallback>
      </mc:AlternateContent>
      <p:sp>
        <p:nvSpPr>
          <p:cNvPr id="53" name="Rounded Rectangle 52">
            <a:extLst>
              <a:ext uri="{FF2B5EF4-FFF2-40B4-BE49-F238E27FC236}">
                <a16:creationId xmlns:a16="http://schemas.microsoft.com/office/drawing/2014/main" id="{A0E6E643-41C1-F596-63CD-6C1D8996906E}"/>
              </a:ext>
            </a:extLst>
          </p:cNvPr>
          <p:cNvSpPr/>
          <p:nvPr/>
        </p:nvSpPr>
        <p:spPr>
          <a:xfrm>
            <a:off x="5049713" y="1672499"/>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4" name="TextBox 53">
            <a:extLst>
              <a:ext uri="{FF2B5EF4-FFF2-40B4-BE49-F238E27FC236}">
                <a16:creationId xmlns:a16="http://schemas.microsoft.com/office/drawing/2014/main" id="{FE64B9E7-53F8-38AC-9433-B26871A51188}"/>
              </a:ext>
            </a:extLst>
          </p:cNvPr>
          <p:cNvSpPr txBox="1"/>
          <p:nvPr/>
        </p:nvSpPr>
        <p:spPr>
          <a:xfrm>
            <a:off x="5489463" y="2416193"/>
            <a:ext cx="300082" cy="369332"/>
          </a:xfrm>
          <a:prstGeom prst="rect">
            <a:avLst/>
          </a:prstGeom>
          <a:noFill/>
        </p:spPr>
        <p:txBody>
          <a:bodyPr wrap="none" rtlCol="0">
            <a:spAutoFit/>
          </a:bodyPr>
          <a:lstStyle/>
          <a:p>
            <a:r>
              <a:rPr lang="en-US" dirty="0"/>
              <a:t>=</a:t>
            </a:r>
          </a:p>
        </p:txBody>
      </p:sp>
      <p:sp>
        <p:nvSpPr>
          <p:cNvPr id="55" name="Rounded Rectangle 54">
            <a:extLst>
              <a:ext uri="{FF2B5EF4-FFF2-40B4-BE49-F238E27FC236}">
                <a16:creationId xmlns:a16="http://schemas.microsoft.com/office/drawing/2014/main" id="{5C746F94-7D8A-9BB2-1FCF-31D49F8F06ED}"/>
              </a:ext>
            </a:extLst>
          </p:cNvPr>
          <p:cNvSpPr/>
          <p:nvPr/>
        </p:nvSpPr>
        <p:spPr>
          <a:xfrm>
            <a:off x="5998948" y="1672499"/>
            <a:ext cx="286187" cy="1856721"/>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64" name="Rounded Rectangle 63">
                <a:extLst>
                  <a:ext uri="{FF2B5EF4-FFF2-40B4-BE49-F238E27FC236}">
                    <a16:creationId xmlns:a16="http://schemas.microsoft.com/office/drawing/2014/main" id="{BB292414-3CE9-E5A3-92FD-59FC159EDFA1}"/>
                  </a:ext>
                </a:extLst>
              </p:cNvPr>
              <p:cNvSpPr/>
              <p:nvPr/>
            </p:nvSpPr>
            <p:spPr>
              <a:xfrm>
                <a:off x="8280737" y="1671852"/>
                <a:ext cx="286187" cy="1856721"/>
              </a:xfrm>
              <a:prstGeom prst="round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𝜀</m:t>
                      </m:r>
                    </m:oMath>
                  </m:oMathPara>
                </a14:m>
                <a:endParaRPr lang="en-US" dirty="0">
                  <a:solidFill>
                    <a:schemeClr val="tx1"/>
                  </a:solidFill>
                </a:endParaRPr>
              </a:p>
            </p:txBody>
          </p:sp>
        </mc:Choice>
        <mc:Fallback xmlns="">
          <p:sp>
            <p:nvSpPr>
              <p:cNvPr id="64" name="Rounded Rectangle 63">
                <a:extLst>
                  <a:ext uri="{FF2B5EF4-FFF2-40B4-BE49-F238E27FC236}">
                    <a16:creationId xmlns:a16="http://schemas.microsoft.com/office/drawing/2014/main" id="{BB292414-3CE9-E5A3-92FD-59FC159EDFA1}"/>
                  </a:ext>
                </a:extLst>
              </p:cNvPr>
              <p:cNvSpPr>
                <a:spLocks noRot="1" noChangeAspect="1" noMove="1" noResize="1" noEditPoints="1" noAdjustHandles="1" noChangeArrowheads="1" noChangeShapeType="1" noTextEdit="1"/>
              </p:cNvSpPr>
              <p:nvPr/>
            </p:nvSpPr>
            <p:spPr>
              <a:xfrm>
                <a:off x="8280737" y="1671852"/>
                <a:ext cx="286187" cy="1856721"/>
              </a:xfrm>
              <a:prstGeom prst="roundRect">
                <a:avLst/>
              </a:prstGeom>
              <a:blipFill>
                <a:blip r:embed="rId13"/>
                <a:stretch>
                  <a:fillRect/>
                </a:stretch>
              </a:blipFill>
              <a:ln>
                <a:solidFill>
                  <a:schemeClr val="bg1">
                    <a:lumMod val="65000"/>
                  </a:schemeClr>
                </a:solidFill>
              </a:ln>
            </p:spPr>
            <p:txBody>
              <a:bodyPr/>
              <a:lstStyle/>
              <a:p>
                <a:r>
                  <a:rPr lang="en-US">
                    <a:noFill/>
                  </a:rPr>
                  <a:t> </a:t>
                </a:r>
              </a:p>
            </p:txBody>
          </p:sp>
        </mc:Fallback>
      </mc:AlternateContent>
      <p:sp>
        <p:nvSpPr>
          <p:cNvPr id="65" name="TextBox 64">
            <a:extLst>
              <a:ext uri="{FF2B5EF4-FFF2-40B4-BE49-F238E27FC236}">
                <a16:creationId xmlns:a16="http://schemas.microsoft.com/office/drawing/2014/main" id="{24665D14-F6E1-4E4B-8B4D-352943D01CEE}"/>
              </a:ext>
            </a:extLst>
          </p:cNvPr>
          <p:cNvSpPr txBox="1"/>
          <p:nvPr/>
        </p:nvSpPr>
        <p:spPr>
          <a:xfrm>
            <a:off x="8010238" y="2420065"/>
            <a:ext cx="300082"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705AFE9-800F-A06F-4173-04D04CE7E6FD}"/>
                  </a:ext>
                </a:extLst>
              </p:cNvPr>
              <p:cNvSpPr txBox="1"/>
              <p:nvPr/>
            </p:nvSpPr>
            <p:spPr>
              <a:xfrm>
                <a:off x="4911860" y="2428302"/>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70" name="TextBox 69">
                <a:extLst>
                  <a:ext uri="{FF2B5EF4-FFF2-40B4-BE49-F238E27FC236}">
                    <a16:creationId xmlns:a16="http://schemas.microsoft.com/office/drawing/2014/main" id="{A705AFE9-800F-A06F-4173-04D04CE7E6FD}"/>
                  </a:ext>
                </a:extLst>
              </p:cNvPr>
              <p:cNvSpPr txBox="1">
                <a:spLocks noRot="1" noChangeAspect="1" noMove="1" noResize="1" noEditPoints="1" noAdjustHandles="1" noChangeArrowheads="1" noChangeShapeType="1" noTextEdit="1"/>
              </p:cNvSpPr>
              <p:nvPr/>
            </p:nvSpPr>
            <p:spPr>
              <a:xfrm>
                <a:off x="4911860" y="2428302"/>
                <a:ext cx="592422" cy="369332"/>
              </a:xfrm>
              <a:prstGeom prst="rect">
                <a:avLst/>
              </a:prstGeom>
              <a:blipFill>
                <a:blip r:embed="rId14"/>
                <a:stretch>
                  <a:fillRect/>
                </a:stretch>
              </a:blipFill>
            </p:spPr>
            <p:txBody>
              <a:bodyPr/>
              <a:lstStyle/>
              <a:p>
                <a:r>
                  <a:rPr lang="en-US">
                    <a:noFill/>
                  </a:rPr>
                  <a:t> </a:t>
                </a:r>
              </a:p>
            </p:txBody>
          </p:sp>
        </mc:Fallback>
      </mc:AlternateContent>
      <p:sp>
        <p:nvSpPr>
          <p:cNvPr id="73" name="Rounded Rectangle 72">
            <a:extLst>
              <a:ext uri="{FF2B5EF4-FFF2-40B4-BE49-F238E27FC236}">
                <a16:creationId xmlns:a16="http://schemas.microsoft.com/office/drawing/2014/main" id="{E17B16CF-F20A-7716-5D39-B7A6BBE7F264}"/>
              </a:ext>
            </a:extLst>
          </p:cNvPr>
          <p:cNvSpPr/>
          <p:nvPr/>
        </p:nvSpPr>
        <p:spPr>
          <a:xfrm>
            <a:off x="2612742" y="2470598"/>
            <a:ext cx="405922" cy="369332"/>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9AE6F40-5D46-F25D-BED8-6FC5C6928A51}"/>
                  </a:ext>
                </a:extLst>
              </p:cNvPr>
              <p:cNvSpPr txBox="1"/>
              <p:nvPr/>
            </p:nvSpPr>
            <p:spPr>
              <a:xfrm>
                <a:off x="2510663" y="2461831"/>
                <a:ext cx="629027" cy="3798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ea typeface="Cambria Math" panose="02040503050406030204" pitchFamily="18" charset="0"/>
                            </a:rPr>
                            <m:t>1</m:t>
                          </m:r>
                        </m:sub>
                      </m:sSub>
                    </m:oMath>
                  </m:oMathPara>
                </a14:m>
                <a:endParaRPr lang="en-US" dirty="0"/>
              </a:p>
            </p:txBody>
          </p:sp>
        </mc:Choice>
        <mc:Fallback xmlns="">
          <p:sp>
            <p:nvSpPr>
              <p:cNvPr id="72" name="TextBox 71">
                <a:extLst>
                  <a:ext uri="{FF2B5EF4-FFF2-40B4-BE49-F238E27FC236}">
                    <a16:creationId xmlns:a16="http://schemas.microsoft.com/office/drawing/2014/main" id="{69AE6F40-5D46-F25D-BED8-6FC5C6928A51}"/>
                  </a:ext>
                </a:extLst>
              </p:cNvPr>
              <p:cNvSpPr txBox="1">
                <a:spLocks noRot="1" noChangeAspect="1" noMove="1" noResize="1" noEditPoints="1" noAdjustHandles="1" noChangeArrowheads="1" noChangeShapeType="1" noTextEdit="1"/>
              </p:cNvSpPr>
              <p:nvPr/>
            </p:nvSpPr>
            <p:spPr>
              <a:xfrm>
                <a:off x="2510663" y="2461831"/>
                <a:ext cx="629027" cy="379843"/>
              </a:xfrm>
              <a:prstGeom prst="rect">
                <a:avLst/>
              </a:prstGeom>
              <a:blipFill>
                <a:blip r:embed="rId15"/>
                <a:stretch>
                  <a:fillRect b="-12903"/>
                </a:stretch>
              </a:blipFill>
            </p:spPr>
            <p:txBody>
              <a:bodyPr/>
              <a:lstStyle/>
              <a:p>
                <a:r>
                  <a:rPr lang="en-US">
                    <a:noFill/>
                  </a:rPr>
                  <a:t> </a:t>
                </a:r>
              </a:p>
            </p:txBody>
          </p:sp>
        </mc:Fallback>
      </mc:AlternateContent>
      <p:sp>
        <p:nvSpPr>
          <p:cNvPr id="76" name="Rounded Rectangle 75">
            <a:extLst>
              <a:ext uri="{FF2B5EF4-FFF2-40B4-BE49-F238E27FC236}">
                <a16:creationId xmlns:a16="http://schemas.microsoft.com/office/drawing/2014/main" id="{115E72A1-8B10-1F75-9E8C-452D8E3661C2}"/>
              </a:ext>
            </a:extLst>
          </p:cNvPr>
          <p:cNvSpPr/>
          <p:nvPr/>
        </p:nvSpPr>
        <p:spPr>
          <a:xfrm>
            <a:off x="2612503" y="6081179"/>
            <a:ext cx="405922" cy="369332"/>
          </a:xfrm>
          <a:prstGeom prst="roundRect">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ounded Rectangle 77">
            <a:extLst>
              <a:ext uri="{FF2B5EF4-FFF2-40B4-BE49-F238E27FC236}">
                <a16:creationId xmlns:a16="http://schemas.microsoft.com/office/drawing/2014/main" id="{BADA9E71-5618-056B-8AC9-9FD6F5344F29}"/>
              </a:ext>
            </a:extLst>
          </p:cNvPr>
          <p:cNvSpPr/>
          <p:nvPr/>
        </p:nvSpPr>
        <p:spPr>
          <a:xfrm>
            <a:off x="6293825" y="1671852"/>
            <a:ext cx="286187" cy="1856721"/>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0" name="Rounded Rectangle 79">
            <a:extLst>
              <a:ext uri="{FF2B5EF4-FFF2-40B4-BE49-F238E27FC236}">
                <a16:creationId xmlns:a16="http://schemas.microsoft.com/office/drawing/2014/main" id="{E16D5D45-5E91-38BC-F588-46774C2FB1B6}"/>
              </a:ext>
            </a:extLst>
          </p:cNvPr>
          <p:cNvSpPr/>
          <p:nvPr/>
        </p:nvSpPr>
        <p:spPr>
          <a:xfrm>
            <a:off x="6588267" y="1671852"/>
            <a:ext cx="286187" cy="1856721"/>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8054C4D6-F527-358E-7E6B-CEFED48C0220}"/>
                  </a:ext>
                </a:extLst>
              </p:cNvPr>
              <p:cNvSpPr txBox="1"/>
              <p:nvPr/>
            </p:nvSpPr>
            <p:spPr>
              <a:xfrm>
                <a:off x="2560563" y="6059913"/>
                <a:ext cx="545176" cy="379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ea typeface="Cambria Math" panose="02040503050406030204" pitchFamily="18" charset="0"/>
                            </a:rPr>
                            <m:t>3</m:t>
                          </m:r>
                        </m:sub>
                      </m:sSub>
                    </m:oMath>
                  </m:oMathPara>
                </a14:m>
                <a:endParaRPr lang="en-US" dirty="0"/>
              </a:p>
            </p:txBody>
          </p:sp>
        </mc:Choice>
        <mc:Fallback xmlns="">
          <p:sp>
            <p:nvSpPr>
              <p:cNvPr id="75" name="TextBox 74">
                <a:extLst>
                  <a:ext uri="{FF2B5EF4-FFF2-40B4-BE49-F238E27FC236}">
                    <a16:creationId xmlns:a16="http://schemas.microsoft.com/office/drawing/2014/main" id="{8054C4D6-F527-358E-7E6B-CEFED48C0220}"/>
                  </a:ext>
                </a:extLst>
              </p:cNvPr>
              <p:cNvSpPr txBox="1">
                <a:spLocks noRot="1" noChangeAspect="1" noMove="1" noResize="1" noEditPoints="1" noAdjustHandles="1" noChangeArrowheads="1" noChangeShapeType="1" noTextEdit="1"/>
              </p:cNvSpPr>
              <p:nvPr/>
            </p:nvSpPr>
            <p:spPr>
              <a:xfrm>
                <a:off x="2560563" y="6059913"/>
                <a:ext cx="545176" cy="379842"/>
              </a:xfrm>
              <a:prstGeom prst="rect">
                <a:avLst/>
              </a:prstGeom>
              <a:blipFill>
                <a:blip r:embed="rId1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BB19799-8D9A-B7F5-EEBB-A5C1E141964F}"/>
                  </a:ext>
                </a:extLst>
              </p:cNvPr>
              <p:cNvSpPr txBox="1"/>
              <p:nvPr/>
            </p:nvSpPr>
            <p:spPr>
              <a:xfrm>
                <a:off x="1776772" y="2044593"/>
                <a:ext cx="41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21</m:t>
                          </m:r>
                        </m:sub>
                      </m:sSub>
                    </m:oMath>
                  </m:oMathPara>
                </a14:m>
                <a:endParaRPr lang="en-US" sz="1400" dirty="0">
                  <a:solidFill>
                    <a:schemeClr val="bg1">
                      <a:lumMod val="95000"/>
                    </a:schemeClr>
                  </a:solidFill>
                </a:endParaRPr>
              </a:p>
            </p:txBody>
          </p:sp>
        </mc:Choice>
        <mc:Fallback xmlns="">
          <p:sp>
            <p:nvSpPr>
              <p:cNvPr id="82" name="TextBox 81">
                <a:extLst>
                  <a:ext uri="{FF2B5EF4-FFF2-40B4-BE49-F238E27FC236}">
                    <a16:creationId xmlns:a16="http://schemas.microsoft.com/office/drawing/2014/main" id="{4BB19799-8D9A-B7F5-EEBB-A5C1E141964F}"/>
                  </a:ext>
                </a:extLst>
              </p:cNvPr>
              <p:cNvSpPr txBox="1">
                <a:spLocks noRot="1" noChangeAspect="1" noMove="1" noResize="1" noEditPoints="1" noAdjustHandles="1" noChangeArrowheads="1" noChangeShapeType="1" noTextEdit="1"/>
              </p:cNvSpPr>
              <p:nvPr/>
            </p:nvSpPr>
            <p:spPr>
              <a:xfrm>
                <a:off x="1776772" y="2044593"/>
                <a:ext cx="413977" cy="307777"/>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4C5B9FC-D827-49DC-8C99-6C015529790A}"/>
                  </a:ext>
                </a:extLst>
              </p:cNvPr>
              <p:cNvSpPr txBox="1"/>
              <p:nvPr/>
            </p:nvSpPr>
            <p:spPr>
              <a:xfrm>
                <a:off x="1778020" y="3221029"/>
                <a:ext cx="411480" cy="3108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solidFill>
                                <a:schemeClr val="bg1">
                                  <a:lumMod val="95000"/>
                                </a:schemeClr>
                              </a:solidFill>
                              <a:latin typeface="Cambria Math" panose="02040503050406030204" pitchFamily="18" charset="0"/>
                            </a:rPr>
                          </m:ctrlPr>
                        </m:sSubPr>
                        <m:e>
                          <m:r>
                            <a:rPr lang="en-US" sz="1600" i="1">
                              <a:solidFill>
                                <a:schemeClr val="bg1">
                                  <a:lumMod val="95000"/>
                                </a:schemeClr>
                              </a:solidFill>
                              <a:latin typeface="Cambria Math" panose="02040503050406030204" pitchFamily="18" charset="0"/>
                            </a:rPr>
                            <m:t>𝑋</m:t>
                          </m:r>
                        </m:e>
                        <m:sub>
                          <m:r>
                            <a:rPr lang="en-US" sz="1600" b="0" i="1" smtClean="0">
                              <a:solidFill>
                                <a:schemeClr val="bg1">
                                  <a:lumMod val="95000"/>
                                </a:schemeClr>
                              </a:solidFill>
                              <a:latin typeface="Cambria Math" panose="02040503050406030204" pitchFamily="18" charset="0"/>
                            </a:rPr>
                            <m:t>𝑁</m:t>
                          </m:r>
                          <m:r>
                            <a:rPr lang="en-US" sz="1600" b="0" i="1" smtClean="0">
                              <a:solidFill>
                                <a:schemeClr val="bg1">
                                  <a:lumMod val="95000"/>
                                </a:schemeClr>
                              </a:solidFill>
                              <a:latin typeface="Cambria Math" panose="02040503050406030204" pitchFamily="18" charset="0"/>
                            </a:rPr>
                            <m:t>1</m:t>
                          </m:r>
                        </m:sub>
                      </m:sSub>
                    </m:oMath>
                  </m:oMathPara>
                </a14:m>
                <a:endParaRPr lang="en-US" sz="1600" dirty="0">
                  <a:solidFill>
                    <a:schemeClr val="bg1">
                      <a:lumMod val="95000"/>
                    </a:schemeClr>
                  </a:solidFill>
                </a:endParaRPr>
              </a:p>
            </p:txBody>
          </p:sp>
        </mc:Choice>
        <mc:Fallback xmlns="">
          <p:sp>
            <p:nvSpPr>
              <p:cNvPr id="83" name="TextBox 82">
                <a:extLst>
                  <a:ext uri="{FF2B5EF4-FFF2-40B4-BE49-F238E27FC236}">
                    <a16:creationId xmlns:a16="http://schemas.microsoft.com/office/drawing/2014/main" id="{64C5B9FC-D827-49DC-8C99-6C015529790A}"/>
                  </a:ext>
                </a:extLst>
              </p:cNvPr>
              <p:cNvSpPr txBox="1">
                <a:spLocks noRot="1" noChangeAspect="1" noMove="1" noResize="1" noEditPoints="1" noAdjustHandles="1" noChangeArrowheads="1" noChangeShapeType="1" noTextEdit="1"/>
              </p:cNvSpPr>
              <p:nvPr/>
            </p:nvSpPr>
            <p:spPr>
              <a:xfrm>
                <a:off x="1778020" y="3221029"/>
                <a:ext cx="411480" cy="310896"/>
              </a:xfrm>
              <a:prstGeom prst="rect">
                <a:avLst/>
              </a:prstGeom>
              <a:blipFill>
                <a:blip r:embed="rId18"/>
                <a:stretch>
                  <a:fillRect r="-12121" b="-8000"/>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3F828C75-9B63-07C7-9844-60AC067FB402}"/>
              </a:ext>
            </a:extLst>
          </p:cNvPr>
          <p:cNvSpPr txBox="1"/>
          <p:nvPr/>
        </p:nvSpPr>
        <p:spPr>
          <a:xfrm rot="5400000">
            <a:off x="1812078" y="2793352"/>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2991D28E-823A-262C-3503-7CEBBF0C3775}"/>
                  </a:ext>
                </a:extLst>
              </p:cNvPr>
              <p:cNvSpPr txBox="1"/>
              <p:nvPr/>
            </p:nvSpPr>
            <p:spPr>
              <a:xfrm>
                <a:off x="1778020" y="2329113"/>
                <a:ext cx="4114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31</m:t>
                          </m:r>
                        </m:sub>
                      </m:sSub>
                    </m:oMath>
                  </m:oMathPara>
                </a14:m>
                <a:endParaRPr lang="en-US" sz="1400" dirty="0">
                  <a:solidFill>
                    <a:schemeClr val="bg1">
                      <a:lumMod val="95000"/>
                    </a:schemeClr>
                  </a:solidFill>
                </a:endParaRPr>
              </a:p>
            </p:txBody>
          </p:sp>
        </mc:Choice>
        <mc:Fallback xmlns="">
          <p:sp>
            <p:nvSpPr>
              <p:cNvPr id="86" name="TextBox 85">
                <a:extLst>
                  <a:ext uri="{FF2B5EF4-FFF2-40B4-BE49-F238E27FC236}">
                    <a16:creationId xmlns:a16="http://schemas.microsoft.com/office/drawing/2014/main" id="{2991D28E-823A-262C-3503-7CEBBF0C3775}"/>
                  </a:ext>
                </a:extLst>
              </p:cNvPr>
              <p:cNvSpPr txBox="1">
                <a:spLocks noRot="1" noChangeAspect="1" noMove="1" noResize="1" noEditPoints="1" noAdjustHandles="1" noChangeArrowheads="1" noChangeShapeType="1" noTextEdit="1"/>
              </p:cNvSpPr>
              <p:nvPr/>
            </p:nvSpPr>
            <p:spPr>
              <a:xfrm>
                <a:off x="1778020" y="2329113"/>
                <a:ext cx="411480" cy="307777"/>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EE9D233-E9CB-75D9-ED9B-116A33FD43C1}"/>
                  </a:ext>
                </a:extLst>
              </p:cNvPr>
              <p:cNvSpPr txBox="1"/>
              <p:nvPr/>
            </p:nvSpPr>
            <p:spPr>
              <a:xfrm>
                <a:off x="5703807" y="170019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11</m:t>
                          </m:r>
                        </m:sub>
                      </m:sSub>
                    </m:oMath>
                  </m:oMathPara>
                </a14:m>
                <a:endParaRPr lang="en-US" sz="1400" dirty="0">
                  <a:solidFill>
                    <a:schemeClr val="bg1">
                      <a:lumMod val="95000"/>
                    </a:schemeClr>
                  </a:solidFill>
                </a:endParaRPr>
              </a:p>
            </p:txBody>
          </p:sp>
        </mc:Choice>
        <mc:Fallback xmlns="">
          <p:sp>
            <p:nvSpPr>
              <p:cNvPr id="94" name="TextBox 93">
                <a:extLst>
                  <a:ext uri="{FF2B5EF4-FFF2-40B4-BE49-F238E27FC236}">
                    <a16:creationId xmlns:a16="http://schemas.microsoft.com/office/drawing/2014/main" id="{2EE9D233-E9CB-75D9-ED9B-116A33FD43C1}"/>
                  </a:ext>
                </a:extLst>
              </p:cNvPr>
              <p:cNvSpPr txBox="1">
                <a:spLocks noRot="1" noChangeAspect="1" noMove="1" noResize="1" noEditPoints="1" noAdjustHandles="1" noChangeArrowheads="1" noChangeShapeType="1" noTextEdit="1"/>
              </p:cNvSpPr>
              <p:nvPr/>
            </p:nvSpPr>
            <p:spPr>
              <a:xfrm>
                <a:off x="5703807" y="1700190"/>
                <a:ext cx="893237" cy="307777"/>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01AB203-B4BE-4472-59F0-48B20407B535}"/>
                  </a:ext>
                </a:extLst>
              </p:cNvPr>
              <p:cNvSpPr txBox="1"/>
              <p:nvPr/>
            </p:nvSpPr>
            <p:spPr>
              <a:xfrm>
                <a:off x="5703806" y="204459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21</m:t>
                          </m:r>
                        </m:sub>
                      </m:sSub>
                    </m:oMath>
                  </m:oMathPara>
                </a14:m>
                <a:endParaRPr lang="en-US" sz="1400" dirty="0">
                  <a:solidFill>
                    <a:schemeClr val="bg1">
                      <a:lumMod val="95000"/>
                    </a:schemeClr>
                  </a:solidFill>
                </a:endParaRPr>
              </a:p>
            </p:txBody>
          </p:sp>
        </mc:Choice>
        <mc:Fallback xmlns="">
          <p:sp>
            <p:nvSpPr>
              <p:cNvPr id="95" name="TextBox 94">
                <a:extLst>
                  <a:ext uri="{FF2B5EF4-FFF2-40B4-BE49-F238E27FC236}">
                    <a16:creationId xmlns:a16="http://schemas.microsoft.com/office/drawing/2014/main" id="{C01AB203-B4BE-4472-59F0-48B20407B535}"/>
                  </a:ext>
                </a:extLst>
              </p:cNvPr>
              <p:cNvSpPr txBox="1">
                <a:spLocks noRot="1" noChangeAspect="1" noMove="1" noResize="1" noEditPoints="1" noAdjustHandles="1" noChangeArrowheads="1" noChangeShapeType="1" noTextEdit="1"/>
              </p:cNvSpPr>
              <p:nvPr/>
            </p:nvSpPr>
            <p:spPr>
              <a:xfrm>
                <a:off x="5703806" y="2044593"/>
                <a:ext cx="893237" cy="307777"/>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69CEA49-6942-092F-529E-C665B7BB43F2}"/>
                  </a:ext>
                </a:extLst>
              </p:cNvPr>
              <p:cNvSpPr txBox="1"/>
              <p:nvPr/>
            </p:nvSpPr>
            <p:spPr>
              <a:xfrm>
                <a:off x="5703807" y="3221029"/>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𝑁</m:t>
                          </m:r>
                          <m:r>
                            <a:rPr lang="en-US" sz="1400" b="0" i="1" smtClean="0">
                              <a:solidFill>
                                <a:schemeClr val="bg1">
                                  <a:lumMod val="95000"/>
                                </a:schemeClr>
                              </a:solidFill>
                              <a:latin typeface="Cambria Math" panose="02040503050406030204" pitchFamily="18" charset="0"/>
                            </a:rPr>
                            <m:t>1</m:t>
                          </m:r>
                        </m:sub>
                      </m:sSub>
                    </m:oMath>
                  </m:oMathPara>
                </a14:m>
                <a:endParaRPr lang="en-US" sz="1400" dirty="0">
                  <a:solidFill>
                    <a:schemeClr val="bg1">
                      <a:lumMod val="95000"/>
                    </a:schemeClr>
                  </a:solidFill>
                </a:endParaRPr>
              </a:p>
            </p:txBody>
          </p:sp>
        </mc:Choice>
        <mc:Fallback xmlns="">
          <p:sp>
            <p:nvSpPr>
              <p:cNvPr id="96" name="TextBox 95">
                <a:extLst>
                  <a:ext uri="{FF2B5EF4-FFF2-40B4-BE49-F238E27FC236}">
                    <a16:creationId xmlns:a16="http://schemas.microsoft.com/office/drawing/2014/main" id="{369CEA49-6942-092F-529E-C665B7BB43F2}"/>
                  </a:ext>
                </a:extLst>
              </p:cNvPr>
              <p:cNvSpPr txBox="1">
                <a:spLocks noRot="1" noChangeAspect="1" noMove="1" noResize="1" noEditPoints="1" noAdjustHandles="1" noChangeArrowheads="1" noChangeShapeType="1" noTextEdit="1"/>
              </p:cNvSpPr>
              <p:nvPr/>
            </p:nvSpPr>
            <p:spPr>
              <a:xfrm>
                <a:off x="5703807" y="3221029"/>
                <a:ext cx="893237" cy="307777"/>
              </a:xfrm>
              <a:prstGeom prst="rect">
                <a:avLst/>
              </a:prstGeom>
              <a:blipFill>
                <a:blip r:embed="rId22"/>
                <a:stretch>
                  <a:fillRect/>
                </a:stretch>
              </a:blipFill>
            </p:spPr>
            <p:txBody>
              <a:bodyPr/>
              <a:lstStyle/>
              <a:p>
                <a:r>
                  <a:rPr lang="en-US">
                    <a:noFill/>
                  </a:rPr>
                  <a:t> </a:t>
                </a:r>
              </a:p>
            </p:txBody>
          </p:sp>
        </mc:Fallback>
      </mc:AlternateContent>
      <p:sp>
        <p:nvSpPr>
          <p:cNvPr id="97" name="TextBox 96">
            <a:extLst>
              <a:ext uri="{FF2B5EF4-FFF2-40B4-BE49-F238E27FC236}">
                <a16:creationId xmlns:a16="http://schemas.microsoft.com/office/drawing/2014/main" id="{5EEE3DDE-F59D-1381-38BE-BF1016771991}"/>
              </a:ext>
            </a:extLst>
          </p:cNvPr>
          <p:cNvSpPr txBox="1"/>
          <p:nvPr/>
        </p:nvSpPr>
        <p:spPr>
          <a:xfrm rot="5400000">
            <a:off x="6043289" y="2793352"/>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B7283EDA-81BD-04A7-4E33-D13406D70182}"/>
                  </a:ext>
                </a:extLst>
              </p:cNvPr>
              <p:cNvSpPr txBox="1"/>
              <p:nvPr/>
            </p:nvSpPr>
            <p:spPr>
              <a:xfrm>
                <a:off x="5705746" y="232911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31</m:t>
                          </m:r>
                        </m:sub>
                      </m:sSub>
                    </m:oMath>
                  </m:oMathPara>
                </a14:m>
                <a:endParaRPr lang="en-US" sz="1400" dirty="0">
                  <a:solidFill>
                    <a:schemeClr val="bg1">
                      <a:lumMod val="95000"/>
                    </a:schemeClr>
                  </a:solidFill>
                </a:endParaRPr>
              </a:p>
            </p:txBody>
          </p:sp>
        </mc:Choice>
        <mc:Fallback xmlns="">
          <p:sp>
            <p:nvSpPr>
              <p:cNvPr id="98" name="TextBox 97">
                <a:extLst>
                  <a:ext uri="{FF2B5EF4-FFF2-40B4-BE49-F238E27FC236}">
                    <a16:creationId xmlns:a16="http://schemas.microsoft.com/office/drawing/2014/main" id="{B7283EDA-81BD-04A7-4E33-D13406D70182}"/>
                  </a:ext>
                </a:extLst>
              </p:cNvPr>
              <p:cNvSpPr txBox="1">
                <a:spLocks noRot="1" noChangeAspect="1" noMove="1" noResize="1" noEditPoints="1" noAdjustHandles="1" noChangeArrowheads="1" noChangeShapeType="1" noTextEdit="1"/>
              </p:cNvSpPr>
              <p:nvPr/>
            </p:nvSpPr>
            <p:spPr>
              <a:xfrm>
                <a:off x="5705746" y="2329113"/>
                <a:ext cx="893237" cy="307777"/>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97EA0D7A-5721-E3DE-463A-E366AECC9569}"/>
                  </a:ext>
                </a:extLst>
              </p:cNvPr>
              <p:cNvSpPr txBox="1"/>
              <p:nvPr/>
            </p:nvSpPr>
            <p:spPr>
              <a:xfrm>
                <a:off x="5998730" y="1699957"/>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12</m:t>
                          </m:r>
                        </m:sub>
                      </m:sSub>
                    </m:oMath>
                  </m:oMathPara>
                </a14:m>
                <a:endParaRPr lang="en-US" sz="1400" dirty="0">
                  <a:solidFill>
                    <a:schemeClr val="bg1">
                      <a:lumMod val="95000"/>
                    </a:schemeClr>
                  </a:solidFill>
                </a:endParaRPr>
              </a:p>
            </p:txBody>
          </p:sp>
        </mc:Choice>
        <mc:Fallback xmlns="">
          <p:sp>
            <p:nvSpPr>
              <p:cNvPr id="99" name="TextBox 98">
                <a:extLst>
                  <a:ext uri="{FF2B5EF4-FFF2-40B4-BE49-F238E27FC236}">
                    <a16:creationId xmlns:a16="http://schemas.microsoft.com/office/drawing/2014/main" id="{97EA0D7A-5721-E3DE-463A-E366AECC9569}"/>
                  </a:ext>
                </a:extLst>
              </p:cNvPr>
              <p:cNvSpPr txBox="1">
                <a:spLocks noRot="1" noChangeAspect="1" noMove="1" noResize="1" noEditPoints="1" noAdjustHandles="1" noChangeArrowheads="1" noChangeShapeType="1" noTextEdit="1"/>
              </p:cNvSpPr>
              <p:nvPr/>
            </p:nvSpPr>
            <p:spPr>
              <a:xfrm>
                <a:off x="5998730" y="1699957"/>
                <a:ext cx="893237" cy="307777"/>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2CB5C92F-6C54-980E-1AFF-2BAD16A20B3E}"/>
                  </a:ext>
                </a:extLst>
              </p:cNvPr>
              <p:cNvSpPr txBox="1"/>
              <p:nvPr/>
            </p:nvSpPr>
            <p:spPr>
              <a:xfrm>
                <a:off x="5998729" y="204436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22</m:t>
                          </m:r>
                        </m:sub>
                      </m:sSub>
                    </m:oMath>
                  </m:oMathPara>
                </a14:m>
                <a:endParaRPr lang="en-US" sz="1400" dirty="0">
                  <a:solidFill>
                    <a:schemeClr val="bg1">
                      <a:lumMod val="95000"/>
                    </a:schemeClr>
                  </a:solidFill>
                </a:endParaRPr>
              </a:p>
            </p:txBody>
          </p:sp>
        </mc:Choice>
        <mc:Fallback xmlns="">
          <p:sp>
            <p:nvSpPr>
              <p:cNvPr id="100" name="TextBox 99">
                <a:extLst>
                  <a:ext uri="{FF2B5EF4-FFF2-40B4-BE49-F238E27FC236}">
                    <a16:creationId xmlns:a16="http://schemas.microsoft.com/office/drawing/2014/main" id="{2CB5C92F-6C54-980E-1AFF-2BAD16A20B3E}"/>
                  </a:ext>
                </a:extLst>
              </p:cNvPr>
              <p:cNvSpPr txBox="1">
                <a:spLocks noRot="1" noChangeAspect="1" noMove="1" noResize="1" noEditPoints="1" noAdjustHandles="1" noChangeArrowheads="1" noChangeShapeType="1" noTextEdit="1"/>
              </p:cNvSpPr>
              <p:nvPr/>
            </p:nvSpPr>
            <p:spPr>
              <a:xfrm>
                <a:off x="5998729" y="2044360"/>
                <a:ext cx="893237" cy="30777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518FC831-4DD9-D267-ACC7-B6EC24AE4D34}"/>
                  </a:ext>
                </a:extLst>
              </p:cNvPr>
              <p:cNvSpPr txBox="1"/>
              <p:nvPr/>
            </p:nvSpPr>
            <p:spPr>
              <a:xfrm>
                <a:off x="5998730" y="3220796"/>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𝑁</m:t>
                          </m:r>
                          <m:r>
                            <a:rPr lang="en-US" sz="1400" b="0" i="1" smtClean="0">
                              <a:solidFill>
                                <a:schemeClr val="bg1">
                                  <a:lumMod val="95000"/>
                                </a:schemeClr>
                              </a:solidFill>
                              <a:latin typeface="Cambria Math" panose="02040503050406030204" pitchFamily="18" charset="0"/>
                            </a:rPr>
                            <m:t>2</m:t>
                          </m:r>
                        </m:sub>
                      </m:sSub>
                    </m:oMath>
                  </m:oMathPara>
                </a14:m>
                <a:endParaRPr lang="en-US" sz="1400" dirty="0">
                  <a:solidFill>
                    <a:schemeClr val="bg1">
                      <a:lumMod val="95000"/>
                    </a:schemeClr>
                  </a:solidFill>
                </a:endParaRPr>
              </a:p>
            </p:txBody>
          </p:sp>
        </mc:Choice>
        <mc:Fallback xmlns="">
          <p:sp>
            <p:nvSpPr>
              <p:cNvPr id="101" name="TextBox 100">
                <a:extLst>
                  <a:ext uri="{FF2B5EF4-FFF2-40B4-BE49-F238E27FC236}">
                    <a16:creationId xmlns:a16="http://schemas.microsoft.com/office/drawing/2014/main" id="{518FC831-4DD9-D267-ACC7-B6EC24AE4D34}"/>
                  </a:ext>
                </a:extLst>
              </p:cNvPr>
              <p:cNvSpPr txBox="1">
                <a:spLocks noRot="1" noChangeAspect="1" noMove="1" noResize="1" noEditPoints="1" noAdjustHandles="1" noChangeArrowheads="1" noChangeShapeType="1" noTextEdit="1"/>
              </p:cNvSpPr>
              <p:nvPr/>
            </p:nvSpPr>
            <p:spPr>
              <a:xfrm>
                <a:off x="5998730" y="3220796"/>
                <a:ext cx="893237" cy="307777"/>
              </a:xfrm>
              <a:prstGeom prst="rect">
                <a:avLst/>
              </a:prstGeom>
              <a:blipFill>
                <a:blip r:embed="rId26"/>
                <a:stretch>
                  <a:fillRect/>
                </a:stretch>
              </a:blipFill>
            </p:spPr>
            <p:txBody>
              <a:bodyPr/>
              <a:lstStyle/>
              <a:p>
                <a:r>
                  <a:rPr lang="en-US">
                    <a:noFill/>
                  </a:rPr>
                  <a:t> </a:t>
                </a:r>
              </a:p>
            </p:txBody>
          </p:sp>
        </mc:Fallback>
      </mc:AlternateContent>
      <p:sp>
        <p:nvSpPr>
          <p:cNvPr id="102" name="TextBox 101">
            <a:extLst>
              <a:ext uri="{FF2B5EF4-FFF2-40B4-BE49-F238E27FC236}">
                <a16:creationId xmlns:a16="http://schemas.microsoft.com/office/drawing/2014/main" id="{F6AB3452-245E-337A-7B12-E9D2A7C8B5F3}"/>
              </a:ext>
            </a:extLst>
          </p:cNvPr>
          <p:cNvSpPr txBox="1"/>
          <p:nvPr/>
        </p:nvSpPr>
        <p:spPr>
          <a:xfrm rot="5400000">
            <a:off x="6338212" y="2793119"/>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D26B32F0-250C-053C-7329-AA60C391AA6F}"/>
                  </a:ext>
                </a:extLst>
              </p:cNvPr>
              <p:cNvSpPr txBox="1"/>
              <p:nvPr/>
            </p:nvSpPr>
            <p:spPr>
              <a:xfrm>
                <a:off x="6000669" y="232888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32</m:t>
                          </m:r>
                        </m:sub>
                      </m:sSub>
                    </m:oMath>
                  </m:oMathPara>
                </a14:m>
                <a:endParaRPr lang="en-US" sz="1400" dirty="0">
                  <a:solidFill>
                    <a:schemeClr val="bg1">
                      <a:lumMod val="95000"/>
                    </a:schemeClr>
                  </a:solidFill>
                </a:endParaRPr>
              </a:p>
            </p:txBody>
          </p:sp>
        </mc:Choice>
        <mc:Fallback xmlns="">
          <p:sp>
            <p:nvSpPr>
              <p:cNvPr id="103" name="TextBox 102">
                <a:extLst>
                  <a:ext uri="{FF2B5EF4-FFF2-40B4-BE49-F238E27FC236}">
                    <a16:creationId xmlns:a16="http://schemas.microsoft.com/office/drawing/2014/main" id="{D26B32F0-250C-053C-7329-AA60C391AA6F}"/>
                  </a:ext>
                </a:extLst>
              </p:cNvPr>
              <p:cNvSpPr txBox="1">
                <a:spLocks noRot="1" noChangeAspect="1" noMove="1" noResize="1" noEditPoints="1" noAdjustHandles="1" noChangeArrowheads="1" noChangeShapeType="1" noTextEdit="1"/>
              </p:cNvSpPr>
              <p:nvPr/>
            </p:nvSpPr>
            <p:spPr>
              <a:xfrm>
                <a:off x="6000669" y="2328880"/>
                <a:ext cx="893237" cy="30777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49AE106E-1D76-8185-9022-CF2F9D3552AD}"/>
                  </a:ext>
                </a:extLst>
              </p:cNvPr>
              <p:cNvSpPr txBox="1"/>
              <p:nvPr/>
            </p:nvSpPr>
            <p:spPr>
              <a:xfrm>
                <a:off x="6409330" y="1699776"/>
                <a:ext cx="6823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13</m:t>
                          </m:r>
                        </m:sub>
                      </m:sSub>
                    </m:oMath>
                  </m:oMathPara>
                </a14:m>
                <a:endParaRPr lang="en-US" sz="1400" dirty="0">
                  <a:solidFill>
                    <a:schemeClr val="bg1">
                      <a:lumMod val="95000"/>
                    </a:schemeClr>
                  </a:solidFill>
                </a:endParaRPr>
              </a:p>
            </p:txBody>
          </p:sp>
        </mc:Choice>
        <mc:Fallback xmlns="">
          <p:sp>
            <p:nvSpPr>
              <p:cNvPr id="104" name="TextBox 103">
                <a:extLst>
                  <a:ext uri="{FF2B5EF4-FFF2-40B4-BE49-F238E27FC236}">
                    <a16:creationId xmlns:a16="http://schemas.microsoft.com/office/drawing/2014/main" id="{49AE106E-1D76-8185-9022-CF2F9D3552AD}"/>
                  </a:ext>
                </a:extLst>
              </p:cNvPr>
              <p:cNvSpPr txBox="1">
                <a:spLocks noRot="1" noChangeAspect="1" noMove="1" noResize="1" noEditPoints="1" noAdjustHandles="1" noChangeArrowheads="1" noChangeShapeType="1" noTextEdit="1"/>
              </p:cNvSpPr>
              <p:nvPr/>
            </p:nvSpPr>
            <p:spPr>
              <a:xfrm>
                <a:off x="6409330" y="1699776"/>
                <a:ext cx="682380" cy="307777"/>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D9436828-06FC-54DD-D646-821591E0239A}"/>
                  </a:ext>
                </a:extLst>
              </p:cNvPr>
              <p:cNvSpPr txBox="1"/>
              <p:nvPr/>
            </p:nvSpPr>
            <p:spPr>
              <a:xfrm>
                <a:off x="6299081" y="204436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23</m:t>
                          </m:r>
                        </m:sub>
                      </m:sSub>
                    </m:oMath>
                  </m:oMathPara>
                </a14:m>
                <a:endParaRPr lang="en-US" sz="1400" dirty="0">
                  <a:solidFill>
                    <a:schemeClr val="bg1">
                      <a:lumMod val="95000"/>
                    </a:schemeClr>
                  </a:solidFill>
                </a:endParaRPr>
              </a:p>
            </p:txBody>
          </p:sp>
        </mc:Choice>
        <mc:Fallback xmlns="">
          <p:sp>
            <p:nvSpPr>
              <p:cNvPr id="105" name="TextBox 104">
                <a:extLst>
                  <a:ext uri="{FF2B5EF4-FFF2-40B4-BE49-F238E27FC236}">
                    <a16:creationId xmlns:a16="http://schemas.microsoft.com/office/drawing/2014/main" id="{D9436828-06FC-54DD-D646-821591E0239A}"/>
                  </a:ext>
                </a:extLst>
              </p:cNvPr>
              <p:cNvSpPr txBox="1">
                <a:spLocks noRot="1" noChangeAspect="1" noMove="1" noResize="1" noEditPoints="1" noAdjustHandles="1" noChangeArrowheads="1" noChangeShapeType="1" noTextEdit="1"/>
              </p:cNvSpPr>
              <p:nvPr/>
            </p:nvSpPr>
            <p:spPr>
              <a:xfrm>
                <a:off x="6299081" y="2044360"/>
                <a:ext cx="893237" cy="30777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D36BF0B9-398B-771F-C2D2-187B729F42C8}"/>
                  </a:ext>
                </a:extLst>
              </p:cNvPr>
              <p:cNvSpPr txBox="1"/>
              <p:nvPr/>
            </p:nvSpPr>
            <p:spPr>
              <a:xfrm>
                <a:off x="6299082" y="3220796"/>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𝑁</m:t>
                          </m:r>
                          <m:r>
                            <a:rPr lang="en-US" sz="1400" b="0" i="1" smtClean="0">
                              <a:solidFill>
                                <a:schemeClr val="bg1">
                                  <a:lumMod val="95000"/>
                                </a:schemeClr>
                              </a:solidFill>
                              <a:latin typeface="Cambria Math" panose="02040503050406030204" pitchFamily="18" charset="0"/>
                            </a:rPr>
                            <m:t>3</m:t>
                          </m:r>
                        </m:sub>
                      </m:sSub>
                    </m:oMath>
                  </m:oMathPara>
                </a14:m>
                <a:endParaRPr lang="en-US" sz="1400" dirty="0">
                  <a:solidFill>
                    <a:schemeClr val="bg1">
                      <a:lumMod val="95000"/>
                    </a:schemeClr>
                  </a:solidFill>
                </a:endParaRPr>
              </a:p>
            </p:txBody>
          </p:sp>
        </mc:Choice>
        <mc:Fallback xmlns="">
          <p:sp>
            <p:nvSpPr>
              <p:cNvPr id="106" name="TextBox 105">
                <a:extLst>
                  <a:ext uri="{FF2B5EF4-FFF2-40B4-BE49-F238E27FC236}">
                    <a16:creationId xmlns:a16="http://schemas.microsoft.com/office/drawing/2014/main" id="{D36BF0B9-398B-771F-C2D2-187B729F42C8}"/>
                  </a:ext>
                </a:extLst>
              </p:cNvPr>
              <p:cNvSpPr txBox="1">
                <a:spLocks noRot="1" noChangeAspect="1" noMove="1" noResize="1" noEditPoints="1" noAdjustHandles="1" noChangeArrowheads="1" noChangeShapeType="1" noTextEdit="1"/>
              </p:cNvSpPr>
              <p:nvPr/>
            </p:nvSpPr>
            <p:spPr>
              <a:xfrm>
                <a:off x="6299082" y="3220796"/>
                <a:ext cx="893237" cy="307777"/>
              </a:xfrm>
              <a:prstGeom prst="rect">
                <a:avLst/>
              </a:prstGeom>
              <a:blipFill>
                <a:blip r:embed="rId30"/>
                <a:stretch>
                  <a:fillRect/>
                </a:stretch>
              </a:blipFill>
            </p:spPr>
            <p:txBody>
              <a:bodyPr/>
              <a:lstStyle/>
              <a:p>
                <a:r>
                  <a:rPr lang="en-US">
                    <a:noFill/>
                  </a:rPr>
                  <a:t> </a:t>
                </a:r>
              </a:p>
            </p:txBody>
          </p:sp>
        </mc:Fallback>
      </mc:AlternateContent>
      <p:sp>
        <p:nvSpPr>
          <p:cNvPr id="109" name="Rounded Rectangle 108">
            <a:extLst>
              <a:ext uri="{FF2B5EF4-FFF2-40B4-BE49-F238E27FC236}">
                <a16:creationId xmlns:a16="http://schemas.microsoft.com/office/drawing/2014/main" id="{05B73B41-B86C-0474-8EEA-835EFEC6EFC3}"/>
              </a:ext>
            </a:extLst>
          </p:cNvPr>
          <p:cNvSpPr/>
          <p:nvPr/>
        </p:nvSpPr>
        <p:spPr>
          <a:xfrm>
            <a:off x="6945908" y="2148902"/>
            <a:ext cx="1114765" cy="902619"/>
          </a:xfrm>
          <a:prstGeom prst="roundRect">
            <a:avLst/>
          </a:prstGeom>
          <a:solidFill>
            <a:srgbClr val="FFC7D1"/>
          </a:solidFill>
          <a:ln>
            <a:solidFill>
              <a:srgbClr val="FFC7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7" name="TextBox 106">
            <a:extLst>
              <a:ext uri="{FF2B5EF4-FFF2-40B4-BE49-F238E27FC236}">
                <a16:creationId xmlns:a16="http://schemas.microsoft.com/office/drawing/2014/main" id="{DCBFCD90-2BDD-A177-4914-9C2EDDA5D0FB}"/>
              </a:ext>
            </a:extLst>
          </p:cNvPr>
          <p:cNvSpPr txBox="1"/>
          <p:nvPr/>
        </p:nvSpPr>
        <p:spPr>
          <a:xfrm rot="5400000">
            <a:off x="6638564" y="2793119"/>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93AA122-BC07-63C1-850D-DB27947E371C}"/>
                  </a:ext>
                </a:extLst>
              </p:cNvPr>
              <p:cNvSpPr txBox="1"/>
              <p:nvPr/>
            </p:nvSpPr>
            <p:spPr>
              <a:xfrm>
                <a:off x="6301021" y="232888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33</m:t>
                          </m:r>
                        </m:sub>
                      </m:sSub>
                    </m:oMath>
                  </m:oMathPara>
                </a14:m>
                <a:endParaRPr lang="en-US" sz="1400" dirty="0">
                  <a:solidFill>
                    <a:schemeClr val="bg1">
                      <a:lumMod val="95000"/>
                    </a:schemeClr>
                  </a:solidFill>
                </a:endParaRPr>
              </a:p>
            </p:txBody>
          </p:sp>
        </mc:Choice>
        <mc:Fallback xmlns="">
          <p:sp>
            <p:nvSpPr>
              <p:cNvPr id="108" name="TextBox 107">
                <a:extLst>
                  <a:ext uri="{FF2B5EF4-FFF2-40B4-BE49-F238E27FC236}">
                    <a16:creationId xmlns:a16="http://schemas.microsoft.com/office/drawing/2014/main" id="{093AA122-BC07-63C1-850D-DB27947E371C}"/>
                  </a:ext>
                </a:extLst>
              </p:cNvPr>
              <p:cNvSpPr txBox="1">
                <a:spLocks noRot="1" noChangeAspect="1" noMove="1" noResize="1" noEditPoints="1" noAdjustHandles="1" noChangeArrowheads="1" noChangeShapeType="1" noTextEdit="1"/>
              </p:cNvSpPr>
              <p:nvPr/>
            </p:nvSpPr>
            <p:spPr>
              <a:xfrm>
                <a:off x="6301021" y="2328880"/>
                <a:ext cx="893237" cy="307777"/>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4795711A-6321-D2B7-C655-2400C6087F67}"/>
                  </a:ext>
                </a:extLst>
              </p:cNvPr>
              <p:cNvSpPr txBox="1"/>
              <p:nvPr/>
            </p:nvSpPr>
            <p:spPr>
              <a:xfrm flipH="1">
                <a:off x="6921497" y="2105777"/>
                <a:ext cx="816378" cy="10303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r>
                                      <a:rPr lang="en-US" b="0" i="1" smtClean="0">
                                        <a:latin typeface="Cambria Math" panose="02040503050406030204" pitchFamily="18" charset="0"/>
                                      </a:rPr>
                                      <m:t>𝑗𝑜𝑖𝑛𝑡</m:t>
                                    </m:r>
                                  </m:sub>
                                </m:sSub>
                              </m:e>
                            </m:mr>
                            <m:mr>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2,</m:t>
                                    </m:r>
                                    <m:r>
                                      <a:rPr lang="en-US" b="0" i="1" smtClean="0">
                                        <a:latin typeface="Cambria Math" panose="02040503050406030204" pitchFamily="18" charset="0"/>
                                      </a:rPr>
                                      <m:t>𝑗𝑜𝑖𝑛𝑡</m:t>
                                    </m:r>
                                  </m:sub>
                                </m:sSub>
                              </m:e>
                            </m:mr>
                            <m:mr>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3, </m:t>
                                    </m:r>
                                    <m:r>
                                      <a:rPr lang="en-US" b="0" i="1" smtClean="0">
                                        <a:latin typeface="Cambria Math" panose="02040503050406030204" pitchFamily="18" charset="0"/>
                                      </a:rPr>
                                      <m:t>𝑗𝑜𝑖𝑛𝑡</m:t>
                                    </m:r>
                                  </m:sub>
                                </m:sSub>
                              </m:e>
                            </m:mr>
                          </m:m>
                        </m:e>
                      </m:d>
                    </m:oMath>
                  </m:oMathPara>
                </a14:m>
                <a:endParaRPr lang="en-US" dirty="0"/>
              </a:p>
            </p:txBody>
          </p:sp>
        </mc:Choice>
        <mc:Fallback xmlns="">
          <p:sp>
            <p:nvSpPr>
              <p:cNvPr id="68" name="TextBox 67">
                <a:extLst>
                  <a:ext uri="{FF2B5EF4-FFF2-40B4-BE49-F238E27FC236}">
                    <a16:creationId xmlns:a16="http://schemas.microsoft.com/office/drawing/2014/main" id="{4795711A-6321-D2B7-C655-2400C6087F67}"/>
                  </a:ext>
                </a:extLst>
              </p:cNvPr>
              <p:cNvSpPr txBox="1">
                <a:spLocks noRot="1" noChangeAspect="1" noMove="1" noResize="1" noEditPoints="1" noAdjustHandles="1" noChangeArrowheads="1" noChangeShapeType="1" noTextEdit="1"/>
              </p:cNvSpPr>
              <p:nvPr/>
            </p:nvSpPr>
            <p:spPr>
              <a:xfrm flipH="1">
                <a:off x="6921497" y="2105777"/>
                <a:ext cx="816378" cy="1030382"/>
              </a:xfrm>
              <a:prstGeom prst="rect">
                <a:avLst/>
              </a:prstGeom>
              <a:blipFill>
                <a:blip r:embed="rId32"/>
                <a:stretch>
                  <a:fillRect r="-303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9F757298-C2FA-474F-099C-99638954B8D1}"/>
                  </a:ext>
                </a:extLst>
              </p:cNvPr>
              <p:cNvSpPr txBox="1"/>
              <p:nvPr/>
            </p:nvSpPr>
            <p:spPr>
              <a:xfrm>
                <a:off x="3466619" y="2450051"/>
                <a:ext cx="403619"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smtClean="0">
                              <a:solidFill>
                                <a:schemeClr val="tx1"/>
                              </a:solidFill>
                              <a:latin typeface="Cambria Math" panose="02040503050406030204" pitchFamily="18" charset="0"/>
                              <a:ea typeface="Cambria Math" panose="02040503050406030204" pitchFamily="18" charset="0"/>
                            </a:rPr>
                            <m:t>𝜀</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111" name="TextBox 110">
                <a:extLst>
                  <a:ext uri="{FF2B5EF4-FFF2-40B4-BE49-F238E27FC236}">
                    <a16:creationId xmlns:a16="http://schemas.microsoft.com/office/drawing/2014/main" id="{9F757298-C2FA-474F-099C-99638954B8D1}"/>
                  </a:ext>
                </a:extLst>
              </p:cNvPr>
              <p:cNvSpPr txBox="1">
                <a:spLocks noRot="1" noChangeAspect="1" noMove="1" noResize="1" noEditPoints="1" noAdjustHandles="1" noChangeArrowheads="1" noChangeShapeType="1" noTextEdit="1"/>
              </p:cNvSpPr>
              <p:nvPr/>
            </p:nvSpPr>
            <p:spPr>
              <a:xfrm>
                <a:off x="3466619" y="2450051"/>
                <a:ext cx="403619" cy="369332"/>
              </a:xfrm>
              <a:prstGeom prst="rect">
                <a:avLst/>
              </a:prstGeom>
              <a:blipFill>
                <a:blip r:embed="rId3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23BD20DE-2184-FBB8-C2AE-850A6AB35E9E}"/>
                  </a:ext>
                </a:extLst>
              </p:cNvPr>
              <p:cNvSpPr txBox="1"/>
              <p:nvPr/>
            </p:nvSpPr>
            <p:spPr>
              <a:xfrm>
                <a:off x="3438462" y="6105092"/>
                <a:ext cx="45993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smtClean="0">
                              <a:solidFill>
                                <a:schemeClr val="tx1"/>
                              </a:solidFill>
                              <a:latin typeface="Cambria Math" panose="02040503050406030204" pitchFamily="18" charset="0"/>
                              <a:ea typeface="Cambria Math" panose="02040503050406030204" pitchFamily="18" charset="0"/>
                            </a:rPr>
                            <m:t>𝜀</m:t>
                          </m:r>
                        </m:e>
                        <m:sub>
                          <m:r>
                            <a:rPr lang="en-US" b="0" i="1" smtClean="0">
                              <a:solidFill>
                                <a:schemeClr val="tx1"/>
                              </a:solidFill>
                              <a:latin typeface="Cambria Math" panose="02040503050406030204" pitchFamily="18" charset="0"/>
                              <a:ea typeface="Cambria Math" panose="02040503050406030204" pitchFamily="18" charset="0"/>
                            </a:rPr>
                            <m:t>3</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23BD20DE-2184-FBB8-C2AE-850A6AB35E9E}"/>
                  </a:ext>
                </a:extLst>
              </p:cNvPr>
              <p:cNvSpPr txBox="1">
                <a:spLocks noRot="1" noChangeAspect="1" noMove="1" noResize="1" noEditPoints="1" noAdjustHandles="1" noChangeArrowheads="1" noChangeShapeType="1" noTextEdit="1"/>
              </p:cNvSpPr>
              <p:nvPr/>
            </p:nvSpPr>
            <p:spPr>
              <a:xfrm>
                <a:off x="3438462" y="6105092"/>
                <a:ext cx="459932" cy="369332"/>
              </a:xfrm>
              <a:prstGeom prst="rect">
                <a:avLst/>
              </a:prstGeom>
              <a:blipFill>
                <a:blip r:embed="rId34"/>
                <a:stretch>
                  <a:fillRect/>
                </a:stretch>
              </a:blipFill>
            </p:spPr>
            <p:txBody>
              <a:bodyPr/>
              <a:lstStyle/>
              <a:p>
                <a:r>
                  <a:rPr lang="en-US">
                    <a:noFill/>
                  </a:rPr>
                  <a:t> </a:t>
                </a:r>
              </a:p>
            </p:txBody>
          </p:sp>
        </mc:Fallback>
      </mc:AlternateContent>
      <p:sp>
        <p:nvSpPr>
          <p:cNvPr id="113" name="TextBox 112">
            <a:extLst>
              <a:ext uri="{FF2B5EF4-FFF2-40B4-BE49-F238E27FC236}">
                <a16:creationId xmlns:a16="http://schemas.microsoft.com/office/drawing/2014/main" id="{2D8A7C4A-83CB-7723-9CF4-3534D0198E7D}"/>
              </a:ext>
            </a:extLst>
          </p:cNvPr>
          <p:cNvSpPr txBox="1"/>
          <p:nvPr/>
        </p:nvSpPr>
        <p:spPr>
          <a:xfrm>
            <a:off x="623688" y="8041729"/>
            <a:ext cx="3227013" cy="584775"/>
          </a:xfrm>
          <a:prstGeom prst="rect">
            <a:avLst/>
          </a:prstGeom>
          <a:noFill/>
        </p:spPr>
        <p:txBody>
          <a:bodyPr wrap="square" rtlCol="0">
            <a:spAutoFit/>
          </a:bodyPr>
          <a:lstStyle/>
          <a:p>
            <a:pPr algn="ctr"/>
            <a:r>
              <a:rPr lang="en-US" sz="1600" dirty="0"/>
              <a:t>Each variable is analyzed </a:t>
            </a:r>
            <a:r>
              <a:rPr lang="en-US" sz="1600" b="1" dirty="0"/>
              <a:t>independently</a:t>
            </a:r>
            <a:r>
              <a:rPr lang="en-US" sz="1600" dirty="0"/>
              <a:t>.</a:t>
            </a:r>
          </a:p>
        </p:txBody>
      </p:sp>
      <p:sp>
        <p:nvSpPr>
          <p:cNvPr id="114" name="TextBox 113">
            <a:extLst>
              <a:ext uri="{FF2B5EF4-FFF2-40B4-BE49-F238E27FC236}">
                <a16:creationId xmlns:a16="http://schemas.microsoft.com/office/drawing/2014/main" id="{7934CAA0-54FF-5B65-5DD0-1B7A65539BF5}"/>
              </a:ext>
            </a:extLst>
          </p:cNvPr>
          <p:cNvSpPr txBox="1"/>
          <p:nvPr/>
        </p:nvSpPr>
        <p:spPr>
          <a:xfrm>
            <a:off x="5178816" y="3767770"/>
            <a:ext cx="3227013" cy="523220"/>
          </a:xfrm>
          <a:prstGeom prst="rect">
            <a:avLst/>
          </a:prstGeom>
          <a:noFill/>
        </p:spPr>
        <p:txBody>
          <a:bodyPr wrap="square" rtlCol="0">
            <a:spAutoFit/>
          </a:bodyPr>
          <a:lstStyle/>
          <a:p>
            <a:pPr algn="ctr"/>
            <a:r>
              <a:rPr lang="en-US" sz="1400" dirty="0"/>
              <a:t>Accounts the correlations between variables (i.e., LD)</a:t>
            </a:r>
          </a:p>
        </p:txBody>
      </p:sp>
      <p:sp>
        <p:nvSpPr>
          <p:cNvPr id="2" name="Rounded Rectangle 1">
            <a:extLst>
              <a:ext uri="{FF2B5EF4-FFF2-40B4-BE49-F238E27FC236}">
                <a16:creationId xmlns:a16="http://schemas.microsoft.com/office/drawing/2014/main" id="{BEDB6D75-7080-CCD4-DD21-2E4888FEF6C8}"/>
              </a:ext>
            </a:extLst>
          </p:cNvPr>
          <p:cNvSpPr/>
          <p:nvPr/>
        </p:nvSpPr>
        <p:spPr>
          <a:xfrm>
            <a:off x="4705827" y="4739666"/>
            <a:ext cx="4140652" cy="3884380"/>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5" name="TextBox 4">
            <a:extLst>
              <a:ext uri="{FF2B5EF4-FFF2-40B4-BE49-F238E27FC236}">
                <a16:creationId xmlns:a16="http://schemas.microsoft.com/office/drawing/2014/main" id="{DFDB4065-2840-B9DF-DDAD-BA4D632FE24D}"/>
              </a:ext>
            </a:extLst>
          </p:cNvPr>
          <p:cNvSpPr txBox="1"/>
          <p:nvPr/>
        </p:nvSpPr>
        <p:spPr>
          <a:xfrm>
            <a:off x="4754700" y="4920160"/>
            <a:ext cx="4075308" cy="369332"/>
          </a:xfrm>
          <a:prstGeom prst="rect">
            <a:avLst/>
          </a:prstGeom>
          <a:noFill/>
        </p:spPr>
        <p:txBody>
          <a:bodyPr wrap="square" rtlCol="0" anchor="ctr">
            <a:spAutoFit/>
          </a:bodyPr>
          <a:lstStyle/>
          <a:p>
            <a:pPr algn="ctr"/>
            <a:r>
              <a:rPr lang="en-US" b="1" dirty="0"/>
              <a:t>Example: Simpson’s Paradox</a:t>
            </a:r>
            <a:endParaRPr lang="en-US" sz="1200" dirty="0"/>
          </a:p>
        </p:txBody>
      </p:sp>
      <p:pic>
        <p:nvPicPr>
          <p:cNvPr id="8" name="Picture 7">
            <a:extLst>
              <a:ext uri="{FF2B5EF4-FFF2-40B4-BE49-F238E27FC236}">
                <a16:creationId xmlns:a16="http://schemas.microsoft.com/office/drawing/2014/main" id="{4602E520-0CA5-099A-282E-C3D8741DAE2E}"/>
              </a:ext>
            </a:extLst>
          </p:cNvPr>
          <p:cNvPicPr>
            <a:picLocks noChangeAspect="1"/>
          </p:cNvPicPr>
          <p:nvPr/>
        </p:nvPicPr>
        <p:blipFill>
          <a:blip r:embed="rId35"/>
          <a:srcRect/>
          <a:stretch/>
        </p:blipFill>
        <p:spPr>
          <a:xfrm>
            <a:off x="5132100" y="5251584"/>
            <a:ext cx="3359826" cy="3359826"/>
          </a:xfrm>
          <a:prstGeom prst="rect">
            <a:avLst/>
          </a:prstGeom>
        </p:spPr>
      </p:pic>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CBDFF82-64D2-DCF1-BF70-25AA301E97CE}"/>
                  </a:ext>
                </a:extLst>
              </p:cNvPr>
              <p:cNvSpPr txBox="1"/>
              <p:nvPr/>
            </p:nvSpPr>
            <p:spPr>
              <a:xfrm>
                <a:off x="1776772" y="5342502"/>
                <a:ext cx="41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13</m:t>
                          </m:r>
                        </m:sub>
                      </m:sSub>
                    </m:oMath>
                  </m:oMathPara>
                </a14:m>
                <a:endParaRPr lang="en-US" sz="1400" dirty="0">
                  <a:solidFill>
                    <a:schemeClr val="bg1">
                      <a:lumMod val="95000"/>
                    </a:schemeClr>
                  </a:solidFill>
                </a:endParaRPr>
              </a:p>
            </p:txBody>
          </p:sp>
        </mc:Choice>
        <mc:Fallback xmlns="">
          <p:sp>
            <p:nvSpPr>
              <p:cNvPr id="37" name="TextBox 36">
                <a:extLst>
                  <a:ext uri="{FF2B5EF4-FFF2-40B4-BE49-F238E27FC236}">
                    <a16:creationId xmlns:a16="http://schemas.microsoft.com/office/drawing/2014/main" id="{2CBDFF82-64D2-DCF1-BF70-25AA301E97CE}"/>
                  </a:ext>
                </a:extLst>
              </p:cNvPr>
              <p:cNvSpPr txBox="1">
                <a:spLocks noRot="1" noChangeAspect="1" noMove="1" noResize="1" noEditPoints="1" noAdjustHandles="1" noChangeArrowheads="1" noChangeShapeType="1" noTextEdit="1"/>
              </p:cNvSpPr>
              <p:nvPr/>
            </p:nvSpPr>
            <p:spPr>
              <a:xfrm>
                <a:off x="1776772" y="5342502"/>
                <a:ext cx="413977" cy="307777"/>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617D102-F810-1FAF-342F-5674280D8DDB}"/>
                  </a:ext>
                </a:extLst>
              </p:cNvPr>
              <p:cNvSpPr txBox="1"/>
              <p:nvPr/>
            </p:nvSpPr>
            <p:spPr>
              <a:xfrm>
                <a:off x="1776772" y="5686905"/>
                <a:ext cx="41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23</m:t>
                          </m:r>
                        </m:sub>
                      </m:sSub>
                    </m:oMath>
                  </m:oMathPara>
                </a14:m>
                <a:endParaRPr lang="en-US" sz="1400" dirty="0">
                  <a:solidFill>
                    <a:schemeClr val="bg1">
                      <a:lumMod val="95000"/>
                    </a:schemeClr>
                  </a:solidFill>
                </a:endParaRPr>
              </a:p>
            </p:txBody>
          </p:sp>
        </mc:Choice>
        <mc:Fallback xmlns="">
          <p:sp>
            <p:nvSpPr>
              <p:cNvPr id="38" name="TextBox 37">
                <a:extLst>
                  <a:ext uri="{FF2B5EF4-FFF2-40B4-BE49-F238E27FC236}">
                    <a16:creationId xmlns:a16="http://schemas.microsoft.com/office/drawing/2014/main" id="{5617D102-F810-1FAF-342F-5674280D8DDB}"/>
                  </a:ext>
                </a:extLst>
              </p:cNvPr>
              <p:cNvSpPr txBox="1">
                <a:spLocks noRot="1" noChangeAspect="1" noMove="1" noResize="1" noEditPoints="1" noAdjustHandles="1" noChangeArrowheads="1" noChangeShapeType="1" noTextEdit="1"/>
              </p:cNvSpPr>
              <p:nvPr/>
            </p:nvSpPr>
            <p:spPr>
              <a:xfrm>
                <a:off x="1776772" y="5686905"/>
                <a:ext cx="413977" cy="307777"/>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6E3D44F-8582-3AA6-416A-0B23C9443CC7}"/>
                  </a:ext>
                </a:extLst>
              </p:cNvPr>
              <p:cNvSpPr txBox="1"/>
              <p:nvPr/>
            </p:nvSpPr>
            <p:spPr>
              <a:xfrm>
                <a:off x="1778020" y="6863341"/>
                <a:ext cx="41148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solidFill>
                                <a:schemeClr val="bg1">
                                  <a:lumMod val="95000"/>
                                </a:schemeClr>
                              </a:solidFill>
                              <a:latin typeface="Cambria Math" panose="02040503050406030204" pitchFamily="18" charset="0"/>
                            </a:rPr>
                          </m:ctrlPr>
                        </m:sSubPr>
                        <m:e>
                          <m:r>
                            <a:rPr lang="en-US" sz="1600" i="1">
                              <a:solidFill>
                                <a:schemeClr val="bg1">
                                  <a:lumMod val="95000"/>
                                </a:schemeClr>
                              </a:solidFill>
                              <a:latin typeface="Cambria Math" panose="02040503050406030204" pitchFamily="18" charset="0"/>
                            </a:rPr>
                            <m:t>𝑋</m:t>
                          </m:r>
                        </m:e>
                        <m:sub>
                          <m:r>
                            <a:rPr lang="en-US" sz="1600" b="0" i="1" smtClean="0">
                              <a:solidFill>
                                <a:schemeClr val="bg1">
                                  <a:lumMod val="95000"/>
                                </a:schemeClr>
                              </a:solidFill>
                              <a:latin typeface="Cambria Math" panose="02040503050406030204" pitchFamily="18" charset="0"/>
                            </a:rPr>
                            <m:t>𝑁</m:t>
                          </m:r>
                          <m:r>
                            <a:rPr lang="en-US" sz="1600" b="0" i="1" smtClean="0">
                              <a:solidFill>
                                <a:schemeClr val="bg1">
                                  <a:lumMod val="95000"/>
                                </a:schemeClr>
                              </a:solidFill>
                              <a:latin typeface="Cambria Math" panose="02040503050406030204" pitchFamily="18" charset="0"/>
                            </a:rPr>
                            <m:t>3</m:t>
                          </m:r>
                        </m:sub>
                      </m:sSub>
                    </m:oMath>
                  </m:oMathPara>
                </a14:m>
                <a:endParaRPr lang="en-US" sz="1600" dirty="0">
                  <a:solidFill>
                    <a:schemeClr val="bg1">
                      <a:lumMod val="95000"/>
                    </a:schemeClr>
                  </a:solidFill>
                </a:endParaRPr>
              </a:p>
            </p:txBody>
          </p:sp>
        </mc:Choice>
        <mc:Fallback xmlns="">
          <p:sp>
            <p:nvSpPr>
              <p:cNvPr id="39" name="TextBox 38">
                <a:extLst>
                  <a:ext uri="{FF2B5EF4-FFF2-40B4-BE49-F238E27FC236}">
                    <a16:creationId xmlns:a16="http://schemas.microsoft.com/office/drawing/2014/main" id="{C6E3D44F-8582-3AA6-416A-0B23C9443CC7}"/>
                  </a:ext>
                </a:extLst>
              </p:cNvPr>
              <p:cNvSpPr txBox="1">
                <a:spLocks noRot="1" noChangeAspect="1" noMove="1" noResize="1" noEditPoints="1" noAdjustHandles="1" noChangeArrowheads="1" noChangeShapeType="1" noTextEdit="1"/>
              </p:cNvSpPr>
              <p:nvPr/>
            </p:nvSpPr>
            <p:spPr>
              <a:xfrm>
                <a:off x="1778020" y="6863341"/>
                <a:ext cx="411480" cy="338554"/>
              </a:xfrm>
              <a:prstGeom prst="rect">
                <a:avLst/>
              </a:prstGeom>
              <a:blipFill>
                <a:blip r:embed="rId38"/>
                <a:stretch>
                  <a:fillRect r="-12121"/>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2CF041EA-797A-E287-1C41-DA1362EC046A}"/>
              </a:ext>
            </a:extLst>
          </p:cNvPr>
          <p:cNvSpPr txBox="1"/>
          <p:nvPr/>
        </p:nvSpPr>
        <p:spPr>
          <a:xfrm rot="5400000">
            <a:off x="1812078" y="6435664"/>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104297F-FF50-BA63-1F1A-74631CCFBC69}"/>
                  </a:ext>
                </a:extLst>
              </p:cNvPr>
              <p:cNvSpPr txBox="1"/>
              <p:nvPr/>
            </p:nvSpPr>
            <p:spPr>
              <a:xfrm>
                <a:off x="1778020" y="5971425"/>
                <a:ext cx="41148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33</m:t>
                          </m:r>
                        </m:sub>
                      </m:sSub>
                    </m:oMath>
                  </m:oMathPara>
                </a14:m>
                <a:endParaRPr lang="en-US" sz="1400" dirty="0">
                  <a:solidFill>
                    <a:schemeClr val="bg1">
                      <a:lumMod val="95000"/>
                    </a:schemeClr>
                  </a:solidFill>
                </a:endParaRPr>
              </a:p>
            </p:txBody>
          </p:sp>
        </mc:Choice>
        <mc:Fallback xmlns="">
          <p:sp>
            <p:nvSpPr>
              <p:cNvPr id="41" name="TextBox 40">
                <a:extLst>
                  <a:ext uri="{FF2B5EF4-FFF2-40B4-BE49-F238E27FC236}">
                    <a16:creationId xmlns:a16="http://schemas.microsoft.com/office/drawing/2014/main" id="{B104297F-FF50-BA63-1F1A-74631CCFBC69}"/>
                  </a:ext>
                </a:extLst>
              </p:cNvPr>
              <p:cNvSpPr txBox="1">
                <a:spLocks noRot="1" noChangeAspect="1" noMove="1" noResize="1" noEditPoints="1" noAdjustHandles="1" noChangeArrowheads="1" noChangeShapeType="1" noTextEdit="1"/>
              </p:cNvSpPr>
              <p:nvPr/>
            </p:nvSpPr>
            <p:spPr>
              <a:xfrm>
                <a:off x="1778020" y="5971425"/>
                <a:ext cx="411480" cy="307777"/>
              </a:xfrm>
              <a:prstGeom prst="rect">
                <a:avLst/>
              </a:prstGeom>
              <a:blipFill>
                <a:blip r:embed="rId3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21744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1A5B1-1259-392F-376B-E6510D03B267}"/>
            </a:ext>
          </a:extLst>
        </p:cNvPr>
        <p:cNvGrpSpPr/>
        <p:nvPr/>
      </p:nvGrpSpPr>
      <p:grpSpPr>
        <a:xfrm>
          <a:off x="0" y="0"/>
          <a:ext cx="0" cy="0"/>
          <a:chOff x="0" y="0"/>
          <a:chExt cx="0" cy="0"/>
        </a:xfrm>
      </p:grpSpPr>
      <p:sp>
        <p:nvSpPr>
          <p:cNvPr id="57" name="Rounded Rectangle 56">
            <a:extLst>
              <a:ext uri="{FF2B5EF4-FFF2-40B4-BE49-F238E27FC236}">
                <a16:creationId xmlns:a16="http://schemas.microsoft.com/office/drawing/2014/main" id="{5D75B2BC-1F34-529D-3848-FA0FDC808869}"/>
              </a:ext>
            </a:extLst>
          </p:cNvPr>
          <p:cNvSpPr/>
          <p:nvPr/>
        </p:nvSpPr>
        <p:spPr>
          <a:xfrm>
            <a:off x="4596160" y="788653"/>
            <a:ext cx="4008292" cy="304468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Rounded Rectangle 1">
            <a:extLst>
              <a:ext uri="{FF2B5EF4-FFF2-40B4-BE49-F238E27FC236}">
                <a16:creationId xmlns:a16="http://schemas.microsoft.com/office/drawing/2014/main" id="{6E4C6003-95D5-6204-78D9-141A5B287D37}"/>
              </a:ext>
            </a:extLst>
          </p:cNvPr>
          <p:cNvSpPr/>
          <p:nvPr/>
        </p:nvSpPr>
        <p:spPr>
          <a:xfrm>
            <a:off x="509753" y="4594578"/>
            <a:ext cx="8094699" cy="202544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 name="TextBox 2">
            <a:extLst>
              <a:ext uri="{FF2B5EF4-FFF2-40B4-BE49-F238E27FC236}">
                <a16:creationId xmlns:a16="http://schemas.microsoft.com/office/drawing/2014/main" id="{F7C14324-4957-9C63-708D-0872B646ACF2}"/>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Summary</a:t>
            </a:r>
            <a:r>
              <a:rPr lang="en-US" b="1" dirty="0"/>
              <a:t> Statistics</a:t>
            </a:r>
          </a:p>
        </p:txBody>
      </p:sp>
      <p:sp>
        <p:nvSpPr>
          <p:cNvPr id="9" name="Rounded Rectangle 8">
            <a:extLst>
              <a:ext uri="{FF2B5EF4-FFF2-40B4-BE49-F238E27FC236}">
                <a16:creationId xmlns:a16="http://schemas.microsoft.com/office/drawing/2014/main" id="{F2245474-851F-43A5-72C2-E5A9672B2E88}"/>
              </a:ext>
            </a:extLst>
          </p:cNvPr>
          <p:cNvSpPr/>
          <p:nvPr/>
        </p:nvSpPr>
        <p:spPr>
          <a:xfrm>
            <a:off x="485580" y="788654"/>
            <a:ext cx="3946246" cy="304468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TextBox 9">
            <a:extLst>
              <a:ext uri="{FF2B5EF4-FFF2-40B4-BE49-F238E27FC236}">
                <a16:creationId xmlns:a16="http://schemas.microsoft.com/office/drawing/2014/main" id="{09CEE89B-CA7E-0F10-9A09-0839F5DFF148}"/>
              </a:ext>
            </a:extLst>
          </p:cNvPr>
          <p:cNvSpPr txBox="1"/>
          <p:nvPr/>
        </p:nvSpPr>
        <p:spPr>
          <a:xfrm>
            <a:off x="862932" y="977900"/>
            <a:ext cx="3104358" cy="369332"/>
          </a:xfrm>
          <a:prstGeom prst="rect">
            <a:avLst/>
          </a:prstGeom>
          <a:noFill/>
        </p:spPr>
        <p:txBody>
          <a:bodyPr wrap="square" rtlCol="0" anchor="ctr">
            <a:spAutoFit/>
          </a:bodyPr>
          <a:lstStyle/>
          <a:p>
            <a:pPr algn="ctr"/>
            <a:r>
              <a:rPr lang="en-US" b="1" dirty="0"/>
              <a:t>Individual-level Data</a:t>
            </a:r>
          </a:p>
        </p:txBody>
      </p:sp>
      <p:sp>
        <p:nvSpPr>
          <p:cNvPr id="20" name="Rounded Rectangle 19">
            <a:extLst>
              <a:ext uri="{FF2B5EF4-FFF2-40B4-BE49-F238E27FC236}">
                <a16:creationId xmlns:a16="http://schemas.microsoft.com/office/drawing/2014/main" id="{5E2DCD21-E318-9FB8-58F4-5CC73EA9DAB2}"/>
              </a:ext>
            </a:extLst>
          </p:cNvPr>
          <p:cNvSpPr/>
          <p:nvPr/>
        </p:nvSpPr>
        <p:spPr>
          <a:xfrm>
            <a:off x="914955" y="1484512"/>
            <a:ext cx="1323852" cy="1818728"/>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TextBox 23">
            <a:extLst>
              <a:ext uri="{FF2B5EF4-FFF2-40B4-BE49-F238E27FC236}">
                <a16:creationId xmlns:a16="http://schemas.microsoft.com/office/drawing/2014/main" id="{0208F2DB-A7D2-F727-BD2A-7B2BF73A9344}"/>
              </a:ext>
            </a:extLst>
          </p:cNvPr>
          <p:cNvSpPr txBox="1"/>
          <p:nvPr/>
        </p:nvSpPr>
        <p:spPr>
          <a:xfrm>
            <a:off x="989655" y="3327502"/>
            <a:ext cx="1094440" cy="246221"/>
          </a:xfrm>
          <a:prstGeom prst="rect">
            <a:avLst/>
          </a:prstGeom>
          <a:noFill/>
        </p:spPr>
        <p:txBody>
          <a:bodyPr wrap="square" rtlCol="0">
            <a:spAutoFit/>
          </a:bodyPr>
          <a:lstStyle/>
          <a:p>
            <a:pPr algn="ctr"/>
            <a:r>
              <a:rPr lang="en-US" sz="1000" dirty="0"/>
              <a:t>Millions of SNPs</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A3B20BC-FBAF-EDA6-9FE7-E9DF5DA0C776}"/>
                  </a:ext>
                </a:extLst>
              </p:cNvPr>
              <p:cNvSpPr txBox="1"/>
              <p:nvPr/>
            </p:nvSpPr>
            <p:spPr>
              <a:xfrm>
                <a:off x="2765371" y="3350584"/>
                <a:ext cx="427470" cy="18466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𝑆𝑁𝑃</m:t>
                          </m:r>
                        </m:e>
                        <m:sub>
                          <m:r>
                            <a:rPr lang="en-US" sz="600" b="0" i="1" smtClean="0">
                              <a:latin typeface="Cambria Math" panose="02040503050406030204" pitchFamily="18" charset="0"/>
                              <a:ea typeface="Cambria Math" panose="02040503050406030204" pitchFamily="18" charset="0"/>
                            </a:rPr>
                            <m:t>1</m:t>
                          </m:r>
                        </m:sub>
                      </m:sSub>
                    </m:oMath>
                  </m:oMathPara>
                </a14:m>
                <a:endParaRPr lang="en-US" sz="600" b="0" dirty="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BA3B20BC-FBAF-EDA6-9FE7-E9DF5DA0C776}"/>
                  </a:ext>
                </a:extLst>
              </p:cNvPr>
              <p:cNvSpPr txBox="1">
                <a:spLocks noRot="1" noChangeAspect="1" noMove="1" noResize="1" noEditPoints="1" noAdjustHandles="1" noChangeArrowheads="1" noChangeShapeType="1" noTextEdit="1"/>
              </p:cNvSpPr>
              <p:nvPr/>
            </p:nvSpPr>
            <p:spPr>
              <a:xfrm>
                <a:off x="2765371" y="3350584"/>
                <a:ext cx="427470" cy="18466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C0AE995-AFAB-B9DD-273A-0DDF513EB82C}"/>
                  </a:ext>
                </a:extLst>
              </p:cNvPr>
              <p:cNvSpPr txBox="1"/>
              <p:nvPr/>
            </p:nvSpPr>
            <p:spPr>
              <a:xfrm>
                <a:off x="1130012" y="2208194"/>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95000"/>
                            </a:schemeClr>
                          </a:solidFill>
                          <a:latin typeface="Cambria Math" panose="02040503050406030204" pitchFamily="18" charset="0"/>
                        </a:rPr>
                        <m:t>𝑋</m:t>
                      </m:r>
                    </m:oMath>
                  </m:oMathPara>
                </a14:m>
                <a:endParaRPr lang="en-US" sz="1400" dirty="0">
                  <a:solidFill>
                    <a:schemeClr val="bg1">
                      <a:lumMod val="95000"/>
                    </a:schemeClr>
                  </a:solidFill>
                </a:endParaRPr>
              </a:p>
            </p:txBody>
          </p:sp>
        </mc:Choice>
        <mc:Fallback xmlns="">
          <p:sp>
            <p:nvSpPr>
              <p:cNvPr id="32" name="TextBox 31">
                <a:extLst>
                  <a:ext uri="{FF2B5EF4-FFF2-40B4-BE49-F238E27FC236}">
                    <a16:creationId xmlns:a16="http://schemas.microsoft.com/office/drawing/2014/main" id="{5C0AE995-AFAB-B9DD-273A-0DDF513EB82C}"/>
                  </a:ext>
                </a:extLst>
              </p:cNvPr>
              <p:cNvSpPr txBox="1">
                <a:spLocks noRot="1" noChangeAspect="1" noMove="1" noResize="1" noEditPoints="1" noAdjustHandles="1" noChangeArrowheads="1" noChangeShapeType="1" noTextEdit="1"/>
              </p:cNvSpPr>
              <p:nvPr/>
            </p:nvSpPr>
            <p:spPr>
              <a:xfrm>
                <a:off x="1130012" y="2208194"/>
                <a:ext cx="893237" cy="307777"/>
              </a:xfrm>
              <a:prstGeom prst="rect">
                <a:avLst/>
              </a:prstGeom>
              <a:blipFill>
                <a:blip r:embed="rId3"/>
                <a:stretch>
                  <a:fillRect/>
                </a:stretch>
              </a:blipFill>
            </p:spPr>
            <p:txBody>
              <a:bodyPr/>
              <a:lstStyle/>
              <a:p>
                <a:r>
                  <a:rPr lang="en-US">
                    <a:noFill/>
                  </a:rPr>
                  <a:t> </a:t>
                </a:r>
              </a:p>
            </p:txBody>
          </p:sp>
        </mc:Fallback>
      </mc:AlternateContent>
      <p:pic>
        <p:nvPicPr>
          <p:cNvPr id="56" name="Picture 55">
            <a:extLst>
              <a:ext uri="{FF2B5EF4-FFF2-40B4-BE49-F238E27FC236}">
                <a16:creationId xmlns:a16="http://schemas.microsoft.com/office/drawing/2014/main" id="{32988DCA-64AA-7361-F985-B97E986C710D}"/>
              </a:ext>
            </a:extLst>
          </p:cNvPr>
          <p:cNvPicPr>
            <a:picLocks noChangeAspect="1"/>
          </p:cNvPicPr>
          <p:nvPr/>
        </p:nvPicPr>
        <p:blipFill>
          <a:blip r:embed="rId4"/>
          <a:stretch>
            <a:fillRect/>
          </a:stretch>
        </p:blipFill>
        <p:spPr>
          <a:xfrm>
            <a:off x="835451" y="4686271"/>
            <a:ext cx="3260191" cy="1956115"/>
          </a:xfrm>
          <a:prstGeom prst="rect">
            <a:avLst/>
          </a:prstGeom>
        </p:spPr>
      </p:pic>
      <p:sp>
        <p:nvSpPr>
          <p:cNvPr id="58" name="TextBox 57">
            <a:extLst>
              <a:ext uri="{FF2B5EF4-FFF2-40B4-BE49-F238E27FC236}">
                <a16:creationId xmlns:a16="http://schemas.microsoft.com/office/drawing/2014/main" id="{68263FB3-F63D-D066-8594-36E49EF907F0}"/>
              </a:ext>
            </a:extLst>
          </p:cNvPr>
          <p:cNvSpPr txBox="1"/>
          <p:nvPr/>
        </p:nvSpPr>
        <p:spPr>
          <a:xfrm>
            <a:off x="4362312" y="974250"/>
            <a:ext cx="4475988" cy="369332"/>
          </a:xfrm>
          <a:prstGeom prst="rect">
            <a:avLst/>
          </a:prstGeom>
          <a:noFill/>
        </p:spPr>
        <p:txBody>
          <a:bodyPr wrap="square" rtlCol="0" anchor="ctr">
            <a:spAutoFit/>
          </a:bodyPr>
          <a:lstStyle/>
          <a:p>
            <a:pPr algn="ctr"/>
            <a:r>
              <a:rPr lang="en-US" b="1" dirty="0"/>
              <a:t>Summary Statistics</a:t>
            </a:r>
          </a:p>
        </p:txBody>
      </p:sp>
      <p:sp>
        <p:nvSpPr>
          <p:cNvPr id="59" name="TextBox 58">
            <a:extLst>
              <a:ext uri="{FF2B5EF4-FFF2-40B4-BE49-F238E27FC236}">
                <a16:creationId xmlns:a16="http://schemas.microsoft.com/office/drawing/2014/main" id="{E254ACE9-BA3A-B059-DBFC-A082D509C9B9}"/>
              </a:ext>
            </a:extLst>
          </p:cNvPr>
          <p:cNvSpPr txBox="1"/>
          <p:nvPr/>
        </p:nvSpPr>
        <p:spPr>
          <a:xfrm>
            <a:off x="4168463" y="4633771"/>
            <a:ext cx="4475988" cy="369332"/>
          </a:xfrm>
          <a:prstGeom prst="rect">
            <a:avLst/>
          </a:prstGeom>
          <a:noFill/>
        </p:spPr>
        <p:txBody>
          <a:bodyPr wrap="square" rtlCol="0" anchor="ctr">
            <a:spAutoFit/>
          </a:bodyPr>
          <a:lstStyle/>
          <a:p>
            <a:pPr algn="ctr"/>
            <a:r>
              <a:rPr lang="en-US" b="1" dirty="0"/>
              <a:t>BETA, Z and P</a:t>
            </a:r>
          </a:p>
        </p:txBody>
      </p:sp>
      <p:grpSp>
        <p:nvGrpSpPr>
          <p:cNvPr id="11" name="Group 10">
            <a:extLst>
              <a:ext uri="{FF2B5EF4-FFF2-40B4-BE49-F238E27FC236}">
                <a16:creationId xmlns:a16="http://schemas.microsoft.com/office/drawing/2014/main" id="{711490DA-7777-E6F5-9244-85A0C1EAD567}"/>
              </a:ext>
            </a:extLst>
          </p:cNvPr>
          <p:cNvGrpSpPr/>
          <p:nvPr/>
        </p:nvGrpSpPr>
        <p:grpSpPr>
          <a:xfrm>
            <a:off x="2768343" y="1484511"/>
            <a:ext cx="364295" cy="1806843"/>
            <a:chOff x="2422928" y="1395303"/>
            <a:chExt cx="364295" cy="1806843"/>
          </a:xfrm>
        </p:grpSpPr>
        <p:sp>
          <p:nvSpPr>
            <p:cNvPr id="6" name="Rounded Rectangle 5">
              <a:extLst>
                <a:ext uri="{FF2B5EF4-FFF2-40B4-BE49-F238E27FC236}">
                  <a16:creationId xmlns:a16="http://schemas.microsoft.com/office/drawing/2014/main" id="{54D3D4FF-544C-1B41-BA97-9D62C46DB450}"/>
                </a:ext>
              </a:extLst>
            </p:cNvPr>
            <p:cNvSpPr/>
            <p:nvPr/>
          </p:nvSpPr>
          <p:spPr>
            <a:xfrm>
              <a:off x="2527760" y="1395303"/>
              <a:ext cx="154631" cy="1806843"/>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F0B318-9B79-F135-7B15-E2F48564579E}"/>
                    </a:ext>
                  </a:extLst>
                </p:cNvPr>
                <p:cNvSpPr txBox="1"/>
                <p:nvPr/>
              </p:nvSpPr>
              <p:spPr>
                <a:xfrm>
                  <a:off x="2422928" y="2167919"/>
                  <a:ext cx="364295" cy="2616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1100" b="0" i="1" smtClean="0">
                                <a:solidFill>
                                  <a:schemeClr val="bg1">
                                    <a:lumMod val="95000"/>
                                  </a:schemeClr>
                                </a:solidFill>
                                <a:latin typeface="Cambria Math" panose="02040503050406030204" pitchFamily="18" charset="0"/>
                              </a:rPr>
                            </m:ctrlPr>
                          </m:sSubPr>
                          <m:e>
                            <m:r>
                              <a:rPr lang="en-US" sz="1100" b="0" i="1" smtClean="0">
                                <a:solidFill>
                                  <a:schemeClr val="bg1">
                                    <a:lumMod val="95000"/>
                                  </a:schemeClr>
                                </a:solidFill>
                                <a:latin typeface="Cambria Math" panose="02040503050406030204" pitchFamily="18" charset="0"/>
                              </a:rPr>
                              <m:t>𝑋</m:t>
                            </m:r>
                          </m:e>
                          <m:sub>
                            <m:r>
                              <a:rPr lang="en-US" sz="1100" b="0" i="1" smtClean="0">
                                <a:solidFill>
                                  <a:schemeClr val="bg1">
                                    <a:lumMod val="95000"/>
                                  </a:schemeClr>
                                </a:solidFill>
                                <a:latin typeface="Cambria Math" panose="02040503050406030204" pitchFamily="18" charset="0"/>
                              </a:rPr>
                              <m:t>1</m:t>
                            </m:r>
                          </m:sub>
                        </m:sSub>
                      </m:oMath>
                    </m:oMathPara>
                  </a14:m>
                  <a:endParaRPr lang="en-US" sz="1100" dirty="0">
                    <a:solidFill>
                      <a:schemeClr val="bg1">
                        <a:lumMod val="95000"/>
                      </a:schemeClr>
                    </a:solidFill>
                  </a:endParaRPr>
                </a:p>
              </p:txBody>
            </p:sp>
          </mc:Choice>
          <mc:Fallback xmlns="">
            <p:sp>
              <p:nvSpPr>
                <p:cNvPr id="8" name="TextBox 7">
                  <a:extLst>
                    <a:ext uri="{FF2B5EF4-FFF2-40B4-BE49-F238E27FC236}">
                      <a16:creationId xmlns:a16="http://schemas.microsoft.com/office/drawing/2014/main" id="{33F0B318-9B79-F135-7B15-E2F48564579E}"/>
                    </a:ext>
                  </a:extLst>
                </p:cNvPr>
                <p:cNvSpPr txBox="1">
                  <a:spLocks noRot="1" noChangeAspect="1" noMove="1" noResize="1" noEditPoints="1" noAdjustHandles="1" noChangeArrowheads="1" noChangeShapeType="1" noTextEdit="1"/>
                </p:cNvSpPr>
                <p:nvPr/>
              </p:nvSpPr>
              <p:spPr>
                <a:xfrm>
                  <a:off x="2422928" y="2167919"/>
                  <a:ext cx="364295" cy="261610"/>
                </a:xfrm>
                <a:prstGeom prst="rect">
                  <a:avLst/>
                </a:prstGeom>
                <a:blipFill>
                  <a:blip r:embed="rId7"/>
                  <a:stretch>
                    <a:fillRect/>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84CED773-585A-55D0-00E9-157AE663E402}"/>
              </a:ext>
            </a:extLst>
          </p:cNvPr>
          <p:cNvGrpSpPr/>
          <p:nvPr/>
        </p:nvGrpSpPr>
        <p:grpSpPr>
          <a:xfrm>
            <a:off x="2985742" y="1481660"/>
            <a:ext cx="364295" cy="1806843"/>
            <a:chOff x="2422928" y="1395303"/>
            <a:chExt cx="364295" cy="1806843"/>
          </a:xfrm>
        </p:grpSpPr>
        <p:sp>
          <p:nvSpPr>
            <p:cNvPr id="13" name="Rounded Rectangle 12">
              <a:extLst>
                <a:ext uri="{FF2B5EF4-FFF2-40B4-BE49-F238E27FC236}">
                  <a16:creationId xmlns:a16="http://schemas.microsoft.com/office/drawing/2014/main" id="{52478FB5-EA04-84C5-C0BD-283FBDA1ABE0}"/>
                </a:ext>
              </a:extLst>
            </p:cNvPr>
            <p:cNvSpPr/>
            <p:nvPr/>
          </p:nvSpPr>
          <p:spPr>
            <a:xfrm>
              <a:off x="2527760" y="1395303"/>
              <a:ext cx="154631" cy="1806843"/>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0550BB-1E2F-BA37-C9D9-EF9C96E8F0A1}"/>
                    </a:ext>
                  </a:extLst>
                </p:cNvPr>
                <p:cNvSpPr txBox="1"/>
                <p:nvPr/>
              </p:nvSpPr>
              <p:spPr>
                <a:xfrm>
                  <a:off x="2422928" y="2167919"/>
                  <a:ext cx="364295" cy="2616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1100" b="0" i="1" smtClean="0">
                                <a:solidFill>
                                  <a:schemeClr val="bg1">
                                    <a:lumMod val="95000"/>
                                  </a:schemeClr>
                                </a:solidFill>
                                <a:latin typeface="Cambria Math" panose="02040503050406030204" pitchFamily="18" charset="0"/>
                              </a:rPr>
                            </m:ctrlPr>
                          </m:sSubPr>
                          <m:e>
                            <m:r>
                              <a:rPr lang="en-US" sz="1100" b="0" i="1" smtClean="0">
                                <a:solidFill>
                                  <a:schemeClr val="bg1">
                                    <a:lumMod val="95000"/>
                                  </a:schemeClr>
                                </a:solidFill>
                                <a:latin typeface="Cambria Math" panose="02040503050406030204" pitchFamily="18" charset="0"/>
                              </a:rPr>
                              <m:t>𝑋</m:t>
                            </m:r>
                          </m:e>
                          <m:sub>
                            <m:r>
                              <a:rPr lang="en-US" sz="1100" b="0" i="1" smtClean="0">
                                <a:solidFill>
                                  <a:schemeClr val="bg1">
                                    <a:lumMod val="95000"/>
                                  </a:schemeClr>
                                </a:solidFill>
                                <a:latin typeface="Cambria Math" panose="02040503050406030204" pitchFamily="18" charset="0"/>
                              </a:rPr>
                              <m:t>2</m:t>
                            </m:r>
                          </m:sub>
                        </m:sSub>
                      </m:oMath>
                    </m:oMathPara>
                  </a14:m>
                  <a:endParaRPr lang="en-US" sz="1100" dirty="0">
                    <a:solidFill>
                      <a:schemeClr val="bg1">
                        <a:lumMod val="95000"/>
                      </a:schemeClr>
                    </a:solidFill>
                  </a:endParaRPr>
                </a:p>
              </p:txBody>
            </p:sp>
          </mc:Choice>
          <mc:Fallback xmlns="">
            <p:sp>
              <p:nvSpPr>
                <p:cNvPr id="14" name="TextBox 13">
                  <a:extLst>
                    <a:ext uri="{FF2B5EF4-FFF2-40B4-BE49-F238E27FC236}">
                      <a16:creationId xmlns:a16="http://schemas.microsoft.com/office/drawing/2014/main" id="{060550BB-1E2F-BA37-C9D9-EF9C96E8F0A1}"/>
                    </a:ext>
                  </a:extLst>
                </p:cNvPr>
                <p:cNvSpPr txBox="1">
                  <a:spLocks noRot="1" noChangeAspect="1" noMove="1" noResize="1" noEditPoints="1" noAdjustHandles="1" noChangeArrowheads="1" noChangeShapeType="1" noTextEdit="1"/>
                </p:cNvSpPr>
                <p:nvPr/>
              </p:nvSpPr>
              <p:spPr>
                <a:xfrm>
                  <a:off x="2422928" y="2167919"/>
                  <a:ext cx="364295" cy="261610"/>
                </a:xfrm>
                <a:prstGeom prst="rect">
                  <a:avLst/>
                </a:prstGeom>
                <a:blipFill>
                  <a:blip r:embed="rId8"/>
                  <a:stretch>
                    <a:fillRect/>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3DBBE5DF-23C8-667F-E96D-07BA5C598DFA}"/>
              </a:ext>
            </a:extLst>
          </p:cNvPr>
          <p:cNvGrpSpPr/>
          <p:nvPr/>
        </p:nvGrpSpPr>
        <p:grpSpPr>
          <a:xfrm>
            <a:off x="3195813" y="1481660"/>
            <a:ext cx="364295" cy="1806843"/>
            <a:chOff x="2422928" y="1395303"/>
            <a:chExt cx="364295" cy="1806843"/>
          </a:xfrm>
        </p:grpSpPr>
        <p:sp>
          <p:nvSpPr>
            <p:cNvPr id="16" name="Rounded Rectangle 15">
              <a:extLst>
                <a:ext uri="{FF2B5EF4-FFF2-40B4-BE49-F238E27FC236}">
                  <a16:creationId xmlns:a16="http://schemas.microsoft.com/office/drawing/2014/main" id="{0E7E0163-86A3-8C63-3810-6901B7F7C3B3}"/>
                </a:ext>
              </a:extLst>
            </p:cNvPr>
            <p:cNvSpPr/>
            <p:nvPr/>
          </p:nvSpPr>
          <p:spPr>
            <a:xfrm>
              <a:off x="2527760" y="1395303"/>
              <a:ext cx="154631" cy="1806843"/>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A8E7B19-494D-ECF0-C844-0F22632CBB2F}"/>
                    </a:ext>
                  </a:extLst>
                </p:cNvPr>
                <p:cNvSpPr txBox="1"/>
                <p:nvPr/>
              </p:nvSpPr>
              <p:spPr>
                <a:xfrm>
                  <a:off x="2422928" y="2167919"/>
                  <a:ext cx="364295" cy="2616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1100" b="0" i="1" smtClean="0">
                                <a:solidFill>
                                  <a:schemeClr val="bg1">
                                    <a:lumMod val="95000"/>
                                  </a:schemeClr>
                                </a:solidFill>
                                <a:latin typeface="Cambria Math" panose="02040503050406030204" pitchFamily="18" charset="0"/>
                              </a:rPr>
                            </m:ctrlPr>
                          </m:sSubPr>
                          <m:e>
                            <m:r>
                              <a:rPr lang="en-US" sz="1100" b="0" i="1" smtClean="0">
                                <a:solidFill>
                                  <a:schemeClr val="bg1">
                                    <a:lumMod val="95000"/>
                                  </a:schemeClr>
                                </a:solidFill>
                                <a:latin typeface="Cambria Math" panose="02040503050406030204" pitchFamily="18" charset="0"/>
                              </a:rPr>
                              <m:t>𝑋</m:t>
                            </m:r>
                          </m:e>
                          <m:sub>
                            <m:r>
                              <a:rPr lang="en-US" sz="1100" b="0" i="1" smtClean="0">
                                <a:solidFill>
                                  <a:schemeClr val="bg1">
                                    <a:lumMod val="95000"/>
                                  </a:schemeClr>
                                </a:solidFill>
                                <a:latin typeface="Cambria Math" panose="02040503050406030204" pitchFamily="18" charset="0"/>
                              </a:rPr>
                              <m:t>3</m:t>
                            </m:r>
                          </m:sub>
                        </m:sSub>
                      </m:oMath>
                    </m:oMathPara>
                  </a14:m>
                  <a:endParaRPr lang="en-US" sz="1100" dirty="0">
                    <a:solidFill>
                      <a:schemeClr val="bg1">
                        <a:lumMod val="95000"/>
                      </a:schemeClr>
                    </a:solidFill>
                  </a:endParaRPr>
                </a:p>
              </p:txBody>
            </p:sp>
          </mc:Choice>
          <mc:Fallback xmlns="">
            <p:sp>
              <p:nvSpPr>
                <p:cNvPr id="17" name="TextBox 16">
                  <a:extLst>
                    <a:ext uri="{FF2B5EF4-FFF2-40B4-BE49-F238E27FC236}">
                      <a16:creationId xmlns:a16="http://schemas.microsoft.com/office/drawing/2014/main" id="{AA8E7B19-494D-ECF0-C844-0F22632CBB2F}"/>
                    </a:ext>
                  </a:extLst>
                </p:cNvPr>
                <p:cNvSpPr txBox="1">
                  <a:spLocks noRot="1" noChangeAspect="1" noMove="1" noResize="1" noEditPoints="1" noAdjustHandles="1" noChangeArrowheads="1" noChangeShapeType="1" noTextEdit="1"/>
                </p:cNvSpPr>
                <p:nvPr/>
              </p:nvSpPr>
              <p:spPr>
                <a:xfrm>
                  <a:off x="2422928" y="2167919"/>
                  <a:ext cx="364295" cy="261610"/>
                </a:xfrm>
                <a:prstGeom prst="rect">
                  <a:avLst/>
                </a:prstGeom>
                <a:blipFill>
                  <a:blip r:embed="rId9"/>
                  <a:stretch>
                    <a:fillRect/>
                  </a:stretch>
                </a:blipFill>
              </p:spPr>
              <p:txBody>
                <a:bodyPr/>
                <a:lstStyle/>
                <a:p>
                  <a:r>
                    <a:rPr lang="en-US">
                      <a:noFill/>
                    </a:rPr>
                    <a:t> </a:t>
                  </a:r>
                </a:p>
              </p:txBody>
            </p:sp>
          </mc:Fallback>
        </mc:AlternateContent>
      </p:grpSp>
      <p:grpSp>
        <p:nvGrpSpPr>
          <p:cNvPr id="27" name="Group 26">
            <a:extLst>
              <a:ext uri="{FF2B5EF4-FFF2-40B4-BE49-F238E27FC236}">
                <a16:creationId xmlns:a16="http://schemas.microsoft.com/office/drawing/2014/main" id="{496E03DD-85E2-3CBC-C1F2-EDB076C52ECC}"/>
              </a:ext>
            </a:extLst>
          </p:cNvPr>
          <p:cNvGrpSpPr/>
          <p:nvPr/>
        </p:nvGrpSpPr>
        <p:grpSpPr>
          <a:xfrm>
            <a:off x="3787410" y="1485792"/>
            <a:ext cx="364295" cy="1806843"/>
            <a:chOff x="2422928" y="1395303"/>
            <a:chExt cx="364295" cy="1806843"/>
          </a:xfrm>
        </p:grpSpPr>
        <p:sp>
          <p:nvSpPr>
            <p:cNvPr id="29" name="Rounded Rectangle 28">
              <a:extLst>
                <a:ext uri="{FF2B5EF4-FFF2-40B4-BE49-F238E27FC236}">
                  <a16:creationId xmlns:a16="http://schemas.microsoft.com/office/drawing/2014/main" id="{6381AC80-1F00-74BA-1269-8CEAF4DF31C7}"/>
                </a:ext>
              </a:extLst>
            </p:cNvPr>
            <p:cNvSpPr/>
            <p:nvPr/>
          </p:nvSpPr>
          <p:spPr>
            <a:xfrm>
              <a:off x="2527760" y="1395303"/>
              <a:ext cx="154631" cy="1806843"/>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E50EADD-56C3-55BA-E523-045276734991}"/>
                    </a:ext>
                  </a:extLst>
                </p:cNvPr>
                <p:cNvSpPr txBox="1"/>
                <p:nvPr/>
              </p:nvSpPr>
              <p:spPr>
                <a:xfrm>
                  <a:off x="2422928" y="2167919"/>
                  <a:ext cx="364295" cy="2616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1100" b="0" i="1" smtClean="0">
                                <a:solidFill>
                                  <a:schemeClr val="bg1">
                                    <a:lumMod val="95000"/>
                                  </a:schemeClr>
                                </a:solidFill>
                                <a:latin typeface="Cambria Math" panose="02040503050406030204" pitchFamily="18" charset="0"/>
                              </a:rPr>
                            </m:ctrlPr>
                          </m:sSubPr>
                          <m:e>
                            <m:r>
                              <a:rPr lang="en-US" sz="1100" b="0" i="1" smtClean="0">
                                <a:solidFill>
                                  <a:schemeClr val="bg1">
                                    <a:lumMod val="95000"/>
                                  </a:schemeClr>
                                </a:solidFill>
                                <a:latin typeface="Cambria Math" panose="02040503050406030204" pitchFamily="18" charset="0"/>
                              </a:rPr>
                              <m:t>𝑋</m:t>
                            </m:r>
                          </m:e>
                          <m:sub>
                            <m:r>
                              <a:rPr lang="en-US" sz="1100" b="0" i="1" smtClean="0">
                                <a:solidFill>
                                  <a:schemeClr val="bg1">
                                    <a:lumMod val="95000"/>
                                  </a:schemeClr>
                                </a:solidFill>
                                <a:latin typeface="Cambria Math" panose="02040503050406030204" pitchFamily="18" charset="0"/>
                              </a:rPr>
                              <m:t>𝑀</m:t>
                            </m:r>
                          </m:sub>
                        </m:sSub>
                      </m:oMath>
                    </m:oMathPara>
                  </a14:m>
                  <a:endParaRPr lang="en-US" sz="1100" dirty="0">
                    <a:solidFill>
                      <a:schemeClr val="bg1">
                        <a:lumMod val="95000"/>
                      </a:schemeClr>
                    </a:solidFill>
                  </a:endParaRPr>
                </a:p>
              </p:txBody>
            </p:sp>
          </mc:Choice>
          <mc:Fallback xmlns="">
            <p:sp>
              <p:nvSpPr>
                <p:cNvPr id="31" name="TextBox 30">
                  <a:extLst>
                    <a:ext uri="{FF2B5EF4-FFF2-40B4-BE49-F238E27FC236}">
                      <a16:creationId xmlns:a16="http://schemas.microsoft.com/office/drawing/2014/main" id="{5E50EADD-56C3-55BA-E523-045276734991}"/>
                    </a:ext>
                  </a:extLst>
                </p:cNvPr>
                <p:cNvSpPr txBox="1">
                  <a:spLocks noRot="1" noChangeAspect="1" noMove="1" noResize="1" noEditPoints="1" noAdjustHandles="1" noChangeArrowheads="1" noChangeShapeType="1" noTextEdit="1"/>
                </p:cNvSpPr>
                <p:nvPr/>
              </p:nvSpPr>
              <p:spPr>
                <a:xfrm>
                  <a:off x="2422928" y="2167919"/>
                  <a:ext cx="364295" cy="261610"/>
                </a:xfrm>
                <a:prstGeom prst="rect">
                  <a:avLst/>
                </a:prstGeom>
                <a:blipFill>
                  <a:blip r:embed="rId10"/>
                  <a:stretch>
                    <a:fillRect/>
                  </a:stretch>
                </a:blipFill>
              </p:spPr>
              <p:txBody>
                <a:bodyPr/>
                <a:lstStyle/>
                <a:p>
                  <a:r>
                    <a:rPr lang="en-US">
                      <a:noFill/>
                    </a:rPr>
                    <a:t> </a:t>
                  </a:r>
                </a:p>
              </p:txBody>
            </p:sp>
          </mc:Fallback>
        </mc:AlternateContent>
      </p:grpSp>
      <p:sp>
        <p:nvSpPr>
          <p:cNvPr id="33" name="Right Arrow 32">
            <a:extLst>
              <a:ext uri="{FF2B5EF4-FFF2-40B4-BE49-F238E27FC236}">
                <a16:creationId xmlns:a16="http://schemas.microsoft.com/office/drawing/2014/main" id="{2A461758-4C64-096E-6D05-01B81A698D1A}"/>
              </a:ext>
            </a:extLst>
          </p:cNvPr>
          <p:cNvSpPr/>
          <p:nvPr/>
        </p:nvSpPr>
        <p:spPr>
          <a:xfrm>
            <a:off x="2312888" y="2347568"/>
            <a:ext cx="497826" cy="137949"/>
          </a:xfrm>
          <a:prstGeom prst="right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750339B-A29F-110D-091C-86036B4C0F38}"/>
              </a:ext>
            </a:extLst>
          </p:cNvPr>
          <p:cNvSpPr txBox="1"/>
          <p:nvPr/>
        </p:nvSpPr>
        <p:spPr>
          <a:xfrm>
            <a:off x="3491315" y="2152357"/>
            <a:ext cx="343364"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31ED1A2-90F9-D449-CD02-72485F484156}"/>
                  </a:ext>
                </a:extLst>
              </p:cNvPr>
              <p:cNvSpPr txBox="1"/>
              <p:nvPr/>
            </p:nvSpPr>
            <p:spPr>
              <a:xfrm>
                <a:off x="2986151" y="3350761"/>
                <a:ext cx="427470" cy="18466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𝑆𝑁𝑃</m:t>
                          </m:r>
                        </m:e>
                        <m:sub>
                          <m:r>
                            <a:rPr lang="en-US" sz="600" b="0" i="1" smtClean="0">
                              <a:latin typeface="Cambria Math" panose="02040503050406030204" pitchFamily="18" charset="0"/>
                              <a:ea typeface="Cambria Math" panose="02040503050406030204" pitchFamily="18" charset="0"/>
                            </a:rPr>
                            <m:t>2</m:t>
                          </m:r>
                        </m:sub>
                      </m:sSub>
                    </m:oMath>
                  </m:oMathPara>
                </a14:m>
                <a:endParaRPr lang="en-US" sz="600" b="0" dirty="0">
                  <a:ea typeface="Cambria Math" panose="02040503050406030204" pitchFamily="18" charset="0"/>
                </a:endParaRPr>
              </a:p>
            </p:txBody>
          </p:sp>
        </mc:Choice>
        <mc:Fallback xmlns="">
          <p:sp>
            <p:nvSpPr>
              <p:cNvPr id="36" name="TextBox 35">
                <a:extLst>
                  <a:ext uri="{FF2B5EF4-FFF2-40B4-BE49-F238E27FC236}">
                    <a16:creationId xmlns:a16="http://schemas.microsoft.com/office/drawing/2014/main" id="{031ED1A2-90F9-D449-CD02-72485F484156}"/>
                  </a:ext>
                </a:extLst>
              </p:cNvPr>
              <p:cNvSpPr txBox="1">
                <a:spLocks noRot="1" noChangeAspect="1" noMove="1" noResize="1" noEditPoints="1" noAdjustHandles="1" noChangeArrowheads="1" noChangeShapeType="1" noTextEdit="1"/>
              </p:cNvSpPr>
              <p:nvPr/>
            </p:nvSpPr>
            <p:spPr>
              <a:xfrm>
                <a:off x="2986151" y="3350761"/>
                <a:ext cx="427470" cy="18466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BC0FB4A-E71B-0DBD-CFD0-9CCB7F177737}"/>
                  </a:ext>
                </a:extLst>
              </p:cNvPr>
              <p:cNvSpPr txBox="1"/>
              <p:nvPr/>
            </p:nvSpPr>
            <p:spPr>
              <a:xfrm>
                <a:off x="3192841" y="3350584"/>
                <a:ext cx="427470" cy="18466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𝑆𝑁𝑃</m:t>
                          </m:r>
                        </m:e>
                        <m:sub>
                          <m:r>
                            <a:rPr lang="en-US" sz="600" b="0" i="1" smtClean="0">
                              <a:latin typeface="Cambria Math" panose="02040503050406030204" pitchFamily="18" charset="0"/>
                              <a:ea typeface="Cambria Math" panose="02040503050406030204" pitchFamily="18" charset="0"/>
                            </a:rPr>
                            <m:t>3</m:t>
                          </m:r>
                        </m:sub>
                      </m:sSub>
                    </m:oMath>
                  </m:oMathPara>
                </a14:m>
                <a:endParaRPr lang="en-US" sz="600" b="0" dirty="0">
                  <a:ea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9BC0FB4A-E71B-0DBD-CFD0-9CCB7F177737}"/>
                  </a:ext>
                </a:extLst>
              </p:cNvPr>
              <p:cNvSpPr txBox="1">
                <a:spLocks noRot="1" noChangeAspect="1" noMove="1" noResize="1" noEditPoints="1" noAdjustHandles="1" noChangeArrowheads="1" noChangeShapeType="1" noTextEdit="1"/>
              </p:cNvSpPr>
              <p:nvPr/>
            </p:nvSpPr>
            <p:spPr>
              <a:xfrm>
                <a:off x="3192841" y="3350584"/>
                <a:ext cx="427470" cy="18466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4909309-5FCE-E792-1D4C-CC58D83EBECE}"/>
                  </a:ext>
                </a:extLst>
              </p:cNvPr>
              <p:cNvSpPr txBox="1"/>
              <p:nvPr/>
            </p:nvSpPr>
            <p:spPr>
              <a:xfrm>
                <a:off x="3787410" y="3358279"/>
                <a:ext cx="427470" cy="18466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600" b="0" i="1" smtClean="0">
                              <a:latin typeface="Cambria Math" panose="02040503050406030204" pitchFamily="18" charset="0"/>
                              <a:ea typeface="Cambria Math" panose="02040503050406030204" pitchFamily="18" charset="0"/>
                            </a:rPr>
                          </m:ctrlPr>
                        </m:sSubPr>
                        <m:e>
                          <m:r>
                            <a:rPr lang="en-US" sz="600" b="0" i="1" smtClean="0">
                              <a:latin typeface="Cambria Math" panose="02040503050406030204" pitchFamily="18" charset="0"/>
                              <a:ea typeface="Cambria Math" panose="02040503050406030204" pitchFamily="18" charset="0"/>
                            </a:rPr>
                            <m:t>𝑆𝑁𝑃</m:t>
                          </m:r>
                        </m:e>
                        <m:sub>
                          <m:r>
                            <a:rPr lang="en-US" sz="600" b="0" i="1" smtClean="0">
                              <a:latin typeface="Cambria Math" panose="02040503050406030204" pitchFamily="18" charset="0"/>
                              <a:ea typeface="Cambria Math" panose="02040503050406030204" pitchFamily="18" charset="0"/>
                            </a:rPr>
                            <m:t>𝑀</m:t>
                          </m:r>
                        </m:sub>
                      </m:sSub>
                    </m:oMath>
                  </m:oMathPara>
                </a14:m>
                <a:endParaRPr lang="en-US" sz="600" b="0" dirty="0">
                  <a:ea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64909309-5FCE-E792-1D4C-CC58D83EBECE}"/>
                  </a:ext>
                </a:extLst>
              </p:cNvPr>
              <p:cNvSpPr txBox="1">
                <a:spLocks noRot="1" noChangeAspect="1" noMove="1" noResize="1" noEditPoints="1" noAdjustHandles="1" noChangeArrowheads="1" noChangeShapeType="1" noTextEdit="1"/>
              </p:cNvSpPr>
              <p:nvPr/>
            </p:nvSpPr>
            <p:spPr>
              <a:xfrm>
                <a:off x="3787410" y="3358279"/>
                <a:ext cx="427470" cy="184666"/>
              </a:xfrm>
              <a:prstGeom prst="rect">
                <a:avLst/>
              </a:prstGeom>
              <a:blipFill>
                <a:blip r:embed="rId13"/>
                <a:stretch>
                  <a:fillRect/>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79A71190-8DF0-AD7B-EE67-546945C3A3AF}"/>
              </a:ext>
            </a:extLst>
          </p:cNvPr>
          <p:cNvSpPr txBox="1"/>
          <p:nvPr/>
        </p:nvSpPr>
        <p:spPr>
          <a:xfrm>
            <a:off x="2135351" y="2485517"/>
            <a:ext cx="888363" cy="707886"/>
          </a:xfrm>
          <a:prstGeom prst="rect">
            <a:avLst/>
          </a:prstGeom>
          <a:noFill/>
        </p:spPr>
        <p:txBody>
          <a:bodyPr wrap="square" rtlCol="0">
            <a:spAutoFit/>
          </a:bodyPr>
          <a:lstStyle/>
          <a:p>
            <a:pPr algn="ctr"/>
            <a:r>
              <a:rPr lang="en-US" sz="1000" dirty="0"/>
              <a:t>Test one </a:t>
            </a:r>
          </a:p>
          <a:p>
            <a:pPr algn="ctr"/>
            <a:r>
              <a:rPr lang="en-US" sz="1000" dirty="0"/>
              <a:t>at a time</a:t>
            </a:r>
          </a:p>
          <a:p>
            <a:pPr algn="ctr"/>
            <a:r>
              <a:rPr lang="en-US" sz="1000" dirty="0"/>
              <a:t>(marginal effect)</a:t>
            </a:r>
          </a:p>
        </p:txBody>
      </p:sp>
      <p:graphicFrame>
        <p:nvGraphicFramePr>
          <p:cNvPr id="53" name="Table 52">
            <a:extLst>
              <a:ext uri="{FF2B5EF4-FFF2-40B4-BE49-F238E27FC236}">
                <a16:creationId xmlns:a16="http://schemas.microsoft.com/office/drawing/2014/main" id="{80CC787A-C8FB-F126-E553-84A3CCD30D7E}"/>
              </a:ext>
            </a:extLst>
          </p:cNvPr>
          <p:cNvGraphicFramePr>
            <a:graphicFrameLocks noGrp="1"/>
          </p:cNvGraphicFramePr>
          <p:nvPr>
            <p:extLst>
              <p:ext uri="{D42A27DB-BD31-4B8C-83A1-F6EECF244321}">
                <p14:modId xmlns:p14="http://schemas.microsoft.com/office/powerpoint/2010/main" val="415442336"/>
              </p:ext>
            </p:extLst>
          </p:nvPr>
        </p:nvGraphicFramePr>
        <p:xfrm>
          <a:off x="4852556" y="1543079"/>
          <a:ext cx="3518478" cy="1387152"/>
        </p:xfrm>
        <a:graphic>
          <a:graphicData uri="http://schemas.openxmlformats.org/drawingml/2006/table">
            <a:tbl>
              <a:tblPr firstRow="1" bandRow="1">
                <a:tableStyleId>{5C22544A-7EE6-4342-B048-85BDC9FD1C3A}</a:tableStyleId>
              </a:tblPr>
              <a:tblGrid>
                <a:gridCol w="586413">
                  <a:extLst>
                    <a:ext uri="{9D8B030D-6E8A-4147-A177-3AD203B41FA5}">
                      <a16:colId xmlns:a16="http://schemas.microsoft.com/office/drawing/2014/main" val="2286281645"/>
                    </a:ext>
                  </a:extLst>
                </a:gridCol>
                <a:gridCol w="586413">
                  <a:extLst>
                    <a:ext uri="{9D8B030D-6E8A-4147-A177-3AD203B41FA5}">
                      <a16:colId xmlns:a16="http://schemas.microsoft.com/office/drawing/2014/main" val="1780729894"/>
                    </a:ext>
                  </a:extLst>
                </a:gridCol>
                <a:gridCol w="586413">
                  <a:extLst>
                    <a:ext uri="{9D8B030D-6E8A-4147-A177-3AD203B41FA5}">
                      <a16:colId xmlns:a16="http://schemas.microsoft.com/office/drawing/2014/main" val="792420092"/>
                    </a:ext>
                  </a:extLst>
                </a:gridCol>
                <a:gridCol w="586413">
                  <a:extLst>
                    <a:ext uri="{9D8B030D-6E8A-4147-A177-3AD203B41FA5}">
                      <a16:colId xmlns:a16="http://schemas.microsoft.com/office/drawing/2014/main" val="1329774768"/>
                    </a:ext>
                  </a:extLst>
                </a:gridCol>
                <a:gridCol w="586413">
                  <a:extLst>
                    <a:ext uri="{9D8B030D-6E8A-4147-A177-3AD203B41FA5}">
                      <a16:colId xmlns:a16="http://schemas.microsoft.com/office/drawing/2014/main" val="536364537"/>
                    </a:ext>
                  </a:extLst>
                </a:gridCol>
                <a:gridCol w="586413">
                  <a:extLst>
                    <a:ext uri="{9D8B030D-6E8A-4147-A177-3AD203B41FA5}">
                      <a16:colId xmlns:a16="http://schemas.microsoft.com/office/drawing/2014/main" val="118145249"/>
                    </a:ext>
                  </a:extLst>
                </a:gridCol>
              </a:tblGrid>
              <a:tr h="346788">
                <a:tc>
                  <a:txBody>
                    <a:bodyPr/>
                    <a:lstStyle/>
                    <a:p>
                      <a:pPr algn="ctr"/>
                      <a:r>
                        <a:rPr lang="en-US" sz="1400" dirty="0"/>
                        <a:t>SNP</a:t>
                      </a:r>
                    </a:p>
                  </a:txBody>
                  <a:tcPr/>
                </a:tc>
                <a:tc>
                  <a:txBody>
                    <a:bodyPr/>
                    <a:lstStyle/>
                    <a:p>
                      <a:pPr algn="ctr"/>
                      <a:r>
                        <a:rPr lang="en-US" sz="1400" dirty="0"/>
                        <a:t>BETA</a:t>
                      </a:r>
                    </a:p>
                  </a:txBody>
                  <a:tcPr/>
                </a:tc>
                <a:tc>
                  <a:txBody>
                    <a:bodyPr/>
                    <a:lstStyle/>
                    <a:p>
                      <a:pPr algn="ctr"/>
                      <a:r>
                        <a:rPr lang="en-US" sz="1400" dirty="0"/>
                        <a:t>SE</a:t>
                      </a:r>
                    </a:p>
                  </a:txBody>
                  <a:tcPr/>
                </a:tc>
                <a:tc>
                  <a:txBody>
                    <a:bodyPr/>
                    <a:lstStyle/>
                    <a:p>
                      <a:pPr algn="ctr"/>
                      <a:r>
                        <a:rPr lang="en-US" sz="1400" dirty="0"/>
                        <a:t>Z</a:t>
                      </a:r>
                    </a:p>
                  </a:txBody>
                  <a:tcPr/>
                </a:tc>
                <a:tc>
                  <a:txBody>
                    <a:bodyPr/>
                    <a:lstStyle/>
                    <a:p>
                      <a:pPr algn="ctr"/>
                      <a:r>
                        <a:rPr lang="en-US" sz="1400" dirty="0"/>
                        <a:t>P</a:t>
                      </a:r>
                    </a:p>
                  </a:txBody>
                  <a:tcPr/>
                </a:tc>
                <a:tc>
                  <a:txBody>
                    <a:bodyPr/>
                    <a:lstStyle/>
                    <a:p>
                      <a:pPr algn="ctr"/>
                      <a:r>
                        <a:rPr lang="en-US" sz="1400" dirty="0"/>
                        <a:t>MAF</a:t>
                      </a:r>
                    </a:p>
                  </a:txBody>
                  <a:tcPr/>
                </a:tc>
                <a:extLst>
                  <a:ext uri="{0D108BD9-81ED-4DB2-BD59-A6C34878D82A}">
                    <a16:rowId xmlns:a16="http://schemas.microsoft.com/office/drawing/2014/main" val="3113475085"/>
                  </a:ext>
                </a:extLst>
              </a:tr>
              <a:tr h="346788">
                <a:tc>
                  <a:txBody>
                    <a:bodyPr/>
                    <a:lstStyle/>
                    <a:p>
                      <a:pPr algn="ctr"/>
                      <a:r>
                        <a:rPr lang="en-US" sz="1400" dirty="0"/>
                        <a:t>rs1</a:t>
                      </a:r>
                    </a:p>
                  </a:txBody>
                  <a:tcPr/>
                </a:tc>
                <a:tc>
                  <a:txBody>
                    <a:bodyPr/>
                    <a:lstStyle/>
                    <a:p>
                      <a:pPr algn="ctr"/>
                      <a:r>
                        <a:rPr lang="en-US" sz="1400" dirty="0"/>
                        <a:t>0.85</a:t>
                      </a:r>
                    </a:p>
                  </a:txBody>
                  <a:tcPr/>
                </a:tc>
                <a:tc>
                  <a:txBody>
                    <a:bodyPr/>
                    <a:lstStyle/>
                    <a:p>
                      <a:pPr algn="ctr"/>
                      <a:r>
                        <a:rPr lang="en-US" sz="1400" dirty="0"/>
                        <a:t>0.32</a:t>
                      </a:r>
                    </a:p>
                  </a:txBody>
                  <a:tcPr/>
                </a:tc>
                <a:tc>
                  <a:txBody>
                    <a:bodyPr/>
                    <a:lstStyle/>
                    <a:p>
                      <a:pPr algn="ctr"/>
                      <a:r>
                        <a:rPr lang="en-US" sz="1400" dirty="0"/>
                        <a:t>2.64</a:t>
                      </a:r>
                    </a:p>
                  </a:txBody>
                  <a:tcPr/>
                </a:tc>
                <a:tc>
                  <a:txBody>
                    <a:bodyPr/>
                    <a:lstStyle/>
                    <a:p>
                      <a:pPr algn="ctr"/>
                      <a:r>
                        <a:rPr lang="en-US" sz="1400" dirty="0"/>
                        <a:t>0.02</a:t>
                      </a:r>
                    </a:p>
                  </a:txBody>
                  <a:tcPr/>
                </a:tc>
                <a:tc>
                  <a:txBody>
                    <a:bodyPr/>
                    <a:lstStyle/>
                    <a:p>
                      <a:pPr algn="ctr"/>
                      <a:r>
                        <a:rPr lang="en-US" sz="1400" dirty="0"/>
                        <a:t>0.40</a:t>
                      </a:r>
                    </a:p>
                  </a:txBody>
                  <a:tcPr/>
                </a:tc>
                <a:extLst>
                  <a:ext uri="{0D108BD9-81ED-4DB2-BD59-A6C34878D82A}">
                    <a16:rowId xmlns:a16="http://schemas.microsoft.com/office/drawing/2014/main" val="3446336998"/>
                  </a:ext>
                </a:extLst>
              </a:tr>
              <a:tr h="346788">
                <a:tc>
                  <a:txBody>
                    <a:bodyPr/>
                    <a:lstStyle/>
                    <a:p>
                      <a:pPr algn="ctr"/>
                      <a:r>
                        <a:rPr lang="en-US" sz="1400" dirty="0"/>
                        <a:t>rs2</a:t>
                      </a:r>
                    </a:p>
                  </a:txBody>
                  <a:tcPr/>
                </a:tc>
                <a:tc>
                  <a:txBody>
                    <a:bodyPr/>
                    <a:lstStyle/>
                    <a:p>
                      <a:pPr algn="ctr"/>
                      <a:r>
                        <a:rPr lang="en-US" sz="1400" dirty="0"/>
                        <a:t>-0.31</a:t>
                      </a:r>
                    </a:p>
                  </a:txBody>
                  <a:tcPr/>
                </a:tc>
                <a:tc>
                  <a:txBody>
                    <a:bodyPr/>
                    <a:lstStyle/>
                    <a:p>
                      <a:pPr algn="ctr"/>
                      <a:r>
                        <a:rPr lang="en-US" sz="1400" dirty="0"/>
                        <a:t>0.28</a:t>
                      </a:r>
                    </a:p>
                  </a:txBody>
                  <a:tcPr/>
                </a:tc>
                <a:tc>
                  <a:txBody>
                    <a:bodyPr/>
                    <a:lstStyle/>
                    <a:p>
                      <a:pPr algn="ctr"/>
                      <a:r>
                        <a:rPr lang="en-US" sz="1400" dirty="0"/>
                        <a:t>-1.10</a:t>
                      </a:r>
                    </a:p>
                  </a:txBody>
                  <a:tcPr/>
                </a:tc>
                <a:tc>
                  <a:txBody>
                    <a:bodyPr/>
                    <a:lstStyle/>
                    <a:p>
                      <a:pPr algn="ctr"/>
                      <a:r>
                        <a:rPr lang="en-US" sz="1400" dirty="0"/>
                        <a:t>0.27</a:t>
                      </a:r>
                    </a:p>
                  </a:txBody>
                  <a:tcPr/>
                </a:tc>
                <a:tc>
                  <a:txBody>
                    <a:bodyPr/>
                    <a:lstStyle/>
                    <a:p>
                      <a:pPr algn="ctr"/>
                      <a:r>
                        <a:rPr lang="en-US" sz="1400" dirty="0"/>
                        <a:t>0.30</a:t>
                      </a:r>
                    </a:p>
                  </a:txBody>
                  <a:tcPr/>
                </a:tc>
                <a:extLst>
                  <a:ext uri="{0D108BD9-81ED-4DB2-BD59-A6C34878D82A}">
                    <a16:rowId xmlns:a16="http://schemas.microsoft.com/office/drawing/2014/main" val="2183959655"/>
                  </a:ext>
                </a:extLst>
              </a:tr>
              <a:tr h="346788">
                <a:tc>
                  <a:txBody>
                    <a:bodyPr/>
                    <a:lstStyle/>
                    <a:p>
                      <a:pPr algn="ctr"/>
                      <a:r>
                        <a:rPr lang="en-US" sz="1400" dirty="0"/>
                        <a:t>rs3</a:t>
                      </a:r>
                    </a:p>
                  </a:txBody>
                  <a:tcPr/>
                </a:tc>
                <a:tc>
                  <a:txBody>
                    <a:bodyPr/>
                    <a:lstStyle/>
                    <a:p>
                      <a:pPr algn="ctr"/>
                      <a:r>
                        <a:rPr lang="en-US" sz="1400" dirty="0"/>
                        <a:t>0.42</a:t>
                      </a:r>
                    </a:p>
                  </a:txBody>
                  <a:tcPr/>
                </a:tc>
                <a:tc>
                  <a:txBody>
                    <a:bodyPr/>
                    <a:lstStyle/>
                    <a:p>
                      <a:pPr algn="ctr"/>
                      <a:r>
                        <a:rPr lang="en-US" sz="1400" dirty="0"/>
                        <a:t>0.30</a:t>
                      </a:r>
                    </a:p>
                  </a:txBody>
                  <a:tcPr/>
                </a:tc>
                <a:tc>
                  <a:txBody>
                    <a:bodyPr/>
                    <a:lstStyle/>
                    <a:p>
                      <a:pPr algn="ctr"/>
                      <a:r>
                        <a:rPr lang="en-US" sz="1400" dirty="0"/>
                        <a:t>1.40</a:t>
                      </a:r>
                    </a:p>
                  </a:txBody>
                  <a:tcPr/>
                </a:tc>
                <a:tc>
                  <a:txBody>
                    <a:bodyPr/>
                    <a:lstStyle/>
                    <a:p>
                      <a:pPr algn="ctr"/>
                      <a:r>
                        <a:rPr lang="en-US" sz="1400" dirty="0"/>
                        <a:t>0.16</a:t>
                      </a:r>
                    </a:p>
                  </a:txBody>
                  <a:tcPr/>
                </a:tc>
                <a:tc>
                  <a:txBody>
                    <a:bodyPr/>
                    <a:lstStyle/>
                    <a:p>
                      <a:pPr algn="ctr"/>
                      <a:r>
                        <a:rPr lang="en-US" sz="1400" dirty="0"/>
                        <a:t>0.25</a:t>
                      </a:r>
                    </a:p>
                  </a:txBody>
                  <a:tcPr/>
                </a:tc>
                <a:extLst>
                  <a:ext uri="{0D108BD9-81ED-4DB2-BD59-A6C34878D82A}">
                    <a16:rowId xmlns:a16="http://schemas.microsoft.com/office/drawing/2014/main" val="2343090503"/>
                  </a:ext>
                </a:extLst>
              </a:tr>
            </a:tbl>
          </a:graphicData>
        </a:graphic>
      </p:graphicFrame>
      <p:sp>
        <p:nvSpPr>
          <p:cNvPr id="55" name="Rounded Rectangle 54">
            <a:extLst>
              <a:ext uri="{FF2B5EF4-FFF2-40B4-BE49-F238E27FC236}">
                <a16:creationId xmlns:a16="http://schemas.microsoft.com/office/drawing/2014/main" id="{EF33F754-9301-F902-9A98-DD17A9A5B7C6}"/>
              </a:ext>
            </a:extLst>
          </p:cNvPr>
          <p:cNvSpPr/>
          <p:nvPr/>
        </p:nvSpPr>
        <p:spPr>
          <a:xfrm>
            <a:off x="509754" y="6714377"/>
            <a:ext cx="8118871" cy="222155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64" name="Rounded Rectangle 63">
            <a:extLst>
              <a:ext uri="{FF2B5EF4-FFF2-40B4-BE49-F238E27FC236}">
                <a16:creationId xmlns:a16="http://schemas.microsoft.com/office/drawing/2014/main" id="{CB109434-FB5B-AF64-5F03-A896D5C1B0C2}"/>
              </a:ext>
            </a:extLst>
          </p:cNvPr>
          <p:cNvSpPr/>
          <p:nvPr/>
        </p:nvSpPr>
        <p:spPr>
          <a:xfrm>
            <a:off x="4569190" y="7295928"/>
            <a:ext cx="1165402" cy="1084217"/>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Compact Storage</a:t>
            </a:r>
          </a:p>
          <a:p>
            <a:pPr algn="ctr"/>
            <a:r>
              <a:rPr lang="en-US" sz="1200" dirty="0">
                <a:solidFill>
                  <a:sysClr val="windowText" lastClr="000000"/>
                </a:solidFill>
              </a:rPr>
              <a:t>MB vs. GB-TB</a:t>
            </a:r>
          </a:p>
        </p:txBody>
      </p:sp>
      <p:sp>
        <p:nvSpPr>
          <p:cNvPr id="65" name="Rounded Rectangle 64">
            <a:extLst>
              <a:ext uri="{FF2B5EF4-FFF2-40B4-BE49-F238E27FC236}">
                <a16:creationId xmlns:a16="http://schemas.microsoft.com/office/drawing/2014/main" id="{08CB2FCB-2886-8F09-EC04-5875F6198D82}"/>
              </a:ext>
            </a:extLst>
          </p:cNvPr>
          <p:cNvSpPr/>
          <p:nvPr/>
        </p:nvSpPr>
        <p:spPr>
          <a:xfrm>
            <a:off x="5886392" y="7295927"/>
            <a:ext cx="1165402" cy="1084217"/>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Privacy Protection</a:t>
            </a:r>
          </a:p>
          <a:p>
            <a:pPr algn="ctr"/>
            <a:r>
              <a:rPr lang="en-US" sz="1200" dirty="0">
                <a:solidFill>
                  <a:sysClr val="windowText" lastClr="000000"/>
                </a:solidFill>
              </a:rPr>
              <a:t>Fewer Constraints</a:t>
            </a:r>
          </a:p>
        </p:txBody>
      </p:sp>
      <mc:AlternateContent xmlns:mc="http://schemas.openxmlformats.org/markup-compatibility/2006" xmlns:a14="http://schemas.microsoft.com/office/drawing/2010/main">
        <mc:Choice Requires="a14">
          <p:sp>
            <p:nvSpPr>
              <p:cNvPr id="66" name="Rounded Rectangle 65">
                <a:extLst>
                  <a:ext uri="{FF2B5EF4-FFF2-40B4-BE49-F238E27FC236}">
                    <a16:creationId xmlns:a16="http://schemas.microsoft.com/office/drawing/2014/main" id="{61635056-15FD-65ED-AAAE-2EC465FFE3C1}"/>
                  </a:ext>
                </a:extLst>
              </p:cNvPr>
              <p:cNvSpPr/>
              <p:nvPr/>
            </p:nvSpPr>
            <p:spPr>
              <a:xfrm>
                <a:off x="7205632" y="7295926"/>
                <a:ext cx="1165402" cy="1084217"/>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Association Information</a:t>
                </a:r>
              </a:p>
              <a:p>
                <a:pPr algn="ctr"/>
                <a:r>
                  <a:rPr lang="en-US" sz="1200" dirty="0">
                    <a:solidFill>
                      <a:sysClr val="windowText" lastClr="000000"/>
                    </a:solidFill>
                  </a:rPr>
                  <a:t>P below </a:t>
                </a:r>
                <a14:m>
                  <m:oMath xmlns:m="http://schemas.openxmlformats.org/officeDocument/2006/math">
                    <m:r>
                      <a:rPr lang="en-US" sz="1200" b="0" i="1" smtClean="0">
                        <a:solidFill>
                          <a:sysClr val="windowText" lastClr="000000"/>
                        </a:solidFill>
                        <a:latin typeface="Cambria Math" panose="02040503050406030204" pitchFamily="18" charset="0"/>
                      </a:rPr>
                      <m:t>5</m:t>
                    </m:r>
                    <m:r>
                      <a:rPr lang="en-US" sz="1200" b="0" i="1" smtClean="0">
                        <a:solidFill>
                          <a:sysClr val="windowText" lastClr="000000"/>
                        </a:solidFill>
                        <a:latin typeface="Cambria Math" panose="02040503050406030204" pitchFamily="18" charset="0"/>
                        <a:ea typeface="Cambria Math" panose="02040503050406030204" pitchFamily="18" charset="0"/>
                      </a:rPr>
                      <m:t>×</m:t>
                    </m:r>
                    <m:sSup>
                      <m:sSupPr>
                        <m:ctrlPr>
                          <a:rPr lang="en-US" sz="1200" b="0" i="1" smtClean="0">
                            <a:solidFill>
                              <a:sysClr val="windowText" lastClr="000000"/>
                            </a:solidFill>
                            <a:latin typeface="Cambria Math" panose="02040503050406030204" pitchFamily="18" charset="0"/>
                            <a:ea typeface="Cambria Math" panose="02040503050406030204" pitchFamily="18" charset="0"/>
                          </a:rPr>
                        </m:ctrlPr>
                      </m:sSupPr>
                      <m:e>
                        <m:r>
                          <a:rPr lang="en-US" sz="1200" b="0" i="1" smtClean="0">
                            <a:solidFill>
                              <a:sysClr val="windowText" lastClr="000000"/>
                            </a:solidFill>
                            <a:latin typeface="Cambria Math" panose="02040503050406030204" pitchFamily="18" charset="0"/>
                            <a:ea typeface="Cambria Math" panose="02040503050406030204" pitchFamily="18" charset="0"/>
                          </a:rPr>
                          <m:t>10</m:t>
                        </m:r>
                      </m:e>
                      <m:sup>
                        <m:r>
                          <a:rPr lang="en-US" sz="1200" b="0" i="1" smtClean="0">
                            <a:solidFill>
                              <a:sysClr val="windowText" lastClr="000000"/>
                            </a:solidFill>
                            <a:latin typeface="Cambria Math" panose="02040503050406030204" pitchFamily="18" charset="0"/>
                            <a:ea typeface="Cambria Math" panose="02040503050406030204" pitchFamily="18" charset="0"/>
                          </a:rPr>
                          <m:t>−8</m:t>
                        </m:r>
                      </m:sup>
                    </m:sSup>
                  </m:oMath>
                </a14:m>
                <a:endParaRPr lang="en-US" sz="1200" dirty="0">
                  <a:solidFill>
                    <a:sysClr val="windowText" lastClr="000000"/>
                  </a:solidFill>
                </a:endParaRPr>
              </a:p>
            </p:txBody>
          </p:sp>
        </mc:Choice>
        <mc:Fallback xmlns="">
          <p:sp>
            <p:nvSpPr>
              <p:cNvPr id="66" name="Rounded Rectangle 65">
                <a:extLst>
                  <a:ext uri="{FF2B5EF4-FFF2-40B4-BE49-F238E27FC236}">
                    <a16:creationId xmlns:a16="http://schemas.microsoft.com/office/drawing/2014/main" id="{61635056-15FD-65ED-AAAE-2EC465FFE3C1}"/>
                  </a:ext>
                </a:extLst>
              </p:cNvPr>
              <p:cNvSpPr>
                <a:spLocks noRot="1" noChangeAspect="1" noMove="1" noResize="1" noEditPoints="1" noAdjustHandles="1" noChangeArrowheads="1" noChangeShapeType="1" noTextEdit="1"/>
              </p:cNvSpPr>
              <p:nvPr/>
            </p:nvSpPr>
            <p:spPr>
              <a:xfrm>
                <a:off x="7205632" y="7295926"/>
                <a:ext cx="1165402" cy="1084217"/>
              </a:xfrm>
              <a:prstGeom prst="roundRect">
                <a:avLst/>
              </a:prstGeom>
              <a:blipFill>
                <a:blip r:embed="rId14"/>
                <a:stretch>
                  <a:fillRect/>
                </a:stretch>
              </a:blipFill>
              <a:ln>
                <a:solidFill>
                  <a:schemeClr val="accent2">
                    <a:lumMod val="20000"/>
                    <a:lumOff val="80000"/>
                  </a:schemeClr>
                </a:solidFill>
              </a:ln>
            </p:spPr>
            <p:txBody>
              <a:bodyPr/>
              <a:lstStyle/>
              <a:p>
                <a:r>
                  <a:rPr lang="en-US">
                    <a:noFill/>
                  </a:rPr>
                  <a:t> </a:t>
                </a:r>
              </a:p>
            </p:txBody>
          </p:sp>
        </mc:Fallback>
      </mc:AlternateContent>
      <p:pic>
        <p:nvPicPr>
          <p:cNvPr id="68" name="Picture 67">
            <a:extLst>
              <a:ext uri="{FF2B5EF4-FFF2-40B4-BE49-F238E27FC236}">
                <a16:creationId xmlns:a16="http://schemas.microsoft.com/office/drawing/2014/main" id="{9E359EDD-1F8E-E732-4472-711ACEB2711D}"/>
              </a:ext>
            </a:extLst>
          </p:cNvPr>
          <p:cNvPicPr>
            <a:picLocks noChangeAspect="1"/>
          </p:cNvPicPr>
          <p:nvPr/>
        </p:nvPicPr>
        <p:blipFill>
          <a:blip r:embed="rId15"/>
          <a:stretch>
            <a:fillRect/>
          </a:stretch>
        </p:blipFill>
        <p:spPr>
          <a:xfrm>
            <a:off x="683052" y="6705885"/>
            <a:ext cx="3736159" cy="2241696"/>
          </a:xfrm>
          <a:prstGeom prst="rect">
            <a:avLst/>
          </a:prstGeom>
        </p:spPr>
      </p:pic>
      <p:cxnSp>
        <p:nvCxnSpPr>
          <p:cNvPr id="39" name="Straight Connector 38">
            <a:extLst>
              <a:ext uri="{FF2B5EF4-FFF2-40B4-BE49-F238E27FC236}">
                <a16:creationId xmlns:a16="http://schemas.microsoft.com/office/drawing/2014/main" id="{97D0D8BF-868B-E785-6264-DE9FED228415}"/>
              </a:ext>
            </a:extLst>
          </p:cNvPr>
          <p:cNvCxnSpPr>
            <a:cxnSpLocks/>
            <a:stCxn id="9" idx="2"/>
          </p:cNvCxnSpPr>
          <p:nvPr/>
        </p:nvCxnSpPr>
        <p:spPr>
          <a:xfrm>
            <a:off x="2458703" y="3833337"/>
            <a:ext cx="0" cy="273436"/>
          </a:xfrm>
          <a:prstGeom prst="line">
            <a:avLst/>
          </a:prstGeom>
          <a:ln w="28575">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cxnSp>
        <p:nvCxnSpPr>
          <p:cNvPr id="42" name="Straight Connector 41">
            <a:extLst>
              <a:ext uri="{FF2B5EF4-FFF2-40B4-BE49-F238E27FC236}">
                <a16:creationId xmlns:a16="http://schemas.microsoft.com/office/drawing/2014/main" id="{3157B5BF-0AF9-6D5C-6A81-2645C1D66988}"/>
              </a:ext>
            </a:extLst>
          </p:cNvPr>
          <p:cNvCxnSpPr>
            <a:cxnSpLocks/>
          </p:cNvCxnSpPr>
          <p:nvPr/>
        </p:nvCxnSpPr>
        <p:spPr>
          <a:xfrm>
            <a:off x="6600305" y="3833336"/>
            <a:ext cx="0" cy="273436"/>
          </a:xfrm>
          <a:prstGeom prst="line">
            <a:avLst/>
          </a:prstGeom>
          <a:ln w="28575">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cxnSp>
        <p:nvCxnSpPr>
          <p:cNvPr id="46" name="Straight Connector 45">
            <a:extLst>
              <a:ext uri="{FF2B5EF4-FFF2-40B4-BE49-F238E27FC236}">
                <a16:creationId xmlns:a16="http://schemas.microsoft.com/office/drawing/2014/main" id="{4D4A991F-230F-C3F8-30B2-3D7A3050D5E9}"/>
              </a:ext>
            </a:extLst>
          </p:cNvPr>
          <p:cNvCxnSpPr>
            <a:cxnSpLocks/>
          </p:cNvCxnSpPr>
          <p:nvPr/>
        </p:nvCxnSpPr>
        <p:spPr>
          <a:xfrm flipH="1" flipV="1">
            <a:off x="2466322" y="4087324"/>
            <a:ext cx="4141603" cy="11828"/>
          </a:xfrm>
          <a:prstGeom prst="line">
            <a:avLst/>
          </a:prstGeom>
          <a:ln w="28575">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50" name="TextBox 49">
            <a:extLst>
              <a:ext uri="{FF2B5EF4-FFF2-40B4-BE49-F238E27FC236}">
                <a16:creationId xmlns:a16="http://schemas.microsoft.com/office/drawing/2014/main" id="{11467C42-25B1-0ED6-3910-9DA889FCA4EF}"/>
              </a:ext>
            </a:extLst>
          </p:cNvPr>
          <p:cNvSpPr txBox="1"/>
          <p:nvPr/>
        </p:nvSpPr>
        <p:spPr>
          <a:xfrm>
            <a:off x="2034204" y="4112423"/>
            <a:ext cx="5077929" cy="461665"/>
          </a:xfrm>
          <a:prstGeom prst="rect">
            <a:avLst/>
          </a:prstGeom>
          <a:noFill/>
        </p:spPr>
        <p:txBody>
          <a:bodyPr wrap="none" rtlCol="0">
            <a:spAutoFit/>
          </a:bodyPr>
          <a:lstStyle/>
          <a:p>
            <a:pPr algn="ctr"/>
            <a:r>
              <a:rPr lang="en-US" sz="1200" dirty="0"/>
              <a:t>Summary statistics summarizes the </a:t>
            </a:r>
            <a:r>
              <a:rPr lang="en-US" sz="1200" b="1" dirty="0"/>
              <a:t>key information </a:t>
            </a:r>
            <a:r>
              <a:rPr lang="en-US" sz="1200" dirty="0"/>
              <a:t>in the individual-level data</a:t>
            </a:r>
          </a:p>
          <a:p>
            <a:pPr algn="ctr"/>
            <a:r>
              <a:rPr lang="en-US" sz="1200" dirty="0"/>
              <a:t>and servers as data input for many downstream analysis.</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0E27865-D72B-42FC-D387-023B03AFD14F}"/>
                  </a:ext>
                </a:extLst>
              </p:cNvPr>
              <p:cNvSpPr txBox="1"/>
              <p:nvPr/>
            </p:nvSpPr>
            <p:spPr>
              <a:xfrm>
                <a:off x="5918195" y="3005531"/>
                <a:ext cx="1217834" cy="6127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r>
                            <m:rPr>
                              <m:nor/>
                            </m:rPr>
                            <a:rPr lang="en-US">
                              <a:latin typeface="Cambria Math" panose="02040503050406030204" pitchFamily="18" charset="0"/>
                            </a:rPr>
                            <m:t>BETA</m:t>
                          </m:r>
                        </m:num>
                        <m:den>
                          <m:r>
                            <a:rPr lang="en-US" i="1">
                              <a:latin typeface="Cambria Math" panose="02040503050406030204" pitchFamily="18" charset="0"/>
                            </a:rPr>
                            <m:t>𝑆𝐸</m:t>
                          </m:r>
                        </m:den>
                      </m:f>
                    </m:oMath>
                  </m:oMathPara>
                </a14:m>
                <a:endParaRPr lang="en-US" dirty="0"/>
              </a:p>
            </p:txBody>
          </p:sp>
        </mc:Choice>
        <mc:Fallback xmlns="">
          <p:sp>
            <p:nvSpPr>
              <p:cNvPr id="51" name="TextBox 50">
                <a:extLst>
                  <a:ext uri="{FF2B5EF4-FFF2-40B4-BE49-F238E27FC236}">
                    <a16:creationId xmlns:a16="http://schemas.microsoft.com/office/drawing/2014/main" id="{40E27865-D72B-42FC-D387-023B03AFD14F}"/>
                  </a:ext>
                </a:extLst>
              </p:cNvPr>
              <p:cNvSpPr txBox="1">
                <a:spLocks noRot="1" noChangeAspect="1" noMove="1" noResize="1" noEditPoints="1" noAdjustHandles="1" noChangeArrowheads="1" noChangeShapeType="1" noTextEdit="1"/>
              </p:cNvSpPr>
              <p:nvPr/>
            </p:nvSpPr>
            <p:spPr>
              <a:xfrm>
                <a:off x="5918195" y="3005531"/>
                <a:ext cx="1217834" cy="612796"/>
              </a:xfrm>
              <a:prstGeom prst="rect">
                <a:avLst/>
              </a:prstGeom>
              <a:blipFill>
                <a:blip r:embed="rId16"/>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5DB4D7A-2C0A-E99B-EBD7-09195311BF52}"/>
                  </a:ext>
                </a:extLst>
              </p:cNvPr>
              <p:cNvSpPr txBox="1"/>
              <p:nvPr/>
            </p:nvSpPr>
            <p:spPr>
              <a:xfrm>
                <a:off x="4291910" y="4919393"/>
                <a:ext cx="4229095" cy="1596206"/>
              </a:xfrm>
              <a:prstGeom prst="rect">
                <a:avLst/>
              </a:prstGeom>
              <a:noFill/>
            </p:spPr>
            <p:txBody>
              <a:bodyPr wrap="square" rtlCol="0">
                <a:spAutoFit/>
              </a:bodyPr>
              <a:lstStyle/>
              <a:p>
                <a:pPr marL="285750" indent="-285750" algn="just">
                  <a:buFont typeface="Arial" panose="020B0604020202020204" pitchFamily="34" charset="0"/>
                  <a:buChar char="•"/>
                </a:pPr>
                <a14:m>
                  <m:oMath xmlns:m="http://schemas.openxmlformats.org/officeDocument/2006/math">
                    <m:acc>
                      <m:accPr>
                        <m:chr m:val="̂"/>
                        <m:ctrlPr>
                          <a:rPr lang="en-US" sz="1600" i="1" smtClean="0">
                            <a:latin typeface="Cambria Math" panose="02040503050406030204" pitchFamily="18" charset="0"/>
                          </a:rPr>
                        </m:ctrlPr>
                      </m:accPr>
                      <m:e>
                        <m:r>
                          <a:rPr lang="en-US" sz="1600" i="1" smtClean="0">
                            <a:latin typeface="Cambria Math" panose="02040503050406030204" pitchFamily="18" charset="0"/>
                            <a:ea typeface="Cambria Math" panose="02040503050406030204" pitchFamily="18" charset="0"/>
                          </a:rPr>
                          <m:t>𝛽</m:t>
                        </m:r>
                      </m:e>
                    </m:acc>
                  </m:oMath>
                </a14:m>
                <a:r>
                  <a:rPr lang="en-US" sz="1600" dirty="0"/>
                  <a:t>: measures how much Y changes per one-unit increase in X (e.g., estimated from OLS).</a:t>
                </a:r>
              </a:p>
              <a:p>
                <a:pPr marL="285750" indent="-285750" algn="just">
                  <a:buFont typeface="Arial" panose="020B0604020202020204" pitchFamily="34" charset="0"/>
                  <a:buChar char="•"/>
                </a:pPr>
                <a:r>
                  <a:rPr lang="en-US" sz="1600" dirty="0"/>
                  <a:t>SE: Quantifies the precision of </a:t>
                </a:r>
                <a14:m>
                  <m:oMath xmlns:m="http://schemas.openxmlformats.org/officeDocument/2006/math">
                    <m:acc>
                      <m:accPr>
                        <m:chr m:val="̂"/>
                        <m:ctrlPr>
                          <a:rPr lang="en-US" sz="1600" i="1">
                            <a:latin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𝛽</m:t>
                        </m:r>
                      </m:e>
                    </m:acc>
                  </m:oMath>
                </a14:m>
                <a:r>
                  <a:rPr lang="el-GR" sz="1600" dirty="0"/>
                  <a:t>; </a:t>
                </a:r>
                <a:r>
                  <a:rPr lang="en-US" sz="1600" dirty="0"/>
                  <a:t>smaller SE means more confident estimate. </a:t>
                </a:r>
              </a:p>
              <a:p>
                <a:pPr marL="285750" indent="-285750" algn="just">
                  <a:buFont typeface="Arial" panose="020B0604020202020204" pitchFamily="34" charset="0"/>
                  <a:buChar char="•"/>
                </a:pPr>
                <a:r>
                  <a:rPr lang="en-US" sz="1600" dirty="0"/>
                  <a:t>Z: Standardized Effect Size</a:t>
                </a:r>
              </a:p>
              <a:p>
                <a:pPr marL="285750" indent="-285750" algn="just">
                  <a:buFont typeface="Arial" panose="020B0604020202020204" pitchFamily="34" charset="0"/>
                  <a:buChar char="•"/>
                </a:pPr>
                <a:r>
                  <a:rPr lang="en-US" sz="1600" dirty="0"/>
                  <a:t>P: Statistical Significance</a:t>
                </a:r>
              </a:p>
            </p:txBody>
          </p:sp>
        </mc:Choice>
        <mc:Fallback xmlns="">
          <p:sp>
            <p:nvSpPr>
              <p:cNvPr id="52" name="TextBox 51">
                <a:extLst>
                  <a:ext uri="{FF2B5EF4-FFF2-40B4-BE49-F238E27FC236}">
                    <a16:creationId xmlns:a16="http://schemas.microsoft.com/office/drawing/2014/main" id="{15DB4D7A-2C0A-E99B-EBD7-09195311BF52}"/>
                  </a:ext>
                </a:extLst>
              </p:cNvPr>
              <p:cNvSpPr txBox="1">
                <a:spLocks noRot="1" noChangeAspect="1" noMove="1" noResize="1" noEditPoints="1" noAdjustHandles="1" noChangeArrowheads="1" noChangeShapeType="1" noTextEdit="1"/>
              </p:cNvSpPr>
              <p:nvPr/>
            </p:nvSpPr>
            <p:spPr>
              <a:xfrm>
                <a:off x="4291910" y="4919393"/>
                <a:ext cx="4229095" cy="1596206"/>
              </a:xfrm>
              <a:prstGeom prst="rect">
                <a:avLst/>
              </a:prstGeom>
              <a:blipFill>
                <a:blip r:embed="rId17"/>
                <a:stretch>
                  <a:fillRect l="-299" t="-787" r="-597" b="-3150"/>
                </a:stretch>
              </a:blipFill>
            </p:spPr>
            <p:txBody>
              <a:bodyPr/>
              <a:lstStyle/>
              <a:p>
                <a:r>
                  <a:rPr lang="en-US">
                    <a:noFill/>
                  </a:rPr>
                  <a:t> </a:t>
                </a:r>
              </a:p>
            </p:txBody>
          </p:sp>
        </mc:Fallback>
      </mc:AlternateContent>
    </p:spTree>
    <p:extLst>
      <p:ext uri="{BB962C8B-B14F-4D97-AF65-F5344CB8AC3E}">
        <p14:creationId xmlns:p14="http://schemas.microsoft.com/office/powerpoint/2010/main" val="3938677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4053E-FFB7-52A0-7981-A72E1A7B30C5}"/>
            </a:ext>
          </a:extLst>
        </p:cNvPr>
        <p:cNvGrpSpPr/>
        <p:nvPr/>
      </p:nvGrpSpPr>
      <p:grpSpPr>
        <a:xfrm>
          <a:off x="0" y="0"/>
          <a:ext cx="0" cy="0"/>
          <a:chOff x="0" y="0"/>
          <a:chExt cx="0" cy="0"/>
        </a:xfrm>
      </p:grpSpPr>
      <p:sp>
        <p:nvSpPr>
          <p:cNvPr id="57" name="Rounded Rectangle 56">
            <a:extLst>
              <a:ext uri="{FF2B5EF4-FFF2-40B4-BE49-F238E27FC236}">
                <a16:creationId xmlns:a16="http://schemas.microsoft.com/office/drawing/2014/main" id="{733AC83B-5300-0AED-7997-54902749653C}"/>
              </a:ext>
            </a:extLst>
          </p:cNvPr>
          <p:cNvSpPr/>
          <p:nvPr/>
        </p:nvSpPr>
        <p:spPr>
          <a:xfrm>
            <a:off x="4123847" y="788653"/>
            <a:ext cx="4599403" cy="80271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 name="TextBox 2">
            <a:extLst>
              <a:ext uri="{FF2B5EF4-FFF2-40B4-BE49-F238E27FC236}">
                <a16:creationId xmlns:a16="http://schemas.microsoft.com/office/drawing/2014/main" id="{7B37CE67-A2B4-866F-A877-48DBEB65D961}"/>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Random Effects</a:t>
            </a:r>
          </a:p>
        </p:txBody>
      </p:sp>
      <p:sp>
        <p:nvSpPr>
          <p:cNvPr id="9" name="Rounded Rectangle 8">
            <a:extLst>
              <a:ext uri="{FF2B5EF4-FFF2-40B4-BE49-F238E27FC236}">
                <a16:creationId xmlns:a16="http://schemas.microsoft.com/office/drawing/2014/main" id="{34F5CF38-2195-0042-9A62-6D78B949BCD7}"/>
              </a:ext>
            </a:extLst>
          </p:cNvPr>
          <p:cNvSpPr/>
          <p:nvPr/>
        </p:nvSpPr>
        <p:spPr>
          <a:xfrm>
            <a:off x="411467" y="788654"/>
            <a:ext cx="3671145" cy="802710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TextBox 9">
            <a:extLst>
              <a:ext uri="{FF2B5EF4-FFF2-40B4-BE49-F238E27FC236}">
                <a16:creationId xmlns:a16="http://schemas.microsoft.com/office/drawing/2014/main" id="{41E1C747-1E88-DA5F-D6AB-641F95C99063}"/>
              </a:ext>
            </a:extLst>
          </p:cNvPr>
          <p:cNvSpPr txBox="1"/>
          <p:nvPr/>
        </p:nvSpPr>
        <p:spPr>
          <a:xfrm>
            <a:off x="54316" y="870132"/>
            <a:ext cx="4475988" cy="568874"/>
          </a:xfrm>
          <a:prstGeom prst="rect">
            <a:avLst/>
          </a:prstGeom>
          <a:noFill/>
        </p:spPr>
        <p:txBody>
          <a:bodyPr wrap="square" rtlCol="0" anchor="ctr">
            <a:spAutoFit/>
          </a:bodyPr>
          <a:lstStyle/>
          <a:p>
            <a:pPr algn="ctr"/>
            <a:r>
              <a:rPr lang="en-US" b="1" dirty="0"/>
              <a:t>Fixed Effects</a:t>
            </a:r>
          </a:p>
          <a:p>
            <a:pPr algn="ctr"/>
            <a:r>
              <a:rPr lang="en-US" sz="1200" dirty="0"/>
              <a:t>Assuming that we can condition on all factors</a:t>
            </a:r>
          </a:p>
        </p:txBody>
      </p:sp>
      <p:sp>
        <p:nvSpPr>
          <p:cNvPr id="18" name="Rounded Rectangle 17">
            <a:extLst>
              <a:ext uri="{FF2B5EF4-FFF2-40B4-BE49-F238E27FC236}">
                <a16:creationId xmlns:a16="http://schemas.microsoft.com/office/drawing/2014/main" id="{F60A0844-0A43-59EE-B0AE-E87310E6EF8C}"/>
              </a:ext>
            </a:extLst>
          </p:cNvPr>
          <p:cNvSpPr/>
          <p:nvPr/>
        </p:nvSpPr>
        <p:spPr>
          <a:xfrm>
            <a:off x="852982" y="1714795"/>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TextBox 18">
            <a:extLst>
              <a:ext uri="{FF2B5EF4-FFF2-40B4-BE49-F238E27FC236}">
                <a16:creationId xmlns:a16="http://schemas.microsoft.com/office/drawing/2014/main" id="{7345ABBD-D75B-416E-648D-E14C62A719D0}"/>
              </a:ext>
            </a:extLst>
          </p:cNvPr>
          <p:cNvSpPr txBox="1"/>
          <p:nvPr/>
        </p:nvSpPr>
        <p:spPr>
          <a:xfrm>
            <a:off x="1292732" y="2458489"/>
            <a:ext cx="300082" cy="369332"/>
          </a:xfrm>
          <a:prstGeom prst="rect">
            <a:avLst/>
          </a:prstGeom>
          <a:noFill/>
        </p:spPr>
        <p:txBody>
          <a:bodyPr wrap="none" rtlCol="0">
            <a:spAutoFit/>
          </a:bodyPr>
          <a:lstStyle/>
          <a:p>
            <a:r>
              <a:rPr lang="en-US" dirty="0"/>
              <a:t>=</a:t>
            </a:r>
          </a:p>
        </p:txBody>
      </p:sp>
      <p:sp>
        <p:nvSpPr>
          <p:cNvPr id="20" name="Rounded Rectangle 19">
            <a:extLst>
              <a:ext uri="{FF2B5EF4-FFF2-40B4-BE49-F238E27FC236}">
                <a16:creationId xmlns:a16="http://schemas.microsoft.com/office/drawing/2014/main" id="{612236F5-5334-4517-E95D-AC3375C0BE85}"/>
              </a:ext>
            </a:extLst>
          </p:cNvPr>
          <p:cNvSpPr/>
          <p:nvPr/>
        </p:nvSpPr>
        <p:spPr>
          <a:xfrm>
            <a:off x="1802217" y="1714795"/>
            <a:ext cx="286187" cy="1856721"/>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ounded Rectangle 20">
            <a:extLst>
              <a:ext uri="{FF2B5EF4-FFF2-40B4-BE49-F238E27FC236}">
                <a16:creationId xmlns:a16="http://schemas.microsoft.com/office/drawing/2014/main" id="{6171840F-EC14-8EF6-D09D-EC23C4A1F9BF}"/>
              </a:ext>
            </a:extLst>
          </p:cNvPr>
          <p:cNvSpPr/>
          <p:nvPr/>
        </p:nvSpPr>
        <p:spPr>
          <a:xfrm>
            <a:off x="3359426" y="1714148"/>
            <a:ext cx="286187" cy="1856721"/>
          </a:xfrm>
          <a:prstGeom prst="round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TextBox 22">
            <a:extLst>
              <a:ext uri="{FF2B5EF4-FFF2-40B4-BE49-F238E27FC236}">
                <a16:creationId xmlns:a16="http://schemas.microsoft.com/office/drawing/2014/main" id="{3102EDE9-52D7-B0CD-362A-0EC39A5AA638}"/>
              </a:ext>
            </a:extLst>
          </p:cNvPr>
          <p:cNvSpPr txBox="1"/>
          <p:nvPr/>
        </p:nvSpPr>
        <p:spPr>
          <a:xfrm>
            <a:off x="2963421" y="2458488"/>
            <a:ext cx="300082"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4C17560-DF61-B719-AB9C-7026EEF360DF}"/>
                  </a:ext>
                </a:extLst>
              </p:cNvPr>
              <p:cNvSpPr txBox="1"/>
              <p:nvPr/>
            </p:nvSpPr>
            <p:spPr>
              <a:xfrm>
                <a:off x="842293" y="3681712"/>
                <a:ext cx="450439"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Trait</a:t>
                </a:r>
              </a:p>
            </p:txBody>
          </p:sp>
        </mc:Choice>
        <mc:Fallback xmlns="">
          <p:sp>
            <p:nvSpPr>
              <p:cNvPr id="24" name="TextBox 23">
                <a:extLst>
                  <a:ext uri="{FF2B5EF4-FFF2-40B4-BE49-F238E27FC236}">
                    <a16:creationId xmlns:a16="http://schemas.microsoft.com/office/drawing/2014/main" id="{D4C17560-DF61-B719-AB9C-7026EEF360DF}"/>
                  </a:ext>
                </a:extLst>
              </p:cNvPr>
              <p:cNvSpPr txBox="1">
                <a:spLocks noRot="1" noChangeAspect="1" noMove="1" noResize="1" noEditPoints="1" noAdjustHandles="1" noChangeArrowheads="1" noChangeShapeType="1" noTextEdit="1"/>
              </p:cNvSpPr>
              <p:nvPr/>
            </p:nvSpPr>
            <p:spPr>
              <a:xfrm>
                <a:off x="842293" y="3681712"/>
                <a:ext cx="450439" cy="400110"/>
              </a:xfrm>
              <a:prstGeom prst="rect">
                <a:avLst/>
              </a:prstGeom>
              <a:blipFill>
                <a:blip r:embed="rId2"/>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D1DBE35-B4D6-87C4-A5C1-8A916D3021AA}"/>
                  </a:ext>
                </a:extLst>
              </p:cNvPr>
              <p:cNvSpPr txBox="1"/>
              <p:nvPr/>
            </p:nvSpPr>
            <p:spPr>
              <a:xfrm>
                <a:off x="1489746" y="3681712"/>
                <a:ext cx="745310"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i="1">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Genotype</a:t>
                </a:r>
              </a:p>
            </p:txBody>
          </p:sp>
        </mc:Choice>
        <mc:Fallback xmlns="">
          <p:sp>
            <p:nvSpPr>
              <p:cNvPr id="25" name="TextBox 24">
                <a:extLst>
                  <a:ext uri="{FF2B5EF4-FFF2-40B4-BE49-F238E27FC236}">
                    <a16:creationId xmlns:a16="http://schemas.microsoft.com/office/drawing/2014/main" id="{ED1DBE35-B4D6-87C4-A5C1-8A916D3021AA}"/>
                  </a:ext>
                </a:extLst>
              </p:cNvPr>
              <p:cNvSpPr txBox="1">
                <a:spLocks noRot="1" noChangeAspect="1" noMove="1" noResize="1" noEditPoints="1" noAdjustHandles="1" noChangeArrowheads="1" noChangeShapeType="1" noTextEdit="1"/>
              </p:cNvSpPr>
              <p:nvPr/>
            </p:nvSpPr>
            <p:spPr>
              <a:xfrm>
                <a:off x="1489746" y="3681712"/>
                <a:ext cx="745310" cy="400110"/>
              </a:xfrm>
              <a:prstGeom prst="rect">
                <a:avLst/>
              </a:prstGeom>
              <a:blipFill>
                <a:blip r:embed="rId3"/>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663FFF2-7AA7-341D-A441-43ED5E65CDF1}"/>
                  </a:ext>
                </a:extLst>
              </p:cNvPr>
              <p:cNvSpPr txBox="1"/>
              <p:nvPr/>
            </p:nvSpPr>
            <p:spPr>
              <a:xfrm>
                <a:off x="3183324" y="3681712"/>
                <a:ext cx="745310"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Error</a:t>
                </a:r>
              </a:p>
            </p:txBody>
          </p:sp>
        </mc:Choice>
        <mc:Fallback xmlns="">
          <p:sp>
            <p:nvSpPr>
              <p:cNvPr id="28" name="TextBox 27">
                <a:extLst>
                  <a:ext uri="{FF2B5EF4-FFF2-40B4-BE49-F238E27FC236}">
                    <a16:creationId xmlns:a16="http://schemas.microsoft.com/office/drawing/2014/main" id="{2663FFF2-7AA7-341D-A441-43ED5E65CDF1}"/>
                  </a:ext>
                </a:extLst>
              </p:cNvPr>
              <p:cNvSpPr txBox="1">
                <a:spLocks noRot="1" noChangeAspect="1" noMove="1" noResize="1" noEditPoints="1" noAdjustHandles="1" noChangeArrowheads="1" noChangeShapeType="1" noTextEdit="1"/>
              </p:cNvSpPr>
              <p:nvPr/>
            </p:nvSpPr>
            <p:spPr>
              <a:xfrm>
                <a:off x="3183324" y="3681712"/>
                <a:ext cx="745310" cy="400110"/>
              </a:xfrm>
              <a:prstGeom prst="rect">
                <a:avLst/>
              </a:prstGeom>
              <a:blipFill>
                <a:blip r:embed="rId4"/>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EB27B56-38FA-E082-7066-95995BCCEBA2}"/>
                  </a:ext>
                </a:extLst>
              </p:cNvPr>
              <p:cNvSpPr txBox="1"/>
              <p:nvPr/>
            </p:nvSpPr>
            <p:spPr>
              <a:xfrm>
                <a:off x="1516954" y="170019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11</m:t>
                          </m:r>
                        </m:sub>
                      </m:sSub>
                    </m:oMath>
                  </m:oMathPara>
                </a14:m>
                <a:endParaRPr lang="en-US" sz="1400" dirty="0">
                  <a:solidFill>
                    <a:schemeClr val="bg1">
                      <a:lumMod val="95000"/>
                    </a:schemeClr>
                  </a:solidFill>
                </a:endParaRPr>
              </a:p>
            </p:txBody>
          </p:sp>
        </mc:Choice>
        <mc:Fallback xmlns="">
          <p:sp>
            <p:nvSpPr>
              <p:cNvPr id="32" name="TextBox 31">
                <a:extLst>
                  <a:ext uri="{FF2B5EF4-FFF2-40B4-BE49-F238E27FC236}">
                    <a16:creationId xmlns:a16="http://schemas.microsoft.com/office/drawing/2014/main" id="{4EB27B56-38FA-E082-7066-95995BCCEBA2}"/>
                  </a:ext>
                </a:extLst>
              </p:cNvPr>
              <p:cNvSpPr txBox="1">
                <a:spLocks noRot="1" noChangeAspect="1" noMove="1" noResize="1" noEditPoints="1" noAdjustHandles="1" noChangeArrowheads="1" noChangeShapeType="1" noTextEdit="1"/>
              </p:cNvSpPr>
              <p:nvPr/>
            </p:nvSpPr>
            <p:spPr>
              <a:xfrm>
                <a:off x="1516954" y="1700190"/>
                <a:ext cx="893237"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6ED8C6D-F4A6-A8E2-8C0A-37B673BB1587}"/>
                  </a:ext>
                </a:extLst>
              </p:cNvPr>
              <p:cNvSpPr txBox="1"/>
              <p:nvPr/>
            </p:nvSpPr>
            <p:spPr>
              <a:xfrm>
                <a:off x="715129" y="2470598"/>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4" name="TextBox 33">
                <a:extLst>
                  <a:ext uri="{FF2B5EF4-FFF2-40B4-BE49-F238E27FC236}">
                    <a16:creationId xmlns:a16="http://schemas.microsoft.com/office/drawing/2014/main" id="{56ED8C6D-F4A6-A8E2-8C0A-37B673BB1587}"/>
                  </a:ext>
                </a:extLst>
              </p:cNvPr>
              <p:cNvSpPr txBox="1">
                <a:spLocks noRot="1" noChangeAspect="1" noMove="1" noResize="1" noEditPoints="1" noAdjustHandles="1" noChangeArrowheads="1" noChangeShapeType="1" noTextEdit="1"/>
              </p:cNvSpPr>
              <p:nvPr/>
            </p:nvSpPr>
            <p:spPr>
              <a:xfrm>
                <a:off x="715129" y="2470598"/>
                <a:ext cx="592422" cy="369332"/>
              </a:xfrm>
              <a:prstGeom prst="rect">
                <a:avLst/>
              </a:prstGeom>
              <a:blipFill>
                <a:blip r:embed="rId6"/>
                <a:stretch>
                  <a:fillRect/>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C8040051-F61D-BE84-AA6A-4F2DBE8310F7}"/>
              </a:ext>
            </a:extLst>
          </p:cNvPr>
          <p:cNvSpPr txBox="1"/>
          <p:nvPr/>
        </p:nvSpPr>
        <p:spPr>
          <a:xfrm>
            <a:off x="4123847" y="882590"/>
            <a:ext cx="4599403" cy="553998"/>
          </a:xfrm>
          <a:prstGeom prst="rect">
            <a:avLst/>
          </a:prstGeom>
          <a:noFill/>
        </p:spPr>
        <p:txBody>
          <a:bodyPr wrap="square" rtlCol="0" anchor="ctr">
            <a:spAutoFit/>
          </a:bodyPr>
          <a:lstStyle/>
          <a:p>
            <a:pPr algn="ctr"/>
            <a:r>
              <a:rPr lang="en-US" b="1" dirty="0"/>
              <a:t>Random Effects</a:t>
            </a:r>
          </a:p>
          <a:p>
            <a:pPr algn="ctr"/>
            <a:r>
              <a:rPr lang="en-US" sz="1200" dirty="0"/>
              <a:t>Account for the uncertainty that we can never condition on all factors</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589421E-EEDB-2F27-0987-A2FC2B5AF677}"/>
                  </a:ext>
                </a:extLst>
              </p:cNvPr>
              <p:cNvSpPr txBox="1"/>
              <p:nvPr/>
            </p:nvSpPr>
            <p:spPr>
              <a:xfrm>
                <a:off x="2011317" y="2460102"/>
                <a:ext cx="5965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B589421E-EEDB-2F27-0987-A2FC2B5AF677}"/>
                  </a:ext>
                </a:extLst>
              </p:cNvPr>
              <p:cNvSpPr txBox="1">
                <a:spLocks noRot="1" noChangeAspect="1" noMove="1" noResize="1" noEditPoints="1" noAdjustHandles="1" noChangeArrowheads="1" noChangeShapeType="1" noTextEdit="1"/>
              </p:cNvSpPr>
              <p:nvPr/>
            </p:nvSpPr>
            <p:spPr>
              <a:xfrm>
                <a:off x="2011317" y="2460102"/>
                <a:ext cx="596578" cy="369332"/>
              </a:xfrm>
              <a:prstGeom prst="rect">
                <a:avLst/>
              </a:prstGeom>
              <a:blipFill>
                <a:blip r:embed="rId7"/>
                <a:stretch>
                  <a:fillRect/>
                </a:stretch>
              </a:blipFill>
            </p:spPr>
            <p:txBody>
              <a:bodyPr/>
              <a:lstStyle/>
              <a:p>
                <a:r>
                  <a:rPr lang="en-US">
                    <a:noFill/>
                  </a:rPr>
                  <a:t> </a:t>
                </a:r>
              </a:p>
            </p:txBody>
          </p:sp>
        </mc:Fallback>
      </mc:AlternateContent>
      <p:sp>
        <p:nvSpPr>
          <p:cNvPr id="73" name="Rounded Rectangle 72">
            <a:extLst>
              <a:ext uri="{FF2B5EF4-FFF2-40B4-BE49-F238E27FC236}">
                <a16:creationId xmlns:a16="http://schemas.microsoft.com/office/drawing/2014/main" id="{B4F24149-A155-4F46-5019-2D5D23E4BF1A}"/>
              </a:ext>
            </a:extLst>
          </p:cNvPr>
          <p:cNvSpPr/>
          <p:nvPr/>
        </p:nvSpPr>
        <p:spPr>
          <a:xfrm>
            <a:off x="2491383" y="2470598"/>
            <a:ext cx="405922" cy="369332"/>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DBD96301-E88E-E954-8930-87F74ECD77A7}"/>
                  </a:ext>
                </a:extLst>
              </p:cNvPr>
              <p:cNvSpPr txBox="1"/>
              <p:nvPr/>
            </p:nvSpPr>
            <p:spPr>
              <a:xfrm>
                <a:off x="2389304" y="2461831"/>
                <a:ext cx="629027" cy="3798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ea typeface="Cambria Math" panose="02040503050406030204" pitchFamily="18" charset="0"/>
                            </a:rPr>
                            <m:t>1</m:t>
                          </m:r>
                        </m:sub>
                      </m:sSub>
                    </m:oMath>
                  </m:oMathPara>
                </a14:m>
                <a:endParaRPr lang="en-US" dirty="0"/>
              </a:p>
            </p:txBody>
          </p:sp>
        </mc:Choice>
        <mc:Fallback xmlns="">
          <p:sp>
            <p:nvSpPr>
              <p:cNvPr id="72" name="TextBox 71">
                <a:extLst>
                  <a:ext uri="{FF2B5EF4-FFF2-40B4-BE49-F238E27FC236}">
                    <a16:creationId xmlns:a16="http://schemas.microsoft.com/office/drawing/2014/main" id="{DBD96301-E88E-E954-8930-87F74ECD77A7}"/>
                  </a:ext>
                </a:extLst>
              </p:cNvPr>
              <p:cNvSpPr txBox="1">
                <a:spLocks noRot="1" noChangeAspect="1" noMove="1" noResize="1" noEditPoints="1" noAdjustHandles="1" noChangeArrowheads="1" noChangeShapeType="1" noTextEdit="1"/>
              </p:cNvSpPr>
              <p:nvPr/>
            </p:nvSpPr>
            <p:spPr>
              <a:xfrm>
                <a:off x="2389304" y="2461831"/>
                <a:ext cx="629027" cy="379843"/>
              </a:xfrm>
              <a:prstGeom prst="rect">
                <a:avLst/>
              </a:prstGeom>
              <a:blipFill>
                <a:blip r:embed="rId8"/>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B7769CFB-6EC6-46FC-5A88-C0118C27A75F}"/>
                  </a:ext>
                </a:extLst>
              </p:cNvPr>
              <p:cNvSpPr txBox="1"/>
              <p:nvPr/>
            </p:nvSpPr>
            <p:spPr>
              <a:xfrm>
                <a:off x="1516953" y="204459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21</m:t>
                          </m:r>
                        </m:sub>
                      </m:sSub>
                    </m:oMath>
                  </m:oMathPara>
                </a14:m>
                <a:endParaRPr lang="en-US" sz="1400" dirty="0">
                  <a:solidFill>
                    <a:schemeClr val="bg1">
                      <a:lumMod val="95000"/>
                    </a:schemeClr>
                  </a:solidFill>
                </a:endParaRPr>
              </a:p>
            </p:txBody>
          </p:sp>
        </mc:Choice>
        <mc:Fallback xmlns="">
          <p:sp>
            <p:nvSpPr>
              <p:cNvPr id="82" name="TextBox 81">
                <a:extLst>
                  <a:ext uri="{FF2B5EF4-FFF2-40B4-BE49-F238E27FC236}">
                    <a16:creationId xmlns:a16="http://schemas.microsoft.com/office/drawing/2014/main" id="{B7769CFB-6EC6-46FC-5A88-C0118C27A75F}"/>
                  </a:ext>
                </a:extLst>
              </p:cNvPr>
              <p:cNvSpPr txBox="1">
                <a:spLocks noRot="1" noChangeAspect="1" noMove="1" noResize="1" noEditPoints="1" noAdjustHandles="1" noChangeArrowheads="1" noChangeShapeType="1" noTextEdit="1"/>
              </p:cNvSpPr>
              <p:nvPr/>
            </p:nvSpPr>
            <p:spPr>
              <a:xfrm>
                <a:off x="1516953" y="2044593"/>
                <a:ext cx="893237"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FB57805-8ADB-4E2D-DC7E-5C392422D7D8}"/>
                  </a:ext>
                </a:extLst>
              </p:cNvPr>
              <p:cNvSpPr txBox="1"/>
              <p:nvPr/>
            </p:nvSpPr>
            <p:spPr>
              <a:xfrm>
                <a:off x="1516954" y="3221029"/>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𝑁</m:t>
                          </m:r>
                          <m:r>
                            <a:rPr lang="en-US" sz="1400" b="0" i="1" smtClean="0">
                              <a:solidFill>
                                <a:schemeClr val="bg1">
                                  <a:lumMod val="95000"/>
                                </a:schemeClr>
                              </a:solidFill>
                              <a:latin typeface="Cambria Math" panose="02040503050406030204" pitchFamily="18" charset="0"/>
                            </a:rPr>
                            <m:t>1</m:t>
                          </m:r>
                        </m:sub>
                      </m:sSub>
                    </m:oMath>
                  </m:oMathPara>
                </a14:m>
                <a:endParaRPr lang="en-US" sz="1400" dirty="0">
                  <a:solidFill>
                    <a:schemeClr val="bg1">
                      <a:lumMod val="95000"/>
                    </a:schemeClr>
                  </a:solidFill>
                </a:endParaRPr>
              </a:p>
            </p:txBody>
          </p:sp>
        </mc:Choice>
        <mc:Fallback xmlns="">
          <p:sp>
            <p:nvSpPr>
              <p:cNvPr id="83" name="TextBox 82">
                <a:extLst>
                  <a:ext uri="{FF2B5EF4-FFF2-40B4-BE49-F238E27FC236}">
                    <a16:creationId xmlns:a16="http://schemas.microsoft.com/office/drawing/2014/main" id="{FFB57805-8ADB-4E2D-DC7E-5C392422D7D8}"/>
                  </a:ext>
                </a:extLst>
              </p:cNvPr>
              <p:cNvSpPr txBox="1">
                <a:spLocks noRot="1" noChangeAspect="1" noMove="1" noResize="1" noEditPoints="1" noAdjustHandles="1" noChangeArrowheads="1" noChangeShapeType="1" noTextEdit="1"/>
              </p:cNvSpPr>
              <p:nvPr/>
            </p:nvSpPr>
            <p:spPr>
              <a:xfrm>
                <a:off x="1516954" y="3221029"/>
                <a:ext cx="893237" cy="307777"/>
              </a:xfrm>
              <a:prstGeom prst="rect">
                <a:avLst/>
              </a:prstGeom>
              <a:blipFill>
                <a:blip r:embed="rId10"/>
                <a:stretch>
                  <a:fillRect/>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DCB550CC-9A3B-A315-497E-91C5258DE595}"/>
              </a:ext>
            </a:extLst>
          </p:cNvPr>
          <p:cNvSpPr txBox="1"/>
          <p:nvPr/>
        </p:nvSpPr>
        <p:spPr>
          <a:xfrm rot="5400000">
            <a:off x="1856436" y="2793352"/>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C7FE4417-81DC-CB91-7D14-32D64BDC76B6}"/>
                  </a:ext>
                </a:extLst>
              </p:cNvPr>
              <p:cNvSpPr txBox="1"/>
              <p:nvPr/>
            </p:nvSpPr>
            <p:spPr>
              <a:xfrm>
                <a:off x="1518893" y="232911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31</m:t>
                          </m:r>
                        </m:sub>
                      </m:sSub>
                    </m:oMath>
                  </m:oMathPara>
                </a14:m>
                <a:endParaRPr lang="en-US" sz="1400" dirty="0">
                  <a:solidFill>
                    <a:schemeClr val="bg1">
                      <a:lumMod val="95000"/>
                    </a:schemeClr>
                  </a:solidFill>
                </a:endParaRPr>
              </a:p>
            </p:txBody>
          </p:sp>
        </mc:Choice>
        <mc:Fallback xmlns="">
          <p:sp>
            <p:nvSpPr>
              <p:cNvPr id="86" name="TextBox 85">
                <a:extLst>
                  <a:ext uri="{FF2B5EF4-FFF2-40B4-BE49-F238E27FC236}">
                    <a16:creationId xmlns:a16="http://schemas.microsoft.com/office/drawing/2014/main" id="{C7FE4417-81DC-CB91-7D14-32D64BDC76B6}"/>
                  </a:ext>
                </a:extLst>
              </p:cNvPr>
              <p:cNvSpPr txBox="1">
                <a:spLocks noRot="1" noChangeAspect="1" noMove="1" noResize="1" noEditPoints="1" noAdjustHandles="1" noChangeArrowheads="1" noChangeShapeType="1" noTextEdit="1"/>
              </p:cNvSpPr>
              <p:nvPr/>
            </p:nvSpPr>
            <p:spPr>
              <a:xfrm>
                <a:off x="1518893" y="2329113"/>
                <a:ext cx="893237"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5FAC5257-F963-9CA7-2E87-562285DD2840}"/>
                  </a:ext>
                </a:extLst>
              </p:cNvPr>
              <p:cNvSpPr txBox="1"/>
              <p:nvPr/>
            </p:nvSpPr>
            <p:spPr>
              <a:xfrm>
                <a:off x="3199052" y="2426295"/>
                <a:ext cx="670764"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smtClean="0">
                              <a:solidFill>
                                <a:schemeClr val="tx1"/>
                              </a:solidFill>
                              <a:latin typeface="Cambria Math" panose="02040503050406030204" pitchFamily="18" charset="0"/>
                              <a:ea typeface="Cambria Math" panose="02040503050406030204" pitchFamily="18" charset="0"/>
                            </a:rPr>
                            <m:t>𝜀</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111" name="TextBox 110">
                <a:extLst>
                  <a:ext uri="{FF2B5EF4-FFF2-40B4-BE49-F238E27FC236}">
                    <a16:creationId xmlns:a16="http://schemas.microsoft.com/office/drawing/2014/main" id="{5FAC5257-F963-9CA7-2E87-562285DD2840}"/>
                  </a:ext>
                </a:extLst>
              </p:cNvPr>
              <p:cNvSpPr txBox="1">
                <a:spLocks noRot="1" noChangeAspect="1" noMove="1" noResize="1" noEditPoints="1" noAdjustHandles="1" noChangeArrowheads="1" noChangeShapeType="1" noTextEdit="1"/>
              </p:cNvSpPr>
              <p:nvPr/>
            </p:nvSpPr>
            <p:spPr>
              <a:xfrm>
                <a:off x="3199052" y="2426295"/>
                <a:ext cx="670764" cy="369332"/>
              </a:xfrm>
              <a:prstGeom prst="rect">
                <a:avLst/>
              </a:prstGeom>
              <a:blipFill>
                <a:blip r:embed="rId12"/>
                <a:stretch>
                  <a:fillRect/>
                </a:stretch>
              </a:blipFill>
            </p:spPr>
            <p:txBody>
              <a:bodyPr/>
              <a:lstStyle/>
              <a:p>
                <a:r>
                  <a:rPr lang="en-US">
                    <a:noFill/>
                  </a:rPr>
                  <a:t> </a:t>
                </a:r>
              </a:p>
            </p:txBody>
          </p:sp>
        </mc:Fallback>
      </mc:AlternateContent>
      <p:sp>
        <p:nvSpPr>
          <p:cNvPr id="113" name="TextBox 112">
            <a:extLst>
              <a:ext uri="{FF2B5EF4-FFF2-40B4-BE49-F238E27FC236}">
                <a16:creationId xmlns:a16="http://schemas.microsoft.com/office/drawing/2014/main" id="{1B2DF2C8-FB91-C7BC-A0B6-36ACD958AC54}"/>
              </a:ext>
            </a:extLst>
          </p:cNvPr>
          <p:cNvSpPr txBox="1"/>
          <p:nvPr/>
        </p:nvSpPr>
        <p:spPr>
          <a:xfrm>
            <a:off x="304799" y="7745462"/>
            <a:ext cx="3965623" cy="738664"/>
          </a:xfrm>
          <a:prstGeom prst="rect">
            <a:avLst/>
          </a:prstGeom>
          <a:noFill/>
        </p:spPr>
        <p:txBody>
          <a:bodyPr wrap="square" rtlCol="0">
            <a:spAutoFit/>
          </a:bodyPr>
          <a:lstStyle/>
          <a:p>
            <a:pPr algn="ctr"/>
            <a:r>
              <a:rPr lang="en-US" sz="1400" b="1" dirty="0"/>
              <a:t>Perfect conditioning</a:t>
            </a:r>
            <a:r>
              <a:rPr lang="en-US" sz="1100" b="1" dirty="0"/>
              <a:t> -&gt; </a:t>
            </a:r>
            <a:r>
              <a:rPr lang="en-US" sz="1400" b="1" dirty="0"/>
              <a:t>Fixed effects</a:t>
            </a:r>
          </a:p>
          <a:p>
            <a:pPr marL="174625" indent="-117475">
              <a:buFont typeface="Arial" panose="020B0604020202020204" pitchFamily="34" charset="0"/>
              <a:buChar char="•"/>
            </a:pPr>
            <a:r>
              <a:rPr lang="en-US" sz="1400" i="1" dirty="0"/>
              <a:t>Pros</a:t>
            </a:r>
            <a:r>
              <a:rPr lang="en-US" sz="1400" dirty="0"/>
              <a:t>: ideal, simple</a:t>
            </a:r>
          </a:p>
          <a:p>
            <a:pPr marL="174625" indent="-117475">
              <a:buFont typeface="Arial" panose="020B0604020202020204" pitchFamily="34" charset="0"/>
              <a:buChar char="•"/>
            </a:pPr>
            <a:r>
              <a:rPr lang="en-US" sz="1400" i="1" dirty="0"/>
              <a:t>Cons</a:t>
            </a:r>
            <a:r>
              <a:rPr lang="en-US" sz="1400" dirty="0"/>
              <a:t>: not realistic, especially for polygenic traits</a:t>
            </a:r>
          </a:p>
        </p:txBody>
      </p:sp>
      <p:sp>
        <p:nvSpPr>
          <p:cNvPr id="114" name="TextBox 113">
            <a:extLst>
              <a:ext uri="{FF2B5EF4-FFF2-40B4-BE49-F238E27FC236}">
                <a16:creationId xmlns:a16="http://schemas.microsoft.com/office/drawing/2014/main" id="{6AF2F604-EF08-5B3D-5DFC-1EC834B9B0C8}"/>
              </a:ext>
            </a:extLst>
          </p:cNvPr>
          <p:cNvSpPr txBox="1"/>
          <p:nvPr/>
        </p:nvSpPr>
        <p:spPr>
          <a:xfrm>
            <a:off x="3969007" y="7733576"/>
            <a:ext cx="4870194" cy="738664"/>
          </a:xfrm>
          <a:prstGeom prst="rect">
            <a:avLst/>
          </a:prstGeom>
          <a:noFill/>
        </p:spPr>
        <p:txBody>
          <a:bodyPr wrap="square" rtlCol="0">
            <a:spAutoFit/>
          </a:bodyPr>
          <a:lstStyle/>
          <a:p>
            <a:pPr algn="ctr"/>
            <a:r>
              <a:rPr lang="en-US" sz="1400" b="1" dirty="0"/>
              <a:t>Incomplete conditioning</a:t>
            </a:r>
            <a:r>
              <a:rPr lang="en-US" sz="1100" b="1" dirty="0"/>
              <a:t> -&gt; </a:t>
            </a:r>
            <a:r>
              <a:rPr lang="en-US" sz="1400" b="1" dirty="0"/>
              <a:t>Random effects</a:t>
            </a:r>
          </a:p>
          <a:p>
            <a:pPr marL="523875" indent="-117475">
              <a:buFont typeface="Arial" panose="020B0604020202020204" pitchFamily="34" charset="0"/>
              <a:buChar char="•"/>
            </a:pPr>
            <a:r>
              <a:rPr lang="en-US" sz="1400" i="1" dirty="0"/>
              <a:t>Pros</a:t>
            </a:r>
            <a:r>
              <a:rPr lang="en-US" sz="1400" dirty="0"/>
              <a:t>: Realistic for complex traits, models uncertainty</a:t>
            </a:r>
          </a:p>
          <a:p>
            <a:pPr marL="523875" indent="-117475">
              <a:buFont typeface="Arial" panose="020B0604020202020204" pitchFamily="34" charset="0"/>
              <a:buChar char="•"/>
            </a:pPr>
            <a:r>
              <a:rPr lang="en-US" sz="1400" i="1" dirty="0"/>
              <a:t>Cons</a:t>
            </a:r>
            <a:r>
              <a:rPr lang="en-US" sz="1400" dirty="0"/>
              <a:t>: more complex to interpret</a:t>
            </a:r>
          </a:p>
        </p:txBody>
      </p:sp>
      <p:sp>
        <p:nvSpPr>
          <p:cNvPr id="2" name="Rounded Rectangle 1">
            <a:extLst>
              <a:ext uri="{FF2B5EF4-FFF2-40B4-BE49-F238E27FC236}">
                <a16:creationId xmlns:a16="http://schemas.microsoft.com/office/drawing/2014/main" id="{2EC90493-4D29-8E66-4940-B8288F7698E0}"/>
              </a:ext>
            </a:extLst>
          </p:cNvPr>
          <p:cNvSpPr/>
          <p:nvPr/>
        </p:nvSpPr>
        <p:spPr>
          <a:xfrm>
            <a:off x="5063991" y="1714795"/>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TextBox 4">
            <a:extLst>
              <a:ext uri="{FF2B5EF4-FFF2-40B4-BE49-F238E27FC236}">
                <a16:creationId xmlns:a16="http://schemas.microsoft.com/office/drawing/2014/main" id="{65B3C74D-C52C-2F44-435E-2FA8146EE130}"/>
              </a:ext>
            </a:extLst>
          </p:cNvPr>
          <p:cNvSpPr txBox="1"/>
          <p:nvPr/>
        </p:nvSpPr>
        <p:spPr>
          <a:xfrm>
            <a:off x="5503741" y="2458489"/>
            <a:ext cx="300082" cy="369332"/>
          </a:xfrm>
          <a:prstGeom prst="rect">
            <a:avLst/>
          </a:prstGeom>
          <a:noFill/>
        </p:spPr>
        <p:txBody>
          <a:bodyPr wrap="none" rtlCol="0">
            <a:spAutoFit/>
          </a:bodyPr>
          <a:lstStyle/>
          <a:p>
            <a:r>
              <a:rPr lang="en-US" dirty="0"/>
              <a:t>=</a:t>
            </a:r>
          </a:p>
        </p:txBody>
      </p:sp>
      <p:sp>
        <p:nvSpPr>
          <p:cNvPr id="6" name="Rounded Rectangle 5">
            <a:extLst>
              <a:ext uri="{FF2B5EF4-FFF2-40B4-BE49-F238E27FC236}">
                <a16:creationId xmlns:a16="http://schemas.microsoft.com/office/drawing/2014/main" id="{71F9D3EB-9A34-744B-1C2E-7A17567DCF75}"/>
              </a:ext>
            </a:extLst>
          </p:cNvPr>
          <p:cNvSpPr/>
          <p:nvPr/>
        </p:nvSpPr>
        <p:spPr>
          <a:xfrm>
            <a:off x="6013226" y="1714795"/>
            <a:ext cx="286187" cy="1856721"/>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ounded Rectangle 7">
            <a:extLst>
              <a:ext uri="{FF2B5EF4-FFF2-40B4-BE49-F238E27FC236}">
                <a16:creationId xmlns:a16="http://schemas.microsoft.com/office/drawing/2014/main" id="{A35A583F-7A55-0B87-5F4C-FF47C7FE612B}"/>
              </a:ext>
            </a:extLst>
          </p:cNvPr>
          <p:cNvSpPr/>
          <p:nvPr/>
        </p:nvSpPr>
        <p:spPr>
          <a:xfrm>
            <a:off x="7570435" y="1714148"/>
            <a:ext cx="286187" cy="1856721"/>
          </a:xfrm>
          <a:prstGeom prst="round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TextBox 10">
            <a:extLst>
              <a:ext uri="{FF2B5EF4-FFF2-40B4-BE49-F238E27FC236}">
                <a16:creationId xmlns:a16="http://schemas.microsoft.com/office/drawing/2014/main" id="{E1E6B845-C889-8383-EC1F-F89DDF1ACB95}"/>
              </a:ext>
            </a:extLst>
          </p:cNvPr>
          <p:cNvSpPr txBox="1"/>
          <p:nvPr/>
        </p:nvSpPr>
        <p:spPr>
          <a:xfrm>
            <a:off x="7174430" y="2458488"/>
            <a:ext cx="300082"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DC57AFC-C848-171E-980E-9D64435177BF}"/>
                  </a:ext>
                </a:extLst>
              </p:cNvPr>
              <p:cNvSpPr txBox="1"/>
              <p:nvPr/>
            </p:nvSpPr>
            <p:spPr>
              <a:xfrm>
                <a:off x="5053302" y="3681712"/>
                <a:ext cx="450439"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Trait</a:t>
                </a:r>
              </a:p>
            </p:txBody>
          </p:sp>
        </mc:Choice>
        <mc:Fallback xmlns="">
          <p:sp>
            <p:nvSpPr>
              <p:cNvPr id="22" name="TextBox 21">
                <a:extLst>
                  <a:ext uri="{FF2B5EF4-FFF2-40B4-BE49-F238E27FC236}">
                    <a16:creationId xmlns:a16="http://schemas.microsoft.com/office/drawing/2014/main" id="{8DC57AFC-C848-171E-980E-9D64435177BF}"/>
                  </a:ext>
                </a:extLst>
              </p:cNvPr>
              <p:cNvSpPr txBox="1">
                <a:spLocks noRot="1" noChangeAspect="1" noMove="1" noResize="1" noEditPoints="1" noAdjustHandles="1" noChangeArrowheads="1" noChangeShapeType="1" noTextEdit="1"/>
              </p:cNvSpPr>
              <p:nvPr/>
            </p:nvSpPr>
            <p:spPr>
              <a:xfrm>
                <a:off x="5053302" y="3681712"/>
                <a:ext cx="450439" cy="400110"/>
              </a:xfrm>
              <a:prstGeom prst="rect">
                <a:avLst/>
              </a:prstGeom>
              <a:blipFill>
                <a:blip r:embed="rId13"/>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6C805AD-02AC-13BE-AD57-7D21E1818DB8}"/>
                  </a:ext>
                </a:extLst>
              </p:cNvPr>
              <p:cNvSpPr txBox="1"/>
              <p:nvPr/>
            </p:nvSpPr>
            <p:spPr>
              <a:xfrm>
                <a:off x="5700755" y="3681712"/>
                <a:ext cx="745310"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i="1">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Genotype</a:t>
                </a:r>
              </a:p>
            </p:txBody>
          </p:sp>
        </mc:Choice>
        <mc:Fallback xmlns="">
          <p:sp>
            <p:nvSpPr>
              <p:cNvPr id="29" name="TextBox 28">
                <a:extLst>
                  <a:ext uri="{FF2B5EF4-FFF2-40B4-BE49-F238E27FC236}">
                    <a16:creationId xmlns:a16="http://schemas.microsoft.com/office/drawing/2014/main" id="{26C805AD-02AC-13BE-AD57-7D21E1818DB8}"/>
                  </a:ext>
                </a:extLst>
              </p:cNvPr>
              <p:cNvSpPr txBox="1">
                <a:spLocks noRot="1" noChangeAspect="1" noMove="1" noResize="1" noEditPoints="1" noAdjustHandles="1" noChangeArrowheads="1" noChangeShapeType="1" noTextEdit="1"/>
              </p:cNvSpPr>
              <p:nvPr/>
            </p:nvSpPr>
            <p:spPr>
              <a:xfrm>
                <a:off x="5700755" y="3681712"/>
                <a:ext cx="745310" cy="400110"/>
              </a:xfrm>
              <a:prstGeom prst="rect">
                <a:avLst/>
              </a:prstGeom>
              <a:blipFill>
                <a:blip r:embed="rId14"/>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08DC25F-7B4A-640D-F2C1-2CA15777E6E7}"/>
                  </a:ext>
                </a:extLst>
              </p:cNvPr>
              <p:cNvSpPr txBox="1"/>
              <p:nvPr/>
            </p:nvSpPr>
            <p:spPr>
              <a:xfrm>
                <a:off x="7394333" y="3681712"/>
                <a:ext cx="745310"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𝑁</m:t>
                      </m:r>
                      <m:r>
                        <a:rPr lang="en-US" sz="1000" b="0" i="1" smtClean="0">
                          <a:latin typeface="Cambria Math" panose="02040503050406030204" pitchFamily="18" charset="0"/>
                          <a:ea typeface="Cambria Math" panose="02040503050406030204" pitchFamily="18" charset="0"/>
                        </a:rPr>
                        <m:t>×1</m:t>
                      </m:r>
                    </m:oMath>
                  </m:oMathPara>
                </a14:m>
                <a:endParaRPr lang="en-US" sz="1000" b="0" dirty="0">
                  <a:ea typeface="Cambria Math" panose="02040503050406030204" pitchFamily="18" charset="0"/>
                </a:endParaRPr>
              </a:p>
              <a:p>
                <a:pPr algn="ctr"/>
                <a:r>
                  <a:rPr lang="en-US" sz="1000" dirty="0"/>
                  <a:t>Error</a:t>
                </a:r>
              </a:p>
            </p:txBody>
          </p:sp>
        </mc:Choice>
        <mc:Fallback xmlns="">
          <p:sp>
            <p:nvSpPr>
              <p:cNvPr id="31" name="TextBox 30">
                <a:extLst>
                  <a:ext uri="{FF2B5EF4-FFF2-40B4-BE49-F238E27FC236}">
                    <a16:creationId xmlns:a16="http://schemas.microsoft.com/office/drawing/2014/main" id="{408DC25F-7B4A-640D-F2C1-2CA15777E6E7}"/>
                  </a:ext>
                </a:extLst>
              </p:cNvPr>
              <p:cNvSpPr txBox="1">
                <a:spLocks noRot="1" noChangeAspect="1" noMove="1" noResize="1" noEditPoints="1" noAdjustHandles="1" noChangeArrowheads="1" noChangeShapeType="1" noTextEdit="1"/>
              </p:cNvSpPr>
              <p:nvPr/>
            </p:nvSpPr>
            <p:spPr>
              <a:xfrm>
                <a:off x="7394333" y="3681712"/>
                <a:ext cx="745310" cy="400110"/>
              </a:xfrm>
              <a:prstGeom prst="rect">
                <a:avLst/>
              </a:prstGeom>
              <a:blipFill>
                <a:blip r:embed="rId15"/>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996417F-78C5-7D44-6877-8A958E7E7303}"/>
                  </a:ext>
                </a:extLst>
              </p:cNvPr>
              <p:cNvSpPr txBox="1"/>
              <p:nvPr/>
            </p:nvSpPr>
            <p:spPr>
              <a:xfrm>
                <a:off x="5727963" y="170019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11</m:t>
                          </m:r>
                        </m:sub>
                      </m:sSub>
                    </m:oMath>
                  </m:oMathPara>
                </a14:m>
                <a:endParaRPr lang="en-US" sz="1400" dirty="0">
                  <a:solidFill>
                    <a:schemeClr val="bg1">
                      <a:lumMod val="95000"/>
                    </a:schemeClr>
                  </a:solidFill>
                </a:endParaRPr>
              </a:p>
            </p:txBody>
          </p:sp>
        </mc:Choice>
        <mc:Fallback xmlns="">
          <p:sp>
            <p:nvSpPr>
              <p:cNvPr id="33" name="TextBox 32">
                <a:extLst>
                  <a:ext uri="{FF2B5EF4-FFF2-40B4-BE49-F238E27FC236}">
                    <a16:creationId xmlns:a16="http://schemas.microsoft.com/office/drawing/2014/main" id="{3996417F-78C5-7D44-6877-8A958E7E7303}"/>
                  </a:ext>
                </a:extLst>
              </p:cNvPr>
              <p:cNvSpPr txBox="1">
                <a:spLocks noRot="1" noChangeAspect="1" noMove="1" noResize="1" noEditPoints="1" noAdjustHandles="1" noChangeArrowheads="1" noChangeShapeType="1" noTextEdit="1"/>
              </p:cNvSpPr>
              <p:nvPr/>
            </p:nvSpPr>
            <p:spPr>
              <a:xfrm>
                <a:off x="5727963" y="1700190"/>
                <a:ext cx="893237" cy="307777"/>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6F41DFB-FE32-9B89-90F2-8A5EBE1DB853}"/>
                  </a:ext>
                </a:extLst>
              </p:cNvPr>
              <p:cNvSpPr txBox="1"/>
              <p:nvPr/>
            </p:nvSpPr>
            <p:spPr>
              <a:xfrm>
                <a:off x="4926138" y="2470598"/>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5" name="TextBox 34">
                <a:extLst>
                  <a:ext uri="{FF2B5EF4-FFF2-40B4-BE49-F238E27FC236}">
                    <a16:creationId xmlns:a16="http://schemas.microsoft.com/office/drawing/2014/main" id="{D6F41DFB-FE32-9B89-90F2-8A5EBE1DB853}"/>
                  </a:ext>
                </a:extLst>
              </p:cNvPr>
              <p:cNvSpPr txBox="1">
                <a:spLocks noRot="1" noChangeAspect="1" noMove="1" noResize="1" noEditPoints="1" noAdjustHandles="1" noChangeArrowheads="1" noChangeShapeType="1" noTextEdit="1"/>
              </p:cNvSpPr>
              <p:nvPr/>
            </p:nvSpPr>
            <p:spPr>
              <a:xfrm>
                <a:off x="4926138" y="2470598"/>
                <a:ext cx="592422"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F6BC494-702D-EF74-62AA-2E8A4B9CFF13}"/>
                  </a:ext>
                </a:extLst>
              </p:cNvPr>
              <p:cNvSpPr txBox="1"/>
              <p:nvPr/>
            </p:nvSpPr>
            <p:spPr>
              <a:xfrm>
                <a:off x="6222326" y="2460102"/>
                <a:ext cx="5965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7" name="TextBox 36">
                <a:extLst>
                  <a:ext uri="{FF2B5EF4-FFF2-40B4-BE49-F238E27FC236}">
                    <a16:creationId xmlns:a16="http://schemas.microsoft.com/office/drawing/2014/main" id="{3F6BC494-702D-EF74-62AA-2E8A4B9CFF13}"/>
                  </a:ext>
                </a:extLst>
              </p:cNvPr>
              <p:cNvSpPr txBox="1">
                <a:spLocks noRot="1" noChangeAspect="1" noMove="1" noResize="1" noEditPoints="1" noAdjustHandles="1" noChangeArrowheads="1" noChangeShapeType="1" noTextEdit="1"/>
              </p:cNvSpPr>
              <p:nvPr/>
            </p:nvSpPr>
            <p:spPr>
              <a:xfrm>
                <a:off x="6222326" y="2460102"/>
                <a:ext cx="596578" cy="369332"/>
              </a:xfrm>
              <a:prstGeom prst="rect">
                <a:avLst/>
              </a:prstGeom>
              <a:blipFill>
                <a:blip r:embed="rId18"/>
                <a:stretch>
                  <a:fillRect/>
                </a:stretch>
              </a:blipFill>
            </p:spPr>
            <p:txBody>
              <a:bodyPr/>
              <a:lstStyle/>
              <a:p>
                <a:r>
                  <a:rPr lang="en-US">
                    <a:noFill/>
                  </a:rPr>
                  <a:t> </a:t>
                </a:r>
              </a:p>
            </p:txBody>
          </p:sp>
        </mc:Fallback>
      </mc:AlternateContent>
      <p:sp>
        <p:nvSpPr>
          <p:cNvPr id="38" name="Rounded Rectangle 37">
            <a:extLst>
              <a:ext uri="{FF2B5EF4-FFF2-40B4-BE49-F238E27FC236}">
                <a16:creationId xmlns:a16="http://schemas.microsoft.com/office/drawing/2014/main" id="{A162EB54-FB35-BAD1-9A80-AC99257C71D4}"/>
              </a:ext>
            </a:extLst>
          </p:cNvPr>
          <p:cNvSpPr/>
          <p:nvPr/>
        </p:nvSpPr>
        <p:spPr>
          <a:xfrm>
            <a:off x="6702392" y="2470598"/>
            <a:ext cx="405922" cy="369332"/>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3CC1A0A-D54F-20DF-9728-FB599DFAC312}"/>
                  </a:ext>
                </a:extLst>
              </p:cNvPr>
              <p:cNvSpPr txBox="1"/>
              <p:nvPr/>
            </p:nvSpPr>
            <p:spPr>
              <a:xfrm>
                <a:off x="6600313" y="2461831"/>
                <a:ext cx="629027" cy="3798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ea typeface="Cambria Math" panose="02040503050406030204" pitchFamily="18" charset="0"/>
                            </a:rPr>
                            <m:t>1</m:t>
                          </m:r>
                        </m:sub>
                      </m:sSub>
                    </m:oMath>
                  </m:oMathPara>
                </a14:m>
                <a:endParaRPr lang="en-US" dirty="0"/>
              </a:p>
            </p:txBody>
          </p:sp>
        </mc:Choice>
        <mc:Fallback xmlns="">
          <p:sp>
            <p:nvSpPr>
              <p:cNvPr id="39" name="TextBox 38">
                <a:extLst>
                  <a:ext uri="{FF2B5EF4-FFF2-40B4-BE49-F238E27FC236}">
                    <a16:creationId xmlns:a16="http://schemas.microsoft.com/office/drawing/2014/main" id="{83CC1A0A-D54F-20DF-9728-FB599DFAC312}"/>
                  </a:ext>
                </a:extLst>
              </p:cNvPr>
              <p:cNvSpPr txBox="1">
                <a:spLocks noRot="1" noChangeAspect="1" noMove="1" noResize="1" noEditPoints="1" noAdjustHandles="1" noChangeArrowheads="1" noChangeShapeType="1" noTextEdit="1"/>
              </p:cNvSpPr>
              <p:nvPr/>
            </p:nvSpPr>
            <p:spPr>
              <a:xfrm>
                <a:off x="6600313" y="2461831"/>
                <a:ext cx="629027" cy="379843"/>
              </a:xfrm>
              <a:prstGeom prst="rect">
                <a:avLst/>
              </a:prstGeom>
              <a:blipFill>
                <a:blip r:embed="rId19"/>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3D8F71B-5626-70DC-7C98-F80894C1E72A}"/>
                  </a:ext>
                </a:extLst>
              </p:cNvPr>
              <p:cNvSpPr txBox="1"/>
              <p:nvPr/>
            </p:nvSpPr>
            <p:spPr>
              <a:xfrm>
                <a:off x="5727962" y="204459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21</m:t>
                          </m:r>
                        </m:sub>
                      </m:sSub>
                    </m:oMath>
                  </m:oMathPara>
                </a14:m>
                <a:endParaRPr lang="en-US" sz="1400" dirty="0">
                  <a:solidFill>
                    <a:schemeClr val="bg1">
                      <a:lumMod val="95000"/>
                    </a:schemeClr>
                  </a:solidFill>
                </a:endParaRPr>
              </a:p>
            </p:txBody>
          </p:sp>
        </mc:Choice>
        <mc:Fallback xmlns="">
          <p:sp>
            <p:nvSpPr>
              <p:cNvPr id="40" name="TextBox 39">
                <a:extLst>
                  <a:ext uri="{FF2B5EF4-FFF2-40B4-BE49-F238E27FC236}">
                    <a16:creationId xmlns:a16="http://schemas.microsoft.com/office/drawing/2014/main" id="{63D8F71B-5626-70DC-7C98-F80894C1E72A}"/>
                  </a:ext>
                </a:extLst>
              </p:cNvPr>
              <p:cNvSpPr txBox="1">
                <a:spLocks noRot="1" noChangeAspect="1" noMove="1" noResize="1" noEditPoints="1" noAdjustHandles="1" noChangeArrowheads="1" noChangeShapeType="1" noTextEdit="1"/>
              </p:cNvSpPr>
              <p:nvPr/>
            </p:nvSpPr>
            <p:spPr>
              <a:xfrm>
                <a:off x="5727962" y="2044593"/>
                <a:ext cx="893237" cy="307777"/>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344B024-3163-601A-EC1B-42874B644F74}"/>
                  </a:ext>
                </a:extLst>
              </p:cNvPr>
              <p:cNvSpPr txBox="1"/>
              <p:nvPr/>
            </p:nvSpPr>
            <p:spPr>
              <a:xfrm>
                <a:off x="5727963" y="3221029"/>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𝑁</m:t>
                          </m:r>
                          <m:r>
                            <a:rPr lang="en-US" sz="1400" b="0" i="1" smtClean="0">
                              <a:solidFill>
                                <a:schemeClr val="bg1">
                                  <a:lumMod val="95000"/>
                                </a:schemeClr>
                              </a:solidFill>
                              <a:latin typeface="Cambria Math" panose="02040503050406030204" pitchFamily="18" charset="0"/>
                            </a:rPr>
                            <m:t>1</m:t>
                          </m:r>
                        </m:sub>
                      </m:sSub>
                    </m:oMath>
                  </m:oMathPara>
                </a14:m>
                <a:endParaRPr lang="en-US" sz="1400" dirty="0">
                  <a:solidFill>
                    <a:schemeClr val="bg1">
                      <a:lumMod val="95000"/>
                    </a:schemeClr>
                  </a:solidFill>
                </a:endParaRPr>
              </a:p>
            </p:txBody>
          </p:sp>
        </mc:Choice>
        <mc:Fallback xmlns="">
          <p:sp>
            <p:nvSpPr>
              <p:cNvPr id="41" name="TextBox 40">
                <a:extLst>
                  <a:ext uri="{FF2B5EF4-FFF2-40B4-BE49-F238E27FC236}">
                    <a16:creationId xmlns:a16="http://schemas.microsoft.com/office/drawing/2014/main" id="{F344B024-3163-601A-EC1B-42874B644F74}"/>
                  </a:ext>
                </a:extLst>
              </p:cNvPr>
              <p:cNvSpPr txBox="1">
                <a:spLocks noRot="1" noChangeAspect="1" noMove="1" noResize="1" noEditPoints="1" noAdjustHandles="1" noChangeArrowheads="1" noChangeShapeType="1" noTextEdit="1"/>
              </p:cNvSpPr>
              <p:nvPr/>
            </p:nvSpPr>
            <p:spPr>
              <a:xfrm>
                <a:off x="5727963" y="3221029"/>
                <a:ext cx="893237" cy="307777"/>
              </a:xfrm>
              <a:prstGeom prst="rect">
                <a:avLst/>
              </a:prstGeom>
              <a:blipFill>
                <a:blip r:embed="rId21"/>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3BC489A1-AFE8-4A70-2825-C296FCAB673A}"/>
              </a:ext>
            </a:extLst>
          </p:cNvPr>
          <p:cNvSpPr txBox="1"/>
          <p:nvPr/>
        </p:nvSpPr>
        <p:spPr>
          <a:xfrm rot="5400000">
            <a:off x="6067445" y="2793352"/>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499E3E1-BBE7-32CB-B95E-A3206289F128}"/>
                  </a:ext>
                </a:extLst>
              </p:cNvPr>
              <p:cNvSpPr txBox="1"/>
              <p:nvPr/>
            </p:nvSpPr>
            <p:spPr>
              <a:xfrm>
                <a:off x="5729902" y="232911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31</m:t>
                          </m:r>
                        </m:sub>
                      </m:sSub>
                    </m:oMath>
                  </m:oMathPara>
                </a14:m>
                <a:endParaRPr lang="en-US" sz="1400" dirty="0">
                  <a:solidFill>
                    <a:schemeClr val="bg1">
                      <a:lumMod val="95000"/>
                    </a:schemeClr>
                  </a:solidFill>
                </a:endParaRPr>
              </a:p>
            </p:txBody>
          </p:sp>
        </mc:Choice>
        <mc:Fallback xmlns="">
          <p:sp>
            <p:nvSpPr>
              <p:cNvPr id="44" name="TextBox 43">
                <a:extLst>
                  <a:ext uri="{FF2B5EF4-FFF2-40B4-BE49-F238E27FC236}">
                    <a16:creationId xmlns:a16="http://schemas.microsoft.com/office/drawing/2014/main" id="{F499E3E1-BBE7-32CB-B95E-A3206289F128}"/>
                  </a:ext>
                </a:extLst>
              </p:cNvPr>
              <p:cNvSpPr txBox="1">
                <a:spLocks noRot="1" noChangeAspect="1" noMove="1" noResize="1" noEditPoints="1" noAdjustHandles="1" noChangeArrowheads="1" noChangeShapeType="1" noTextEdit="1"/>
              </p:cNvSpPr>
              <p:nvPr/>
            </p:nvSpPr>
            <p:spPr>
              <a:xfrm>
                <a:off x="5729902" y="2329113"/>
                <a:ext cx="893237" cy="307777"/>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55DC869-622F-8F49-66B0-4C9E2353E1BA}"/>
                  </a:ext>
                </a:extLst>
              </p:cNvPr>
              <p:cNvSpPr txBox="1"/>
              <p:nvPr/>
            </p:nvSpPr>
            <p:spPr>
              <a:xfrm>
                <a:off x="7373248" y="2444634"/>
                <a:ext cx="787480"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smtClean="0">
                              <a:solidFill>
                                <a:schemeClr val="tx1"/>
                              </a:solidFill>
                              <a:latin typeface="Cambria Math" panose="02040503050406030204" pitchFamily="18" charset="0"/>
                              <a:ea typeface="Cambria Math" panose="02040503050406030204" pitchFamily="18" charset="0"/>
                            </a:rPr>
                            <m:t>𝜀</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61" name="TextBox 60">
                <a:extLst>
                  <a:ext uri="{FF2B5EF4-FFF2-40B4-BE49-F238E27FC236}">
                    <a16:creationId xmlns:a16="http://schemas.microsoft.com/office/drawing/2014/main" id="{255DC869-622F-8F49-66B0-4C9E2353E1BA}"/>
                  </a:ext>
                </a:extLst>
              </p:cNvPr>
              <p:cNvSpPr txBox="1">
                <a:spLocks noRot="1" noChangeAspect="1" noMove="1" noResize="1" noEditPoints="1" noAdjustHandles="1" noChangeArrowheads="1" noChangeShapeType="1" noTextEdit="1"/>
              </p:cNvSpPr>
              <p:nvPr/>
            </p:nvSpPr>
            <p:spPr>
              <a:xfrm>
                <a:off x="7373248" y="2444634"/>
                <a:ext cx="787480" cy="369332"/>
              </a:xfrm>
              <a:prstGeom prst="rect">
                <a:avLst/>
              </a:prstGeom>
              <a:blipFill>
                <a:blip r:embed="rId23"/>
                <a:stretch>
                  <a:fillRect/>
                </a:stretch>
              </a:blipFill>
            </p:spPr>
            <p:txBody>
              <a:bodyPr/>
              <a:lstStyle/>
              <a:p>
                <a:r>
                  <a:rPr lang="en-US">
                    <a:noFill/>
                  </a:rPr>
                  <a:t> </a:t>
                </a:r>
              </a:p>
            </p:txBody>
          </p:sp>
        </mc:Fallback>
      </mc:AlternateContent>
      <p:sp>
        <p:nvSpPr>
          <p:cNvPr id="62" name="Down Arrow 61">
            <a:extLst>
              <a:ext uri="{FF2B5EF4-FFF2-40B4-BE49-F238E27FC236}">
                <a16:creationId xmlns:a16="http://schemas.microsoft.com/office/drawing/2014/main" id="{E4B4C987-C7B8-888B-A570-74F232EE56D0}"/>
              </a:ext>
            </a:extLst>
          </p:cNvPr>
          <p:cNvSpPr/>
          <p:nvPr/>
        </p:nvSpPr>
        <p:spPr>
          <a:xfrm>
            <a:off x="2601773" y="2895986"/>
            <a:ext cx="197851" cy="1676014"/>
          </a:xfrm>
          <a:prstGeom prst="downArrow">
            <a:avLst/>
          </a:prstGeom>
          <a:solidFill>
            <a:schemeClr val="accent5">
              <a:lumMod val="40000"/>
              <a:lumOff val="60000"/>
            </a:schemeClr>
          </a:solidFill>
          <a:ln>
            <a:solidFill>
              <a:schemeClr val="accent5">
                <a:lumMod val="40000"/>
                <a:lumOff val="6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own Arrow 62">
            <a:extLst>
              <a:ext uri="{FF2B5EF4-FFF2-40B4-BE49-F238E27FC236}">
                <a16:creationId xmlns:a16="http://schemas.microsoft.com/office/drawing/2014/main" id="{19735FE1-F84C-22F6-553E-084D01236FDB}"/>
              </a:ext>
            </a:extLst>
          </p:cNvPr>
          <p:cNvSpPr/>
          <p:nvPr/>
        </p:nvSpPr>
        <p:spPr>
          <a:xfrm>
            <a:off x="6841671" y="2893311"/>
            <a:ext cx="160966" cy="1678689"/>
          </a:xfrm>
          <a:prstGeom prst="downArrow">
            <a:avLst/>
          </a:prstGeom>
          <a:solidFill>
            <a:schemeClr val="accent5">
              <a:lumMod val="40000"/>
              <a:lumOff val="60000"/>
            </a:schemeClr>
          </a:solidFill>
          <a:ln>
            <a:solidFill>
              <a:schemeClr val="accent5">
                <a:lumMod val="40000"/>
                <a:lumOff val="6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0AF1C20-B6E9-7955-BFD8-A40EDC4D7F3B}"/>
              </a:ext>
            </a:extLst>
          </p:cNvPr>
          <p:cNvPicPr>
            <a:picLocks noChangeAspect="1"/>
          </p:cNvPicPr>
          <p:nvPr/>
        </p:nvPicPr>
        <p:blipFill>
          <a:blip r:embed="rId24"/>
          <a:srcRect/>
          <a:stretch/>
        </p:blipFill>
        <p:spPr>
          <a:xfrm>
            <a:off x="446266" y="4682196"/>
            <a:ext cx="3657600" cy="2743200"/>
          </a:xfrm>
          <a:prstGeom prst="rect">
            <a:avLst/>
          </a:prstGeom>
        </p:spPr>
      </p:pic>
      <p:pic>
        <p:nvPicPr>
          <p:cNvPr id="13" name="Picture 12">
            <a:extLst>
              <a:ext uri="{FF2B5EF4-FFF2-40B4-BE49-F238E27FC236}">
                <a16:creationId xmlns:a16="http://schemas.microsoft.com/office/drawing/2014/main" id="{04A1FEEA-F010-B556-5A9A-164DFCFA3880}"/>
              </a:ext>
            </a:extLst>
          </p:cNvPr>
          <p:cNvPicPr>
            <a:picLocks noChangeAspect="1"/>
          </p:cNvPicPr>
          <p:nvPr/>
        </p:nvPicPr>
        <p:blipFill>
          <a:blip r:embed="rId25"/>
          <a:srcRect/>
          <a:stretch/>
        </p:blipFill>
        <p:spPr>
          <a:xfrm>
            <a:off x="4203931" y="4752247"/>
            <a:ext cx="4475988" cy="2685592"/>
          </a:xfrm>
          <a:prstGeom prst="rect">
            <a:avLst/>
          </a:prstGeom>
        </p:spPr>
      </p:pic>
    </p:spTree>
    <p:extLst>
      <p:ext uri="{BB962C8B-B14F-4D97-AF65-F5344CB8AC3E}">
        <p14:creationId xmlns:p14="http://schemas.microsoft.com/office/powerpoint/2010/main" val="101154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EBC06-24E9-8E73-5AAB-F5CFB6963B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22C7AA-7B47-FCA0-5399-E5BC82EE726A}"/>
              </a:ext>
            </a:extLst>
          </p:cNvPr>
          <p:cNvSpPr txBox="1"/>
          <p:nvPr/>
        </p:nvSpPr>
        <p:spPr>
          <a:xfrm>
            <a:off x="1500328" y="99254"/>
            <a:ext cx="6143344" cy="400110"/>
          </a:xfrm>
          <a:prstGeom prst="rect">
            <a:avLst/>
          </a:prstGeom>
          <a:noFill/>
        </p:spPr>
        <p:txBody>
          <a:bodyPr wrap="square" rtlCol="0" anchor="ctr">
            <a:spAutoFit/>
          </a:bodyPr>
          <a:lstStyle/>
          <a:p>
            <a:pPr algn="ctr"/>
            <a:r>
              <a:rPr lang="en-US" sz="2000" b="1" dirty="0"/>
              <a:t>Proportion of Variance Explain (PVE) and Heritability</a:t>
            </a:r>
          </a:p>
        </p:txBody>
      </p:sp>
      <p:sp>
        <p:nvSpPr>
          <p:cNvPr id="3" name="TextBox 2">
            <a:extLst>
              <a:ext uri="{FF2B5EF4-FFF2-40B4-BE49-F238E27FC236}">
                <a16:creationId xmlns:a16="http://schemas.microsoft.com/office/drawing/2014/main" id="{F44E5F7B-4907-086A-8830-FEE7C1F2F3AC}"/>
              </a:ext>
            </a:extLst>
          </p:cNvPr>
          <p:cNvSpPr txBox="1"/>
          <p:nvPr/>
        </p:nvSpPr>
        <p:spPr>
          <a:xfrm>
            <a:off x="1250327" y="607028"/>
            <a:ext cx="6643343" cy="523220"/>
          </a:xfrm>
          <a:prstGeom prst="rect">
            <a:avLst/>
          </a:prstGeom>
          <a:noFill/>
        </p:spPr>
        <p:txBody>
          <a:bodyPr wrap="square" rtlCol="0">
            <a:spAutoFit/>
          </a:bodyPr>
          <a:lstStyle/>
          <a:p>
            <a:pPr algn="ctr"/>
            <a:r>
              <a:rPr lang="en-US" sz="1400" dirty="0"/>
              <a:t>measures how much of the total variation in a trait (like height or disease risk) can be </a:t>
            </a:r>
            <a:r>
              <a:rPr lang="en-US" sz="1400" i="1" dirty="0"/>
              <a:t>attributed</a:t>
            </a:r>
            <a:r>
              <a:rPr lang="en-US" sz="1400" dirty="0"/>
              <a:t> to specific variables in the statistical model (e.g., genetic variants).</a:t>
            </a:r>
          </a:p>
        </p:txBody>
      </p:sp>
      <p:graphicFrame>
        <p:nvGraphicFramePr>
          <p:cNvPr id="11" name="Chart 10">
            <a:extLst>
              <a:ext uri="{FF2B5EF4-FFF2-40B4-BE49-F238E27FC236}">
                <a16:creationId xmlns:a16="http://schemas.microsoft.com/office/drawing/2014/main" id="{0F9A791B-7F7B-668B-9DED-A9AF0B2BF721}"/>
              </a:ext>
            </a:extLst>
          </p:cNvPr>
          <p:cNvGraphicFramePr/>
          <p:nvPr>
            <p:extLst>
              <p:ext uri="{D42A27DB-BD31-4B8C-83A1-F6EECF244321}">
                <p14:modId xmlns:p14="http://schemas.microsoft.com/office/powerpoint/2010/main" val="2844447023"/>
              </p:ext>
            </p:extLst>
          </p:nvPr>
        </p:nvGraphicFramePr>
        <p:xfrm>
          <a:off x="414997" y="1956528"/>
          <a:ext cx="8314005" cy="4583168"/>
        </p:xfrm>
        <a:graphic>
          <a:graphicData uri="http://schemas.openxmlformats.org/drawingml/2006/chart">
            <c:chart xmlns:c="http://schemas.openxmlformats.org/drawingml/2006/chart" xmlns:r="http://schemas.openxmlformats.org/officeDocument/2006/relationships" r:id="rId2"/>
          </a:graphicData>
        </a:graphic>
      </p:graphicFrame>
      <p:sp>
        <p:nvSpPr>
          <p:cNvPr id="12" name="Rounded Rectangle 11">
            <a:extLst>
              <a:ext uri="{FF2B5EF4-FFF2-40B4-BE49-F238E27FC236}">
                <a16:creationId xmlns:a16="http://schemas.microsoft.com/office/drawing/2014/main" id="{467A1F68-8AD2-66DB-0D41-6FB9AB51B458}"/>
              </a:ext>
            </a:extLst>
          </p:cNvPr>
          <p:cNvSpPr/>
          <p:nvPr/>
        </p:nvSpPr>
        <p:spPr>
          <a:xfrm>
            <a:off x="422031" y="6837329"/>
            <a:ext cx="8314006" cy="202887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E8C2D23-1525-EDB0-4F10-C67A6BFD1DE4}"/>
                  </a:ext>
                </a:extLst>
              </p:cNvPr>
              <p:cNvSpPr txBox="1"/>
              <p:nvPr/>
            </p:nvSpPr>
            <p:spPr>
              <a:xfrm>
                <a:off x="1250327" y="7101303"/>
                <a:ext cx="6643343" cy="1740989"/>
              </a:xfrm>
              <a:prstGeom prst="rect">
                <a:avLst/>
              </a:prstGeom>
              <a:noFill/>
            </p:spPr>
            <p:txBody>
              <a:bodyPr wrap="square" rtlCol="0" anchor="ctr">
                <a:spAutoFit/>
              </a:bodyPr>
              <a:lstStyle/>
              <a:p>
                <a:r>
                  <a:rPr lang="en-US" sz="1400" b="1" dirty="0"/>
                  <a:t>Phenotypic Variance </a:t>
                </a:r>
                <a:r>
                  <a:rPr lang="en-US" sz="1400" dirty="0"/>
                  <a:t>(assuming </a:t>
                </a:r>
                <a14:m>
                  <m:oMath xmlns:m="http://schemas.openxmlformats.org/officeDocument/2006/math">
                    <m:r>
                      <a:rPr lang="en-US" sz="1400" b="0" i="1">
                        <a:latin typeface="Cambria Math" panose="02040503050406030204" pitchFamily="18" charset="0"/>
                        <a:ea typeface="Cambria Math" panose="02040503050406030204" pitchFamily="18" charset="0"/>
                      </a:rPr>
                      <m:t>𝜀</m:t>
                    </m:r>
                    <m:r>
                      <a:rPr lang="en-US" sz="1400" b="0" i="1">
                        <a:latin typeface="Cambria Math" panose="02040503050406030204" pitchFamily="18" charset="0"/>
                        <a:ea typeface="Cambria Math" panose="02040503050406030204" pitchFamily="18" charset="0"/>
                      </a:rPr>
                      <m:t> </m:t>
                    </m:r>
                  </m:oMath>
                </a14:m>
                <a:r>
                  <a:rPr lang="en-US" sz="1400" dirty="0"/>
                  <a:t>is independent from G and E)</a:t>
                </a:r>
                <a:r>
                  <a:rPr lang="en-US" sz="1400" b="1" dirty="0"/>
                  <a:t>: </a:t>
                </a:r>
              </a:p>
              <a:p>
                <a:pPr algn="ct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US" sz="1400" i="1" smtClean="0">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rPr>
                            <m:t>Y</m:t>
                          </m:r>
                        </m:sub>
                        <m:sup>
                          <m:r>
                            <a:rPr lang="en-US" sz="1400" b="0" i="1" smtClean="0">
                              <a:latin typeface="Cambria Math" panose="02040503050406030204" pitchFamily="18" charset="0"/>
                            </a:rPr>
                            <m:t>2</m:t>
                          </m:r>
                        </m:sup>
                      </m:sSubSup>
                      <m:r>
                        <a:rPr lang="en-US" sz="1400" b="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G</m:t>
                          </m:r>
                        </m:sub>
                        <m:sup>
                          <m:r>
                            <a:rPr lang="en-US" sz="1400" i="1">
                              <a:latin typeface="Cambria Math" panose="02040503050406030204" pitchFamily="18" charset="0"/>
                            </a:rPr>
                            <m:t>2</m:t>
                          </m:r>
                        </m:sup>
                      </m:sSubSup>
                      <m:r>
                        <a:rPr lang="en-US" sz="1400" b="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E</m:t>
                          </m:r>
                        </m:sub>
                        <m:sup>
                          <m:r>
                            <a:rPr lang="en-US" sz="1400" i="1">
                              <a:latin typeface="Cambria Math" panose="02040503050406030204" pitchFamily="18" charset="0"/>
                            </a:rPr>
                            <m:t>2</m:t>
                          </m:r>
                        </m:sup>
                      </m:sSubSup>
                      <m:r>
                        <a:rPr lang="en-US" sz="1400" b="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GE</m:t>
                          </m:r>
                        </m:sub>
                        <m:sup>
                          <m:r>
                            <a:rPr lang="en-US" sz="1400" i="1">
                              <a:latin typeface="Cambria Math" panose="02040503050406030204" pitchFamily="18" charset="0"/>
                            </a:rPr>
                            <m:t>2</m:t>
                          </m:r>
                        </m:sup>
                      </m:sSubSup>
                      <m:r>
                        <a:rPr lang="en-US" sz="1400" b="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a:rPr lang="en-US" sz="1400" i="1" smtClean="0">
                              <a:latin typeface="Cambria Math" panose="02040503050406030204" pitchFamily="18" charset="0"/>
                            </a:rPr>
                            <m:t>𝜀</m:t>
                          </m:r>
                        </m:sub>
                        <m:sup>
                          <m:r>
                            <a:rPr lang="en-US" sz="1400" i="1">
                              <a:latin typeface="Cambria Math" panose="02040503050406030204" pitchFamily="18" charset="0"/>
                            </a:rPr>
                            <m:t>2</m:t>
                          </m:r>
                        </m:sup>
                      </m:sSubSup>
                    </m:oMath>
                  </m:oMathPara>
                </a14:m>
                <a:endParaRPr lang="en-US" sz="1400" dirty="0"/>
              </a:p>
              <a:p>
                <a:pPr algn="ctr"/>
                <a:endParaRPr lang="en-US" sz="1400" dirty="0"/>
              </a:p>
              <a:p>
                <a:r>
                  <a:rPr lang="en-US" sz="1400" dirty="0"/>
                  <a:t>If we further assume G and E are </a:t>
                </a:r>
                <a:r>
                  <a:rPr lang="en-US" sz="1400" i="1" dirty="0"/>
                  <a:t>independent</a:t>
                </a:r>
                <a:r>
                  <a:rPr lang="en-US" sz="1400" b="1" dirty="0"/>
                  <a:t> </a:t>
                </a:r>
                <a:r>
                  <a:rPr lang="en-US" sz="1400" dirty="0"/>
                  <a:t>from each other (i.e., </a:t>
                </a: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i="1">
                            <a:latin typeface="Cambria Math" panose="02040503050406030204" pitchFamily="18" charset="0"/>
                            <a:ea typeface="Cambria Math" panose="02040503050406030204" pitchFamily="18" charset="0"/>
                          </a:rPr>
                          <m:t>GE</m:t>
                        </m:r>
                      </m:sub>
                      <m:sup>
                        <m:r>
                          <a:rPr lang="en-US" sz="1400" i="1">
                            <a:latin typeface="Cambria Math" panose="02040503050406030204" pitchFamily="18" charset="0"/>
                          </a:rPr>
                          <m:t>2</m:t>
                        </m:r>
                      </m:sup>
                    </m:sSubSup>
                    <m:r>
                      <a:rPr lang="en-US" sz="1400" b="0" i="1" smtClean="0">
                        <a:latin typeface="Cambria Math" panose="02040503050406030204" pitchFamily="18" charset="0"/>
                      </a:rPr>
                      <m:t>=0</m:t>
                    </m:r>
                  </m:oMath>
                </a14:m>
                <a:r>
                  <a:rPr lang="en-US" sz="1400" dirty="0"/>
                  <a:t>):</a:t>
                </a:r>
              </a:p>
              <a:p>
                <a:pPr marL="285750" indent="-285750">
                  <a:buFont typeface="Arial" panose="020B0604020202020204" pitchFamily="34" charset="0"/>
                  <a:buChar char="•"/>
                </a:pPr>
                <a:r>
                  <a:rPr lang="en-US" sz="1400" dirty="0"/>
                  <a:t>Broad-sense heritability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𝐻</m:t>
                        </m:r>
                      </m:e>
                      <m:sup>
                        <m:r>
                          <a:rPr lang="en-US" sz="1400" i="1">
                            <a:latin typeface="Cambria Math" panose="02040503050406030204" pitchFamily="18" charset="0"/>
                          </a:rPr>
                          <m:t>2</m:t>
                        </m:r>
                      </m:sup>
                    </m:sSup>
                    <m:r>
                      <a:rPr lang="en-US" sz="1400" b="0" i="1" smtClean="0">
                        <a:latin typeface="Cambria Math" panose="02040503050406030204" pitchFamily="18" charset="0"/>
                      </a:rPr>
                      <m:t>=</m:t>
                    </m:r>
                    <m:f>
                      <m:fPr>
                        <m:ctrlPr>
                          <a:rPr lang="en-US" sz="1400" i="1" smtClean="0">
                            <a:latin typeface="Cambria Math" panose="02040503050406030204" pitchFamily="18" charset="0"/>
                          </a:rPr>
                        </m:ctrlPr>
                      </m:fPr>
                      <m:num>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i="1">
                                <a:latin typeface="Cambria Math" panose="02040503050406030204" pitchFamily="18" charset="0"/>
                                <a:ea typeface="Cambria Math" panose="02040503050406030204" pitchFamily="18" charset="0"/>
                              </a:rPr>
                              <m:t>G</m:t>
                            </m:r>
                          </m:sub>
                          <m:sup>
                            <m:r>
                              <a:rPr lang="en-US" sz="1400" i="1">
                                <a:latin typeface="Cambria Math" panose="02040503050406030204" pitchFamily="18" charset="0"/>
                              </a:rPr>
                              <m:t>2</m:t>
                            </m:r>
                          </m:sup>
                        </m:sSubSup>
                      </m:num>
                      <m:den>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Y</m:t>
                            </m:r>
                          </m:sub>
                          <m:sup>
                            <m:r>
                              <a:rPr lang="en-US" sz="1400" i="1">
                                <a:latin typeface="Cambria Math" panose="02040503050406030204" pitchFamily="18" charset="0"/>
                              </a:rPr>
                              <m:t>2</m:t>
                            </m:r>
                          </m:sup>
                        </m:sSubSup>
                      </m:den>
                    </m:f>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A</m:t>
                            </m:r>
                          </m:sub>
                          <m:sup>
                            <m:r>
                              <a:rPr lang="en-US" sz="1400" i="1">
                                <a:latin typeface="Cambria Math" panose="02040503050406030204" pitchFamily="18" charset="0"/>
                              </a:rPr>
                              <m:t>2</m:t>
                            </m:r>
                          </m:sup>
                        </m:sSubSup>
                        <m:r>
                          <a:rPr lang="en-US" sz="1400" b="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D</m:t>
                            </m:r>
                          </m:sub>
                          <m:sup>
                            <m:r>
                              <a:rPr lang="en-US" sz="1400" i="1">
                                <a:latin typeface="Cambria Math" panose="02040503050406030204" pitchFamily="18" charset="0"/>
                              </a:rPr>
                              <m:t>2</m:t>
                            </m:r>
                          </m:sup>
                        </m:sSubSup>
                        <m:r>
                          <a:rPr lang="en-US" sz="1400" b="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R</m:t>
                            </m:r>
                          </m:sub>
                          <m:sup>
                            <m:r>
                              <a:rPr lang="en-US" sz="1400" i="1">
                                <a:latin typeface="Cambria Math" panose="02040503050406030204" pitchFamily="18" charset="0"/>
                              </a:rPr>
                              <m:t>2</m:t>
                            </m:r>
                          </m:sup>
                        </m:sSubSup>
                        <m:r>
                          <a:rPr lang="en-US" sz="1400" b="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I</m:t>
                            </m:r>
                          </m:sub>
                          <m:sup>
                            <m:r>
                              <a:rPr lang="en-US" sz="1400" i="1">
                                <a:latin typeface="Cambria Math" panose="02040503050406030204" pitchFamily="18" charset="0"/>
                              </a:rPr>
                              <m:t>2</m:t>
                            </m:r>
                          </m:sup>
                        </m:sSubSup>
                      </m:num>
                      <m:den>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Y</m:t>
                            </m:r>
                          </m:sub>
                          <m:sup>
                            <m:r>
                              <a:rPr lang="en-US" sz="1400" i="1">
                                <a:latin typeface="Cambria Math" panose="02040503050406030204" pitchFamily="18" charset="0"/>
                              </a:rPr>
                              <m:t>2</m:t>
                            </m:r>
                          </m:sup>
                        </m:sSubSup>
                      </m:den>
                    </m:f>
                  </m:oMath>
                </a14:m>
                <a:endParaRPr lang="en-US" sz="1400" b="0" dirty="0"/>
              </a:p>
              <a:p>
                <a:pPr marL="285750" indent="-285750">
                  <a:buFont typeface="Arial" panose="020B0604020202020204" pitchFamily="34" charset="0"/>
                  <a:buChar char="•"/>
                </a:pPr>
                <a:r>
                  <a:rPr lang="en-US" sz="1400" dirty="0"/>
                  <a:t>Narrow-sense heritability </a:t>
                </a:r>
                <a14:m>
                  <m:oMath xmlns:m="http://schemas.openxmlformats.org/officeDocument/2006/math">
                    <m:sSup>
                      <m:sSupPr>
                        <m:ctrlPr>
                          <a:rPr lang="en-US" sz="1400" i="1">
                            <a:latin typeface="Cambria Math" panose="02040503050406030204" pitchFamily="18" charset="0"/>
                          </a:rPr>
                        </m:ctrlPr>
                      </m:sSupPr>
                      <m:e>
                        <m:r>
                          <a:rPr lang="en-US" sz="1400" b="0" i="1" smtClean="0">
                            <a:latin typeface="Cambria Math" panose="02040503050406030204" pitchFamily="18" charset="0"/>
                          </a:rPr>
                          <m:t>h</m:t>
                        </m:r>
                      </m:e>
                      <m:sup>
                        <m:r>
                          <a:rPr lang="en-US" sz="1400" b="0" i="1">
                            <a:latin typeface="Cambria Math" panose="02040503050406030204" pitchFamily="18" charset="0"/>
                          </a:rPr>
                          <m:t>2</m:t>
                        </m:r>
                      </m:sup>
                    </m:sSup>
                    <m:r>
                      <a:rPr lang="en-US" sz="1400" b="0" i="1" smtClean="0">
                        <a:latin typeface="Cambria Math" panose="02040503050406030204" pitchFamily="18" charset="0"/>
                      </a:rPr>
                      <m:t>=</m:t>
                    </m:r>
                    <m:f>
                      <m:fPr>
                        <m:ctrlPr>
                          <a:rPr lang="en-US" sz="1400" i="1">
                            <a:latin typeface="Cambria Math" panose="02040503050406030204" pitchFamily="18" charset="0"/>
                          </a:rPr>
                        </m:ctrlPr>
                      </m:fPr>
                      <m:num>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b="0" i="1" smtClean="0">
                                <a:latin typeface="Cambria Math" panose="02040503050406030204" pitchFamily="18" charset="0"/>
                                <a:ea typeface="Cambria Math" panose="02040503050406030204" pitchFamily="18" charset="0"/>
                              </a:rPr>
                              <m:t>A</m:t>
                            </m:r>
                          </m:sub>
                          <m:sup>
                            <m:r>
                              <a:rPr lang="en-US" sz="1400" i="1">
                                <a:latin typeface="Cambria Math" panose="02040503050406030204" pitchFamily="18" charset="0"/>
                              </a:rPr>
                              <m:t>2</m:t>
                            </m:r>
                          </m:sup>
                        </m:sSubSup>
                      </m:num>
                      <m:den>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m:rPr>
                                <m:sty m:val="p"/>
                              </m:rPr>
                              <a:rPr lang="en-US" sz="1400" i="1">
                                <a:latin typeface="Cambria Math" panose="02040503050406030204" pitchFamily="18" charset="0"/>
                                <a:ea typeface="Cambria Math" panose="02040503050406030204" pitchFamily="18" charset="0"/>
                              </a:rPr>
                              <m:t>Y</m:t>
                            </m:r>
                          </m:sub>
                          <m:sup>
                            <m:r>
                              <a:rPr lang="en-US" sz="1400" i="1">
                                <a:latin typeface="Cambria Math" panose="02040503050406030204" pitchFamily="18" charset="0"/>
                              </a:rPr>
                              <m:t>2</m:t>
                            </m:r>
                          </m:sup>
                        </m:sSubSup>
                      </m:den>
                    </m:f>
                  </m:oMath>
                </a14:m>
                <a:endParaRPr lang="en-US" sz="1400" dirty="0"/>
              </a:p>
            </p:txBody>
          </p:sp>
        </mc:Choice>
        <mc:Fallback xmlns="">
          <p:sp>
            <p:nvSpPr>
              <p:cNvPr id="24" name="TextBox 23">
                <a:extLst>
                  <a:ext uri="{FF2B5EF4-FFF2-40B4-BE49-F238E27FC236}">
                    <a16:creationId xmlns:a16="http://schemas.microsoft.com/office/drawing/2014/main" id="{BE8C2D23-1525-EDB0-4F10-C67A6BFD1DE4}"/>
                  </a:ext>
                </a:extLst>
              </p:cNvPr>
              <p:cNvSpPr txBox="1">
                <a:spLocks noRot="1" noChangeAspect="1" noMove="1" noResize="1" noEditPoints="1" noAdjustHandles="1" noChangeArrowheads="1" noChangeShapeType="1" noTextEdit="1"/>
              </p:cNvSpPr>
              <p:nvPr/>
            </p:nvSpPr>
            <p:spPr>
              <a:xfrm>
                <a:off x="1250327" y="7101303"/>
                <a:ext cx="6643343" cy="1740989"/>
              </a:xfrm>
              <a:prstGeom prst="rect">
                <a:avLst/>
              </a:prstGeom>
              <a:blipFill>
                <a:blip r:embed="rId3"/>
                <a:stretch>
                  <a:fillRect l="-382" t="-725"/>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C39A5FAD-DC1D-D565-684F-9AF73E1B97E3}"/>
              </a:ext>
            </a:extLst>
          </p:cNvPr>
          <p:cNvSpPr txBox="1"/>
          <p:nvPr/>
        </p:nvSpPr>
        <p:spPr>
          <a:xfrm>
            <a:off x="3384213" y="6818140"/>
            <a:ext cx="2375572" cy="369332"/>
          </a:xfrm>
          <a:prstGeom prst="rect">
            <a:avLst/>
          </a:prstGeom>
          <a:noFill/>
        </p:spPr>
        <p:txBody>
          <a:bodyPr wrap="square" rtlCol="0" anchor="ctr">
            <a:spAutoFit/>
          </a:bodyPr>
          <a:lstStyle/>
          <a:p>
            <a:pPr algn="ctr"/>
            <a:r>
              <a:rPr lang="en-US" b="1" dirty="0"/>
              <a:t>PVE and Heritability</a:t>
            </a:r>
            <a:endParaRPr lang="en-US" sz="1100" dirty="0"/>
          </a:p>
        </p:txBody>
      </p:sp>
      <p:sp>
        <p:nvSpPr>
          <p:cNvPr id="4" name="TextBox 3">
            <a:extLst>
              <a:ext uri="{FF2B5EF4-FFF2-40B4-BE49-F238E27FC236}">
                <a16:creationId xmlns:a16="http://schemas.microsoft.com/office/drawing/2014/main" id="{3343F306-5954-563F-AD36-ADB83540F22D}"/>
              </a:ext>
            </a:extLst>
          </p:cNvPr>
          <p:cNvSpPr txBox="1"/>
          <p:nvPr/>
        </p:nvSpPr>
        <p:spPr>
          <a:xfrm>
            <a:off x="2201620" y="1452506"/>
            <a:ext cx="4754828" cy="369332"/>
          </a:xfrm>
          <a:prstGeom prst="rect">
            <a:avLst/>
          </a:prstGeom>
          <a:noFill/>
        </p:spPr>
        <p:txBody>
          <a:bodyPr wrap="none" rtlCol="0">
            <a:spAutoFit/>
          </a:bodyPr>
          <a:lstStyle/>
          <a:p>
            <a:r>
              <a:rPr lang="en-US" b="1" dirty="0">
                <a:solidFill>
                  <a:schemeClr val="accent3">
                    <a:lumMod val="50000"/>
                  </a:schemeClr>
                </a:solidFill>
              </a:rPr>
              <a:t>An Example of Partition of Phenotypic Variance </a:t>
            </a:r>
          </a:p>
        </p:txBody>
      </p:sp>
    </p:spTree>
    <p:extLst>
      <p:ext uri="{BB962C8B-B14F-4D97-AF65-F5344CB8AC3E}">
        <p14:creationId xmlns:p14="http://schemas.microsoft.com/office/powerpoint/2010/main" val="3966426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24538-B26B-C265-445C-61B7C5B0647A}"/>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82D472A5-22B8-683B-2792-EA83ED15380C}"/>
              </a:ext>
            </a:extLst>
          </p:cNvPr>
          <p:cNvSpPr/>
          <p:nvPr/>
        </p:nvSpPr>
        <p:spPr>
          <a:xfrm>
            <a:off x="381118" y="3637049"/>
            <a:ext cx="8479851" cy="52143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1" name="Rounded Rectangle 20">
            <a:extLst>
              <a:ext uri="{FF2B5EF4-FFF2-40B4-BE49-F238E27FC236}">
                <a16:creationId xmlns:a16="http://schemas.microsoft.com/office/drawing/2014/main" id="{82A3AEA4-F9A5-9C8F-2F97-80F1F7F22F9F}"/>
              </a:ext>
            </a:extLst>
          </p:cNvPr>
          <p:cNvSpPr/>
          <p:nvPr/>
        </p:nvSpPr>
        <p:spPr>
          <a:xfrm>
            <a:off x="381119" y="921808"/>
            <a:ext cx="8479851" cy="257250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055BB954-45A5-5C57-89E3-00C879C5EEE9}"/>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Linear Mixed Model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4C6B5A-7DBE-3666-D767-504F72013408}"/>
                  </a:ext>
                </a:extLst>
              </p:cNvPr>
              <p:cNvSpPr txBox="1"/>
              <p:nvPr/>
            </p:nvSpPr>
            <p:spPr>
              <a:xfrm>
                <a:off x="577728" y="440749"/>
                <a:ext cx="7988544" cy="461665"/>
              </a:xfrm>
              <a:prstGeom prst="rect">
                <a:avLst/>
              </a:prstGeom>
              <a:noFill/>
            </p:spPr>
            <p:txBody>
              <a:bodyPr wrap="square" rtlCol="0">
                <a:spAutoFit/>
              </a:bodyPr>
              <a:lstStyle/>
              <a:p>
                <a:pPr algn="ctr"/>
                <a:r>
                  <a:rPr lang="en-US" sz="1200" dirty="0"/>
                  <a:t>A practical solution to estimate genetic effect </a:t>
                </a:r>
                <a14:m>
                  <m:oMath xmlns:m="http://schemas.openxmlformats.org/officeDocument/2006/math">
                    <m:r>
                      <a:rPr lang="en-US" sz="1200" i="1">
                        <a:latin typeface="Cambria Math" panose="02040503050406030204" pitchFamily="18" charset="0"/>
                        <a:ea typeface="Cambria Math" panose="02040503050406030204" pitchFamily="18" charset="0"/>
                      </a:rPr>
                      <m:t>𝛽</m:t>
                    </m:r>
                    <m:r>
                      <a:rPr lang="en-US" sz="1200" i="1">
                        <a:latin typeface="Cambria Math" panose="02040503050406030204" pitchFamily="18" charset="0"/>
                        <a:ea typeface="Cambria Math" panose="02040503050406030204" pitchFamily="18" charset="0"/>
                      </a:rPr>
                      <m:t> </m:t>
                    </m:r>
                  </m:oMath>
                </a14:m>
                <a:r>
                  <a:rPr lang="en-US" sz="1200" dirty="0"/>
                  <a:t>: </a:t>
                </a:r>
              </a:p>
              <a:p>
                <a:pPr algn="ctr"/>
                <a:r>
                  <a:rPr lang="en-US" sz="1200" dirty="0"/>
                  <a:t>use a random effect </a:t>
                </a:r>
                <a14:m>
                  <m:oMath xmlns:m="http://schemas.openxmlformats.org/officeDocument/2006/math">
                    <m:r>
                      <a:rPr lang="en-US" sz="1200" b="1" i="1">
                        <a:latin typeface="Cambria Math" panose="02040503050406030204" pitchFamily="18" charset="0"/>
                        <a:ea typeface="Cambria Math" panose="02040503050406030204" pitchFamily="18" charset="0"/>
                      </a:rPr>
                      <m:t>𝒈</m:t>
                    </m:r>
                    <m:r>
                      <a:rPr lang="en-US" sz="1200" b="1" i="1">
                        <a:latin typeface="Cambria Math" panose="02040503050406030204" pitchFamily="18" charset="0"/>
                        <a:ea typeface="Cambria Math" panose="02040503050406030204" pitchFamily="18" charset="0"/>
                      </a:rPr>
                      <m:t> </m:t>
                    </m:r>
                  </m:oMath>
                </a14:m>
                <a:r>
                  <a:rPr lang="en-US" sz="1200" dirty="0"/>
                  <a:t>based on genetic similarity to absorb all unmeasured heterogeneity</a:t>
                </a:r>
              </a:p>
            </p:txBody>
          </p:sp>
        </mc:Choice>
        <mc:Fallback xmlns="">
          <p:sp>
            <p:nvSpPr>
              <p:cNvPr id="3" name="TextBox 2">
                <a:extLst>
                  <a:ext uri="{FF2B5EF4-FFF2-40B4-BE49-F238E27FC236}">
                    <a16:creationId xmlns:a16="http://schemas.microsoft.com/office/drawing/2014/main" id="{414C6B5A-7DBE-3666-D767-504F72013408}"/>
                  </a:ext>
                </a:extLst>
              </p:cNvPr>
              <p:cNvSpPr txBox="1">
                <a:spLocks noRot="1" noChangeAspect="1" noMove="1" noResize="1" noEditPoints="1" noAdjustHandles="1" noChangeArrowheads="1" noChangeShapeType="1" noTextEdit="1"/>
              </p:cNvSpPr>
              <p:nvPr/>
            </p:nvSpPr>
            <p:spPr>
              <a:xfrm>
                <a:off x="577728" y="440749"/>
                <a:ext cx="7988544" cy="461665"/>
              </a:xfrm>
              <a:prstGeom prst="rect">
                <a:avLst/>
              </a:prstGeom>
              <a:blipFill>
                <a:blip r:embed="rId2"/>
                <a:stretch>
                  <a:fillRect b="-789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D2C6A0D-5380-A73D-20A1-BFFBE358C721}"/>
              </a:ext>
            </a:extLst>
          </p:cNvPr>
          <p:cNvSpPr txBox="1"/>
          <p:nvPr/>
        </p:nvSpPr>
        <p:spPr>
          <a:xfrm>
            <a:off x="3872207" y="948439"/>
            <a:ext cx="1371401" cy="369332"/>
          </a:xfrm>
          <a:prstGeom prst="rect">
            <a:avLst/>
          </a:prstGeom>
          <a:noFill/>
        </p:spPr>
        <p:txBody>
          <a:bodyPr wrap="none" rtlCol="0">
            <a:spAutoFit/>
          </a:bodyPr>
          <a:lstStyle/>
          <a:p>
            <a:r>
              <a:rPr lang="en-US" b="1" dirty="0"/>
              <a:t>Key Formula</a:t>
            </a:r>
          </a:p>
        </p:txBody>
      </p:sp>
      <p:sp>
        <p:nvSpPr>
          <p:cNvPr id="6" name="Rounded Rectangle 5">
            <a:extLst>
              <a:ext uri="{FF2B5EF4-FFF2-40B4-BE49-F238E27FC236}">
                <a16:creationId xmlns:a16="http://schemas.microsoft.com/office/drawing/2014/main" id="{16C988C0-329C-97AF-E947-C2EC7626067C}"/>
              </a:ext>
            </a:extLst>
          </p:cNvPr>
          <p:cNvSpPr/>
          <p:nvPr/>
        </p:nvSpPr>
        <p:spPr>
          <a:xfrm>
            <a:off x="3627883" y="1284010"/>
            <a:ext cx="1898899" cy="430901"/>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6D1BD9C-F257-112D-6748-578282EA2559}"/>
                  </a:ext>
                </a:extLst>
              </p:cNvPr>
              <p:cNvSpPr txBox="1"/>
              <p:nvPr/>
            </p:nvSpPr>
            <p:spPr>
              <a:xfrm>
                <a:off x="3663460" y="1330143"/>
                <a:ext cx="182774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𝒀</m:t>
                      </m:r>
                      <m:r>
                        <a:rPr lang="en-US" b="1" i="1" smtClean="0">
                          <a:latin typeface="Cambria Math" panose="02040503050406030204" pitchFamily="18" charset="0"/>
                        </a:rPr>
                        <m:t>=</m:t>
                      </m:r>
                      <m:r>
                        <a:rPr lang="en-US" b="1" i="1" smtClean="0">
                          <a:latin typeface="Cambria Math" panose="02040503050406030204" pitchFamily="18" charset="0"/>
                        </a:rPr>
                        <m:t>𝑿</m:t>
                      </m:r>
                      <m:r>
                        <a:rPr lang="en-US" b="0" i="1" smtClean="0">
                          <a:latin typeface="Cambria Math" panose="02040503050406030204" pitchFamily="18" charset="0"/>
                          <a:ea typeface="Cambria Math" panose="02040503050406030204" pitchFamily="18" charset="0"/>
                        </a:rPr>
                        <m:t>𝛽</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𝒈</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𝜺</m:t>
                      </m:r>
                    </m:oMath>
                  </m:oMathPara>
                </a14:m>
                <a:endParaRPr lang="en-US" b="1" dirty="0"/>
              </a:p>
            </p:txBody>
          </p:sp>
        </mc:Choice>
        <mc:Fallback xmlns="">
          <p:sp>
            <p:nvSpPr>
              <p:cNvPr id="15" name="TextBox 14">
                <a:extLst>
                  <a:ext uri="{FF2B5EF4-FFF2-40B4-BE49-F238E27FC236}">
                    <a16:creationId xmlns:a16="http://schemas.microsoft.com/office/drawing/2014/main" id="{06D1BD9C-F257-112D-6748-578282EA2559}"/>
                  </a:ext>
                </a:extLst>
              </p:cNvPr>
              <p:cNvSpPr txBox="1">
                <a:spLocks noRot="1" noChangeAspect="1" noMove="1" noResize="1" noEditPoints="1" noAdjustHandles="1" noChangeArrowheads="1" noChangeShapeType="1" noTextEdit="1"/>
              </p:cNvSpPr>
              <p:nvPr/>
            </p:nvSpPr>
            <p:spPr>
              <a:xfrm>
                <a:off x="3663460" y="1330143"/>
                <a:ext cx="1827744" cy="369332"/>
              </a:xfrm>
              <a:prstGeom prst="rect">
                <a:avLst/>
              </a:prstGeom>
              <a:blipFill>
                <a:blip r:embed="rId3"/>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09C1D8F-AC2A-FA49-3C6D-99F4367A6B2D}"/>
                  </a:ext>
                </a:extLst>
              </p:cNvPr>
              <p:cNvSpPr txBox="1"/>
              <p:nvPr/>
            </p:nvSpPr>
            <p:spPr>
              <a:xfrm>
                <a:off x="895193" y="1803979"/>
                <a:ext cx="7137907" cy="160140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sz="1600" b="0" i="1" smtClean="0">
                        <a:latin typeface="Cambria Math" panose="02040503050406030204" pitchFamily="18" charset="0"/>
                        <a:ea typeface="Cambria Math" panose="02040503050406030204" pitchFamily="18" charset="0"/>
                      </a:rPr>
                      <m:t>𝛽</m:t>
                    </m:r>
                  </m:oMath>
                </a14:m>
                <a:r>
                  <a:rPr lang="en-US" sz="1600" b="0" dirty="0">
                    <a:ea typeface="Cambria Math" panose="02040503050406030204" pitchFamily="18" charset="0"/>
                  </a:rPr>
                  <a:t>: genetic effect (generally fixed effect, but random effect applies as well)</a:t>
                </a:r>
              </a:p>
              <a:p>
                <a:pPr marL="285750" indent="-285750">
                  <a:buFont typeface="Arial" panose="020B0604020202020204" pitchFamily="34" charset="0"/>
                  <a:buChar char="•"/>
                </a:pPr>
                <a14:m>
                  <m:oMath xmlns:m="http://schemas.openxmlformats.org/officeDocument/2006/math">
                    <m:r>
                      <a:rPr lang="en-US" sz="1600" b="1" i="1" smtClean="0">
                        <a:latin typeface="Cambria Math" panose="02040503050406030204" pitchFamily="18" charset="0"/>
                        <a:ea typeface="Cambria Math" panose="02040503050406030204" pitchFamily="18" charset="0"/>
                      </a:rPr>
                      <m:t>𝒈</m:t>
                    </m:r>
                  </m:oMath>
                </a14:m>
                <a:r>
                  <a:rPr lang="en-US" sz="1600" dirty="0"/>
                  <a:t>: random effect (grouping of samples)</a:t>
                </a:r>
              </a:p>
              <a:p>
                <a:pPr marL="742950" lvl="1" indent="-285750">
                  <a:buFont typeface="Arial" panose="020B0604020202020204" pitchFamily="34" charset="0"/>
                  <a:buChar char="•"/>
                </a:pPr>
                <a14:m>
                  <m:oMath xmlns:m="http://schemas.openxmlformats.org/officeDocument/2006/math">
                    <m:r>
                      <a:rPr lang="en-US" sz="1600" b="1" i="1">
                        <a:latin typeface="Cambria Math" panose="02040503050406030204" pitchFamily="18" charset="0"/>
                        <a:ea typeface="Cambria Math" panose="02040503050406030204" pitchFamily="18" charset="0"/>
                      </a:rPr>
                      <m:t>𝒈</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𝒁𝒖</m:t>
                    </m:r>
                  </m:oMath>
                </a14:m>
                <a:r>
                  <a:rPr lang="en-US" sz="1600" dirty="0"/>
                  <a:t> where </a:t>
                </a:r>
                <a14:m>
                  <m:oMath xmlns:m="http://schemas.openxmlformats.org/officeDocument/2006/math">
                    <m:r>
                      <a:rPr lang="en-US" sz="1600" b="1" i="1" smtClean="0">
                        <a:latin typeface="Cambria Math" panose="02040503050406030204" pitchFamily="18" charset="0"/>
                        <a:ea typeface="Cambria Math" panose="02040503050406030204" pitchFamily="18" charset="0"/>
                      </a:rPr>
                      <m:t>𝒈</m:t>
                    </m:r>
                    <m:r>
                      <a:rPr lang="en-US" sz="1600" b="1" i="1" smtClean="0">
                        <a:latin typeface="Cambria Math" panose="02040503050406030204" pitchFamily="18" charset="0"/>
                        <a:ea typeface="Cambria Math" panose="02040503050406030204" pitchFamily="18" charset="0"/>
                      </a:rPr>
                      <m:t> ~ </m:t>
                    </m:r>
                    <m:r>
                      <a:rPr lang="en-US" sz="1600" b="1" i="1" smtClean="0">
                        <a:latin typeface="Cambria Math" panose="02040503050406030204" pitchFamily="18" charset="0"/>
                        <a:ea typeface="Cambria Math" panose="02040503050406030204" pitchFamily="18" charset="0"/>
                      </a:rPr>
                      <m:t>𝑵</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𝟎</m:t>
                        </m:r>
                        <m:r>
                          <a:rPr lang="en-US" sz="1600" b="1" i="1" smtClean="0">
                            <a:latin typeface="Cambria Math" panose="02040503050406030204" pitchFamily="18" charset="0"/>
                            <a:ea typeface="Cambria Math" panose="02040503050406030204" pitchFamily="18" charset="0"/>
                          </a:rPr>
                          <m:t>,</m:t>
                        </m:r>
                        <m:sSubSup>
                          <m:sSubSupPr>
                            <m:ctrlPr>
                              <a:rPr lang="en-US" sz="1600" b="1" i="1" smtClean="0">
                                <a:latin typeface="Cambria Math" panose="02040503050406030204" pitchFamily="18" charset="0"/>
                                <a:ea typeface="Cambria Math" panose="02040503050406030204" pitchFamily="18" charset="0"/>
                              </a:rPr>
                            </m:ctrlPr>
                          </m:sSubSupPr>
                          <m:e>
                            <m:r>
                              <a:rPr lang="en-US" sz="1600" b="1" i="1" smtClean="0">
                                <a:latin typeface="Cambria Math" panose="02040503050406030204" pitchFamily="18" charset="0"/>
                                <a:ea typeface="Cambria Math" panose="02040503050406030204" pitchFamily="18" charset="0"/>
                              </a:rPr>
                              <m:t>𝝈</m:t>
                            </m:r>
                          </m:e>
                          <m:sub>
                            <m:r>
                              <a:rPr lang="en-US" sz="1600" b="1" i="1" smtClean="0">
                                <a:latin typeface="Cambria Math" panose="02040503050406030204" pitchFamily="18" charset="0"/>
                                <a:ea typeface="Cambria Math" panose="02040503050406030204" pitchFamily="18" charset="0"/>
                              </a:rPr>
                              <m:t>𝒈</m:t>
                            </m:r>
                          </m:sub>
                          <m:sup>
                            <m:r>
                              <a:rPr lang="en-US" sz="1600" b="1" i="1" smtClean="0">
                                <a:latin typeface="Cambria Math" panose="02040503050406030204" pitchFamily="18" charset="0"/>
                                <a:ea typeface="Cambria Math" panose="02040503050406030204" pitchFamily="18" charset="0"/>
                              </a:rPr>
                              <m:t>𝟐</m:t>
                            </m:r>
                          </m:sup>
                        </m:sSubSup>
                        <m:r>
                          <a:rPr lang="en-US" sz="1600" b="1" i="1" smtClean="0">
                            <a:latin typeface="Cambria Math" panose="02040503050406030204" pitchFamily="18" charset="0"/>
                            <a:ea typeface="Cambria Math" panose="02040503050406030204" pitchFamily="18" charset="0"/>
                          </a:rPr>
                          <m:t>𝑮</m:t>
                        </m:r>
                      </m:e>
                    </m:d>
                  </m:oMath>
                </a14:m>
                <a:r>
                  <a:rPr lang="en-US" sz="1600" dirty="0"/>
                  <a:t>,  G is the GRM</a:t>
                </a:r>
              </a:p>
              <a:p>
                <a:pPr marL="742950" lvl="1" indent="-285750">
                  <a:buFont typeface="Arial" panose="020B0604020202020204" pitchFamily="34" charset="0"/>
                  <a:buChar char="•"/>
                </a:pPr>
                <a14:m>
                  <m:oMath xmlns:m="http://schemas.openxmlformats.org/officeDocument/2006/math">
                    <m:r>
                      <a:rPr lang="en-US" sz="1600" b="1" i="1" smtClean="0">
                        <a:latin typeface="Cambria Math" panose="02040503050406030204" pitchFamily="18" charset="0"/>
                        <a:ea typeface="Cambria Math" panose="02040503050406030204" pitchFamily="18" charset="0"/>
                      </a:rPr>
                      <m:t>𝒈</m:t>
                    </m:r>
                  </m:oMath>
                </a14:m>
                <a:r>
                  <a:rPr lang="zh-CN" altLang="en-US" sz="1600" dirty="0"/>
                  <a:t> </a:t>
                </a:r>
                <a:r>
                  <a:rPr lang="en-US" altLang="zh-CN" sz="1600" dirty="0"/>
                  <a:t>soaks up the effects of ancestry, polygenic background, and all the other genetic factors we can't explicitly model</a:t>
                </a:r>
              </a:p>
              <a:p>
                <a:pPr marL="285750" indent="-285750">
                  <a:buFont typeface="Arial" panose="020B0604020202020204" pitchFamily="34" charset="0"/>
                  <a:buChar char="•"/>
                </a:pPr>
                <a:r>
                  <a:rPr lang="en-US" altLang="zh-CN" sz="1600" i="1" dirty="0"/>
                  <a:t>Why important?</a:t>
                </a:r>
                <a:r>
                  <a:rPr lang="en-US" altLang="zh-CN" sz="1600" dirty="0"/>
                  <a:t> Because you can NEVER condition on everything!</a:t>
                </a:r>
              </a:p>
            </p:txBody>
          </p:sp>
        </mc:Choice>
        <mc:Fallback xmlns="">
          <p:sp>
            <p:nvSpPr>
              <p:cNvPr id="27" name="TextBox 26">
                <a:extLst>
                  <a:ext uri="{FF2B5EF4-FFF2-40B4-BE49-F238E27FC236}">
                    <a16:creationId xmlns:a16="http://schemas.microsoft.com/office/drawing/2014/main" id="{509C1D8F-AC2A-FA49-3C6D-99F4367A6B2D}"/>
                  </a:ext>
                </a:extLst>
              </p:cNvPr>
              <p:cNvSpPr txBox="1">
                <a:spLocks noRot="1" noChangeAspect="1" noMove="1" noResize="1" noEditPoints="1" noAdjustHandles="1" noChangeArrowheads="1" noChangeShapeType="1" noTextEdit="1"/>
              </p:cNvSpPr>
              <p:nvPr/>
            </p:nvSpPr>
            <p:spPr>
              <a:xfrm>
                <a:off x="895193" y="1803979"/>
                <a:ext cx="7137907" cy="1601400"/>
              </a:xfrm>
              <a:prstGeom prst="rect">
                <a:avLst/>
              </a:prstGeom>
              <a:blipFill>
                <a:blip r:embed="rId4"/>
                <a:stretch>
                  <a:fillRect l="-355" t="-1575" b="-3937"/>
                </a:stretch>
              </a:blipFill>
            </p:spPr>
            <p:txBody>
              <a:bodyPr/>
              <a:lstStyle/>
              <a:p>
                <a:r>
                  <a:rPr lang="en-US">
                    <a:noFill/>
                  </a:rPr>
                  <a:t> </a:t>
                </a:r>
              </a:p>
            </p:txBody>
          </p:sp>
        </mc:Fallback>
      </mc:AlternateContent>
      <p:sp>
        <p:nvSpPr>
          <p:cNvPr id="28" name="Rounded Rectangle 27">
            <a:extLst>
              <a:ext uri="{FF2B5EF4-FFF2-40B4-BE49-F238E27FC236}">
                <a16:creationId xmlns:a16="http://schemas.microsoft.com/office/drawing/2014/main" id="{99F3DF69-D141-890B-C53E-17CB2D3B8E18}"/>
              </a:ext>
            </a:extLst>
          </p:cNvPr>
          <p:cNvSpPr/>
          <p:nvPr/>
        </p:nvSpPr>
        <p:spPr>
          <a:xfrm>
            <a:off x="971012" y="4082999"/>
            <a:ext cx="286187" cy="1856721"/>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TextBox 28">
            <a:extLst>
              <a:ext uri="{FF2B5EF4-FFF2-40B4-BE49-F238E27FC236}">
                <a16:creationId xmlns:a16="http://schemas.microsoft.com/office/drawing/2014/main" id="{D2A6218A-EE8E-1C5C-15EB-5C822F111867}"/>
              </a:ext>
            </a:extLst>
          </p:cNvPr>
          <p:cNvSpPr txBox="1"/>
          <p:nvPr/>
        </p:nvSpPr>
        <p:spPr>
          <a:xfrm>
            <a:off x="1410762" y="4826693"/>
            <a:ext cx="300082" cy="369332"/>
          </a:xfrm>
          <a:prstGeom prst="rect">
            <a:avLst/>
          </a:prstGeom>
          <a:noFill/>
        </p:spPr>
        <p:txBody>
          <a:bodyPr wrap="none" rtlCol="0">
            <a:spAutoFit/>
          </a:bodyPr>
          <a:lstStyle/>
          <a:p>
            <a:r>
              <a:rPr lang="en-US" dirty="0"/>
              <a:t>=</a:t>
            </a:r>
          </a:p>
        </p:txBody>
      </p:sp>
      <p:sp>
        <p:nvSpPr>
          <p:cNvPr id="30" name="Rounded Rectangle 29">
            <a:extLst>
              <a:ext uri="{FF2B5EF4-FFF2-40B4-BE49-F238E27FC236}">
                <a16:creationId xmlns:a16="http://schemas.microsoft.com/office/drawing/2014/main" id="{46871FD6-D022-FDBE-4F3D-368CE2A4DA8A}"/>
              </a:ext>
            </a:extLst>
          </p:cNvPr>
          <p:cNvSpPr/>
          <p:nvPr/>
        </p:nvSpPr>
        <p:spPr>
          <a:xfrm>
            <a:off x="1920247" y="4082999"/>
            <a:ext cx="286187" cy="1856721"/>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31" name="Rounded Rectangle 30">
                <a:extLst>
                  <a:ext uri="{FF2B5EF4-FFF2-40B4-BE49-F238E27FC236}">
                    <a16:creationId xmlns:a16="http://schemas.microsoft.com/office/drawing/2014/main" id="{7029CA70-BECF-1E30-0E0C-F62C507FEAF3}"/>
                  </a:ext>
                </a:extLst>
              </p:cNvPr>
              <p:cNvSpPr/>
              <p:nvPr/>
            </p:nvSpPr>
            <p:spPr>
              <a:xfrm>
                <a:off x="4029679" y="4082352"/>
                <a:ext cx="286187" cy="1856721"/>
              </a:xfrm>
              <a:prstGeom prst="round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𝜺</m:t>
                      </m:r>
                    </m:oMath>
                  </m:oMathPara>
                </a14:m>
                <a:endParaRPr lang="en-US" b="1" dirty="0">
                  <a:solidFill>
                    <a:schemeClr val="tx1"/>
                  </a:solidFill>
                </a:endParaRPr>
              </a:p>
            </p:txBody>
          </p:sp>
        </mc:Choice>
        <mc:Fallback xmlns="">
          <p:sp>
            <p:nvSpPr>
              <p:cNvPr id="31" name="Rounded Rectangle 30">
                <a:extLst>
                  <a:ext uri="{FF2B5EF4-FFF2-40B4-BE49-F238E27FC236}">
                    <a16:creationId xmlns:a16="http://schemas.microsoft.com/office/drawing/2014/main" id="{7029CA70-BECF-1E30-0E0C-F62C507FEAF3}"/>
                  </a:ext>
                </a:extLst>
              </p:cNvPr>
              <p:cNvSpPr>
                <a:spLocks noRot="1" noChangeAspect="1" noMove="1" noResize="1" noEditPoints="1" noAdjustHandles="1" noChangeArrowheads="1" noChangeShapeType="1" noTextEdit="1"/>
              </p:cNvSpPr>
              <p:nvPr/>
            </p:nvSpPr>
            <p:spPr>
              <a:xfrm>
                <a:off x="4029679" y="4082352"/>
                <a:ext cx="286187" cy="1856721"/>
              </a:xfrm>
              <a:prstGeom prst="roundRect">
                <a:avLst/>
              </a:prstGeom>
              <a:blipFill>
                <a:blip r:embed="rId5"/>
                <a:stretch>
                  <a:fillRect/>
                </a:stretch>
              </a:blipFill>
              <a:ln>
                <a:solidFill>
                  <a:schemeClr val="bg1">
                    <a:lumMod val="65000"/>
                  </a:schemeClr>
                </a:solid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CC989BE6-F1A2-A13B-7224-8F7587DE0409}"/>
              </a:ext>
            </a:extLst>
          </p:cNvPr>
          <p:cNvSpPr txBox="1"/>
          <p:nvPr/>
        </p:nvSpPr>
        <p:spPr>
          <a:xfrm>
            <a:off x="2815393" y="4801587"/>
            <a:ext cx="300082"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BFF3AC2-5847-CF00-A191-AB2E8DC32BC7}"/>
                  </a:ext>
                </a:extLst>
              </p:cNvPr>
              <p:cNvSpPr txBox="1"/>
              <p:nvPr/>
            </p:nvSpPr>
            <p:spPr>
              <a:xfrm>
                <a:off x="833159" y="4838802"/>
                <a:ext cx="59242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𝒀</m:t>
                      </m:r>
                    </m:oMath>
                  </m:oMathPara>
                </a14:m>
                <a:endParaRPr lang="en-US" b="1" dirty="0"/>
              </a:p>
            </p:txBody>
          </p:sp>
        </mc:Choice>
        <mc:Fallback xmlns="">
          <p:sp>
            <p:nvSpPr>
              <p:cNvPr id="33" name="TextBox 32">
                <a:extLst>
                  <a:ext uri="{FF2B5EF4-FFF2-40B4-BE49-F238E27FC236}">
                    <a16:creationId xmlns:a16="http://schemas.microsoft.com/office/drawing/2014/main" id="{9BFF3AC2-5847-CF00-A191-AB2E8DC32BC7}"/>
                  </a:ext>
                </a:extLst>
              </p:cNvPr>
              <p:cNvSpPr txBox="1">
                <a:spLocks noRot="1" noChangeAspect="1" noMove="1" noResize="1" noEditPoints="1" noAdjustHandles="1" noChangeArrowheads="1" noChangeShapeType="1" noTextEdit="1"/>
              </p:cNvSpPr>
              <p:nvPr/>
            </p:nvSpPr>
            <p:spPr>
              <a:xfrm>
                <a:off x="833159" y="4838802"/>
                <a:ext cx="592422" cy="369332"/>
              </a:xfrm>
              <a:prstGeom prst="rect">
                <a:avLst/>
              </a:prstGeom>
              <a:blipFill>
                <a:blip r:embed="rId6"/>
                <a:stretch>
                  <a:fillRect/>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963C6DBB-C543-D966-EC87-13BE119A42DD}"/>
              </a:ext>
            </a:extLst>
          </p:cNvPr>
          <p:cNvSpPr/>
          <p:nvPr/>
        </p:nvSpPr>
        <p:spPr>
          <a:xfrm>
            <a:off x="5597166" y="5344658"/>
            <a:ext cx="2764293" cy="2709095"/>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28B4D3D-93B4-87CB-CE36-9963E2C4D60A}"/>
                  </a:ext>
                </a:extLst>
              </p:cNvPr>
              <p:cNvSpPr txBox="1"/>
              <p:nvPr/>
            </p:nvSpPr>
            <p:spPr>
              <a:xfrm>
                <a:off x="1625106" y="411069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11</m:t>
                          </m:r>
                        </m:sub>
                      </m:sSub>
                    </m:oMath>
                  </m:oMathPara>
                </a14:m>
                <a:endParaRPr lang="en-US" sz="1400" dirty="0">
                  <a:solidFill>
                    <a:schemeClr val="bg1">
                      <a:lumMod val="95000"/>
                    </a:schemeClr>
                  </a:solidFill>
                </a:endParaRPr>
              </a:p>
            </p:txBody>
          </p:sp>
        </mc:Choice>
        <mc:Fallback xmlns="">
          <p:sp>
            <p:nvSpPr>
              <p:cNvPr id="36" name="TextBox 35">
                <a:extLst>
                  <a:ext uri="{FF2B5EF4-FFF2-40B4-BE49-F238E27FC236}">
                    <a16:creationId xmlns:a16="http://schemas.microsoft.com/office/drawing/2014/main" id="{C28B4D3D-93B4-87CB-CE36-9963E2C4D60A}"/>
                  </a:ext>
                </a:extLst>
              </p:cNvPr>
              <p:cNvSpPr txBox="1">
                <a:spLocks noRot="1" noChangeAspect="1" noMove="1" noResize="1" noEditPoints="1" noAdjustHandles="1" noChangeArrowheads="1" noChangeShapeType="1" noTextEdit="1"/>
              </p:cNvSpPr>
              <p:nvPr/>
            </p:nvSpPr>
            <p:spPr>
              <a:xfrm>
                <a:off x="1625106" y="4110690"/>
                <a:ext cx="893237"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8F514AD-DF1C-3371-658C-B78CDD0DE709}"/>
                  </a:ext>
                </a:extLst>
              </p:cNvPr>
              <p:cNvSpPr txBox="1"/>
              <p:nvPr/>
            </p:nvSpPr>
            <p:spPr>
              <a:xfrm>
                <a:off x="1625105" y="445509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21</m:t>
                          </m:r>
                        </m:sub>
                      </m:sSub>
                    </m:oMath>
                  </m:oMathPara>
                </a14:m>
                <a:endParaRPr lang="en-US" sz="1400" dirty="0">
                  <a:solidFill>
                    <a:schemeClr val="bg1">
                      <a:lumMod val="95000"/>
                    </a:schemeClr>
                  </a:solidFill>
                </a:endParaRPr>
              </a:p>
            </p:txBody>
          </p:sp>
        </mc:Choice>
        <mc:Fallback xmlns="">
          <p:sp>
            <p:nvSpPr>
              <p:cNvPr id="37" name="TextBox 36">
                <a:extLst>
                  <a:ext uri="{FF2B5EF4-FFF2-40B4-BE49-F238E27FC236}">
                    <a16:creationId xmlns:a16="http://schemas.microsoft.com/office/drawing/2014/main" id="{A8F514AD-DF1C-3371-658C-B78CDD0DE709}"/>
                  </a:ext>
                </a:extLst>
              </p:cNvPr>
              <p:cNvSpPr txBox="1">
                <a:spLocks noRot="1" noChangeAspect="1" noMove="1" noResize="1" noEditPoints="1" noAdjustHandles="1" noChangeArrowheads="1" noChangeShapeType="1" noTextEdit="1"/>
              </p:cNvSpPr>
              <p:nvPr/>
            </p:nvSpPr>
            <p:spPr>
              <a:xfrm>
                <a:off x="1625105" y="4455093"/>
                <a:ext cx="893237"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3E6C5FA-2265-C2F8-DE27-199229010CC3}"/>
                  </a:ext>
                </a:extLst>
              </p:cNvPr>
              <p:cNvSpPr txBox="1"/>
              <p:nvPr/>
            </p:nvSpPr>
            <p:spPr>
              <a:xfrm>
                <a:off x="1625106" y="5631529"/>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𝑁</m:t>
                          </m:r>
                          <m:r>
                            <a:rPr lang="en-US" sz="1400" b="0" i="1" smtClean="0">
                              <a:solidFill>
                                <a:schemeClr val="bg1">
                                  <a:lumMod val="95000"/>
                                </a:schemeClr>
                              </a:solidFill>
                              <a:latin typeface="Cambria Math" panose="02040503050406030204" pitchFamily="18" charset="0"/>
                            </a:rPr>
                            <m:t>1</m:t>
                          </m:r>
                        </m:sub>
                      </m:sSub>
                    </m:oMath>
                  </m:oMathPara>
                </a14:m>
                <a:endParaRPr lang="en-US" sz="1400" dirty="0">
                  <a:solidFill>
                    <a:schemeClr val="bg1">
                      <a:lumMod val="95000"/>
                    </a:schemeClr>
                  </a:solidFill>
                </a:endParaRPr>
              </a:p>
            </p:txBody>
          </p:sp>
        </mc:Choice>
        <mc:Fallback xmlns="">
          <p:sp>
            <p:nvSpPr>
              <p:cNvPr id="38" name="TextBox 37">
                <a:extLst>
                  <a:ext uri="{FF2B5EF4-FFF2-40B4-BE49-F238E27FC236}">
                    <a16:creationId xmlns:a16="http://schemas.microsoft.com/office/drawing/2014/main" id="{53E6C5FA-2265-C2F8-DE27-199229010CC3}"/>
                  </a:ext>
                </a:extLst>
              </p:cNvPr>
              <p:cNvSpPr txBox="1">
                <a:spLocks noRot="1" noChangeAspect="1" noMove="1" noResize="1" noEditPoints="1" noAdjustHandles="1" noChangeArrowheads="1" noChangeShapeType="1" noTextEdit="1"/>
              </p:cNvSpPr>
              <p:nvPr/>
            </p:nvSpPr>
            <p:spPr>
              <a:xfrm>
                <a:off x="1625106" y="5631529"/>
                <a:ext cx="893237" cy="307777"/>
              </a:xfrm>
              <a:prstGeom prst="rect">
                <a:avLst/>
              </a:prstGeom>
              <a:blipFill>
                <a:blip r:embed="rId9"/>
                <a:stretch>
                  <a:fillRect/>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80079130-DA64-C204-9F10-09E86C0ACD8B}"/>
              </a:ext>
            </a:extLst>
          </p:cNvPr>
          <p:cNvSpPr txBox="1"/>
          <p:nvPr/>
        </p:nvSpPr>
        <p:spPr>
          <a:xfrm rot="5400000">
            <a:off x="1964588" y="5203852"/>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B9CC29-13E2-226E-9933-C4BCFC9D803D}"/>
                  </a:ext>
                </a:extLst>
              </p:cNvPr>
              <p:cNvSpPr txBox="1"/>
              <p:nvPr/>
            </p:nvSpPr>
            <p:spPr>
              <a:xfrm>
                <a:off x="1627045" y="473961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i="1">
                              <a:solidFill>
                                <a:schemeClr val="bg1">
                                  <a:lumMod val="95000"/>
                                </a:schemeClr>
                              </a:solidFill>
                              <a:latin typeface="Cambria Math" panose="02040503050406030204" pitchFamily="18" charset="0"/>
                            </a:rPr>
                            <m:t>𝑋</m:t>
                          </m:r>
                        </m:e>
                        <m:sub>
                          <m:r>
                            <a:rPr lang="en-US" sz="1400" b="0" i="1" smtClean="0">
                              <a:solidFill>
                                <a:schemeClr val="bg1">
                                  <a:lumMod val="95000"/>
                                </a:schemeClr>
                              </a:solidFill>
                              <a:latin typeface="Cambria Math" panose="02040503050406030204" pitchFamily="18" charset="0"/>
                            </a:rPr>
                            <m:t>31</m:t>
                          </m:r>
                        </m:sub>
                      </m:sSub>
                    </m:oMath>
                  </m:oMathPara>
                </a14:m>
                <a:endParaRPr lang="en-US" sz="1400" dirty="0">
                  <a:solidFill>
                    <a:schemeClr val="bg1">
                      <a:lumMod val="95000"/>
                    </a:schemeClr>
                  </a:solidFill>
                </a:endParaRPr>
              </a:p>
            </p:txBody>
          </p:sp>
        </mc:Choice>
        <mc:Fallback xmlns="">
          <p:sp>
            <p:nvSpPr>
              <p:cNvPr id="40" name="TextBox 39">
                <a:extLst>
                  <a:ext uri="{FF2B5EF4-FFF2-40B4-BE49-F238E27FC236}">
                    <a16:creationId xmlns:a16="http://schemas.microsoft.com/office/drawing/2014/main" id="{A1B9CC29-13E2-226E-9933-C4BCFC9D803D}"/>
                  </a:ext>
                </a:extLst>
              </p:cNvPr>
              <p:cNvSpPr txBox="1">
                <a:spLocks noRot="1" noChangeAspect="1" noMove="1" noResize="1" noEditPoints="1" noAdjustHandles="1" noChangeArrowheads="1" noChangeShapeType="1" noTextEdit="1"/>
              </p:cNvSpPr>
              <p:nvPr/>
            </p:nvSpPr>
            <p:spPr>
              <a:xfrm>
                <a:off x="1627045" y="4739613"/>
                <a:ext cx="893237" cy="307777"/>
              </a:xfrm>
              <a:prstGeom prst="rect">
                <a:avLst/>
              </a:prstGeom>
              <a:blipFill>
                <a:blip r:embed="rId10"/>
                <a:stretch>
                  <a:fillRect/>
                </a:stretch>
              </a:blipFill>
            </p:spPr>
            <p:txBody>
              <a:bodyPr/>
              <a:lstStyle/>
              <a:p>
                <a:r>
                  <a:rPr lang="en-US">
                    <a:noFill/>
                  </a:rPr>
                  <a:t> </a:t>
                </a:r>
              </a:p>
            </p:txBody>
          </p:sp>
        </mc:Fallback>
      </mc:AlternateContent>
      <p:sp>
        <p:nvSpPr>
          <p:cNvPr id="49" name="Rounded Rectangle 48">
            <a:extLst>
              <a:ext uri="{FF2B5EF4-FFF2-40B4-BE49-F238E27FC236}">
                <a16:creationId xmlns:a16="http://schemas.microsoft.com/office/drawing/2014/main" id="{9DD4A8F0-886C-347A-886A-C42E8FC355A8}"/>
              </a:ext>
            </a:extLst>
          </p:cNvPr>
          <p:cNvSpPr/>
          <p:nvPr/>
        </p:nvSpPr>
        <p:spPr>
          <a:xfrm>
            <a:off x="2324847" y="4754694"/>
            <a:ext cx="392478" cy="463119"/>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87F3C43-A78F-708F-8D5C-4261B84D1DF9}"/>
                  </a:ext>
                </a:extLst>
              </p:cNvPr>
              <p:cNvSpPr txBox="1"/>
              <p:nvPr/>
            </p:nvSpPr>
            <p:spPr>
              <a:xfrm>
                <a:off x="2276160" y="4754694"/>
                <a:ext cx="4901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oMath>
                  </m:oMathPara>
                </a14:m>
                <a:endParaRPr lang="en-US" dirty="0"/>
              </a:p>
            </p:txBody>
          </p:sp>
        </mc:Choice>
        <mc:Fallback xmlns="">
          <p:sp>
            <p:nvSpPr>
              <p:cNvPr id="52" name="TextBox 51">
                <a:extLst>
                  <a:ext uri="{FF2B5EF4-FFF2-40B4-BE49-F238E27FC236}">
                    <a16:creationId xmlns:a16="http://schemas.microsoft.com/office/drawing/2014/main" id="{787F3C43-A78F-708F-8D5C-4261B84D1DF9}"/>
                  </a:ext>
                </a:extLst>
              </p:cNvPr>
              <p:cNvSpPr txBox="1">
                <a:spLocks noRot="1" noChangeAspect="1" noMove="1" noResize="1" noEditPoints="1" noAdjustHandles="1" noChangeArrowheads="1" noChangeShapeType="1" noTextEdit="1"/>
              </p:cNvSpPr>
              <p:nvPr/>
            </p:nvSpPr>
            <p:spPr>
              <a:xfrm>
                <a:off x="2276160" y="4754694"/>
                <a:ext cx="490169" cy="369332"/>
              </a:xfrm>
              <a:prstGeom prst="rect">
                <a:avLst/>
              </a:prstGeom>
              <a:blipFill>
                <a:blip r:embed="rId11"/>
                <a:stretch>
                  <a:fillRect b="-13333"/>
                </a:stretch>
              </a:blipFill>
            </p:spPr>
            <p:txBody>
              <a:bodyPr/>
              <a:lstStyle/>
              <a:p>
                <a:r>
                  <a:rPr lang="en-US">
                    <a:noFill/>
                  </a:rPr>
                  <a:t> </a:t>
                </a:r>
              </a:p>
            </p:txBody>
          </p:sp>
        </mc:Fallback>
      </mc:AlternateContent>
      <p:sp>
        <p:nvSpPr>
          <p:cNvPr id="53" name="Rounded Rectangle 52">
            <a:extLst>
              <a:ext uri="{FF2B5EF4-FFF2-40B4-BE49-F238E27FC236}">
                <a16:creationId xmlns:a16="http://schemas.microsoft.com/office/drawing/2014/main" id="{F8AFA1BD-94A8-12E1-D8CE-B724779AF426}"/>
              </a:ext>
            </a:extLst>
          </p:cNvPr>
          <p:cNvSpPr/>
          <p:nvPr/>
        </p:nvSpPr>
        <p:spPr>
          <a:xfrm>
            <a:off x="3190155" y="4082999"/>
            <a:ext cx="286187" cy="1856721"/>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4" name="TextBox 53">
            <a:extLst>
              <a:ext uri="{FF2B5EF4-FFF2-40B4-BE49-F238E27FC236}">
                <a16:creationId xmlns:a16="http://schemas.microsoft.com/office/drawing/2014/main" id="{483356F7-07DD-A4AE-BBD2-512C7E5D14D2}"/>
              </a:ext>
            </a:extLst>
          </p:cNvPr>
          <p:cNvSpPr txBox="1"/>
          <p:nvPr/>
        </p:nvSpPr>
        <p:spPr>
          <a:xfrm>
            <a:off x="3578622" y="4789749"/>
            <a:ext cx="300082"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5791C99-7C62-DE24-7A9D-81E3D0B20AA3}"/>
                  </a:ext>
                </a:extLst>
              </p:cNvPr>
              <p:cNvSpPr txBox="1"/>
              <p:nvPr/>
            </p:nvSpPr>
            <p:spPr>
              <a:xfrm>
                <a:off x="2895014" y="4110690"/>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b="0" i="1" smtClean="0">
                              <a:solidFill>
                                <a:schemeClr val="bg1">
                                  <a:lumMod val="95000"/>
                                </a:schemeClr>
                              </a:solidFill>
                              <a:latin typeface="Cambria Math" panose="02040503050406030204" pitchFamily="18" charset="0"/>
                            </a:rPr>
                            <m:t>𝑔</m:t>
                          </m:r>
                        </m:e>
                        <m:sub>
                          <m:r>
                            <a:rPr lang="en-US" sz="1400" b="0" i="1" smtClean="0">
                              <a:solidFill>
                                <a:schemeClr val="bg1">
                                  <a:lumMod val="95000"/>
                                </a:schemeClr>
                              </a:solidFill>
                              <a:latin typeface="Cambria Math" panose="02040503050406030204" pitchFamily="18" charset="0"/>
                            </a:rPr>
                            <m:t>1</m:t>
                          </m:r>
                        </m:sub>
                      </m:sSub>
                    </m:oMath>
                  </m:oMathPara>
                </a14:m>
                <a:endParaRPr lang="en-US" sz="1400" dirty="0">
                  <a:solidFill>
                    <a:schemeClr val="bg1">
                      <a:lumMod val="95000"/>
                    </a:schemeClr>
                  </a:solidFill>
                </a:endParaRPr>
              </a:p>
            </p:txBody>
          </p:sp>
        </mc:Choice>
        <mc:Fallback xmlns="">
          <p:sp>
            <p:nvSpPr>
              <p:cNvPr id="55" name="TextBox 54">
                <a:extLst>
                  <a:ext uri="{FF2B5EF4-FFF2-40B4-BE49-F238E27FC236}">
                    <a16:creationId xmlns:a16="http://schemas.microsoft.com/office/drawing/2014/main" id="{05791C99-7C62-DE24-7A9D-81E3D0B20AA3}"/>
                  </a:ext>
                </a:extLst>
              </p:cNvPr>
              <p:cNvSpPr txBox="1">
                <a:spLocks noRot="1" noChangeAspect="1" noMove="1" noResize="1" noEditPoints="1" noAdjustHandles="1" noChangeArrowheads="1" noChangeShapeType="1" noTextEdit="1"/>
              </p:cNvSpPr>
              <p:nvPr/>
            </p:nvSpPr>
            <p:spPr>
              <a:xfrm>
                <a:off x="2895014" y="4110690"/>
                <a:ext cx="893237" cy="307777"/>
              </a:xfrm>
              <a:prstGeom prst="rect">
                <a:avLst/>
              </a:prstGeom>
              <a:blipFill>
                <a:blip r:embed="rId12"/>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873B343F-FF66-FB33-BF6F-5C8D6157E970}"/>
                  </a:ext>
                </a:extLst>
              </p:cNvPr>
              <p:cNvSpPr txBox="1"/>
              <p:nvPr/>
            </p:nvSpPr>
            <p:spPr>
              <a:xfrm>
                <a:off x="2895013" y="445509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b="0" i="1" smtClean="0">
                              <a:solidFill>
                                <a:schemeClr val="bg1">
                                  <a:lumMod val="95000"/>
                                </a:schemeClr>
                              </a:solidFill>
                              <a:latin typeface="Cambria Math" panose="02040503050406030204" pitchFamily="18" charset="0"/>
                            </a:rPr>
                            <m:t>𝑔</m:t>
                          </m:r>
                        </m:e>
                        <m:sub>
                          <m:r>
                            <a:rPr lang="en-US" sz="1400" b="0" i="1" smtClean="0">
                              <a:solidFill>
                                <a:schemeClr val="bg1">
                                  <a:lumMod val="95000"/>
                                </a:schemeClr>
                              </a:solidFill>
                              <a:latin typeface="Cambria Math" panose="02040503050406030204" pitchFamily="18" charset="0"/>
                            </a:rPr>
                            <m:t>2</m:t>
                          </m:r>
                        </m:sub>
                      </m:sSub>
                    </m:oMath>
                  </m:oMathPara>
                </a14:m>
                <a:endParaRPr lang="en-US" sz="1400" dirty="0">
                  <a:solidFill>
                    <a:schemeClr val="bg1">
                      <a:lumMod val="95000"/>
                    </a:schemeClr>
                  </a:solidFill>
                </a:endParaRPr>
              </a:p>
            </p:txBody>
          </p:sp>
        </mc:Choice>
        <mc:Fallback xmlns="">
          <p:sp>
            <p:nvSpPr>
              <p:cNvPr id="56" name="TextBox 55">
                <a:extLst>
                  <a:ext uri="{FF2B5EF4-FFF2-40B4-BE49-F238E27FC236}">
                    <a16:creationId xmlns:a16="http://schemas.microsoft.com/office/drawing/2014/main" id="{873B343F-FF66-FB33-BF6F-5C8D6157E970}"/>
                  </a:ext>
                </a:extLst>
              </p:cNvPr>
              <p:cNvSpPr txBox="1">
                <a:spLocks noRot="1" noChangeAspect="1" noMove="1" noResize="1" noEditPoints="1" noAdjustHandles="1" noChangeArrowheads="1" noChangeShapeType="1" noTextEdit="1"/>
              </p:cNvSpPr>
              <p:nvPr/>
            </p:nvSpPr>
            <p:spPr>
              <a:xfrm>
                <a:off x="2895013" y="4455093"/>
                <a:ext cx="893237" cy="307777"/>
              </a:xfrm>
              <a:prstGeom prst="rect">
                <a:avLst/>
              </a:prstGeom>
              <a:blipFill>
                <a:blip r:embed="rId13"/>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D4D742F-0367-C940-11F5-33F064058C69}"/>
                  </a:ext>
                </a:extLst>
              </p:cNvPr>
              <p:cNvSpPr txBox="1"/>
              <p:nvPr/>
            </p:nvSpPr>
            <p:spPr>
              <a:xfrm>
                <a:off x="2895014" y="5631529"/>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b="0" i="1" smtClean="0">
                              <a:solidFill>
                                <a:schemeClr val="bg1">
                                  <a:lumMod val="95000"/>
                                </a:schemeClr>
                              </a:solidFill>
                              <a:latin typeface="Cambria Math" panose="02040503050406030204" pitchFamily="18" charset="0"/>
                            </a:rPr>
                            <m:t>𝑔</m:t>
                          </m:r>
                        </m:e>
                        <m:sub>
                          <m:r>
                            <a:rPr lang="en-US" sz="1400" b="0" i="1" smtClean="0">
                              <a:solidFill>
                                <a:schemeClr val="bg1">
                                  <a:lumMod val="95000"/>
                                </a:schemeClr>
                              </a:solidFill>
                              <a:latin typeface="Cambria Math" panose="02040503050406030204" pitchFamily="18" charset="0"/>
                            </a:rPr>
                            <m:t>𝑁</m:t>
                          </m:r>
                        </m:sub>
                      </m:sSub>
                    </m:oMath>
                  </m:oMathPara>
                </a14:m>
                <a:endParaRPr lang="en-US" sz="1400" dirty="0">
                  <a:solidFill>
                    <a:schemeClr val="bg1">
                      <a:lumMod val="95000"/>
                    </a:schemeClr>
                  </a:solidFill>
                </a:endParaRPr>
              </a:p>
            </p:txBody>
          </p:sp>
        </mc:Choice>
        <mc:Fallback xmlns="">
          <p:sp>
            <p:nvSpPr>
              <p:cNvPr id="57" name="TextBox 56">
                <a:extLst>
                  <a:ext uri="{FF2B5EF4-FFF2-40B4-BE49-F238E27FC236}">
                    <a16:creationId xmlns:a16="http://schemas.microsoft.com/office/drawing/2014/main" id="{3D4D742F-0367-C940-11F5-33F064058C69}"/>
                  </a:ext>
                </a:extLst>
              </p:cNvPr>
              <p:cNvSpPr txBox="1">
                <a:spLocks noRot="1" noChangeAspect="1" noMove="1" noResize="1" noEditPoints="1" noAdjustHandles="1" noChangeArrowheads="1" noChangeShapeType="1" noTextEdit="1"/>
              </p:cNvSpPr>
              <p:nvPr/>
            </p:nvSpPr>
            <p:spPr>
              <a:xfrm>
                <a:off x="2895014" y="5631529"/>
                <a:ext cx="893237" cy="307777"/>
              </a:xfrm>
              <a:prstGeom prst="rect">
                <a:avLst/>
              </a:prstGeom>
              <a:blipFill>
                <a:blip r:embed="rId14"/>
                <a:stretch>
                  <a:fillRect b="-4000"/>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4863E71B-D20C-CA6A-5FEB-698CA9CE2BCE}"/>
              </a:ext>
            </a:extLst>
          </p:cNvPr>
          <p:cNvSpPr txBox="1"/>
          <p:nvPr/>
        </p:nvSpPr>
        <p:spPr>
          <a:xfrm rot="5400000">
            <a:off x="3234496" y="5203852"/>
            <a:ext cx="343364" cy="369332"/>
          </a:xfrm>
          <a:prstGeom prst="rect">
            <a:avLst/>
          </a:prstGeom>
          <a:noFill/>
        </p:spPr>
        <p:txBody>
          <a:bodyPr wrap="none" rtlCol="0">
            <a:spAutoFit/>
          </a:bodyPr>
          <a:lstStyle/>
          <a:p>
            <a:r>
              <a:rPr lang="en-US" dirty="0">
                <a:solidFill>
                  <a:schemeClr val="bg1">
                    <a:lumMod val="95000"/>
                  </a:schemeClr>
                </a:solidFill>
              </a:rPr>
              <a:t>…</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7333BCA-5CA4-AEDE-2D03-DA5F917FD75F}"/>
                  </a:ext>
                </a:extLst>
              </p:cNvPr>
              <p:cNvSpPr txBox="1"/>
              <p:nvPr/>
            </p:nvSpPr>
            <p:spPr>
              <a:xfrm>
                <a:off x="2896953" y="4739613"/>
                <a:ext cx="89323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chemeClr val="bg1">
                                  <a:lumMod val="95000"/>
                                </a:schemeClr>
                              </a:solidFill>
                              <a:latin typeface="Cambria Math" panose="02040503050406030204" pitchFamily="18" charset="0"/>
                            </a:rPr>
                          </m:ctrlPr>
                        </m:sSubPr>
                        <m:e>
                          <m:r>
                            <a:rPr lang="en-US" sz="1400" b="0" i="1" smtClean="0">
                              <a:solidFill>
                                <a:schemeClr val="bg1">
                                  <a:lumMod val="95000"/>
                                </a:schemeClr>
                              </a:solidFill>
                              <a:latin typeface="Cambria Math" panose="02040503050406030204" pitchFamily="18" charset="0"/>
                            </a:rPr>
                            <m:t>𝑔</m:t>
                          </m:r>
                        </m:e>
                        <m:sub>
                          <m:r>
                            <a:rPr lang="en-US" sz="1400" b="0" i="1" smtClean="0">
                              <a:solidFill>
                                <a:schemeClr val="bg1">
                                  <a:lumMod val="95000"/>
                                </a:schemeClr>
                              </a:solidFill>
                              <a:latin typeface="Cambria Math" panose="02040503050406030204" pitchFamily="18" charset="0"/>
                            </a:rPr>
                            <m:t>3</m:t>
                          </m:r>
                        </m:sub>
                      </m:sSub>
                    </m:oMath>
                  </m:oMathPara>
                </a14:m>
                <a:endParaRPr lang="en-US" sz="1400" dirty="0">
                  <a:solidFill>
                    <a:schemeClr val="bg1">
                      <a:lumMod val="95000"/>
                    </a:schemeClr>
                  </a:solidFill>
                </a:endParaRPr>
              </a:p>
            </p:txBody>
          </p:sp>
        </mc:Choice>
        <mc:Fallback xmlns="">
          <p:sp>
            <p:nvSpPr>
              <p:cNvPr id="59" name="TextBox 58">
                <a:extLst>
                  <a:ext uri="{FF2B5EF4-FFF2-40B4-BE49-F238E27FC236}">
                    <a16:creationId xmlns:a16="http://schemas.microsoft.com/office/drawing/2014/main" id="{B7333BCA-5CA4-AEDE-2D03-DA5F917FD75F}"/>
                  </a:ext>
                </a:extLst>
              </p:cNvPr>
              <p:cNvSpPr txBox="1">
                <a:spLocks noRot="1" noChangeAspect="1" noMove="1" noResize="1" noEditPoints="1" noAdjustHandles="1" noChangeArrowheads="1" noChangeShapeType="1" noTextEdit="1"/>
              </p:cNvSpPr>
              <p:nvPr/>
            </p:nvSpPr>
            <p:spPr>
              <a:xfrm>
                <a:off x="2896953" y="4739613"/>
                <a:ext cx="893237" cy="307777"/>
              </a:xfrm>
              <a:prstGeom prst="rect">
                <a:avLst/>
              </a:prstGeom>
              <a:blipFill>
                <a:blip r:embed="rId15"/>
                <a:stretch>
                  <a:fillRect/>
                </a:stretch>
              </a:blipFill>
            </p:spPr>
            <p:txBody>
              <a:bodyPr/>
              <a:lstStyle/>
              <a:p>
                <a:r>
                  <a:rPr lang="en-US">
                    <a:noFill/>
                  </a:rPr>
                  <a:t> </a:t>
                </a:r>
              </a:p>
            </p:txBody>
          </p:sp>
        </mc:Fallback>
      </mc:AlternateContent>
      <p:sp>
        <p:nvSpPr>
          <p:cNvPr id="62" name="TextBox 61">
            <a:extLst>
              <a:ext uri="{FF2B5EF4-FFF2-40B4-BE49-F238E27FC236}">
                <a16:creationId xmlns:a16="http://schemas.microsoft.com/office/drawing/2014/main" id="{91D4C761-D63A-18E3-F787-AD59C0F6498C}"/>
              </a:ext>
            </a:extLst>
          </p:cNvPr>
          <p:cNvSpPr txBox="1"/>
          <p:nvPr/>
        </p:nvSpPr>
        <p:spPr>
          <a:xfrm>
            <a:off x="6278062" y="4018357"/>
            <a:ext cx="1609287" cy="400110"/>
          </a:xfrm>
          <a:prstGeom prst="rect">
            <a:avLst/>
          </a:prstGeom>
          <a:noFill/>
        </p:spPr>
        <p:txBody>
          <a:bodyPr wrap="none" rtlCol="0">
            <a:spAutoFit/>
          </a:bodyPr>
          <a:lstStyle/>
          <a:p>
            <a:r>
              <a:rPr lang="en-US" sz="2000" b="1" dirty="0"/>
              <a:t>Recall GRM…</a:t>
            </a:r>
          </a:p>
        </p:txBody>
      </p:sp>
      <p:sp>
        <p:nvSpPr>
          <p:cNvPr id="64" name="Rounded Rectangle 63">
            <a:extLst>
              <a:ext uri="{FF2B5EF4-FFF2-40B4-BE49-F238E27FC236}">
                <a16:creationId xmlns:a16="http://schemas.microsoft.com/office/drawing/2014/main" id="{B568573C-F06D-28F7-1D5D-F12DA215F799}"/>
              </a:ext>
            </a:extLst>
          </p:cNvPr>
          <p:cNvSpPr/>
          <p:nvPr/>
        </p:nvSpPr>
        <p:spPr>
          <a:xfrm>
            <a:off x="5719608" y="5454812"/>
            <a:ext cx="1487784" cy="1418322"/>
          </a:xfrm>
          <a:prstGeom prst="roundRect">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9" name="Rounded Rectangle 8">
            <a:extLst>
              <a:ext uri="{FF2B5EF4-FFF2-40B4-BE49-F238E27FC236}">
                <a16:creationId xmlns:a16="http://schemas.microsoft.com/office/drawing/2014/main" id="{82A0BFEE-7FFE-7DB3-4C65-B321A95E5826}"/>
              </a:ext>
            </a:extLst>
          </p:cNvPr>
          <p:cNvSpPr/>
          <p:nvPr/>
        </p:nvSpPr>
        <p:spPr>
          <a:xfrm>
            <a:off x="7171815" y="6873617"/>
            <a:ext cx="1115539" cy="10249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aphicFrame>
        <p:nvGraphicFramePr>
          <p:cNvPr id="63" name="Table 62">
            <a:extLst>
              <a:ext uri="{FF2B5EF4-FFF2-40B4-BE49-F238E27FC236}">
                <a16:creationId xmlns:a16="http://schemas.microsoft.com/office/drawing/2014/main" id="{360FE0ED-037E-A8C0-A264-3EDFBA7A0BA4}"/>
              </a:ext>
            </a:extLst>
          </p:cNvPr>
          <p:cNvGraphicFramePr>
            <a:graphicFrameLocks noGrp="1"/>
          </p:cNvGraphicFramePr>
          <p:nvPr>
            <p:extLst>
              <p:ext uri="{D42A27DB-BD31-4B8C-83A1-F6EECF244321}">
                <p14:modId xmlns:p14="http://schemas.microsoft.com/office/powerpoint/2010/main" val="1168520125"/>
              </p:ext>
            </p:extLst>
          </p:nvPr>
        </p:nvGraphicFramePr>
        <p:xfrm>
          <a:off x="5711668" y="5435672"/>
          <a:ext cx="2546820" cy="2460160"/>
        </p:xfrm>
        <a:graphic>
          <a:graphicData uri="http://schemas.openxmlformats.org/drawingml/2006/table">
            <a:tbl>
              <a:tblPr>
                <a:tableStyleId>{2D5ABB26-0587-4C30-8999-92F81FD0307C}</a:tableStyleId>
              </a:tblPr>
              <a:tblGrid>
                <a:gridCol w="509364">
                  <a:extLst>
                    <a:ext uri="{9D8B030D-6E8A-4147-A177-3AD203B41FA5}">
                      <a16:colId xmlns:a16="http://schemas.microsoft.com/office/drawing/2014/main" val="4155823044"/>
                    </a:ext>
                  </a:extLst>
                </a:gridCol>
                <a:gridCol w="509364">
                  <a:extLst>
                    <a:ext uri="{9D8B030D-6E8A-4147-A177-3AD203B41FA5}">
                      <a16:colId xmlns:a16="http://schemas.microsoft.com/office/drawing/2014/main" val="2651163248"/>
                    </a:ext>
                  </a:extLst>
                </a:gridCol>
                <a:gridCol w="509364">
                  <a:extLst>
                    <a:ext uri="{9D8B030D-6E8A-4147-A177-3AD203B41FA5}">
                      <a16:colId xmlns:a16="http://schemas.microsoft.com/office/drawing/2014/main" val="1024429609"/>
                    </a:ext>
                  </a:extLst>
                </a:gridCol>
                <a:gridCol w="509364">
                  <a:extLst>
                    <a:ext uri="{9D8B030D-6E8A-4147-A177-3AD203B41FA5}">
                      <a16:colId xmlns:a16="http://schemas.microsoft.com/office/drawing/2014/main" val="2159546137"/>
                    </a:ext>
                  </a:extLst>
                </a:gridCol>
                <a:gridCol w="509364">
                  <a:extLst>
                    <a:ext uri="{9D8B030D-6E8A-4147-A177-3AD203B41FA5}">
                      <a16:colId xmlns:a16="http://schemas.microsoft.com/office/drawing/2014/main" val="1589954523"/>
                    </a:ext>
                  </a:extLst>
                </a:gridCol>
              </a:tblGrid>
              <a:tr h="492032">
                <a:tc>
                  <a:txBody>
                    <a:bodyPr/>
                    <a:lstStyle/>
                    <a:p>
                      <a:pPr marL="0" indent="0" algn="ctr">
                        <a:buFont typeface="Arial" panose="020B0604020202020204" pitchFamily="34" charset="0"/>
                        <a:buNone/>
                      </a:pPr>
                      <a:r>
                        <a:rPr lang="en-US" sz="1400" b="1" dirty="0"/>
                        <a:t>1</a:t>
                      </a:r>
                    </a:p>
                  </a:txBody>
                  <a:tcPr anchor="ctr"/>
                </a:tc>
                <a:tc>
                  <a:txBody>
                    <a:bodyPr/>
                    <a:lstStyle/>
                    <a:p>
                      <a:pPr marL="0" indent="0" algn="ctr">
                        <a:buFont typeface="Arial" panose="020B0604020202020204" pitchFamily="34" charset="0"/>
                        <a:buNone/>
                      </a:pPr>
                      <a:r>
                        <a:rPr lang="en-US" sz="1400" b="1" dirty="0"/>
                        <a:t>0.5</a:t>
                      </a:r>
                    </a:p>
                  </a:txBody>
                  <a:tcPr anchor="ctr"/>
                </a:tc>
                <a:tc>
                  <a:txBody>
                    <a:bodyPr/>
                    <a:lstStyle/>
                    <a:p>
                      <a:pPr marL="0" indent="0" algn="ctr">
                        <a:buFont typeface="Arial" panose="020B0604020202020204" pitchFamily="34" charset="0"/>
                        <a:buNone/>
                      </a:pPr>
                      <a:r>
                        <a:rPr lang="en-US" sz="1400" b="1" dirty="0"/>
                        <a:t>0.5</a:t>
                      </a:r>
                    </a:p>
                  </a:txBody>
                  <a:tcPr anchor="ctr"/>
                </a:tc>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a:t>
                      </a:r>
                    </a:p>
                  </a:txBody>
                  <a:tcPr anchor="ctr"/>
                </a:tc>
                <a:extLst>
                  <a:ext uri="{0D108BD9-81ED-4DB2-BD59-A6C34878D82A}">
                    <a16:rowId xmlns:a16="http://schemas.microsoft.com/office/drawing/2014/main" val="3005854363"/>
                  </a:ext>
                </a:extLst>
              </a:tr>
              <a:tr h="492032">
                <a:tc>
                  <a:txBody>
                    <a:bodyPr/>
                    <a:lstStyle/>
                    <a:p>
                      <a:pPr marL="0" indent="0" algn="ctr">
                        <a:buFont typeface="Arial" panose="020B0604020202020204" pitchFamily="34" charset="0"/>
                        <a:buNone/>
                      </a:pPr>
                      <a:r>
                        <a:rPr lang="en-US" sz="1400" b="1" dirty="0"/>
                        <a:t>0.5</a:t>
                      </a:r>
                    </a:p>
                  </a:txBody>
                  <a:tcPr anchor="ctr"/>
                </a:tc>
                <a:tc>
                  <a:txBody>
                    <a:bodyPr/>
                    <a:lstStyle/>
                    <a:p>
                      <a:pPr marL="0" indent="0" algn="ctr">
                        <a:buFont typeface="Arial" panose="020B0604020202020204" pitchFamily="34" charset="0"/>
                        <a:buNone/>
                      </a:pPr>
                      <a:r>
                        <a:rPr lang="en-US" sz="1400" b="1" dirty="0"/>
                        <a:t>1</a:t>
                      </a:r>
                    </a:p>
                  </a:txBody>
                  <a:tcPr anchor="ctr"/>
                </a:tc>
                <a:tc>
                  <a:txBody>
                    <a:bodyPr/>
                    <a:lstStyle/>
                    <a:p>
                      <a:pPr marL="0" indent="0" algn="ctr">
                        <a:buFont typeface="Arial" panose="020B0604020202020204" pitchFamily="34" charset="0"/>
                        <a:buNone/>
                      </a:pPr>
                      <a:r>
                        <a:rPr lang="en-US" sz="1400" b="1" dirty="0"/>
                        <a:t>0.5</a:t>
                      </a:r>
                    </a:p>
                  </a:txBody>
                  <a:tcPr anchor="ctr"/>
                </a:tc>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a:t>
                      </a:r>
                    </a:p>
                  </a:txBody>
                  <a:tcPr anchor="ctr"/>
                </a:tc>
                <a:extLst>
                  <a:ext uri="{0D108BD9-81ED-4DB2-BD59-A6C34878D82A}">
                    <a16:rowId xmlns:a16="http://schemas.microsoft.com/office/drawing/2014/main" val="1951528846"/>
                  </a:ext>
                </a:extLst>
              </a:tr>
              <a:tr h="492032">
                <a:tc>
                  <a:txBody>
                    <a:bodyPr/>
                    <a:lstStyle/>
                    <a:p>
                      <a:pPr marL="0" indent="0" algn="ctr">
                        <a:buFont typeface="Arial" panose="020B0604020202020204" pitchFamily="34" charset="0"/>
                        <a:buNone/>
                      </a:pPr>
                      <a:r>
                        <a:rPr lang="en-US" sz="1400" b="1" dirty="0"/>
                        <a:t>0.5</a:t>
                      </a:r>
                    </a:p>
                  </a:txBody>
                  <a:tcPr anchor="ctr"/>
                </a:tc>
                <a:tc>
                  <a:txBody>
                    <a:bodyPr/>
                    <a:lstStyle/>
                    <a:p>
                      <a:pPr marL="0" indent="0" algn="ctr">
                        <a:buFont typeface="Arial" panose="020B0604020202020204" pitchFamily="34" charset="0"/>
                        <a:buNone/>
                      </a:pPr>
                      <a:r>
                        <a:rPr lang="en-US" sz="1400" b="1" dirty="0"/>
                        <a:t>0.5</a:t>
                      </a:r>
                    </a:p>
                  </a:txBody>
                  <a:tcPr anchor="ctr"/>
                </a:tc>
                <a:tc>
                  <a:txBody>
                    <a:bodyPr/>
                    <a:lstStyle/>
                    <a:p>
                      <a:pPr marL="0" indent="0" algn="ctr">
                        <a:buFont typeface="Arial" panose="020B0604020202020204" pitchFamily="34" charset="0"/>
                        <a:buNone/>
                      </a:pPr>
                      <a:r>
                        <a:rPr lang="en-US" sz="1400" b="1" dirty="0"/>
                        <a:t>1</a:t>
                      </a:r>
                    </a:p>
                  </a:txBody>
                  <a:tcPr anchor="ctr"/>
                </a:tc>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a:t>
                      </a:r>
                    </a:p>
                  </a:txBody>
                  <a:tcPr anchor="ctr"/>
                </a:tc>
                <a:extLst>
                  <a:ext uri="{0D108BD9-81ED-4DB2-BD59-A6C34878D82A}">
                    <a16:rowId xmlns:a16="http://schemas.microsoft.com/office/drawing/2014/main" val="17430844"/>
                  </a:ext>
                </a:extLst>
              </a:tr>
              <a:tr h="492032">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1</a:t>
                      </a:r>
                    </a:p>
                  </a:txBody>
                  <a:tcPr anchor="ctr"/>
                </a:tc>
                <a:tc>
                  <a:txBody>
                    <a:bodyPr/>
                    <a:lstStyle/>
                    <a:p>
                      <a:pPr marL="0" indent="0" algn="ctr">
                        <a:buFont typeface="Arial" panose="020B0604020202020204" pitchFamily="34" charset="0"/>
                        <a:buNone/>
                      </a:pPr>
                      <a:r>
                        <a:rPr lang="en-US" sz="1400" b="1" dirty="0"/>
                        <a:t>0.5</a:t>
                      </a:r>
                    </a:p>
                  </a:txBody>
                  <a:tcPr anchor="ctr"/>
                </a:tc>
                <a:extLst>
                  <a:ext uri="{0D108BD9-81ED-4DB2-BD59-A6C34878D82A}">
                    <a16:rowId xmlns:a16="http://schemas.microsoft.com/office/drawing/2014/main" val="2014519658"/>
                  </a:ext>
                </a:extLst>
              </a:tr>
              <a:tr h="492032">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a:t>
                      </a:r>
                    </a:p>
                  </a:txBody>
                  <a:tcPr anchor="ctr"/>
                </a:tc>
                <a:tc>
                  <a:txBody>
                    <a:bodyPr/>
                    <a:lstStyle/>
                    <a:p>
                      <a:pPr marL="0" indent="0" algn="ctr">
                        <a:buFont typeface="Arial" panose="020B0604020202020204" pitchFamily="34" charset="0"/>
                        <a:buNone/>
                      </a:pPr>
                      <a:r>
                        <a:rPr lang="en-US" sz="1400" b="1" dirty="0"/>
                        <a:t>0.5</a:t>
                      </a:r>
                    </a:p>
                  </a:txBody>
                  <a:tcPr anchor="ctr"/>
                </a:tc>
                <a:tc>
                  <a:txBody>
                    <a:bodyPr/>
                    <a:lstStyle/>
                    <a:p>
                      <a:pPr marL="0" indent="0" algn="ctr">
                        <a:buFont typeface="Arial" panose="020B0604020202020204" pitchFamily="34" charset="0"/>
                        <a:buNone/>
                      </a:pPr>
                      <a:r>
                        <a:rPr lang="en-US" sz="1400" b="1" dirty="0"/>
                        <a:t>1</a:t>
                      </a:r>
                    </a:p>
                  </a:txBody>
                  <a:tcPr anchor="ctr"/>
                </a:tc>
                <a:extLst>
                  <a:ext uri="{0D108BD9-81ED-4DB2-BD59-A6C34878D82A}">
                    <a16:rowId xmlns:a16="http://schemas.microsoft.com/office/drawing/2014/main" val="3330382728"/>
                  </a:ext>
                </a:extLst>
              </a:tr>
            </a:tbl>
          </a:graphicData>
        </a:graphic>
      </p:graphicFrame>
      <p:sp>
        <p:nvSpPr>
          <p:cNvPr id="66" name="TextBox 65">
            <a:extLst>
              <a:ext uri="{FF2B5EF4-FFF2-40B4-BE49-F238E27FC236}">
                <a16:creationId xmlns:a16="http://schemas.microsoft.com/office/drawing/2014/main" id="{6EB8D4EE-C483-988F-B1D3-EB23CEBDF7AB}"/>
              </a:ext>
            </a:extLst>
          </p:cNvPr>
          <p:cNvSpPr txBox="1"/>
          <p:nvPr/>
        </p:nvSpPr>
        <p:spPr>
          <a:xfrm>
            <a:off x="5520072" y="4398129"/>
            <a:ext cx="2918481" cy="738664"/>
          </a:xfrm>
          <a:prstGeom prst="rect">
            <a:avLst/>
          </a:prstGeom>
          <a:noFill/>
        </p:spPr>
        <p:txBody>
          <a:bodyPr wrap="square" rtlCol="0">
            <a:spAutoFit/>
          </a:bodyPr>
          <a:lstStyle/>
          <a:p>
            <a:pPr algn="ctr"/>
            <a:r>
              <a:rPr lang="en-US" sz="1400" dirty="0"/>
              <a:t>Captures the relatedness between samples, where family/ancestry reflects shared genetics!</a:t>
            </a:r>
          </a:p>
        </p:txBody>
      </p:sp>
      <p:cxnSp>
        <p:nvCxnSpPr>
          <p:cNvPr id="25" name="Straight Arrow Connector 24">
            <a:extLst>
              <a:ext uri="{FF2B5EF4-FFF2-40B4-BE49-F238E27FC236}">
                <a16:creationId xmlns:a16="http://schemas.microsoft.com/office/drawing/2014/main" id="{8E0B3C53-F182-CAB1-92B5-1372EE780EE3}"/>
              </a:ext>
            </a:extLst>
          </p:cNvPr>
          <p:cNvCxnSpPr>
            <a:cxnSpLocks/>
          </p:cNvCxnSpPr>
          <p:nvPr/>
        </p:nvCxnSpPr>
        <p:spPr>
          <a:xfrm flipV="1">
            <a:off x="3335461" y="6071484"/>
            <a:ext cx="0" cy="285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CEF0AAF-05CF-043A-DBF2-9AC1BCB988AF}"/>
                  </a:ext>
                </a:extLst>
              </p:cNvPr>
              <p:cNvSpPr txBox="1"/>
              <p:nvPr/>
            </p:nvSpPr>
            <p:spPr>
              <a:xfrm>
                <a:off x="665203" y="6370513"/>
                <a:ext cx="4727158" cy="2339102"/>
              </a:xfrm>
              <a:prstGeom prst="rect">
                <a:avLst/>
              </a:prstGeom>
              <a:noFill/>
            </p:spPr>
            <p:txBody>
              <a:bodyPr wrap="square" rtlCol="0">
                <a:spAutoFit/>
              </a:bodyPr>
              <a:lstStyle/>
              <a:p>
                <a:r>
                  <a:rPr lang="en-US" b="1" i="1" dirty="0">
                    <a:ea typeface="Cambria Math" panose="02040503050406030204" pitchFamily="18" charset="0"/>
                  </a:rPr>
                  <a:t>What information does </a:t>
                </a:r>
                <a14:m>
                  <m:oMath xmlns:m="http://schemas.openxmlformats.org/officeDocument/2006/math">
                    <m:r>
                      <a:rPr lang="en-US" b="1" i="1">
                        <a:latin typeface="Cambria Math" panose="02040503050406030204" pitchFamily="18" charset="0"/>
                        <a:ea typeface="Cambria Math" panose="02040503050406030204" pitchFamily="18" charset="0"/>
                      </a:rPr>
                      <m:t>𝒈</m:t>
                    </m:r>
                  </m:oMath>
                </a14:m>
                <a:r>
                  <a:rPr lang="en-US" i="1" dirty="0"/>
                  <a:t> </a:t>
                </a:r>
                <a:r>
                  <a:rPr lang="en-US" b="1" i="1" dirty="0"/>
                  <a:t>include?</a:t>
                </a:r>
              </a:p>
              <a:p>
                <a:pPr marL="285750" indent="-285750">
                  <a:buFont typeface="Arial" panose="020B0604020202020204" pitchFamily="34" charset="0"/>
                  <a:buChar char="•"/>
                </a:pPr>
                <a:r>
                  <a:rPr lang="en-US" sz="1600" dirty="0"/>
                  <a:t>Population structure and ancestry differences</a:t>
                </a:r>
              </a:p>
              <a:p>
                <a:pPr marL="285750" indent="-285750">
                  <a:buFont typeface="Arial" panose="020B0604020202020204" pitchFamily="34" charset="0"/>
                  <a:buChar char="•"/>
                </a:pPr>
                <a:r>
                  <a:rPr lang="en-US" sz="1600" dirty="0"/>
                  <a:t>Polygenic effects from thousands of small-effect variants </a:t>
                </a:r>
              </a:p>
              <a:p>
                <a:pPr marL="285750" indent="-285750">
                  <a:buFont typeface="Arial" panose="020B0604020202020204" pitchFamily="34" charset="0"/>
                  <a:buChar char="•"/>
                </a:pPr>
                <a:r>
                  <a:rPr lang="en-US" sz="1600" dirty="0"/>
                  <a:t>Family relationships and shared genetic background</a:t>
                </a:r>
              </a:p>
              <a:p>
                <a:pPr marL="285750" indent="-285750">
                  <a:buFont typeface="Arial" panose="020B0604020202020204" pitchFamily="34" charset="0"/>
                  <a:buChar char="•"/>
                </a:pPr>
                <a:r>
                  <a:rPr lang="en-US" sz="1600" dirty="0"/>
                  <a:t>Gene-gene interactions we haven't discovered</a:t>
                </a:r>
              </a:p>
              <a:p>
                <a:pPr marL="285750" indent="-285750">
                  <a:buFont typeface="Arial" panose="020B0604020202020204" pitchFamily="34" charset="0"/>
                  <a:buChar char="•"/>
                </a:pPr>
                <a:r>
                  <a:rPr lang="en-US" sz="1600" dirty="0"/>
                  <a:t>Any other source of genetic similarity between individuals</a:t>
                </a:r>
              </a:p>
            </p:txBody>
          </p:sp>
        </mc:Choice>
        <mc:Fallback xmlns="">
          <p:sp>
            <p:nvSpPr>
              <p:cNvPr id="41" name="TextBox 40">
                <a:extLst>
                  <a:ext uri="{FF2B5EF4-FFF2-40B4-BE49-F238E27FC236}">
                    <a16:creationId xmlns:a16="http://schemas.microsoft.com/office/drawing/2014/main" id="{5CEF0AAF-05CF-043A-DBF2-9AC1BCB988AF}"/>
                  </a:ext>
                </a:extLst>
              </p:cNvPr>
              <p:cNvSpPr txBox="1">
                <a:spLocks noRot="1" noChangeAspect="1" noMove="1" noResize="1" noEditPoints="1" noAdjustHandles="1" noChangeArrowheads="1" noChangeShapeType="1" noTextEdit="1"/>
              </p:cNvSpPr>
              <p:nvPr/>
            </p:nvSpPr>
            <p:spPr>
              <a:xfrm>
                <a:off x="665203" y="6370513"/>
                <a:ext cx="4727158" cy="2339102"/>
              </a:xfrm>
              <a:prstGeom prst="rect">
                <a:avLst/>
              </a:prstGeom>
              <a:blipFill>
                <a:blip r:embed="rId16"/>
                <a:stretch>
                  <a:fillRect l="-1072" t="-1081" b="-2162"/>
                </a:stretch>
              </a:blipFill>
            </p:spPr>
            <p:txBody>
              <a:bodyPr/>
              <a:lstStyle/>
              <a:p>
                <a:r>
                  <a:rPr lang="en-US">
                    <a:noFill/>
                  </a:rPr>
                  <a:t> </a:t>
                </a:r>
              </a:p>
            </p:txBody>
          </p:sp>
        </mc:Fallback>
      </mc:AlternateContent>
    </p:spTree>
    <p:extLst>
      <p:ext uri="{BB962C8B-B14F-4D97-AF65-F5344CB8AC3E}">
        <p14:creationId xmlns:p14="http://schemas.microsoft.com/office/powerpoint/2010/main" val="3008054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FEDAF-2773-B101-4F4C-70E8AC0B2250}"/>
            </a:ext>
          </a:extLst>
        </p:cNvPr>
        <p:cNvGrpSpPr/>
        <p:nvPr/>
      </p:nvGrpSpPr>
      <p:grpSpPr>
        <a:xfrm>
          <a:off x="0" y="0"/>
          <a:ext cx="0" cy="0"/>
          <a:chOff x="0" y="0"/>
          <a:chExt cx="0" cy="0"/>
        </a:xfrm>
      </p:grpSpPr>
      <p:sp>
        <p:nvSpPr>
          <p:cNvPr id="15" name="Rounded Rectangle 14">
            <a:extLst>
              <a:ext uri="{FF2B5EF4-FFF2-40B4-BE49-F238E27FC236}">
                <a16:creationId xmlns:a16="http://schemas.microsoft.com/office/drawing/2014/main" id="{1A41204E-38EC-A192-D1E2-9CC30CDB02F4}"/>
              </a:ext>
            </a:extLst>
          </p:cNvPr>
          <p:cNvSpPr/>
          <p:nvPr/>
        </p:nvSpPr>
        <p:spPr>
          <a:xfrm>
            <a:off x="422031" y="881691"/>
            <a:ext cx="8299938" cy="407740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 name="TextBox 2">
            <a:extLst>
              <a:ext uri="{FF2B5EF4-FFF2-40B4-BE49-F238E27FC236}">
                <a16:creationId xmlns:a16="http://schemas.microsoft.com/office/drawing/2014/main" id="{43036B5D-C448-E5B0-EE76-5E9D3BD6B834}"/>
              </a:ext>
            </a:extLst>
          </p:cNvPr>
          <p:cNvSpPr txBox="1"/>
          <p:nvPr/>
        </p:nvSpPr>
        <p:spPr>
          <a:xfrm>
            <a:off x="2334006" y="68478"/>
            <a:ext cx="4475988" cy="400110"/>
          </a:xfrm>
          <a:prstGeom prst="rect">
            <a:avLst/>
          </a:prstGeom>
          <a:noFill/>
        </p:spPr>
        <p:txBody>
          <a:bodyPr wrap="square" rtlCol="0" anchor="ctr">
            <a:spAutoFit/>
          </a:bodyPr>
          <a:lstStyle/>
          <a:p>
            <a:pPr algn="ctr"/>
            <a:r>
              <a:rPr lang="en-US" sz="2000" b="1" dirty="0"/>
              <a:t>Confounder</a:t>
            </a:r>
          </a:p>
        </p:txBody>
      </p:sp>
      <p:sp>
        <p:nvSpPr>
          <p:cNvPr id="4" name="Oval 3">
            <a:extLst>
              <a:ext uri="{FF2B5EF4-FFF2-40B4-BE49-F238E27FC236}">
                <a16:creationId xmlns:a16="http://schemas.microsoft.com/office/drawing/2014/main" id="{8509995F-BAB8-E583-B8C0-37FA7B2689AC}"/>
              </a:ext>
            </a:extLst>
          </p:cNvPr>
          <p:cNvSpPr/>
          <p:nvPr/>
        </p:nvSpPr>
        <p:spPr>
          <a:xfrm>
            <a:off x="3543808" y="1535008"/>
            <a:ext cx="2056384" cy="851280"/>
          </a:xfrm>
          <a:prstGeom prst="ellipse">
            <a:avLst/>
          </a:prstGeom>
          <a:solidFill>
            <a:schemeClr val="accent5">
              <a:lumMod val="40000"/>
              <a:lumOff val="60000"/>
            </a:schemeClr>
          </a:solidFill>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b="1" dirty="0">
                <a:solidFill>
                  <a:schemeClr val="tx1"/>
                </a:solidFill>
              </a:rPr>
              <a:t>Confounder</a:t>
            </a:r>
          </a:p>
          <a:p>
            <a:pPr algn="ctr"/>
            <a:r>
              <a:rPr lang="en-US" sz="1400" dirty="0">
                <a:solidFill>
                  <a:schemeClr val="tx1"/>
                </a:solidFill>
              </a:rPr>
              <a:t>(Ancestry)</a:t>
            </a:r>
          </a:p>
        </p:txBody>
      </p:sp>
      <p:sp>
        <p:nvSpPr>
          <p:cNvPr id="5" name="Rounded Rectangle 4">
            <a:extLst>
              <a:ext uri="{FF2B5EF4-FFF2-40B4-BE49-F238E27FC236}">
                <a16:creationId xmlns:a16="http://schemas.microsoft.com/office/drawing/2014/main" id="{5D4D9ECF-5822-4637-AC7E-8135BB26ADBF}"/>
              </a:ext>
            </a:extLst>
          </p:cNvPr>
          <p:cNvSpPr/>
          <p:nvPr/>
        </p:nvSpPr>
        <p:spPr>
          <a:xfrm>
            <a:off x="2053606" y="3305720"/>
            <a:ext cx="1747444" cy="684064"/>
          </a:xfrm>
          <a:prstGeom prst="roundRect">
            <a:avLst/>
          </a:prstGeom>
          <a:solidFill>
            <a:schemeClr val="accent2">
              <a:lumMod val="40000"/>
              <a:lumOff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Genetic Variant</a:t>
            </a:r>
          </a:p>
        </p:txBody>
      </p:sp>
      <p:sp>
        <p:nvSpPr>
          <p:cNvPr id="7" name="Rounded Rectangle 6">
            <a:extLst>
              <a:ext uri="{FF2B5EF4-FFF2-40B4-BE49-F238E27FC236}">
                <a16:creationId xmlns:a16="http://schemas.microsoft.com/office/drawing/2014/main" id="{BF054397-A28A-576D-2561-F7FB887D1DF4}"/>
              </a:ext>
            </a:extLst>
          </p:cNvPr>
          <p:cNvSpPr/>
          <p:nvPr/>
        </p:nvSpPr>
        <p:spPr>
          <a:xfrm>
            <a:off x="5342951" y="3305720"/>
            <a:ext cx="1747444" cy="684064"/>
          </a:xfrm>
          <a:prstGeom prst="round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Trait</a:t>
            </a:r>
          </a:p>
          <a:p>
            <a:pPr algn="ctr"/>
            <a:r>
              <a:rPr lang="en-US" sz="1400" dirty="0">
                <a:solidFill>
                  <a:schemeClr val="tx1"/>
                </a:solidFill>
              </a:rPr>
              <a:t>(Height)</a:t>
            </a:r>
          </a:p>
        </p:txBody>
      </p:sp>
      <p:cxnSp>
        <p:nvCxnSpPr>
          <p:cNvPr id="19" name="Straight Arrow Connector 18">
            <a:extLst>
              <a:ext uri="{FF2B5EF4-FFF2-40B4-BE49-F238E27FC236}">
                <a16:creationId xmlns:a16="http://schemas.microsoft.com/office/drawing/2014/main" id="{5DA8B1F9-DE47-D1BE-BE32-0D9438A8317B}"/>
              </a:ext>
            </a:extLst>
          </p:cNvPr>
          <p:cNvCxnSpPr>
            <a:cxnSpLocks/>
            <a:stCxn id="4" idx="4"/>
            <a:endCxn id="5" idx="0"/>
          </p:cNvCxnSpPr>
          <p:nvPr/>
        </p:nvCxnSpPr>
        <p:spPr>
          <a:xfrm flipH="1">
            <a:off x="2927328" y="2386288"/>
            <a:ext cx="1644672" cy="9194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DDF0DFE-1AE3-A52F-7889-213CD2E01DDE}"/>
              </a:ext>
            </a:extLst>
          </p:cNvPr>
          <p:cNvCxnSpPr>
            <a:cxnSpLocks/>
            <a:stCxn id="4" idx="4"/>
            <a:endCxn id="7" idx="0"/>
          </p:cNvCxnSpPr>
          <p:nvPr/>
        </p:nvCxnSpPr>
        <p:spPr>
          <a:xfrm>
            <a:off x="4572000" y="2386288"/>
            <a:ext cx="1644673" cy="9194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4FA6CA6-506D-1493-8003-6C2C159727EA}"/>
              </a:ext>
            </a:extLst>
          </p:cNvPr>
          <p:cNvSpPr txBox="1"/>
          <p:nvPr/>
        </p:nvSpPr>
        <p:spPr>
          <a:xfrm rot="19860000">
            <a:off x="2653443" y="2409684"/>
            <a:ext cx="1760894" cy="523220"/>
          </a:xfrm>
          <a:prstGeom prst="rect">
            <a:avLst/>
          </a:prstGeom>
          <a:noFill/>
        </p:spPr>
        <p:txBody>
          <a:bodyPr wrap="square" rtlCol="0">
            <a:spAutoFit/>
          </a:bodyPr>
          <a:lstStyle/>
          <a:p>
            <a:pPr algn="ctr"/>
            <a:r>
              <a:rPr lang="en-US" sz="1400" dirty="0"/>
              <a:t>Allele </a:t>
            </a:r>
          </a:p>
          <a:p>
            <a:pPr algn="ctr"/>
            <a:r>
              <a:rPr lang="en-US" sz="1400" dirty="0"/>
              <a:t>frequency</a:t>
            </a:r>
          </a:p>
        </p:txBody>
      </p:sp>
      <p:sp>
        <p:nvSpPr>
          <p:cNvPr id="30" name="TextBox 29">
            <a:extLst>
              <a:ext uri="{FF2B5EF4-FFF2-40B4-BE49-F238E27FC236}">
                <a16:creationId xmlns:a16="http://schemas.microsoft.com/office/drawing/2014/main" id="{77139545-4DD2-116C-219F-A590B561EDE1}"/>
              </a:ext>
            </a:extLst>
          </p:cNvPr>
          <p:cNvSpPr txBox="1"/>
          <p:nvPr/>
        </p:nvSpPr>
        <p:spPr>
          <a:xfrm rot="1751409">
            <a:off x="4870983" y="2496263"/>
            <a:ext cx="1747444" cy="523220"/>
          </a:xfrm>
          <a:prstGeom prst="rect">
            <a:avLst/>
          </a:prstGeom>
          <a:noFill/>
        </p:spPr>
        <p:txBody>
          <a:bodyPr wrap="square" rtlCol="0">
            <a:spAutoFit/>
          </a:bodyPr>
          <a:lstStyle/>
          <a:p>
            <a:pPr algn="ctr"/>
            <a:r>
              <a:rPr lang="en-US" sz="1400" dirty="0"/>
              <a:t>Environmental factors</a:t>
            </a:r>
          </a:p>
        </p:txBody>
      </p:sp>
      <p:cxnSp>
        <p:nvCxnSpPr>
          <p:cNvPr id="37" name="Straight Connector 36">
            <a:extLst>
              <a:ext uri="{FF2B5EF4-FFF2-40B4-BE49-F238E27FC236}">
                <a16:creationId xmlns:a16="http://schemas.microsoft.com/office/drawing/2014/main" id="{A6C473A0-99CB-EDD1-584F-D2E685A33B86}"/>
              </a:ext>
            </a:extLst>
          </p:cNvPr>
          <p:cNvCxnSpPr>
            <a:stCxn id="5" idx="3"/>
            <a:endCxn id="7" idx="1"/>
          </p:cNvCxnSpPr>
          <p:nvPr/>
        </p:nvCxnSpPr>
        <p:spPr>
          <a:xfrm>
            <a:off x="3801050" y="3647752"/>
            <a:ext cx="1541901" cy="0"/>
          </a:xfrm>
          <a:prstGeom prst="line">
            <a:avLst/>
          </a:prstGeom>
          <a:ln w="38100">
            <a:solidFill>
              <a:srgbClr val="CD5186"/>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0BA8DAF-3618-9496-DB10-13102A271428}"/>
              </a:ext>
            </a:extLst>
          </p:cNvPr>
          <p:cNvSpPr txBox="1"/>
          <p:nvPr/>
        </p:nvSpPr>
        <p:spPr>
          <a:xfrm>
            <a:off x="3788370" y="3659717"/>
            <a:ext cx="1567261" cy="523220"/>
          </a:xfrm>
          <a:prstGeom prst="rect">
            <a:avLst/>
          </a:prstGeom>
          <a:noFill/>
          <a:ln>
            <a:noFill/>
          </a:ln>
        </p:spPr>
        <p:txBody>
          <a:bodyPr wrap="square" rtlCol="0">
            <a:spAutoFit/>
          </a:bodyPr>
          <a:lstStyle/>
          <a:p>
            <a:pPr algn="ctr"/>
            <a:r>
              <a:rPr lang="en-US" sz="1400" dirty="0">
                <a:solidFill>
                  <a:srgbClr val="CD5186"/>
                </a:solidFill>
              </a:rPr>
              <a:t>Incorrect</a:t>
            </a:r>
          </a:p>
          <a:p>
            <a:pPr algn="ctr"/>
            <a:r>
              <a:rPr lang="en-US" sz="1400" dirty="0">
                <a:solidFill>
                  <a:srgbClr val="CD5186"/>
                </a:solidFill>
              </a:rPr>
              <a:t>Association</a:t>
            </a:r>
          </a:p>
        </p:txBody>
      </p:sp>
      <p:sp>
        <p:nvSpPr>
          <p:cNvPr id="39" name="TextBox 38">
            <a:extLst>
              <a:ext uri="{FF2B5EF4-FFF2-40B4-BE49-F238E27FC236}">
                <a16:creationId xmlns:a16="http://schemas.microsoft.com/office/drawing/2014/main" id="{464E356D-F177-644B-6C6A-8EF4EDBBD042}"/>
              </a:ext>
            </a:extLst>
          </p:cNvPr>
          <p:cNvSpPr txBox="1"/>
          <p:nvPr/>
        </p:nvSpPr>
        <p:spPr>
          <a:xfrm>
            <a:off x="1471706" y="4409012"/>
            <a:ext cx="6200588" cy="584775"/>
          </a:xfrm>
          <a:prstGeom prst="rect">
            <a:avLst/>
          </a:prstGeom>
          <a:noFill/>
        </p:spPr>
        <p:txBody>
          <a:bodyPr wrap="square" rtlCol="0">
            <a:spAutoFit/>
          </a:bodyPr>
          <a:lstStyle/>
          <a:p>
            <a:pPr algn="ctr"/>
            <a:r>
              <a:rPr lang="en-US" sz="1600" dirty="0"/>
              <a:t>When genetic ancestry is not controlled for in the analysis, it might create a </a:t>
            </a:r>
            <a:r>
              <a:rPr lang="en-US" sz="1600" b="1" dirty="0"/>
              <a:t>misleading association</a:t>
            </a:r>
            <a:r>
              <a:rPr lang="en-US" sz="1600" dirty="0"/>
              <a:t> between genotype and trait.</a:t>
            </a:r>
          </a:p>
        </p:txBody>
      </p:sp>
      <p:sp>
        <p:nvSpPr>
          <p:cNvPr id="16" name="TextBox 15">
            <a:extLst>
              <a:ext uri="{FF2B5EF4-FFF2-40B4-BE49-F238E27FC236}">
                <a16:creationId xmlns:a16="http://schemas.microsoft.com/office/drawing/2014/main" id="{22B6CD24-10C9-D47F-D5DA-FA9722972E33}"/>
              </a:ext>
            </a:extLst>
          </p:cNvPr>
          <p:cNvSpPr txBox="1"/>
          <p:nvPr/>
        </p:nvSpPr>
        <p:spPr>
          <a:xfrm>
            <a:off x="2334006" y="852334"/>
            <a:ext cx="4475988" cy="369332"/>
          </a:xfrm>
          <a:prstGeom prst="rect">
            <a:avLst/>
          </a:prstGeom>
          <a:noFill/>
        </p:spPr>
        <p:txBody>
          <a:bodyPr wrap="square" rtlCol="0" anchor="ctr">
            <a:spAutoFit/>
          </a:bodyPr>
          <a:lstStyle/>
          <a:p>
            <a:pPr algn="ctr"/>
            <a:r>
              <a:rPr lang="en-US" b="1" dirty="0"/>
              <a:t>Example</a:t>
            </a:r>
          </a:p>
        </p:txBody>
      </p:sp>
      <p:sp>
        <p:nvSpPr>
          <p:cNvPr id="17" name="Rounded Rectangle 16">
            <a:extLst>
              <a:ext uri="{FF2B5EF4-FFF2-40B4-BE49-F238E27FC236}">
                <a16:creationId xmlns:a16="http://schemas.microsoft.com/office/drawing/2014/main" id="{65F5093C-AC08-FFD6-6146-193AD9A9973A}"/>
              </a:ext>
            </a:extLst>
          </p:cNvPr>
          <p:cNvSpPr/>
          <p:nvPr/>
        </p:nvSpPr>
        <p:spPr>
          <a:xfrm>
            <a:off x="4660921" y="5310058"/>
            <a:ext cx="4061047" cy="334157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8" name="Rounded Rectangle 17">
            <a:extLst>
              <a:ext uri="{FF2B5EF4-FFF2-40B4-BE49-F238E27FC236}">
                <a16:creationId xmlns:a16="http://schemas.microsoft.com/office/drawing/2014/main" id="{C078C76D-1D92-A9BE-114E-B448BF8B03B7}"/>
              </a:ext>
            </a:extLst>
          </p:cNvPr>
          <p:cNvSpPr/>
          <p:nvPr/>
        </p:nvSpPr>
        <p:spPr>
          <a:xfrm>
            <a:off x="422031" y="5310059"/>
            <a:ext cx="4008292" cy="334157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0" name="TextBox 19">
            <a:extLst>
              <a:ext uri="{FF2B5EF4-FFF2-40B4-BE49-F238E27FC236}">
                <a16:creationId xmlns:a16="http://schemas.microsoft.com/office/drawing/2014/main" id="{5046A6D1-C1F2-AFE5-6F90-CAE98A469C8B}"/>
              </a:ext>
            </a:extLst>
          </p:cNvPr>
          <p:cNvSpPr txBox="1"/>
          <p:nvPr/>
        </p:nvSpPr>
        <p:spPr>
          <a:xfrm>
            <a:off x="799383" y="5360806"/>
            <a:ext cx="3104358" cy="646331"/>
          </a:xfrm>
          <a:prstGeom prst="rect">
            <a:avLst/>
          </a:prstGeom>
          <a:noFill/>
        </p:spPr>
        <p:txBody>
          <a:bodyPr wrap="square" rtlCol="0" anchor="ctr">
            <a:spAutoFit/>
          </a:bodyPr>
          <a:lstStyle/>
          <a:p>
            <a:pPr algn="ctr"/>
            <a:r>
              <a:rPr lang="en-US" b="1" dirty="0"/>
              <a:t>Common Confounders in Genetics Study</a:t>
            </a:r>
          </a:p>
        </p:txBody>
      </p:sp>
      <p:sp>
        <p:nvSpPr>
          <p:cNvPr id="27" name="TextBox 26">
            <a:extLst>
              <a:ext uri="{FF2B5EF4-FFF2-40B4-BE49-F238E27FC236}">
                <a16:creationId xmlns:a16="http://schemas.microsoft.com/office/drawing/2014/main" id="{C34533DE-106A-502B-6441-F3CC300527DB}"/>
              </a:ext>
            </a:extLst>
          </p:cNvPr>
          <p:cNvSpPr txBox="1"/>
          <p:nvPr/>
        </p:nvSpPr>
        <p:spPr>
          <a:xfrm>
            <a:off x="4503930" y="5423621"/>
            <a:ext cx="4475988" cy="369332"/>
          </a:xfrm>
          <a:prstGeom prst="rect">
            <a:avLst/>
          </a:prstGeom>
          <a:noFill/>
        </p:spPr>
        <p:txBody>
          <a:bodyPr wrap="square" rtlCol="0" anchor="ctr">
            <a:spAutoFit/>
          </a:bodyPr>
          <a:lstStyle/>
          <a:p>
            <a:pPr algn="ctr"/>
            <a:r>
              <a:rPr lang="en-US" b="1" dirty="0"/>
              <a:t>Solutions for Confounder Control</a:t>
            </a:r>
          </a:p>
        </p:txBody>
      </p:sp>
      <p:sp>
        <p:nvSpPr>
          <p:cNvPr id="52" name="TextBox 51">
            <a:extLst>
              <a:ext uri="{FF2B5EF4-FFF2-40B4-BE49-F238E27FC236}">
                <a16:creationId xmlns:a16="http://schemas.microsoft.com/office/drawing/2014/main" id="{1F0DEFAE-8AAA-8FE0-8FC1-C729F94C1517}"/>
              </a:ext>
            </a:extLst>
          </p:cNvPr>
          <p:cNvSpPr txBox="1"/>
          <p:nvPr/>
        </p:nvSpPr>
        <p:spPr>
          <a:xfrm>
            <a:off x="4660922" y="5890748"/>
            <a:ext cx="3867642" cy="2677656"/>
          </a:xfrm>
          <a:prstGeom prst="rect">
            <a:avLst/>
          </a:prstGeom>
          <a:noFill/>
        </p:spPr>
        <p:txBody>
          <a:bodyPr wrap="square" rtlCol="0">
            <a:spAutoFit/>
          </a:bodyPr>
          <a:lstStyle/>
          <a:p>
            <a:pPr marL="228600" indent="-228600">
              <a:buAutoNum type="arabicPeriod"/>
            </a:pPr>
            <a:r>
              <a:rPr lang="en-US" sz="1200" b="1" dirty="0"/>
              <a:t>Principal Components Analysis (PCA)</a:t>
            </a:r>
            <a:r>
              <a:rPr lang="en-US" sz="1200" dirty="0"/>
              <a:t> Controls for population stratification by including top principal components as covariates in regression models</a:t>
            </a:r>
          </a:p>
          <a:p>
            <a:pPr marL="228600" indent="-228600">
              <a:buAutoNum type="arabicPeriod"/>
            </a:pPr>
            <a:r>
              <a:rPr lang="en-US" sz="1200" b="1" dirty="0"/>
              <a:t>Linear Mixed Models (LMM)</a:t>
            </a:r>
            <a:r>
              <a:rPr lang="en-US" sz="1200" dirty="0"/>
              <a:t> Uses genetic relationship matrices to account for population structure and cryptic relatedness simultaneously</a:t>
            </a:r>
          </a:p>
          <a:p>
            <a:pPr marL="228600" indent="-228600">
              <a:buAutoNum type="arabicPeriod"/>
            </a:pPr>
            <a:r>
              <a:rPr lang="en-US" sz="1200" b="1" dirty="0"/>
              <a:t>Stratified Analysis</a:t>
            </a:r>
            <a:r>
              <a:rPr lang="en-US" sz="1200" dirty="0"/>
              <a:t> Performs separate analyses within homogeneous ancestry groups, then meta-analyze results across populations</a:t>
            </a:r>
          </a:p>
          <a:p>
            <a:pPr marL="228600" indent="-228600">
              <a:buAutoNum type="arabicPeriod"/>
            </a:pPr>
            <a:r>
              <a:rPr lang="en-US" sz="1200" b="1" dirty="0"/>
              <a:t>Covariate Adjustment</a:t>
            </a:r>
            <a:r>
              <a:rPr lang="en-US" sz="1200" dirty="0"/>
              <a:t> Includes known confounders (age, sex, batch) as fixed effects in regression models</a:t>
            </a:r>
          </a:p>
          <a:p>
            <a:pPr marL="228600" indent="-228600">
              <a:buAutoNum type="arabicPeriod"/>
            </a:pPr>
            <a:r>
              <a:rPr lang="en-US" sz="1200" b="1" dirty="0"/>
              <a:t>Family-based Tests</a:t>
            </a:r>
            <a:r>
              <a:rPr lang="en-US" sz="1200" dirty="0"/>
              <a:t> Uses transmission disequilibrium tests (TDT) or within-family analyses to control for population stratification</a:t>
            </a:r>
          </a:p>
        </p:txBody>
      </p:sp>
      <p:sp>
        <p:nvSpPr>
          <p:cNvPr id="53" name="TextBox 52">
            <a:extLst>
              <a:ext uri="{FF2B5EF4-FFF2-40B4-BE49-F238E27FC236}">
                <a16:creationId xmlns:a16="http://schemas.microsoft.com/office/drawing/2014/main" id="{25297BC8-8F45-2F2D-CE8F-06BABB88A155}"/>
              </a:ext>
            </a:extLst>
          </p:cNvPr>
          <p:cNvSpPr txBox="1"/>
          <p:nvPr/>
        </p:nvSpPr>
        <p:spPr>
          <a:xfrm>
            <a:off x="500767" y="6024489"/>
            <a:ext cx="3902204" cy="2492990"/>
          </a:xfrm>
          <a:prstGeom prst="rect">
            <a:avLst/>
          </a:prstGeom>
          <a:noFill/>
        </p:spPr>
        <p:txBody>
          <a:bodyPr wrap="square" rtlCol="0">
            <a:spAutoFit/>
          </a:bodyPr>
          <a:lstStyle/>
          <a:p>
            <a:pPr marL="171450" indent="-171450">
              <a:buFont typeface="Arial" panose="020B0604020202020204" pitchFamily="34" charset="0"/>
              <a:buChar char="•"/>
            </a:pPr>
            <a:r>
              <a:rPr lang="en-US" sz="1200" b="1" i="1" dirty="0"/>
              <a:t>Population stratification/genetic ancestry</a:t>
            </a:r>
          </a:p>
          <a:p>
            <a:pPr marL="628650" lvl="1" indent="-171450">
              <a:buFont typeface="Arial" panose="020B0604020202020204" pitchFamily="34" charset="0"/>
              <a:buChar char="•"/>
            </a:pPr>
            <a:r>
              <a:rPr lang="en-US" sz="1200" dirty="0"/>
              <a:t>Different allele frequencies and trait values between populations (e.g., Europeans vs East Asians)</a:t>
            </a:r>
          </a:p>
          <a:p>
            <a:pPr marL="171450" indent="-171450">
              <a:buFont typeface="Arial" panose="020B0604020202020204" pitchFamily="34" charset="0"/>
              <a:buChar char="•"/>
            </a:pPr>
            <a:r>
              <a:rPr lang="en-US" sz="1200" b="1" i="1" dirty="0"/>
              <a:t>Age</a:t>
            </a:r>
          </a:p>
          <a:p>
            <a:pPr marL="628650" lvl="1" indent="-171450">
              <a:buFont typeface="Arial" panose="020B0604020202020204" pitchFamily="34" charset="0"/>
              <a:buChar char="•"/>
            </a:pPr>
            <a:r>
              <a:rPr lang="en-US" sz="1200" dirty="0"/>
              <a:t>Both allele frequencies and disease risk change with age; birth cohort effects</a:t>
            </a:r>
          </a:p>
          <a:p>
            <a:pPr marL="171450" indent="-171450">
              <a:buFont typeface="Arial" panose="020B0604020202020204" pitchFamily="34" charset="0"/>
              <a:buChar char="•"/>
            </a:pPr>
            <a:r>
              <a:rPr lang="en-US" sz="1200" b="1" i="1" dirty="0"/>
              <a:t>Sex</a:t>
            </a:r>
          </a:p>
          <a:p>
            <a:pPr marL="628650" lvl="1" indent="-171450">
              <a:buFont typeface="Arial" panose="020B0604020202020204" pitchFamily="34" charset="0"/>
              <a:buChar char="•"/>
            </a:pPr>
            <a:r>
              <a:rPr lang="en-US" sz="1200" dirty="0"/>
              <a:t>Hormonal differences, X-chromosome effects, and sex-specific genetic associations</a:t>
            </a:r>
          </a:p>
          <a:p>
            <a:pPr marL="171450" indent="-171450">
              <a:buFont typeface="Arial" panose="020B0604020202020204" pitchFamily="34" charset="0"/>
              <a:buChar char="•"/>
            </a:pPr>
            <a:r>
              <a:rPr lang="en-US" sz="1200" b="1" dirty="0"/>
              <a:t>Batch effects</a:t>
            </a:r>
          </a:p>
          <a:p>
            <a:pPr marL="628650" lvl="1" indent="-171450">
              <a:buFont typeface="Arial" panose="020B0604020202020204" pitchFamily="34" charset="0"/>
              <a:buChar char="•"/>
            </a:pPr>
            <a:r>
              <a:rPr lang="en-US" sz="1200" dirty="0"/>
              <a:t>Technical variation from samples processed at different times or laboratories</a:t>
            </a:r>
          </a:p>
        </p:txBody>
      </p:sp>
      <p:sp>
        <p:nvSpPr>
          <p:cNvPr id="2" name="TextBox 1">
            <a:extLst>
              <a:ext uri="{FF2B5EF4-FFF2-40B4-BE49-F238E27FC236}">
                <a16:creationId xmlns:a16="http://schemas.microsoft.com/office/drawing/2014/main" id="{2A6963A3-A7DF-23F7-A431-ED7132526FB8}"/>
              </a:ext>
            </a:extLst>
          </p:cNvPr>
          <p:cNvSpPr txBox="1"/>
          <p:nvPr/>
        </p:nvSpPr>
        <p:spPr>
          <a:xfrm>
            <a:off x="927554" y="372059"/>
            <a:ext cx="7316811" cy="461665"/>
          </a:xfrm>
          <a:prstGeom prst="rect">
            <a:avLst/>
          </a:prstGeom>
          <a:noFill/>
        </p:spPr>
        <p:txBody>
          <a:bodyPr wrap="none" rtlCol="0">
            <a:spAutoFit/>
          </a:bodyPr>
          <a:lstStyle/>
          <a:p>
            <a:pPr algn="ctr"/>
            <a:r>
              <a:rPr lang="en-US" sz="1200" dirty="0"/>
              <a:t>Influences both the exposure and outcome independently, </a:t>
            </a:r>
          </a:p>
          <a:p>
            <a:pPr algn="ctr"/>
            <a:r>
              <a:rPr lang="en-US" sz="1200" dirty="0"/>
              <a:t>creating a misleading association between them that doesn't represent a true causal relationship if not considered</a:t>
            </a:r>
          </a:p>
        </p:txBody>
      </p:sp>
    </p:spTree>
    <p:extLst>
      <p:ext uri="{BB962C8B-B14F-4D97-AF65-F5344CB8AC3E}">
        <p14:creationId xmlns:p14="http://schemas.microsoft.com/office/powerpoint/2010/main" val="174239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EAF3-48F9-1BC7-DC31-FF51F7D3C2AE}"/>
            </a:ext>
          </a:extLst>
        </p:cNvPr>
        <p:cNvGrpSpPr/>
        <p:nvPr/>
      </p:nvGrpSpPr>
      <p:grpSpPr>
        <a:xfrm>
          <a:off x="0" y="0"/>
          <a:ext cx="0" cy="0"/>
          <a:chOff x="0" y="0"/>
          <a:chExt cx="0" cy="0"/>
        </a:xfrm>
      </p:grpSpPr>
      <p:sp>
        <p:nvSpPr>
          <p:cNvPr id="15" name="Rounded Rectangle 14">
            <a:extLst>
              <a:ext uri="{FF2B5EF4-FFF2-40B4-BE49-F238E27FC236}">
                <a16:creationId xmlns:a16="http://schemas.microsoft.com/office/drawing/2014/main" id="{18073D7B-01C9-88AF-C2F1-41E04A513D01}"/>
              </a:ext>
            </a:extLst>
          </p:cNvPr>
          <p:cNvSpPr/>
          <p:nvPr/>
        </p:nvSpPr>
        <p:spPr>
          <a:xfrm>
            <a:off x="422031" y="990872"/>
            <a:ext cx="8299937" cy="460063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 name="TextBox 2">
            <a:extLst>
              <a:ext uri="{FF2B5EF4-FFF2-40B4-BE49-F238E27FC236}">
                <a16:creationId xmlns:a16="http://schemas.microsoft.com/office/drawing/2014/main" id="{DD1D7B18-B97B-30FA-2D36-7071946F81D9}"/>
              </a:ext>
            </a:extLst>
          </p:cNvPr>
          <p:cNvSpPr txBox="1"/>
          <p:nvPr/>
        </p:nvSpPr>
        <p:spPr>
          <a:xfrm>
            <a:off x="2328205" y="55240"/>
            <a:ext cx="4475988" cy="400110"/>
          </a:xfrm>
          <a:prstGeom prst="rect">
            <a:avLst/>
          </a:prstGeom>
          <a:noFill/>
        </p:spPr>
        <p:txBody>
          <a:bodyPr wrap="square" rtlCol="0" anchor="ctr">
            <a:spAutoFit/>
          </a:bodyPr>
          <a:lstStyle/>
          <a:p>
            <a:pPr algn="ctr"/>
            <a:r>
              <a:rPr lang="en-US" sz="2000" b="1" dirty="0"/>
              <a:t>Collider</a:t>
            </a:r>
          </a:p>
        </p:txBody>
      </p:sp>
      <p:sp>
        <p:nvSpPr>
          <p:cNvPr id="4" name="Oval 3">
            <a:extLst>
              <a:ext uri="{FF2B5EF4-FFF2-40B4-BE49-F238E27FC236}">
                <a16:creationId xmlns:a16="http://schemas.microsoft.com/office/drawing/2014/main" id="{01E0AD56-AAD9-33F3-0832-9885E7360638}"/>
              </a:ext>
            </a:extLst>
          </p:cNvPr>
          <p:cNvSpPr/>
          <p:nvPr/>
        </p:nvSpPr>
        <p:spPr>
          <a:xfrm>
            <a:off x="3543808" y="1644189"/>
            <a:ext cx="2056384" cy="851280"/>
          </a:xfrm>
          <a:prstGeom prst="ellipse">
            <a:avLst/>
          </a:prstGeom>
          <a:solidFill>
            <a:schemeClr val="accent5">
              <a:lumMod val="40000"/>
              <a:lumOff val="60000"/>
            </a:schemeClr>
          </a:solidFill>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b="1" dirty="0">
                <a:solidFill>
                  <a:schemeClr val="tx1"/>
                </a:solidFill>
              </a:rPr>
              <a:t>Collider</a:t>
            </a:r>
          </a:p>
          <a:p>
            <a:pPr algn="ctr"/>
            <a:r>
              <a:rPr lang="en-US" sz="1400" dirty="0">
                <a:solidFill>
                  <a:schemeClr val="tx1"/>
                </a:solidFill>
              </a:rPr>
              <a:t>(Height)</a:t>
            </a:r>
          </a:p>
        </p:txBody>
      </p:sp>
      <p:sp>
        <p:nvSpPr>
          <p:cNvPr id="5" name="Rounded Rectangle 4">
            <a:extLst>
              <a:ext uri="{FF2B5EF4-FFF2-40B4-BE49-F238E27FC236}">
                <a16:creationId xmlns:a16="http://schemas.microsoft.com/office/drawing/2014/main" id="{85CB31C6-8E64-3BF2-2628-6A10FFAA5478}"/>
              </a:ext>
            </a:extLst>
          </p:cNvPr>
          <p:cNvSpPr/>
          <p:nvPr/>
        </p:nvSpPr>
        <p:spPr>
          <a:xfrm>
            <a:off x="2053606" y="3414901"/>
            <a:ext cx="1747444" cy="684064"/>
          </a:xfrm>
          <a:prstGeom prst="roundRect">
            <a:avLst/>
          </a:prstGeom>
          <a:solidFill>
            <a:schemeClr val="accent2">
              <a:lumMod val="40000"/>
              <a:lumOff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Genetic Variant</a:t>
            </a:r>
          </a:p>
        </p:txBody>
      </p:sp>
      <p:sp>
        <p:nvSpPr>
          <p:cNvPr id="7" name="Rounded Rectangle 6">
            <a:extLst>
              <a:ext uri="{FF2B5EF4-FFF2-40B4-BE49-F238E27FC236}">
                <a16:creationId xmlns:a16="http://schemas.microsoft.com/office/drawing/2014/main" id="{D777A29F-C512-D6BF-DED8-F6E796F93288}"/>
              </a:ext>
            </a:extLst>
          </p:cNvPr>
          <p:cNvSpPr/>
          <p:nvPr/>
        </p:nvSpPr>
        <p:spPr>
          <a:xfrm>
            <a:off x="5342951" y="3414901"/>
            <a:ext cx="1747444" cy="684064"/>
          </a:xfrm>
          <a:prstGeom prst="round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Trait</a:t>
            </a:r>
          </a:p>
          <a:p>
            <a:pPr algn="ctr"/>
            <a:r>
              <a:rPr lang="en-US" sz="1400" dirty="0">
                <a:solidFill>
                  <a:schemeClr val="tx1"/>
                </a:solidFill>
              </a:rPr>
              <a:t>(biological sex)</a:t>
            </a:r>
          </a:p>
        </p:txBody>
      </p:sp>
      <p:cxnSp>
        <p:nvCxnSpPr>
          <p:cNvPr id="19" name="Straight Arrow Connector 18">
            <a:extLst>
              <a:ext uri="{FF2B5EF4-FFF2-40B4-BE49-F238E27FC236}">
                <a16:creationId xmlns:a16="http://schemas.microsoft.com/office/drawing/2014/main" id="{3C904C98-0D77-5BA3-CE7E-00E3C3E15976}"/>
              </a:ext>
            </a:extLst>
          </p:cNvPr>
          <p:cNvCxnSpPr>
            <a:cxnSpLocks/>
            <a:stCxn id="5" idx="0"/>
          </p:cNvCxnSpPr>
          <p:nvPr/>
        </p:nvCxnSpPr>
        <p:spPr>
          <a:xfrm flipV="1">
            <a:off x="2927328" y="2495469"/>
            <a:ext cx="1644672" cy="9194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8D4795E-736B-736B-75C0-EFD676346C0E}"/>
              </a:ext>
            </a:extLst>
          </p:cNvPr>
          <p:cNvCxnSpPr>
            <a:cxnSpLocks/>
            <a:stCxn id="7" idx="0"/>
            <a:endCxn id="4" idx="4"/>
          </p:cNvCxnSpPr>
          <p:nvPr/>
        </p:nvCxnSpPr>
        <p:spPr>
          <a:xfrm flipH="1" flipV="1">
            <a:off x="4572000" y="2495469"/>
            <a:ext cx="1644673" cy="9194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98C818B-FF01-72CB-89FB-C180444E40CB}"/>
              </a:ext>
            </a:extLst>
          </p:cNvPr>
          <p:cNvCxnSpPr>
            <a:stCxn id="5" idx="3"/>
            <a:endCxn id="7" idx="1"/>
          </p:cNvCxnSpPr>
          <p:nvPr/>
        </p:nvCxnSpPr>
        <p:spPr>
          <a:xfrm>
            <a:off x="3801050" y="3756933"/>
            <a:ext cx="1541901" cy="0"/>
          </a:xfrm>
          <a:prstGeom prst="line">
            <a:avLst/>
          </a:prstGeom>
          <a:ln w="38100">
            <a:solidFill>
              <a:srgbClr val="CD5186"/>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A1856CA-3DA5-2B7E-0E75-C0FC3D9CFCD8}"/>
              </a:ext>
            </a:extLst>
          </p:cNvPr>
          <p:cNvSpPr txBox="1"/>
          <p:nvPr/>
        </p:nvSpPr>
        <p:spPr>
          <a:xfrm>
            <a:off x="3788369" y="3768898"/>
            <a:ext cx="1567261" cy="523220"/>
          </a:xfrm>
          <a:prstGeom prst="rect">
            <a:avLst/>
          </a:prstGeom>
          <a:noFill/>
          <a:ln>
            <a:noFill/>
          </a:ln>
        </p:spPr>
        <p:txBody>
          <a:bodyPr wrap="square" rtlCol="0">
            <a:spAutoFit/>
          </a:bodyPr>
          <a:lstStyle/>
          <a:p>
            <a:pPr algn="ctr"/>
            <a:r>
              <a:rPr lang="en-US" sz="1400" dirty="0">
                <a:solidFill>
                  <a:srgbClr val="CD5186"/>
                </a:solidFill>
              </a:rPr>
              <a:t>Misleading association</a:t>
            </a:r>
          </a:p>
        </p:txBody>
      </p:sp>
      <p:sp>
        <p:nvSpPr>
          <p:cNvPr id="39" name="TextBox 38">
            <a:extLst>
              <a:ext uri="{FF2B5EF4-FFF2-40B4-BE49-F238E27FC236}">
                <a16:creationId xmlns:a16="http://schemas.microsoft.com/office/drawing/2014/main" id="{DA19CA73-F858-F7F3-60D0-BCC2744336E5}"/>
              </a:ext>
            </a:extLst>
          </p:cNvPr>
          <p:cNvSpPr txBox="1"/>
          <p:nvPr/>
        </p:nvSpPr>
        <p:spPr>
          <a:xfrm>
            <a:off x="889807" y="4488433"/>
            <a:ext cx="7638757" cy="1077218"/>
          </a:xfrm>
          <a:prstGeom prst="rect">
            <a:avLst/>
          </a:prstGeom>
          <a:noFill/>
        </p:spPr>
        <p:txBody>
          <a:bodyPr wrap="square" rtlCol="0">
            <a:spAutoFit/>
          </a:bodyPr>
          <a:lstStyle/>
          <a:p>
            <a:pPr algn="ctr"/>
            <a:r>
              <a:rPr lang="en-US" sz="1600" b="1" i="1" dirty="0"/>
              <a:t>We should NOT control for collider in analysis.</a:t>
            </a:r>
          </a:p>
          <a:p>
            <a:pPr algn="ctr"/>
            <a:endParaRPr lang="en-US" sz="1600" dirty="0"/>
          </a:p>
          <a:p>
            <a:pPr algn="ctr"/>
            <a:r>
              <a:rPr lang="en-US" sz="1600" dirty="0"/>
              <a:t>When the collider is controlled for in the analysis, it might create a </a:t>
            </a:r>
            <a:r>
              <a:rPr lang="en-US" sz="1600" b="1" dirty="0"/>
              <a:t>misleading association</a:t>
            </a:r>
            <a:r>
              <a:rPr lang="en-US" sz="1600" dirty="0"/>
              <a:t> between genotype and trait.</a:t>
            </a:r>
          </a:p>
        </p:txBody>
      </p:sp>
      <p:sp>
        <p:nvSpPr>
          <p:cNvPr id="16" name="TextBox 15">
            <a:extLst>
              <a:ext uri="{FF2B5EF4-FFF2-40B4-BE49-F238E27FC236}">
                <a16:creationId xmlns:a16="http://schemas.microsoft.com/office/drawing/2014/main" id="{E55873C7-E8F6-2232-287B-B7CB02A5F22E}"/>
              </a:ext>
            </a:extLst>
          </p:cNvPr>
          <p:cNvSpPr txBox="1"/>
          <p:nvPr/>
        </p:nvSpPr>
        <p:spPr>
          <a:xfrm>
            <a:off x="2352704" y="1097995"/>
            <a:ext cx="4475988" cy="369332"/>
          </a:xfrm>
          <a:prstGeom prst="rect">
            <a:avLst/>
          </a:prstGeom>
          <a:noFill/>
        </p:spPr>
        <p:txBody>
          <a:bodyPr wrap="square" rtlCol="0" anchor="ctr">
            <a:spAutoFit/>
          </a:bodyPr>
          <a:lstStyle/>
          <a:p>
            <a:pPr algn="ctr"/>
            <a:r>
              <a:rPr lang="en-US" b="1" dirty="0"/>
              <a:t>Example</a:t>
            </a:r>
          </a:p>
        </p:txBody>
      </p:sp>
      <p:sp>
        <p:nvSpPr>
          <p:cNvPr id="17" name="Rounded Rectangle 16">
            <a:extLst>
              <a:ext uri="{FF2B5EF4-FFF2-40B4-BE49-F238E27FC236}">
                <a16:creationId xmlns:a16="http://schemas.microsoft.com/office/drawing/2014/main" id="{2BD9EF75-1237-4362-CFD6-D7DBF3CA612C}"/>
              </a:ext>
            </a:extLst>
          </p:cNvPr>
          <p:cNvSpPr/>
          <p:nvPr/>
        </p:nvSpPr>
        <p:spPr>
          <a:xfrm>
            <a:off x="4660921" y="6008256"/>
            <a:ext cx="4170563" cy="264337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8" name="Rounded Rectangle 17">
            <a:extLst>
              <a:ext uri="{FF2B5EF4-FFF2-40B4-BE49-F238E27FC236}">
                <a16:creationId xmlns:a16="http://schemas.microsoft.com/office/drawing/2014/main" id="{76B7D30D-D693-A6E3-C218-C7BB63B0525C}"/>
              </a:ext>
            </a:extLst>
          </p:cNvPr>
          <p:cNvSpPr/>
          <p:nvPr/>
        </p:nvSpPr>
        <p:spPr>
          <a:xfrm>
            <a:off x="422031" y="6008257"/>
            <a:ext cx="4045486" cy="264337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0" name="TextBox 19">
            <a:extLst>
              <a:ext uri="{FF2B5EF4-FFF2-40B4-BE49-F238E27FC236}">
                <a16:creationId xmlns:a16="http://schemas.microsoft.com/office/drawing/2014/main" id="{EE524900-B0D8-8884-5F0B-18AB5802142C}"/>
              </a:ext>
            </a:extLst>
          </p:cNvPr>
          <p:cNvSpPr txBox="1"/>
          <p:nvPr/>
        </p:nvSpPr>
        <p:spPr>
          <a:xfrm>
            <a:off x="786877" y="6147878"/>
            <a:ext cx="3104358" cy="369332"/>
          </a:xfrm>
          <a:prstGeom prst="rect">
            <a:avLst/>
          </a:prstGeom>
          <a:noFill/>
        </p:spPr>
        <p:txBody>
          <a:bodyPr wrap="square" rtlCol="0" anchor="ctr">
            <a:spAutoFit/>
          </a:bodyPr>
          <a:lstStyle/>
          <a:p>
            <a:pPr algn="ctr"/>
            <a:r>
              <a:rPr lang="en-US" b="1" dirty="0"/>
              <a:t>Collider bias</a:t>
            </a:r>
          </a:p>
        </p:txBody>
      </p:sp>
      <p:sp>
        <p:nvSpPr>
          <p:cNvPr id="27" name="TextBox 26">
            <a:extLst>
              <a:ext uri="{FF2B5EF4-FFF2-40B4-BE49-F238E27FC236}">
                <a16:creationId xmlns:a16="http://schemas.microsoft.com/office/drawing/2014/main" id="{0D939A8E-C70E-1783-D690-B3DED5A2D8F5}"/>
              </a:ext>
            </a:extLst>
          </p:cNvPr>
          <p:cNvSpPr txBox="1"/>
          <p:nvPr/>
        </p:nvSpPr>
        <p:spPr>
          <a:xfrm>
            <a:off x="4571999" y="6117585"/>
            <a:ext cx="4475988" cy="369332"/>
          </a:xfrm>
          <a:prstGeom prst="rect">
            <a:avLst/>
          </a:prstGeom>
          <a:noFill/>
        </p:spPr>
        <p:txBody>
          <a:bodyPr wrap="square" rtlCol="0" anchor="ctr">
            <a:spAutoFit/>
          </a:bodyPr>
          <a:lstStyle/>
          <a:p>
            <a:pPr algn="ctr"/>
            <a:r>
              <a:rPr lang="en-US" b="1" dirty="0"/>
              <a:t>Common Colliders in Genetic Studies</a:t>
            </a:r>
            <a:endParaRPr lang="en-US" dirty="0"/>
          </a:p>
        </p:txBody>
      </p:sp>
      <p:sp>
        <p:nvSpPr>
          <p:cNvPr id="52" name="TextBox 51">
            <a:extLst>
              <a:ext uri="{FF2B5EF4-FFF2-40B4-BE49-F238E27FC236}">
                <a16:creationId xmlns:a16="http://schemas.microsoft.com/office/drawing/2014/main" id="{CE10B0E9-99DF-C4E2-AF09-F8ADA07D2E9F}"/>
              </a:ext>
            </a:extLst>
          </p:cNvPr>
          <p:cNvSpPr txBox="1"/>
          <p:nvPr/>
        </p:nvSpPr>
        <p:spPr>
          <a:xfrm>
            <a:off x="4808103" y="6517210"/>
            <a:ext cx="3867642" cy="2031325"/>
          </a:xfrm>
          <a:prstGeom prst="rect">
            <a:avLst/>
          </a:prstGeom>
          <a:noFill/>
        </p:spPr>
        <p:txBody>
          <a:bodyPr wrap="square" rtlCol="0">
            <a:spAutoFit/>
          </a:bodyPr>
          <a:lstStyle/>
          <a:p>
            <a:pPr marL="285750" indent="-285750">
              <a:buFont typeface="Arial" panose="020B0604020202020204" pitchFamily="34" charset="0"/>
              <a:buChar char="•"/>
            </a:pPr>
            <a:r>
              <a:rPr lang="en-US" sz="1400" b="1" i="1" dirty="0"/>
              <a:t>Study Participation/Selection</a:t>
            </a:r>
            <a:r>
              <a:rPr lang="en-US" sz="1400" dirty="0"/>
              <a:t>: </a:t>
            </a:r>
          </a:p>
          <a:p>
            <a:pPr marL="285750" indent="-285750">
              <a:buFont typeface="Arial" panose="020B0604020202020204" pitchFamily="34" charset="0"/>
              <a:buChar char="•"/>
            </a:pPr>
            <a:r>
              <a:rPr lang="en-US" sz="1400" dirty="0"/>
              <a:t>Genetic Risk → Study Participation ← Disease Status</a:t>
            </a:r>
          </a:p>
          <a:p>
            <a:pPr marL="285750" indent="-285750">
              <a:buFont typeface="Arial" panose="020B0604020202020204" pitchFamily="34" charset="0"/>
              <a:buChar char="•"/>
            </a:pPr>
            <a:r>
              <a:rPr lang="en-US" sz="1400" b="1" i="1" dirty="0"/>
              <a:t>Hospital Admission</a:t>
            </a:r>
            <a:r>
              <a:rPr lang="en-US" sz="1400" dirty="0"/>
              <a:t>: Genetic Variant → Hospital Admission ← Disease Severity </a:t>
            </a:r>
          </a:p>
          <a:p>
            <a:pPr marL="285750" indent="-285750">
              <a:buFont typeface="Arial" panose="020B0604020202020204" pitchFamily="34" charset="0"/>
              <a:buChar char="•"/>
            </a:pPr>
            <a:r>
              <a:rPr lang="en-US" sz="1400" b="1" i="1" dirty="0"/>
              <a:t>Survival to Study Age</a:t>
            </a:r>
            <a:r>
              <a:rPr lang="en-US" sz="1400" dirty="0"/>
              <a:t>: Protective Alleles → Survival ← Disease Resistance. Studying only elderly survivors can bias estimates of genetic effects on longevity.</a:t>
            </a:r>
          </a:p>
        </p:txBody>
      </p:sp>
      <p:sp>
        <p:nvSpPr>
          <p:cNvPr id="53" name="TextBox 52">
            <a:extLst>
              <a:ext uri="{FF2B5EF4-FFF2-40B4-BE49-F238E27FC236}">
                <a16:creationId xmlns:a16="http://schemas.microsoft.com/office/drawing/2014/main" id="{C50BA76F-D57C-0AC5-B0E0-320B849125F7}"/>
              </a:ext>
            </a:extLst>
          </p:cNvPr>
          <p:cNvSpPr txBox="1"/>
          <p:nvPr/>
        </p:nvSpPr>
        <p:spPr>
          <a:xfrm>
            <a:off x="584639" y="6517210"/>
            <a:ext cx="3582247" cy="1815882"/>
          </a:xfrm>
          <a:prstGeom prst="rect">
            <a:avLst/>
          </a:prstGeom>
          <a:noFill/>
        </p:spPr>
        <p:txBody>
          <a:bodyPr wrap="square" rtlCol="0">
            <a:spAutoFit/>
          </a:bodyPr>
          <a:lstStyle/>
          <a:p>
            <a:pPr marL="171450" indent="-171450">
              <a:buFont typeface="Arial" panose="020B0604020202020204" pitchFamily="34" charset="0"/>
              <a:buChar char="•"/>
            </a:pPr>
            <a:r>
              <a:rPr lang="en-US" sz="1600" b="1" i="1" dirty="0"/>
              <a:t>Collider structure</a:t>
            </a:r>
            <a:r>
              <a:rPr lang="en-US" sz="1600" dirty="0"/>
              <a:t>: X → Collider ← Y</a:t>
            </a:r>
          </a:p>
          <a:p>
            <a:pPr marL="171450" indent="-171450">
              <a:buFont typeface="Arial" panose="020B0604020202020204" pitchFamily="34" charset="0"/>
              <a:buChar char="•"/>
            </a:pPr>
            <a:r>
              <a:rPr lang="en-US" sz="1600" b="1" i="1" dirty="0"/>
              <a:t>Conditioning effect</a:t>
            </a:r>
            <a:r>
              <a:rPr lang="en-US" sz="1600" dirty="0"/>
              <a:t>: When you control for the collider, you're selecting specific combinations of X and Y</a:t>
            </a:r>
          </a:p>
          <a:p>
            <a:pPr marL="171450" indent="-171450">
              <a:buFont typeface="Arial" panose="020B0604020202020204" pitchFamily="34" charset="0"/>
              <a:buChar char="•"/>
            </a:pPr>
            <a:r>
              <a:rPr lang="en-US" sz="1600" b="1" i="1" dirty="0"/>
              <a:t>Induced association</a:t>
            </a:r>
            <a:r>
              <a:rPr lang="en-US" sz="1600" dirty="0"/>
              <a:t>: This selection creates an artificial association between X and Y</a:t>
            </a:r>
          </a:p>
        </p:txBody>
      </p:sp>
      <p:sp>
        <p:nvSpPr>
          <p:cNvPr id="2" name="TextBox 1">
            <a:extLst>
              <a:ext uri="{FF2B5EF4-FFF2-40B4-BE49-F238E27FC236}">
                <a16:creationId xmlns:a16="http://schemas.microsoft.com/office/drawing/2014/main" id="{FDFB8696-8A20-01AC-4060-5297720D55C6}"/>
              </a:ext>
            </a:extLst>
          </p:cNvPr>
          <p:cNvSpPr txBox="1"/>
          <p:nvPr/>
        </p:nvSpPr>
        <p:spPr>
          <a:xfrm rot="19860000">
            <a:off x="2726595" y="2518865"/>
            <a:ext cx="1760894" cy="523220"/>
          </a:xfrm>
          <a:prstGeom prst="rect">
            <a:avLst/>
          </a:prstGeom>
          <a:noFill/>
        </p:spPr>
        <p:txBody>
          <a:bodyPr wrap="square" rtlCol="0">
            <a:spAutoFit/>
          </a:bodyPr>
          <a:lstStyle/>
          <a:p>
            <a:pPr algn="ctr"/>
            <a:r>
              <a:rPr lang="en-US" sz="1400" dirty="0"/>
              <a:t>Affect</a:t>
            </a:r>
            <a:br>
              <a:rPr lang="en-US" sz="1400" dirty="0"/>
            </a:br>
            <a:r>
              <a:rPr lang="en-US" sz="1400" dirty="0"/>
              <a:t>height</a:t>
            </a:r>
          </a:p>
        </p:txBody>
      </p:sp>
      <p:sp>
        <p:nvSpPr>
          <p:cNvPr id="6" name="TextBox 5">
            <a:extLst>
              <a:ext uri="{FF2B5EF4-FFF2-40B4-BE49-F238E27FC236}">
                <a16:creationId xmlns:a16="http://schemas.microsoft.com/office/drawing/2014/main" id="{607099EE-CEFA-17A5-A3FC-1A6E7C066E88}"/>
              </a:ext>
            </a:extLst>
          </p:cNvPr>
          <p:cNvSpPr txBox="1"/>
          <p:nvPr/>
        </p:nvSpPr>
        <p:spPr>
          <a:xfrm rot="1740000">
            <a:off x="4778508" y="2646267"/>
            <a:ext cx="1747444" cy="430887"/>
          </a:xfrm>
          <a:prstGeom prst="rect">
            <a:avLst/>
          </a:prstGeom>
          <a:noFill/>
        </p:spPr>
        <p:txBody>
          <a:bodyPr wrap="square" rtlCol="0">
            <a:spAutoFit/>
          </a:bodyPr>
          <a:lstStyle/>
          <a:p>
            <a:pPr algn="ctr"/>
            <a:r>
              <a:rPr lang="en-US" sz="1100" dirty="0"/>
              <a:t>Males are generally </a:t>
            </a:r>
          </a:p>
          <a:p>
            <a:pPr algn="ctr"/>
            <a:r>
              <a:rPr lang="en-US" sz="1100" dirty="0"/>
              <a:t>taller than females</a:t>
            </a:r>
          </a:p>
        </p:txBody>
      </p:sp>
      <p:sp>
        <p:nvSpPr>
          <p:cNvPr id="8" name="TextBox 7">
            <a:extLst>
              <a:ext uri="{FF2B5EF4-FFF2-40B4-BE49-F238E27FC236}">
                <a16:creationId xmlns:a16="http://schemas.microsoft.com/office/drawing/2014/main" id="{39E98D92-F45B-5294-964C-C0F75C6B279F}"/>
              </a:ext>
            </a:extLst>
          </p:cNvPr>
          <p:cNvSpPr txBox="1"/>
          <p:nvPr/>
        </p:nvSpPr>
        <p:spPr>
          <a:xfrm>
            <a:off x="2139041" y="372059"/>
            <a:ext cx="4893840" cy="461665"/>
          </a:xfrm>
          <a:prstGeom prst="rect">
            <a:avLst/>
          </a:prstGeom>
          <a:noFill/>
        </p:spPr>
        <p:txBody>
          <a:bodyPr wrap="none" rtlCol="0">
            <a:spAutoFit/>
          </a:bodyPr>
          <a:lstStyle/>
          <a:p>
            <a:pPr algn="ctr"/>
            <a:r>
              <a:rPr lang="en-US" sz="1200" dirty="0"/>
              <a:t>Influenced by two other variables of interest, </a:t>
            </a:r>
          </a:p>
          <a:p>
            <a:pPr algn="ctr"/>
            <a:r>
              <a:rPr lang="en-US" sz="1200" dirty="0"/>
              <a:t>creating a spurious association between them when included in the analysis</a:t>
            </a:r>
          </a:p>
        </p:txBody>
      </p:sp>
    </p:spTree>
    <p:extLst>
      <p:ext uri="{BB962C8B-B14F-4D97-AF65-F5344CB8AC3E}">
        <p14:creationId xmlns:p14="http://schemas.microsoft.com/office/powerpoint/2010/main" val="1759813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98590-3930-8AD9-EB46-1B648C1B708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3581BDE3-BB56-2647-C185-CA27DB07E57B}"/>
              </a:ext>
            </a:extLst>
          </p:cNvPr>
          <p:cNvSpPr/>
          <p:nvPr/>
        </p:nvSpPr>
        <p:spPr>
          <a:xfrm>
            <a:off x="422032" y="5663623"/>
            <a:ext cx="8299936" cy="315546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5" name="Rounded Rectangle 14">
            <a:extLst>
              <a:ext uri="{FF2B5EF4-FFF2-40B4-BE49-F238E27FC236}">
                <a16:creationId xmlns:a16="http://schemas.microsoft.com/office/drawing/2014/main" id="{3ED8FC98-16E9-E28F-71B7-46FB22F35FFD}"/>
              </a:ext>
            </a:extLst>
          </p:cNvPr>
          <p:cNvSpPr/>
          <p:nvPr/>
        </p:nvSpPr>
        <p:spPr>
          <a:xfrm>
            <a:off x="422032" y="881691"/>
            <a:ext cx="8299936" cy="459106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3" name="TextBox 2">
            <a:extLst>
              <a:ext uri="{FF2B5EF4-FFF2-40B4-BE49-F238E27FC236}">
                <a16:creationId xmlns:a16="http://schemas.microsoft.com/office/drawing/2014/main" id="{8E04F553-0848-E505-DDE8-03D83C894E00}"/>
              </a:ext>
            </a:extLst>
          </p:cNvPr>
          <p:cNvSpPr txBox="1"/>
          <p:nvPr/>
        </p:nvSpPr>
        <p:spPr>
          <a:xfrm>
            <a:off x="2341502" y="229374"/>
            <a:ext cx="4475988" cy="400110"/>
          </a:xfrm>
          <a:prstGeom prst="rect">
            <a:avLst/>
          </a:prstGeom>
          <a:noFill/>
        </p:spPr>
        <p:txBody>
          <a:bodyPr wrap="square" rtlCol="0" anchor="ctr">
            <a:spAutoFit/>
          </a:bodyPr>
          <a:lstStyle/>
          <a:p>
            <a:pPr algn="ctr"/>
            <a:r>
              <a:rPr lang="en-US" sz="2000" b="1" dirty="0"/>
              <a:t>Mediator</a:t>
            </a:r>
          </a:p>
        </p:txBody>
      </p:sp>
      <p:sp>
        <p:nvSpPr>
          <p:cNvPr id="4" name="Oval 3">
            <a:extLst>
              <a:ext uri="{FF2B5EF4-FFF2-40B4-BE49-F238E27FC236}">
                <a16:creationId xmlns:a16="http://schemas.microsoft.com/office/drawing/2014/main" id="{83E1757C-2950-6C8F-15E2-AA44A608B28C}"/>
              </a:ext>
            </a:extLst>
          </p:cNvPr>
          <p:cNvSpPr/>
          <p:nvPr/>
        </p:nvSpPr>
        <p:spPr>
          <a:xfrm>
            <a:off x="3518985" y="1767547"/>
            <a:ext cx="2056384" cy="851280"/>
          </a:xfrm>
          <a:prstGeom prst="ellipse">
            <a:avLst/>
          </a:prstGeom>
          <a:solidFill>
            <a:schemeClr val="accent5">
              <a:lumMod val="40000"/>
              <a:lumOff val="60000"/>
            </a:schemeClr>
          </a:solidFill>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b="1" dirty="0">
                <a:solidFill>
                  <a:schemeClr val="tx1"/>
                </a:solidFill>
              </a:rPr>
              <a:t>Mediator</a:t>
            </a:r>
          </a:p>
          <a:p>
            <a:pPr algn="ctr"/>
            <a:r>
              <a:rPr lang="en-US" sz="1400" dirty="0">
                <a:solidFill>
                  <a:schemeClr val="tx1"/>
                </a:solidFill>
              </a:rPr>
              <a:t>(Growth Hormone)</a:t>
            </a:r>
          </a:p>
        </p:txBody>
      </p:sp>
      <p:sp>
        <p:nvSpPr>
          <p:cNvPr id="5" name="Rounded Rectangle 4">
            <a:extLst>
              <a:ext uri="{FF2B5EF4-FFF2-40B4-BE49-F238E27FC236}">
                <a16:creationId xmlns:a16="http://schemas.microsoft.com/office/drawing/2014/main" id="{AC61ACE9-CBCE-B699-6876-BB94D48C1A0F}"/>
              </a:ext>
            </a:extLst>
          </p:cNvPr>
          <p:cNvSpPr/>
          <p:nvPr/>
        </p:nvSpPr>
        <p:spPr>
          <a:xfrm>
            <a:off x="803718" y="1858819"/>
            <a:ext cx="1747444" cy="684064"/>
          </a:xfrm>
          <a:prstGeom prst="roundRect">
            <a:avLst/>
          </a:prstGeom>
          <a:solidFill>
            <a:schemeClr val="accent2">
              <a:lumMod val="40000"/>
              <a:lumOff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Genetic Variant</a:t>
            </a:r>
          </a:p>
        </p:txBody>
      </p:sp>
      <p:sp>
        <p:nvSpPr>
          <p:cNvPr id="7" name="Rounded Rectangle 6">
            <a:extLst>
              <a:ext uri="{FF2B5EF4-FFF2-40B4-BE49-F238E27FC236}">
                <a16:creationId xmlns:a16="http://schemas.microsoft.com/office/drawing/2014/main" id="{361F651B-8579-85CD-5C42-106015254DEC}"/>
              </a:ext>
            </a:extLst>
          </p:cNvPr>
          <p:cNvSpPr/>
          <p:nvPr/>
        </p:nvSpPr>
        <p:spPr>
          <a:xfrm>
            <a:off x="6592838" y="1858819"/>
            <a:ext cx="1747444" cy="684064"/>
          </a:xfrm>
          <a:prstGeom prst="round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Trait</a:t>
            </a:r>
          </a:p>
          <a:p>
            <a:pPr algn="ctr"/>
            <a:r>
              <a:rPr lang="en-US" sz="1600" dirty="0">
                <a:solidFill>
                  <a:schemeClr val="tx1"/>
                </a:solidFill>
              </a:rPr>
              <a:t>(Height)</a:t>
            </a:r>
            <a:endParaRPr lang="en-US" sz="1400" dirty="0">
              <a:solidFill>
                <a:schemeClr val="tx1"/>
              </a:solidFill>
            </a:endParaRPr>
          </a:p>
        </p:txBody>
      </p:sp>
      <p:cxnSp>
        <p:nvCxnSpPr>
          <p:cNvPr id="19" name="Straight Arrow Connector 18">
            <a:extLst>
              <a:ext uri="{FF2B5EF4-FFF2-40B4-BE49-F238E27FC236}">
                <a16:creationId xmlns:a16="http://schemas.microsoft.com/office/drawing/2014/main" id="{012405F7-BF2D-5730-2C75-301E91DF57D6}"/>
              </a:ext>
            </a:extLst>
          </p:cNvPr>
          <p:cNvCxnSpPr>
            <a:cxnSpLocks/>
            <a:stCxn id="5" idx="3"/>
            <a:endCxn id="4" idx="2"/>
          </p:cNvCxnSpPr>
          <p:nvPr/>
        </p:nvCxnSpPr>
        <p:spPr>
          <a:xfrm flipV="1">
            <a:off x="2551162" y="2193187"/>
            <a:ext cx="967823" cy="76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EF3B918-839A-566F-4C95-7F866D21CA63}"/>
              </a:ext>
            </a:extLst>
          </p:cNvPr>
          <p:cNvCxnSpPr>
            <a:cxnSpLocks/>
            <a:stCxn id="4" idx="6"/>
            <a:endCxn id="7" idx="1"/>
          </p:cNvCxnSpPr>
          <p:nvPr/>
        </p:nvCxnSpPr>
        <p:spPr>
          <a:xfrm>
            <a:off x="5575369" y="2193187"/>
            <a:ext cx="1017469" cy="76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7421AFD-A17B-A23A-7798-E5F35697C65F}"/>
              </a:ext>
            </a:extLst>
          </p:cNvPr>
          <p:cNvSpPr txBox="1"/>
          <p:nvPr/>
        </p:nvSpPr>
        <p:spPr>
          <a:xfrm>
            <a:off x="2551162" y="3049440"/>
            <a:ext cx="4041676" cy="307777"/>
          </a:xfrm>
          <a:prstGeom prst="rect">
            <a:avLst/>
          </a:prstGeom>
          <a:noFill/>
          <a:ln>
            <a:noFill/>
          </a:ln>
        </p:spPr>
        <p:txBody>
          <a:bodyPr wrap="square" rtlCol="0">
            <a:spAutoFit/>
          </a:bodyPr>
          <a:lstStyle/>
          <a:p>
            <a:pPr algn="ctr"/>
            <a:r>
              <a:rPr lang="en-US" sz="1400" dirty="0">
                <a:solidFill>
                  <a:schemeClr val="accent2">
                    <a:lumMod val="75000"/>
                  </a:schemeClr>
                </a:solidFill>
              </a:rPr>
              <a:t>Other Effect (e.g., through nutritional absorption)</a:t>
            </a:r>
          </a:p>
        </p:txBody>
      </p:sp>
      <p:sp>
        <p:nvSpPr>
          <p:cNvPr id="16" name="TextBox 15">
            <a:extLst>
              <a:ext uri="{FF2B5EF4-FFF2-40B4-BE49-F238E27FC236}">
                <a16:creationId xmlns:a16="http://schemas.microsoft.com/office/drawing/2014/main" id="{3D89A2EA-6A5C-26D4-6B75-B742FC74E244}"/>
              </a:ext>
            </a:extLst>
          </p:cNvPr>
          <p:cNvSpPr txBox="1"/>
          <p:nvPr/>
        </p:nvSpPr>
        <p:spPr>
          <a:xfrm>
            <a:off x="2341502" y="995553"/>
            <a:ext cx="4475988" cy="369332"/>
          </a:xfrm>
          <a:prstGeom prst="rect">
            <a:avLst/>
          </a:prstGeom>
          <a:noFill/>
        </p:spPr>
        <p:txBody>
          <a:bodyPr wrap="square" rtlCol="0" anchor="ctr">
            <a:spAutoFit/>
          </a:bodyPr>
          <a:lstStyle/>
          <a:p>
            <a:pPr algn="ctr"/>
            <a:r>
              <a:rPr lang="en-US" b="1" dirty="0"/>
              <a:t>Example</a:t>
            </a:r>
          </a:p>
        </p:txBody>
      </p:sp>
      <p:sp>
        <p:nvSpPr>
          <p:cNvPr id="2" name="TextBox 1">
            <a:extLst>
              <a:ext uri="{FF2B5EF4-FFF2-40B4-BE49-F238E27FC236}">
                <a16:creationId xmlns:a16="http://schemas.microsoft.com/office/drawing/2014/main" id="{93B6A0CD-28B1-98F3-9EFB-273A881765AE}"/>
              </a:ext>
            </a:extLst>
          </p:cNvPr>
          <p:cNvSpPr txBox="1"/>
          <p:nvPr/>
        </p:nvSpPr>
        <p:spPr>
          <a:xfrm>
            <a:off x="2265936" y="2244385"/>
            <a:ext cx="1760894" cy="461665"/>
          </a:xfrm>
          <a:prstGeom prst="rect">
            <a:avLst/>
          </a:prstGeom>
          <a:noFill/>
        </p:spPr>
        <p:txBody>
          <a:bodyPr wrap="square" rtlCol="0">
            <a:spAutoFit/>
          </a:bodyPr>
          <a:lstStyle/>
          <a:p>
            <a:pPr algn="ctr"/>
            <a:r>
              <a:rPr lang="en-US" sz="1200" dirty="0"/>
              <a:t>Regulate </a:t>
            </a:r>
          </a:p>
          <a:p>
            <a:pPr algn="ctr"/>
            <a:r>
              <a:rPr lang="en-US" sz="1200" dirty="0"/>
              <a:t>hormone production</a:t>
            </a:r>
          </a:p>
        </p:txBody>
      </p:sp>
      <p:sp>
        <p:nvSpPr>
          <p:cNvPr id="6" name="TextBox 5">
            <a:extLst>
              <a:ext uri="{FF2B5EF4-FFF2-40B4-BE49-F238E27FC236}">
                <a16:creationId xmlns:a16="http://schemas.microsoft.com/office/drawing/2014/main" id="{5D0EE833-4484-5132-63AA-6C698522DCD2}"/>
              </a:ext>
            </a:extLst>
          </p:cNvPr>
          <p:cNvSpPr txBox="1"/>
          <p:nvPr/>
        </p:nvSpPr>
        <p:spPr>
          <a:xfrm>
            <a:off x="5210381" y="2232334"/>
            <a:ext cx="1747444" cy="461665"/>
          </a:xfrm>
          <a:prstGeom prst="rect">
            <a:avLst/>
          </a:prstGeom>
          <a:noFill/>
        </p:spPr>
        <p:txBody>
          <a:bodyPr wrap="square" rtlCol="0">
            <a:spAutoFit/>
          </a:bodyPr>
          <a:lstStyle/>
          <a:p>
            <a:pPr algn="ctr"/>
            <a:r>
              <a:rPr lang="en-US" sz="1200" dirty="0"/>
              <a:t>Promotes </a:t>
            </a:r>
          </a:p>
          <a:p>
            <a:pPr algn="ctr"/>
            <a:r>
              <a:rPr lang="en-US" sz="1200" dirty="0"/>
              <a:t>growth</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7F5DD29-4B3D-8F94-E83B-6668EFBE9921}"/>
                  </a:ext>
                </a:extLst>
              </p:cNvPr>
              <p:cNvSpPr txBox="1"/>
              <p:nvPr/>
            </p:nvSpPr>
            <p:spPr>
              <a:xfrm>
                <a:off x="5290143" y="1826479"/>
                <a:ext cx="1567261" cy="307777"/>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chemeClr val="accent5">
                              <a:lumMod val="50000"/>
                            </a:schemeClr>
                          </a:solidFill>
                          <a:latin typeface="Cambria Math" panose="02040503050406030204" pitchFamily="18" charset="0"/>
                          <a:ea typeface="Cambria Math" panose="02040503050406030204" pitchFamily="18" charset="0"/>
                        </a:rPr>
                        <m:t>𝒃</m:t>
                      </m:r>
                    </m:oMath>
                  </m:oMathPara>
                </a14:m>
                <a:endParaRPr lang="en-US" sz="1400" b="1" dirty="0">
                  <a:solidFill>
                    <a:schemeClr val="accent5">
                      <a:lumMod val="50000"/>
                    </a:schemeClr>
                  </a:solidFill>
                </a:endParaRPr>
              </a:p>
            </p:txBody>
          </p:sp>
        </mc:Choice>
        <mc:Fallback xmlns="">
          <p:sp>
            <p:nvSpPr>
              <p:cNvPr id="40" name="TextBox 39">
                <a:extLst>
                  <a:ext uri="{FF2B5EF4-FFF2-40B4-BE49-F238E27FC236}">
                    <a16:creationId xmlns:a16="http://schemas.microsoft.com/office/drawing/2014/main" id="{77F5DD29-4B3D-8F94-E83B-6668EFBE9921}"/>
                  </a:ext>
                </a:extLst>
              </p:cNvPr>
              <p:cNvSpPr txBox="1">
                <a:spLocks noRot="1" noChangeAspect="1" noMove="1" noResize="1" noEditPoints="1" noAdjustHandles="1" noChangeArrowheads="1" noChangeShapeType="1" noTextEdit="1"/>
              </p:cNvSpPr>
              <p:nvPr/>
            </p:nvSpPr>
            <p:spPr>
              <a:xfrm>
                <a:off x="5290143" y="1826479"/>
                <a:ext cx="1567261" cy="307777"/>
              </a:xfrm>
              <a:prstGeom prst="rect">
                <a:avLst/>
              </a:prstGeom>
              <a:blipFill>
                <a:blip r:embed="rId2"/>
                <a:stretch>
                  <a:fillRect/>
                </a:stretch>
              </a:blipFill>
              <a:ln>
                <a:noFill/>
              </a:ln>
            </p:spPr>
            <p:txBody>
              <a:bodyPr/>
              <a:lstStyle/>
              <a:p>
                <a:r>
                  <a:rPr lang="en-US">
                    <a:noFill/>
                  </a:rPr>
                  <a:t> </a:t>
                </a:r>
              </a:p>
            </p:txBody>
          </p:sp>
        </mc:Fallback>
      </mc:AlternateContent>
      <p:sp>
        <p:nvSpPr>
          <p:cNvPr id="36" name="TextBox 35">
            <a:extLst>
              <a:ext uri="{FF2B5EF4-FFF2-40B4-BE49-F238E27FC236}">
                <a16:creationId xmlns:a16="http://schemas.microsoft.com/office/drawing/2014/main" id="{2C80ED7F-83C2-491C-CE5F-A06DD0DC6F5D}"/>
              </a:ext>
            </a:extLst>
          </p:cNvPr>
          <p:cNvSpPr txBox="1"/>
          <p:nvPr/>
        </p:nvSpPr>
        <p:spPr>
          <a:xfrm>
            <a:off x="2236950" y="1826479"/>
            <a:ext cx="1567261" cy="307777"/>
          </a:xfrm>
          <a:prstGeom prst="rect">
            <a:avLst/>
          </a:prstGeom>
          <a:noFill/>
          <a:ln>
            <a:noFill/>
          </a:ln>
        </p:spPr>
        <p:txBody>
          <a:bodyPr wrap="square" rtlCol="0">
            <a:spAutoFit/>
          </a:bodyPr>
          <a:lstStyle/>
          <a:p>
            <a:pPr algn="ctr"/>
            <a:r>
              <a:rPr lang="en-US" sz="1400" b="1" dirty="0">
                <a:solidFill>
                  <a:schemeClr val="accent5">
                    <a:lumMod val="50000"/>
                  </a:schemeClr>
                </a:solidFill>
              </a:rPr>
              <a:t>𝑎</a:t>
            </a:r>
          </a:p>
        </p:txBody>
      </p:sp>
      <p:cxnSp>
        <p:nvCxnSpPr>
          <p:cNvPr id="42" name="Elbow Connector 41">
            <a:extLst>
              <a:ext uri="{FF2B5EF4-FFF2-40B4-BE49-F238E27FC236}">
                <a16:creationId xmlns:a16="http://schemas.microsoft.com/office/drawing/2014/main" id="{97A2BCF6-B7D1-BD10-10D5-4B2CF7F5FD95}"/>
              </a:ext>
            </a:extLst>
          </p:cNvPr>
          <p:cNvCxnSpPr>
            <a:cxnSpLocks/>
            <a:endCxn id="7" idx="2"/>
          </p:cNvCxnSpPr>
          <p:nvPr/>
        </p:nvCxnSpPr>
        <p:spPr>
          <a:xfrm>
            <a:off x="1677440" y="2542883"/>
            <a:ext cx="5789120" cy="12700"/>
          </a:xfrm>
          <a:prstGeom prst="bentConnector4">
            <a:avLst>
              <a:gd name="adj1" fmla="val 111"/>
              <a:gd name="adj2" fmla="val 3403803"/>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52B0DA57-3627-FF45-3BC6-C268EBDDC2D9}"/>
                  </a:ext>
                </a:extLst>
              </p:cNvPr>
              <p:cNvSpPr txBox="1"/>
              <p:nvPr/>
            </p:nvSpPr>
            <p:spPr>
              <a:xfrm>
                <a:off x="1050482" y="3589031"/>
                <a:ext cx="7058028" cy="1631216"/>
              </a:xfrm>
              <a:prstGeom prst="rect">
                <a:avLst/>
              </a:prstGeom>
              <a:noFill/>
            </p:spPr>
            <p:txBody>
              <a:bodyPr wrap="square" rtlCol="0">
                <a:spAutoFit/>
              </a:bodyPr>
              <a:lstStyle/>
              <a:p>
                <a:pPr algn="ctr"/>
                <a:r>
                  <a:rPr lang="en-US" b="1" i="1" dirty="0"/>
                  <a:t>Total Effect = Effect of Interest + Other Effect</a:t>
                </a:r>
              </a:p>
              <a:p>
                <a:pPr algn="ctr"/>
                <a:endParaRPr lang="en-US" b="1" i="1" dirty="0"/>
              </a:p>
              <a:p>
                <a:pPr marL="285750" indent="-285750">
                  <a:buFont typeface="Arial" panose="020B0604020202020204" pitchFamily="34" charset="0"/>
                  <a:buChar char="•"/>
                </a:pPr>
                <a:r>
                  <a:rPr lang="en-US" sz="1600" dirty="0"/>
                  <a:t>Effect through mediator:</a:t>
                </a:r>
                <a:r>
                  <a:rPr lang="en-US" sz="1600" i="1" dirty="0"/>
                  <a:t>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𝑎</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𝑏</m:t>
                    </m:r>
                  </m:oMath>
                </a14:m>
                <a:r>
                  <a:rPr lang="en-US" sz="1600" dirty="0"/>
                  <a:t>, mediated pathway</a:t>
                </a:r>
              </a:p>
              <a:p>
                <a:pPr marL="285750" indent="-285750">
                  <a:buFont typeface="Arial" panose="020B0604020202020204" pitchFamily="34" charset="0"/>
                  <a:buChar char="•"/>
                </a:pPr>
                <a:r>
                  <a:rPr lang="en-US" sz="1600" dirty="0"/>
                  <a:t>To estimate the effect NOT through mediator, one should control for mediator.</a:t>
                </a:r>
              </a:p>
              <a:p>
                <a:pPr marL="742950" lvl="1" indent="-285750">
                  <a:buFont typeface="Arial" panose="020B0604020202020204" pitchFamily="34" charset="0"/>
                  <a:buChar char="•"/>
                </a:pPr>
                <a:r>
                  <a:rPr lang="en-US" sz="1600" dirty="0"/>
                  <a:t>In this case, this is the </a:t>
                </a:r>
                <a:r>
                  <a:rPr lang="en-US" sz="1600" b="1" dirty="0"/>
                  <a:t>unmeasured pleiotropy</a:t>
                </a:r>
              </a:p>
              <a:p>
                <a:pPr marL="285750" indent="-285750">
                  <a:buFont typeface="Arial" panose="020B0604020202020204" pitchFamily="34" charset="0"/>
                  <a:buChar char="•"/>
                </a:pPr>
                <a:r>
                  <a:rPr lang="en-US" sz="1600" dirty="0"/>
                  <a:t>To estimate total effect, one should not control for mediator.</a:t>
                </a:r>
              </a:p>
            </p:txBody>
          </p:sp>
        </mc:Choice>
        <mc:Fallback xmlns="">
          <p:sp>
            <p:nvSpPr>
              <p:cNvPr id="51" name="TextBox 50">
                <a:extLst>
                  <a:ext uri="{FF2B5EF4-FFF2-40B4-BE49-F238E27FC236}">
                    <a16:creationId xmlns:a16="http://schemas.microsoft.com/office/drawing/2014/main" id="{52B0DA57-3627-FF45-3BC6-C268EBDDC2D9}"/>
                  </a:ext>
                </a:extLst>
              </p:cNvPr>
              <p:cNvSpPr txBox="1">
                <a:spLocks noRot="1" noChangeAspect="1" noMove="1" noResize="1" noEditPoints="1" noAdjustHandles="1" noChangeArrowheads="1" noChangeShapeType="1" noTextEdit="1"/>
              </p:cNvSpPr>
              <p:nvPr/>
            </p:nvSpPr>
            <p:spPr>
              <a:xfrm>
                <a:off x="1050482" y="3589031"/>
                <a:ext cx="7058028" cy="1631216"/>
              </a:xfrm>
              <a:prstGeom prst="rect">
                <a:avLst/>
              </a:prstGeom>
              <a:blipFill>
                <a:blip r:embed="rId3"/>
                <a:stretch>
                  <a:fillRect l="-359" t="-1550" b="-465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C630A2A-DB10-FFB5-73AE-C80868F5C759}"/>
              </a:ext>
            </a:extLst>
          </p:cNvPr>
          <p:cNvSpPr txBox="1"/>
          <p:nvPr/>
        </p:nvSpPr>
        <p:spPr>
          <a:xfrm>
            <a:off x="1471177" y="534396"/>
            <a:ext cx="6216638" cy="276999"/>
          </a:xfrm>
          <a:prstGeom prst="rect">
            <a:avLst/>
          </a:prstGeom>
          <a:noFill/>
        </p:spPr>
        <p:txBody>
          <a:bodyPr wrap="none" rtlCol="0">
            <a:spAutoFit/>
          </a:bodyPr>
          <a:lstStyle/>
          <a:p>
            <a:r>
              <a:rPr lang="en-US" sz="1200" dirty="0"/>
              <a:t>Explains </a:t>
            </a:r>
            <a:r>
              <a:rPr lang="en-US" sz="1200" b="1" dirty="0"/>
              <a:t>HOW</a:t>
            </a:r>
            <a:r>
              <a:rPr lang="en-US" sz="1200" dirty="0"/>
              <a:t> a genetic variant affects an outcome by lying in the causal pathway between them</a:t>
            </a:r>
          </a:p>
        </p:txBody>
      </p:sp>
      <p:graphicFrame>
        <p:nvGraphicFramePr>
          <p:cNvPr id="10" name="Table 9">
            <a:extLst>
              <a:ext uri="{FF2B5EF4-FFF2-40B4-BE49-F238E27FC236}">
                <a16:creationId xmlns:a16="http://schemas.microsoft.com/office/drawing/2014/main" id="{02B0C0D0-E156-D303-16B2-163B55EB955F}"/>
              </a:ext>
            </a:extLst>
          </p:cNvPr>
          <p:cNvGraphicFramePr>
            <a:graphicFrameLocks noGrp="1"/>
          </p:cNvGraphicFramePr>
          <p:nvPr>
            <p:extLst>
              <p:ext uri="{D42A27DB-BD31-4B8C-83A1-F6EECF244321}">
                <p14:modId xmlns:p14="http://schemas.microsoft.com/office/powerpoint/2010/main" val="2100343127"/>
              </p:ext>
            </p:extLst>
          </p:nvPr>
        </p:nvGraphicFramePr>
        <p:xfrm>
          <a:off x="803718" y="6212751"/>
          <a:ext cx="7536564" cy="2352040"/>
        </p:xfrm>
        <a:graphic>
          <a:graphicData uri="http://schemas.openxmlformats.org/drawingml/2006/table">
            <a:tbl>
              <a:tblPr firstRow="1" bandRow="1">
                <a:tableStyleId>{5C22544A-7EE6-4342-B048-85BDC9FD1C3A}</a:tableStyleId>
              </a:tblPr>
              <a:tblGrid>
                <a:gridCol w="1611936">
                  <a:extLst>
                    <a:ext uri="{9D8B030D-6E8A-4147-A177-3AD203B41FA5}">
                      <a16:colId xmlns:a16="http://schemas.microsoft.com/office/drawing/2014/main" val="2078978158"/>
                    </a:ext>
                  </a:extLst>
                </a:gridCol>
                <a:gridCol w="1760561">
                  <a:extLst>
                    <a:ext uri="{9D8B030D-6E8A-4147-A177-3AD203B41FA5}">
                      <a16:colId xmlns:a16="http://schemas.microsoft.com/office/drawing/2014/main" val="3332757809"/>
                    </a:ext>
                  </a:extLst>
                </a:gridCol>
                <a:gridCol w="2279926">
                  <a:extLst>
                    <a:ext uri="{9D8B030D-6E8A-4147-A177-3AD203B41FA5}">
                      <a16:colId xmlns:a16="http://schemas.microsoft.com/office/drawing/2014/main" val="4091637248"/>
                    </a:ext>
                  </a:extLst>
                </a:gridCol>
                <a:gridCol w="1884141">
                  <a:extLst>
                    <a:ext uri="{9D8B030D-6E8A-4147-A177-3AD203B41FA5}">
                      <a16:colId xmlns:a16="http://schemas.microsoft.com/office/drawing/2014/main" val="161992189"/>
                    </a:ext>
                  </a:extLst>
                </a:gridCol>
              </a:tblGrid>
              <a:tr h="370840">
                <a:tc>
                  <a:txBody>
                    <a:bodyPr/>
                    <a:lstStyle/>
                    <a:p>
                      <a:pPr algn="ctr"/>
                      <a:endParaRPr lang="en-US" sz="1600" b="1" dirty="0"/>
                    </a:p>
                  </a:txBody>
                  <a:tcPr anchor="ctr"/>
                </a:tc>
                <a:tc>
                  <a:txBody>
                    <a:bodyPr/>
                    <a:lstStyle/>
                    <a:p>
                      <a:pPr algn="ctr"/>
                      <a:r>
                        <a:rPr lang="en-US" sz="1600" b="1" dirty="0"/>
                        <a:t>DAG Structure</a:t>
                      </a:r>
                    </a:p>
                  </a:txBody>
                  <a:tcPr anchor="ctr"/>
                </a:tc>
                <a:tc>
                  <a:txBody>
                    <a:bodyPr/>
                    <a:lstStyle/>
                    <a:p>
                      <a:pPr algn="ctr"/>
                      <a:r>
                        <a:rPr lang="en-US" sz="1600" b="1" dirty="0"/>
                        <a:t>Association</a:t>
                      </a:r>
                    </a:p>
                  </a:txBody>
                  <a:tcPr anchor="ctr"/>
                </a:tc>
                <a:tc>
                  <a:txBody>
                    <a:bodyPr/>
                    <a:lstStyle/>
                    <a:p>
                      <a:pPr algn="ctr"/>
                      <a:r>
                        <a:rPr lang="en-US" sz="1600" b="1" i="0" kern="1200" dirty="0">
                          <a:solidFill>
                            <a:schemeClr val="lt1"/>
                          </a:solidFill>
                          <a:effectLst/>
                          <a:latin typeface="+mn-lt"/>
                          <a:ea typeface="+mn-ea"/>
                          <a:cs typeface="+mn-cs"/>
                        </a:rPr>
                        <a:t>What to Do</a:t>
                      </a:r>
                      <a:endParaRPr lang="en-US" sz="1600" b="1" dirty="0"/>
                    </a:p>
                  </a:txBody>
                  <a:tcPr anchor="ctr"/>
                </a:tc>
                <a:extLst>
                  <a:ext uri="{0D108BD9-81ED-4DB2-BD59-A6C34878D82A}">
                    <a16:rowId xmlns:a16="http://schemas.microsoft.com/office/drawing/2014/main" val="80201740"/>
                  </a:ext>
                </a:extLst>
              </a:tr>
              <a:tr h="370840">
                <a:tc>
                  <a:txBody>
                    <a:bodyPr/>
                    <a:lstStyle/>
                    <a:p>
                      <a:pPr algn="ctr"/>
                      <a:r>
                        <a:rPr lang="en-US" sz="1600" b="1" dirty="0"/>
                        <a:t>Confounder</a:t>
                      </a:r>
                    </a:p>
                  </a:txBody>
                  <a:tcPr anchor="ctr"/>
                </a:tc>
                <a:tc>
                  <a:txBody>
                    <a:bodyPr/>
                    <a:lstStyle/>
                    <a:p>
                      <a:pPr algn="ctr"/>
                      <a:r>
                        <a:rPr lang="en-US" sz="1600" b="0" i="0" u="none" strike="noStrike" kern="1200" dirty="0">
                          <a:solidFill>
                            <a:schemeClr val="dk1"/>
                          </a:solidFill>
                          <a:effectLst/>
                          <a:latin typeface="+mn-lt"/>
                          <a:ea typeface="+mn-ea"/>
                          <a:cs typeface="+mn-cs"/>
                        </a:rPr>
                        <a:t>X ← C → Y</a:t>
                      </a:r>
                      <a:endParaRPr lang="en-US" sz="1600" b="0" dirty="0"/>
                    </a:p>
                  </a:txBody>
                  <a:tcPr anchor="ctr"/>
                </a:tc>
                <a:tc>
                  <a:txBody>
                    <a:bodyPr/>
                    <a:lstStyle/>
                    <a:p>
                      <a:pPr algn="ctr"/>
                      <a:r>
                        <a:rPr lang="en-US" sz="1600" b="0" i="0" u="none" strike="noStrike" kern="1200" dirty="0">
                          <a:solidFill>
                            <a:schemeClr val="dk1"/>
                          </a:solidFill>
                          <a:effectLst/>
                          <a:latin typeface="+mn-lt"/>
                          <a:ea typeface="+mn-ea"/>
                          <a:cs typeface="+mn-cs"/>
                        </a:rPr>
                        <a:t>Creates spurious association between X and Y</a:t>
                      </a:r>
                      <a:endParaRPr lang="en-US" sz="1600" b="0" dirty="0"/>
                    </a:p>
                  </a:txBody>
                  <a:tcPr anchor="ctr"/>
                </a:tc>
                <a:tc>
                  <a:txBody>
                    <a:bodyPr/>
                    <a:lstStyle/>
                    <a:p>
                      <a:pPr algn="ctr"/>
                      <a:r>
                        <a:rPr lang="en-US" sz="1600" b="0" i="0" kern="1200" dirty="0">
                          <a:solidFill>
                            <a:schemeClr val="dk1"/>
                          </a:solidFill>
                          <a:effectLst/>
                          <a:latin typeface="+mn-lt"/>
                          <a:ea typeface="+mn-ea"/>
                          <a:cs typeface="+mn-cs"/>
                        </a:rPr>
                        <a:t>Control</a:t>
                      </a:r>
                      <a:r>
                        <a:rPr lang="en-US" sz="1600" b="0" i="0" u="none" strike="noStrike" kern="1200" dirty="0">
                          <a:solidFill>
                            <a:schemeClr val="dk1"/>
                          </a:solidFill>
                          <a:effectLst/>
                          <a:latin typeface="+mn-lt"/>
                          <a:ea typeface="+mn-ea"/>
                          <a:cs typeface="+mn-cs"/>
                        </a:rPr>
                        <a:t> for it</a:t>
                      </a:r>
                      <a:endParaRPr lang="en-US" sz="1600" b="0" dirty="0"/>
                    </a:p>
                  </a:txBody>
                  <a:tcPr anchor="ctr"/>
                </a:tc>
                <a:extLst>
                  <a:ext uri="{0D108BD9-81ED-4DB2-BD59-A6C34878D82A}">
                    <a16:rowId xmlns:a16="http://schemas.microsoft.com/office/drawing/2014/main" val="3589629810"/>
                  </a:ext>
                </a:extLst>
              </a:tr>
              <a:tr h="370840">
                <a:tc>
                  <a:txBody>
                    <a:bodyPr/>
                    <a:lstStyle/>
                    <a:p>
                      <a:pPr algn="ctr"/>
                      <a:r>
                        <a:rPr lang="en-US" sz="1600" b="1" dirty="0"/>
                        <a:t>Collider</a:t>
                      </a:r>
                    </a:p>
                  </a:txBody>
                  <a:tcPr anchor="ctr"/>
                </a:tc>
                <a:tc>
                  <a:txBody>
                    <a:bodyPr/>
                    <a:lstStyle/>
                    <a:p>
                      <a:pPr algn="ctr"/>
                      <a:r>
                        <a:rPr lang="en-US" sz="1600" b="0" i="0" u="none" strike="noStrike" kern="1200" dirty="0">
                          <a:solidFill>
                            <a:schemeClr val="dk1"/>
                          </a:solidFill>
                          <a:effectLst/>
                          <a:latin typeface="+mn-lt"/>
                          <a:ea typeface="+mn-ea"/>
                          <a:cs typeface="+mn-cs"/>
                        </a:rPr>
                        <a:t>X → C ← Y</a:t>
                      </a:r>
                      <a:endParaRPr lang="en-US" sz="1600" b="0" dirty="0"/>
                    </a:p>
                  </a:txBody>
                  <a:tcPr anchor="ctr"/>
                </a:tc>
                <a:tc>
                  <a:txBody>
                    <a:bodyPr/>
                    <a:lstStyle/>
                    <a:p>
                      <a:pPr algn="ctr"/>
                      <a:r>
                        <a:rPr lang="en-US" sz="1600" b="0" i="0" u="none" strike="noStrike" kern="1200" dirty="0">
                          <a:solidFill>
                            <a:schemeClr val="dk1"/>
                          </a:solidFill>
                          <a:effectLst/>
                          <a:latin typeface="+mn-lt"/>
                          <a:ea typeface="+mn-ea"/>
                          <a:cs typeface="+mn-cs"/>
                        </a:rPr>
                        <a:t>X and Y are initially independent</a:t>
                      </a:r>
                      <a:endParaRPr lang="en-US" sz="1600" b="0" dirty="0"/>
                    </a:p>
                  </a:txBody>
                  <a:tcPr anchor="ctr"/>
                </a:tc>
                <a:tc>
                  <a:txBody>
                    <a:bodyPr/>
                    <a:lstStyle/>
                    <a:p>
                      <a:pPr algn="ctr"/>
                      <a:r>
                        <a:rPr lang="en-US" sz="1600" b="0" i="0" kern="1200" dirty="0">
                          <a:solidFill>
                            <a:schemeClr val="dk1"/>
                          </a:solidFill>
                          <a:effectLst/>
                          <a:latin typeface="+mn-lt"/>
                          <a:ea typeface="+mn-ea"/>
                          <a:cs typeface="+mn-cs"/>
                        </a:rPr>
                        <a:t>Do NOT control</a:t>
                      </a:r>
                      <a:r>
                        <a:rPr lang="en-US" sz="1600" b="0" i="0" u="none" strike="noStrike" kern="1200" dirty="0">
                          <a:solidFill>
                            <a:schemeClr val="dk1"/>
                          </a:solidFill>
                          <a:effectLst/>
                          <a:latin typeface="+mn-lt"/>
                          <a:ea typeface="+mn-ea"/>
                          <a:cs typeface="+mn-cs"/>
                        </a:rPr>
                        <a:t> for it</a:t>
                      </a:r>
                      <a:endParaRPr lang="en-US" sz="1600" b="0" dirty="0"/>
                    </a:p>
                  </a:txBody>
                  <a:tcPr anchor="ctr"/>
                </a:tc>
                <a:extLst>
                  <a:ext uri="{0D108BD9-81ED-4DB2-BD59-A6C34878D82A}">
                    <a16:rowId xmlns:a16="http://schemas.microsoft.com/office/drawing/2014/main" val="63702858"/>
                  </a:ext>
                </a:extLst>
              </a:tr>
              <a:tr h="0">
                <a:tc>
                  <a:txBody>
                    <a:bodyPr/>
                    <a:lstStyle/>
                    <a:p>
                      <a:pPr algn="ctr"/>
                      <a:r>
                        <a:rPr lang="en-US" sz="1600" b="1" dirty="0"/>
                        <a:t>Mediator</a:t>
                      </a:r>
                    </a:p>
                  </a:txBody>
                  <a:tcPr anchor="ctr"/>
                </a:tc>
                <a:tc>
                  <a:txBody>
                    <a:bodyPr/>
                    <a:lstStyle/>
                    <a:p>
                      <a:pPr algn="ctr"/>
                      <a:r>
                        <a:rPr lang="en-US" sz="1600" b="0" i="0" u="none" strike="noStrike" kern="1200" dirty="0">
                          <a:solidFill>
                            <a:schemeClr val="dk1"/>
                          </a:solidFill>
                          <a:effectLst/>
                          <a:latin typeface="+mn-lt"/>
                          <a:ea typeface="+mn-ea"/>
                          <a:cs typeface="+mn-cs"/>
                        </a:rPr>
                        <a:t>X → M → Y</a:t>
                      </a:r>
                      <a:endParaRPr lang="en-US" sz="1600" b="0" dirty="0"/>
                    </a:p>
                  </a:txBody>
                  <a:tcPr anchor="ctr"/>
                </a:tc>
                <a:tc>
                  <a:txBody>
                    <a:bodyPr/>
                    <a:lstStyle/>
                    <a:p>
                      <a:pPr algn="ctr"/>
                      <a:r>
                        <a:rPr lang="en-US" sz="1600" b="0" i="0" u="none" strike="noStrike" kern="1200" dirty="0">
                          <a:solidFill>
                            <a:schemeClr val="dk1"/>
                          </a:solidFill>
                          <a:effectLst/>
                          <a:latin typeface="+mn-lt"/>
                          <a:ea typeface="+mn-ea"/>
                          <a:cs typeface="+mn-cs"/>
                        </a:rPr>
                        <a:t>Part of the true causal effect of X on Y</a:t>
                      </a:r>
                      <a:endParaRPr lang="en-US" sz="1600" b="0" dirty="0"/>
                    </a:p>
                  </a:txBody>
                  <a:tcPr anchor="ctr"/>
                </a:tc>
                <a:tc>
                  <a:txBody>
                    <a:bodyPr/>
                    <a:lstStyle/>
                    <a:p>
                      <a:pPr algn="ctr"/>
                      <a:r>
                        <a:rPr lang="en-US" sz="1600" b="0" i="0" kern="1200" dirty="0">
                          <a:solidFill>
                            <a:schemeClr val="dk1"/>
                          </a:solidFill>
                          <a:effectLst/>
                          <a:latin typeface="+mn-lt"/>
                          <a:ea typeface="+mn-ea"/>
                          <a:cs typeface="+mn-cs"/>
                        </a:rPr>
                        <a:t>Depends on the context</a:t>
                      </a:r>
                      <a:endParaRPr lang="en-US" sz="1600" b="0" dirty="0"/>
                    </a:p>
                  </a:txBody>
                  <a:tcPr anchor="ctr"/>
                </a:tc>
                <a:extLst>
                  <a:ext uri="{0D108BD9-81ED-4DB2-BD59-A6C34878D82A}">
                    <a16:rowId xmlns:a16="http://schemas.microsoft.com/office/drawing/2014/main" val="1337705265"/>
                  </a:ext>
                </a:extLst>
              </a:tr>
            </a:tbl>
          </a:graphicData>
        </a:graphic>
      </p:graphicFrame>
      <p:sp>
        <p:nvSpPr>
          <p:cNvPr id="12" name="TextBox 11">
            <a:extLst>
              <a:ext uri="{FF2B5EF4-FFF2-40B4-BE49-F238E27FC236}">
                <a16:creationId xmlns:a16="http://schemas.microsoft.com/office/drawing/2014/main" id="{EC1075B3-6201-D2E0-A8BF-805EE95E68E1}"/>
              </a:ext>
            </a:extLst>
          </p:cNvPr>
          <p:cNvSpPr txBox="1"/>
          <p:nvPr/>
        </p:nvSpPr>
        <p:spPr>
          <a:xfrm>
            <a:off x="3263783" y="5732347"/>
            <a:ext cx="2631426" cy="369332"/>
          </a:xfrm>
          <a:prstGeom prst="rect">
            <a:avLst/>
          </a:prstGeom>
          <a:noFill/>
        </p:spPr>
        <p:txBody>
          <a:bodyPr wrap="none" rtlCol="0">
            <a:spAutoFit/>
          </a:bodyPr>
          <a:lstStyle/>
          <a:p>
            <a:r>
              <a:rPr lang="en-US" b="1" dirty="0"/>
              <a:t>Comparison of Covariates</a:t>
            </a:r>
          </a:p>
        </p:txBody>
      </p:sp>
    </p:spTree>
    <p:extLst>
      <p:ext uri="{BB962C8B-B14F-4D97-AF65-F5344CB8AC3E}">
        <p14:creationId xmlns:p14="http://schemas.microsoft.com/office/powerpoint/2010/main" val="2325201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11076-A07D-C2C5-1E31-8C52507B1834}"/>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3229B05F-C9AC-FF33-2642-7B9A581AB08C}"/>
              </a:ext>
            </a:extLst>
          </p:cNvPr>
          <p:cNvSpPr/>
          <p:nvPr/>
        </p:nvSpPr>
        <p:spPr>
          <a:xfrm>
            <a:off x="444381" y="5310449"/>
            <a:ext cx="8255238" cy="333418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6FB9744E-479A-A123-4C71-CAE1819F667B}"/>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Meta-Analysis Fixed Effect</a:t>
            </a:r>
          </a:p>
        </p:txBody>
      </p:sp>
      <p:sp>
        <p:nvSpPr>
          <p:cNvPr id="3" name="TextBox 2">
            <a:extLst>
              <a:ext uri="{FF2B5EF4-FFF2-40B4-BE49-F238E27FC236}">
                <a16:creationId xmlns:a16="http://schemas.microsoft.com/office/drawing/2014/main" id="{CC31E9E5-4CDA-526D-C6CE-DBA12AF4A0ED}"/>
              </a:ext>
            </a:extLst>
          </p:cNvPr>
          <p:cNvSpPr txBox="1"/>
          <p:nvPr/>
        </p:nvSpPr>
        <p:spPr>
          <a:xfrm>
            <a:off x="577728" y="499364"/>
            <a:ext cx="7988544" cy="276999"/>
          </a:xfrm>
          <a:prstGeom prst="rect">
            <a:avLst/>
          </a:prstGeom>
          <a:noFill/>
        </p:spPr>
        <p:txBody>
          <a:bodyPr wrap="square" rtlCol="0">
            <a:spAutoFit/>
          </a:bodyPr>
          <a:lstStyle/>
          <a:p>
            <a:pPr algn="ctr"/>
            <a:r>
              <a:rPr lang="en-US" sz="1200" dirty="0"/>
              <a:t>Synthesizes statistical evidence across multiple independent studies using weighted averaging techniques</a:t>
            </a:r>
          </a:p>
        </p:txBody>
      </p:sp>
      <p:sp>
        <p:nvSpPr>
          <p:cNvPr id="7" name="TextBox 6">
            <a:extLst>
              <a:ext uri="{FF2B5EF4-FFF2-40B4-BE49-F238E27FC236}">
                <a16:creationId xmlns:a16="http://schemas.microsoft.com/office/drawing/2014/main" id="{B6B0508B-7C6A-8098-14D1-BF555B432235}"/>
              </a:ext>
            </a:extLst>
          </p:cNvPr>
          <p:cNvSpPr txBox="1"/>
          <p:nvPr/>
        </p:nvSpPr>
        <p:spPr>
          <a:xfrm>
            <a:off x="5527599" y="5496821"/>
            <a:ext cx="1541897" cy="369332"/>
          </a:xfrm>
          <a:prstGeom prst="rect">
            <a:avLst/>
          </a:prstGeom>
          <a:noFill/>
        </p:spPr>
        <p:txBody>
          <a:bodyPr wrap="none" rtlCol="0">
            <a:spAutoFit/>
          </a:bodyPr>
          <a:lstStyle/>
          <a:p>
            <a:r>
              <a:rPr lang="en-US" b="1" dirty="0"/>
              <a:t>Meta-Analysis</a:t>
            </a:r>
          </a:p>
        </p:txBody>
      </p:sp>
      <p:sp>
        <p:nvSpPr>
          <p:cNvPr id="13" name="Rounded Rectangle 12">
            <a:extLst>
              <a:ext uri="{FF2B5EF4-FFF2-40B4-BE49-F238E27FC236}">
                <a16:creationId xmlns:a16="http://schemas.microsoft.com/office/drawing/2014/main" id="{41CA7063-6F0C-EBBB-8E8B-BF0E04087C6D}"/>
              </a:ext>
            </a:extLst>
          </p:cNvPr>
          <p:cNvSpPr/>
          <p:nvPr/>
        </p:nvSpPr>
        <p:spPr>
          <a:xfrm>
            <a:off x="444381" y="881691"/>
            <a:ext cx="8255238" cy="189256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4" name="TextBox 13">
            <a:extLst>
              <a:ext uri="{FF2B5EF4-FFF2-40B4-BE49-F238E27FC236}">
                <a16:creationId xmlns:a16="http://schemas.microsoft.com/office/drawing/2014/main" id="{E36AF18E-4C82-6619-5F7D-A58C5821D2CF}"/>
              </a:ext>
            </a:extLst>
          </p:cNvPr>
          <p:cNvSpPr txBox="1"/>
          <p:nvPr/>
        </p:nvSpPr>
        <p:spPr>
          <a:xfrm>
            <a:off x="2334006" y="851807"/>
            <a:ext cx="4475988" cy="369332"/>
          </a:xfrm>
          <a:prstGeom prst="rect">
            <a:avLst/>
          </a:prstGeom>
          <a:noFill/>
        </p:spPr>
        <p:txBody>
          <a:bodyPr wrap="square" rtlCol="0" anchor="ctr">
            <a:spAutoFit/>
          </a:bodyPr>
          <a:lstStyle/>
          <a:p>
            <a:pPr algn="ctr"/>
            <a:r>
              <a:rPr lang="en-US" b="1" dirty="0"/>
              <a:t>Several Independent Cohorts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4797624-FAE7-239B-5D0D-5968FAA426C5}"/>
                  </a:ext>
                </a:extLst>
              </p:cNvPr>
              <p:cNvSpPr txBox="1"/>
              <p:nvPr/>
            </p:nvSpPr>
            <p:spPr>
              <a:xfrm>
                <a:off x="4146037" y="6052524"/>
                <a:ext cx="4420235" cy="2505622"/>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Equivalent to merging individuals from two studies together</a:t>
                </a:r>
                <a:endParaRPr lang="en-US" sz="1600" b="0" i="1" dirty="0">
                  <a:latin typeface="Cambria Math" panose="02040503050406030204" pitchFamily="18" charset="0"/>
                  <a:ea typeface="Cambria Math" panose="02040503050406030204" pitchFamily="18" charset="0"/>
                </a:endParaRPr>
              </a:p>
              <a:p>
                <a:pPr marL="285750" indent="-285750">
                  <a:spcBef>
                    <a:spcPts val="600"/>
                  </a:spcBef>
                  <a:spcAft>
                    <a:spcPts val="600"/>
                  </a:spcAft>
                  <a:buFont typeface="Arial" panose="020B0604020202020204" pitchFamily="34" charset="0"/>
                  <a:buChar char="•"/>
                </a:pPr>
                <a14:m>
                  <m:oMath xmlns:m="http://schemas.openxmlformats.org/officeDocument/2006/math">
                    <m:acc>
                      <m:accPr>
                        <m:chr m:val="̂"/>
                        <m:ctrlPr>
                          <a:rPr lang="en-US" sz="1600" b="0" i="1" smtClean="0">
                            <a:latin typeface="Cambria Math" panose="02040503050406030204" pitchFamily="18" charset="0"/>
                            <a:ea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𝛽</m:t>
                        </m:r>
                      </m:e>
                    </m:acc>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nary>
                          <m:naryPr>
                            <m:chr m:val="∑"/>
                            <m:limLoc m:val="subSup"/>
                            <m:supHide m:val="on"/>
                            <m:ctrlPr>
                              <a:rPr lang="en-US" sz="1600" b="0" i="1" smtClean="0">
                                <a:latin typeface="Cambria Math" panose="02040503050406030204" pitchFamily="18" charset="0"/>
                                <a:ea typeface="Cambria Math" panose="02040503050406030204" pitchFamily="18" charset="0"/>
                              </a:rPr>
                            </m:ctrlPr>
                          </m:naryPr>
                          <m:sub>
                            <m:r>
                              <m:rPr>
                                <m:brk m:alnAt="9"/>
                              </m:rPr>
                              <a:rPr lang="en-US" sz="1600" b="0" i="1" smtClean="0">
                                <a:latin typeface="Cambria Math" panose="02040503050406030204" pitchFamily="18" charset="0"/>
                                <a:ea typeface="Cambria Math" panose="02040503050406030204" pitchFamily="18" charset="0"/>
                              </a:rPr>
                              <m:t>𝑘</m:t>
                            </m:r>
                          </m:sub>
                          <m:sup/>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𝑤</m:t>
                                </m:r>
                              </m:e>
                              <m:sub>
                                <m:r>
                                  <a:rPr lang="en-US" sz="1600" b="0" i="1" smtClean="0">
                                    <a:latin typeface="Cambria Math" panose="02040503050406030204" pitchFamily="18" charset="0"/>
                                    <a:ea typeface="Cambria Math" panose="02040503050406030204" pitchFamily="18" charset="0"/>
                                  </a:rPr>
                                  <m:t>𝑘</m:t>
                                </m:r>
                              </m:sub>
                            </m:sSub>
                            <m:sSub>
                              <m:sSubPr>
                                <m:ctrlPr>
                                  <a:rPr lang="en-US" sz="1600" b="0" i="1" smtClean="0">
                                    <a:latin typeface="Cambria Math" panose="02040503050406030204" pitchFamily="18" charset="0"/>
                                    <a:ea typeface="Cambria Math" panose="02040503050406030204" pitchFamily="18" charset="0"/>
                                  </a:rPr>
                                </m:ctrlPr>
                              </m:sSubPr>
                              <m:e>
                                <m:acc>
                                  <m:accPr>
                                    <m:chr m:val="̂"/>
                                    <m:ctrlPr>
                                      <a:rPr lang="en-US" sz="1600" b="0" i="1" smtClean="0">
                                        <a:latin typeface="Cambria Math" panose="02040503050406030204" pitchFamily="18" charset="0"/>
                                        <a:ea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𝛽</m:t>
                                    </m:r>
                                  </m:e>
                                </m:acc>
                              </m:e>
                              <m:sub>
                                <m:r>
                                  <a:rPr lang="en-US" sz="1600" b="0" i="1" smtClean="0">
                                    <a:latin typeface="Cambria Math" panose="02040503050406030204" pitchFamily="18" charset="0"/>
                                    <a:ea typeface="Cambria Math" panose="02040503050406030204" pitchFamily="18" charset="0"/>
                                  </a:rPr>
                                  <m:t>𝑘</m:t>
                                </m:r>
                              </m:sub>
                            </m:sSub>
                          </m:e>
                        </m:nary>
                      </m:num>
                      <m:den>
                        <m:nary>
                          <m:naryPr>
                            <m:chr m:val="∑"/>
                            <m:limLoc m:val="subSup"/>
                            <m:supHide m:val="on"/>
                            <m:ctrlPr>
                              <a:rPr lang="en-US" sz="1600" i="1">
                                <a:latin typeface="Cambria Math" panose="02040503050406030204" pitchFamily="18" charset="0"/>
                                <a:ea typeface="Cambria Math" panose="02040503050406030204" pitchFamily="18" charset="0"/>
                              </a:rPr>
                            </m:ctrlPr>
                          </m:naryPr>
                          <m:sub>
                            <m:r>
                              <m:rPr>
                                <m:brk m:alnAt="9"/>
                              </m:rPr>
                              <a:rPr lang="en-US" sz="1600" b="0" i="1" smtClean="0">
                                <a:latin typeface="Cambria Math" panose="02040503050406030204" pitchFamily="18" charset="0"/>
                                <a:ea typeface="Cambria Math" panose="02040503050406030204" pitchFamily="18" charset="0"/>
                              </a:rPr>
                              <m:t>𝑘</m:t>
                            </m:r>
                          </m:sub>
                          <m:sup/>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𝑤</m:t>
                                </m:r>
                              </m:e>
                              <m:sub>
                                <m:r>
                                  <a:rPr lang="en-US" sz="1600" b="0" i="1" smtClean="0">
                                    <a:latin typeface="Cambria Math" panose="02040503050406030204" pitchFamily="18" charset="0"/>
                                    <a:ea typeface="Cambria Math" panose="02040503050406030204" pitchFamily="18" charset="0"/>
                                  </a:rPr>
                                  <m:t>𝑘</m:t>
                                </m:r>
                              </m:sub>
                            </m:sSub>
                          </m:e>
                        </m:nary>
                      </m:den>
                    </m:f>
                  </m:oMath>
                </a14:m>
                <a:endParaRPr lang="en-US" sz="1600" dirty="0"/>
              </a:p>
              <a:p>
                <a:pPr marL="285750" indent="-285750">
                  <a:spcBef>
                    <a:spcPts val="600"/>
                  </a:spcBef>
                  <a:spcAft>
                    <a:spcPts val="600"/>
                  </a:spcAft>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𝑤</m:t>
                        </m:r>
                      </m:e>
                      <m:sub>
                        <m:r>
                          <a:rPr lang="en-US" sz="1600" b="0" i="1" smtClean="0">
                            <a:latin typeface="Cambria Math" panose="02040503050406030204" pitchFamily="18" charset="0"/>
                            <a:ea typeface="Cambria Math" panose="02040503050406030204" pitchFamily="18" charset="0"/>
                          </a:rPr>
                          <m:t>𝑘</m:t>
                        </m:r>
                      </m:sub>
                    </m:sSub>
                  </m:oMath>
                </a14:m>
                <a:r>
                  <a:rPr lang="en-US" sz="1600" dirty="0"/>
                  <a:t> is the weight for study </a:t>
                </a:r>
                <a14:m>
                  <m:oMath xmlns:m="http://schemas.openxmlformats.org/officeDocument/2006/math">
                    <m:r>
                      <a:rPr lang="en-US" sz="1600" b="0" i="1" smtClean="0">
                        <a:latin typeface="Cambria Math" panose="02040503050406030204" pitchFamily="18" charset="0"/>
                        <a:ea typeface="Cambria Math" panose="02040503050406030204" pitchFamily="18" charset="0"/>
                      </a:rPr>
                      <m:t>𝑘</m:t>
                    </m:r>
                  </m:oMath>
                </a14:m>
                <a:r>
                  <a:rPr lang="en-US" sz="1600" dirty="0"/>
                  <a:t>, for example, Inverse Variance Weighting (IVW):</a:t>
                </a:r>
              </a:p>
              <a:p>
                <a:pPr lvl="1">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𝑤</m:t>
                          </m:r>
                        </m:e>
                        <m:sub>
                          <m:r>
                            <a:rPr lang="en-US" sz="1600" b="0" i="1" smtClean="0">
                              <a:latin typeface="Cambria Math" panose="02040503050406030204" pitchFamily="18" charset="0"/>
                              <a:ea typeface="Cambria Math" panose="02040503050406030204" pitchFamily="18" charset="0"/>
                            </a:rPr>
                            <m:t>𝑘</m:t>
                          </m:r>
                        </m:sub>
                      </m:sSub>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sSubSup>
                            <m:sSubSupPr>
                              <m:ctrlPr>
                                <a:rPr lang="en-US" sz="1600" b="0" i="1" smtClean="0">
                                  <a:latin typeface="Cambria Math" panose="02040503050406030204" pitchFamily="18" charset="0"/>
                                  <a:ea typeface="Cambria Math" panose="02040503050406030204" pitchFamily="18" charset="0"/>
                                </a:rPr>
                              </m:ctrlPr>
                            </m:sSubSupPr>
                            <m:e>
                              <m:r>
                                <a:rPr lang="en-US" sz="1600" b="0" i="1" smtClean="0">
                                  <a:latin typeface="Cambria Math" panose="02040503050406030204" pitchFamily="18" charset="0"/>
                                  <a:ea typeface="Cambria Math" panose="02040503050406030204" pitchFamily="18" charset="0"/>
                                </a:rPr>
                                <m:t>𝑆𝐸</m:t>
                              </m:r>
                            </m:e>
                            <m:sub>
                              <m:r>
                                <a:rPr lang="en-US" sz="1600" b="0" i="1" smtClean="0">
                                  <a:latin typeface="Cambria Math" panose="02040503050406030204" pitchFamily="18" charset="0"/>
                                  <a:ea typeface="Cambria Math" panose="02040503050406030204" pitchFamily="18" charset="0"/>
                                </a:rPr>
                                <m:t>𝑘</m:t>
                              </m:r>
                            </m:sub>
                            <m:sup>
                              <m:r>
                                <a:rPr lang="en-US" sz="1600" b="0" i="1" smtClean="0">
                                  <a:latin typeface="Cambria Math" panose="02040503050406030204" pitchFamily="18" charset="0"/>
                                  <a:ea typeface="Cambria Math" panose="02040503050406030204" pitchFamily="18" charset="0"/>
                                </a:rPr>
                                <m:t>2</m:t>
                              </m:r>
                            </m:sup>
                          </m:sSubSup>
                        </m:den>
                      </m:f>
                    </m:oMath>
                  </m:oMathPara>
                </a14:m>
                <a:endParaRPr lang="en-US" sz="1600" dirty="0"/>
              </a:p>
            </p:txBody>
          </p:sp>
        </mc:Choice>
        <mc:Fallback xmlns="">
          <p:sp>
            <p:nvSpPr>
              <p:cNvPr id="27" name="TextBox 26">
                <a:extLst>
                  <a:ext uri="{FF2B5EF4-FFF2-40B4-BE49-F238E27FC236}">
                    <a16:creationId xmlns:a16="http://schemas.microsoft.com/office/drawing/2014/main" id="{F4797624-FAE7-239B-5D0D-5968FAA426C5}"/>
                  </a:ext>
                </a:extLst>
              </p:cNvPr>
              <p:cNvSpPr txBox="1">
                <a:spLocks noRot="1" noChangeAspect="1" noMove="1" noResize="1" noEditPoints="1" noAdjustHandles="1" noChangeArrowheads="1" noChangeShapeType="1" noTextEdit="1"/>
              </p:cNvSpPr>
              <p:nvPr/>
            </p:nvSpPr>
            <p:spPr>
              <a:xfrm>
                <a:off x="4146037" y="6052524"/>
                <a:ext cx="4420235" cy="2505622"/>
              </a:xfrm>
              <a:prstGeom prst="rect">
                <a:avLst/>
              </a:prstGeom>
              <a:blipFill>
                <a:blip r:embed="rId2"/>
                <a:stretch>
                  <a:fillRect l="-573" t="-505"/>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C1242487-28BB-3B4B-5331-C8474C26A768}"/>
              </a:ext>
            </a:extLst>
          </p:cNvPr>
          <p:cNvSpPr/>
          <p:nvPr/>
        </p:nvSpPr>
        <p:spPr>
          <a:xfrm>
            <a:off x="1458211" y="1450615"/>
            <a:ext cx="1042415" cy="1058222"/>
          </a:xfrm>
          <a:prstGeom prst="ellipse">
            <a:avLst/>
          </a:prstGeom>
          <a:solidFill>
            <a:schemeClr val="accent2">
              <a:lumMod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Study 1</a:t>
            </a:r>
          </a:p>
          <a:p>
            <a:pPr algn="ctr"/>
            <a:r>
              <a:rPr lang="en-US" sz="1100" dirty="0"/>
              <a:t>N1=5,000</a:t>
            </a:r>
          </a:p>
        </p:txBody>
      </p:sp>
      <p:sp>
        <p:nvSpPr>
          <p:cNvPr id="10" name="Oval 9">
            <a:extLst>
              <a:ext uri="{FF2B5EF4-FFF2-40B4-BE49-F238E27FC236}">
                <a16:creationId xmlns:a16="http://schemas.microsoft.com/office/drawing/2014/main" id="{C195D6B1-613E-D35C-8A4C-FEFC84660A49}"/>
              </a:ext>
            </a:extLst>
          </p:cNvPr>
          <p:cNvSpPr/>
          <p:nvPr/>
        </p:nvSpPr>
        <p:spPr>
          <a:xfrm>
            <a:off x="5073165" y="1252129"/>
            <a:ext cx="1371600" cy="1371600"/>
          </a:xfrm>
          <a:prstGeom prst="ellipse">
            <a:avLst/>
          </a:prstGeom>
          <a:solidFill>
            <a:schemeClr val="accent2">
              <a:lumMod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Study 2</a:t>
            </a:r>
          </a:p>
          <a:p>
            <a:pPr algn="ctr"/>
            <a:r>
              <a:rPr lang="en-US" sz="1100" dirty="0"/>
              <a:t>N2=8,000</a:t>
            </a:r>
          </a:p>
        </p:txBody>
      </p:sp>
      <p:sp>
        <p:nvSpPr>
          <p:cNvPr id="22" name="Oval 21">
            <a:extLst>
              <a:ext uri="{FF2B5EF4-FFF2-40B4-BE49-F238E27FC236}">
                <a16:creationId xmlns:a16="http://schemas.microsoft.com/office/drawing/2014/main" id="{BBAA2D6F-2960-AA45-6692-E7B07A3712BC}"/>
              </a:ext>
            </a:extLst>
          </p:cNvPr>
          <p:cNvSpPr/>
          <p:nvPr/>
        </p:nvSpPr>
        <p:spPr>
          <a:xfrm>
            <a:off x="1185504" y="5745335"/>
            <a:ext cx="2286000" cy="2286000"/>
          </a:xfrm>
          <a:prstGeom prst="ellipse">
            <a:avLst/>
          </a:prstGeom>
          <a:solidFill>
            <a:schemeClr val="accent2">
              <a:lumMod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Equivalent to:</a:t>
            </a:r>
          </a:p>
          <a:p>
            <a:pPr algn="ctr"/>
            <a:r>
              <a:rPr lang="en-US" sz="1400" b="1" dirty="0"/>
              <a:t>Merged set</a:t>
            </a:r>
          </a:p>
          <a:p>
            <a:pPr algn="ctr"/>
            <a:r>
              <a:rPr lang="en-US" sz="1100" dirty="0"/>
              <a:t>N=13,000</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AEA480-7153-B723-54DB-524A4FC5BAA9}"/>
                  </a:ext>
                </a:extLst>
              </p:cNvPr>
              <p:cNvSpPr txBox="1"/>
              <p:nvPr/>
            </p:nvSpPr>
            <p:spPr>
              <a:xfrm>
                <a:off x="2115702" y="1372091"/>
                <a:ext cx="2080379" cy="1200329"/>
              </a:xfrm>
              <a:prstGeom prst="rect">
                <a:avLst/>
              </a:prstGeom>
              <a:noFill/>
            </p:spPr>
            <p:txBody>
              <a:bodyPr wrap="square">
                <a:spAutoFit/>
              </a:bodyPr>
              <a:lstStyle/>
              <a:p>
                <a:pPr algn="ctr"/>
                <a:r>
                  <a:rPr lang="en-US" sz="1600" b="1" dirty="0"/>
                  <a:t>Sumstats 1</a:t>
                </a:r>
                <a:endParaRPr lang="en-US" sz="1600" b="1" i="0"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𝛽</m:t>
                          </m:r>
                        </m:e>
                        <m:sub>
                          <m:r>
                            <a:rPr lang="en-US" sz="1400" b="0" i="1" smtClean="0">
                              <a:latin typeface="Cambria Math" panose="02040503050406030204" pitchFamily="18" charset="0"/>
                              <a:ea typeface="Cambria Math" panose="02040503050406030204" pitchFamily="18" charset="0"/>
                            </a:rPr>
                            <m:t>1</m:t>
                          </m:r>
                        </m:sub>
                      </m:sSub>
                      <m:r>
                        <a:rPr lang="en-US" sz="1400" b="0" i="1" smtClean="0">
                          <a:latin typeface="Cambria Math" panose="02040503050406030204" pitchFamily="18" charset="0"/>
                          <a:ea typeface="Cambria Math" panose="02040503050406030204" pitchFamily="18" charset="0"/>
                        </a:rPr>
                        <m:t> </m:t>
                      </m:r>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𝑆𝐸</m:t>
                          </m:r>
                        </m:e>
                        <m:sub>
                          <m:r>
                            <a:rPr lang="en-US" sz="1400" b="0" i="1" smtClean="0">
                              <a:latin typeface="Cambria Math" panose="02040503050406030204" pitchFamily="18" charset="0"/>
                              <a:ea typeface="Cambria Math" panose="02040503050406030204" pitchFamily="18" charset="0"/>
                            </a:rPr>
                            <m:t>1</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𝑁</m:t>
                          </m:r>
                        </m:e>
                        <m:sub>
                          <m:r>
                            <a:rPr lang="en-US" sz="1400" b="0" i="1" smtClean="0">
                              <a:latin typeface="Cambria Math" panose="02040503050406030204" pitchFamily="18" charset="0"/>
                              <a:ea typeface="Cambria Math" panose="02040503050406030204" pitchFamily="18" charset="0"/>
                            </a:rPr>
                            <m:t>1</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25" name="TextBox 24">
                <a:extLst>
                  <a:ext uri="{FF2B5EF4-FFF2-40B4-BE49-F238E27FC236}">
                    <a16:creationId xmlns:a16="http://schemas.microsoft.com/office/drawing/2014/main" id="{FEAEA480-7153-B723-54DB-524A4FC5BAA9}"/>
                  </a:ext>
                </a:extLst>
              </p:cNvPr>
              <p:cNvSpPr txBox="1">
                <a:spLocks noRot="1" noChangeAspect="1" noMove="1" noResize="1" noEditPoints="1" noAdjustHandles="1" noChangeArrowheads="1" noChangeShapeType="1" noTextEdit="1"/>
              </p:cNvSpPr>
              <p:nvPr/>
            </p:nvSpPr>
            <p:spPr>
              <a:xfrm>
                <a:off x="2115702" y="1372091"/>
                <a:ext cx="2080379" cy="1200329"/>
              </a:xfrm>
              <a:prstGeom prst="rect">
                <a:avLst/>
              </a:prstGeom>
              <a:blipFill>
                <a:blip r:embed="rId3"/>
                <a:stretch>
                  <a:fillRect t="-2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6B1B7B-0A43-1212-4F67-82EB7CDAA42B}"/>
                  </a:ext>
                </a:extLst>
              </p:cNvPr>
              <p:cNvSpPr txBox="1"/>
              <p:nvPr/>
            </p:nvSpPr>
            <p:spPr>
              <a:xfrm>
                <a:off x="6029307" y="1352889"/>
                <a:ext cx="2080379" cy="1200329"/>
              </a:xfrm>
              <a:prstGeom prst="rect">
                <a:avLst/>
              </a:prstGeom>
              <a:noFill/>
            </p:spPr>
            <p:txBody>
              <a:bodyPr wrap="square">
                <a:spAutoFit/>
              </a:bodyPr>
              <a:lstStyle/>
              <a:p>
                <a:pPr algn="ctr"/>
                <a:r>
                  <a:rPr lang="en-US" sz="1600" b="1" dirty="0"/>
                  <a:t>Sumstats 2</a:t>
                </a:r>
                <a:endParaRPr lang="en-US" sz="1600" b="1" i="0"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𝛽</m:t>
                          </m:r>
                        </m:e>
                        <m:sub>
                          <m:r>
                            <a:rPr lang="en-US" sz="1400" b="0" i="1" smtClean="0">
                              <a:latin typeface="Cambria Math" panose="02040503050406030204" pitchFamily="18" charset="0"/>
                              <a:ea typeface="Cambria Math" panose="02040503050406030204" pitchFamily="18" charset="0"/>
                            </a:rPr>
                            <m:t>2</m:t>
                          </m:r>
                        </m:sub>
                      </m:sSub>
                      <m:r>
                        <a:rPr lang="en-US" sz="1400" b="0" i="1" smtClean="0">
                          <a:latin typeface="Cambria Math" panose="02040503050406030204" pitchFamily="18" charset="0"/>
                          <a:ea typeface="Cambria Math" panose="02040503050406030204" pitchFamily="18" charset="0"/>
                        </a:rPr>
                        <m:t> </m:t>
                      </m:r>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𝑆𝐸</m:t>
                          </m:r>
                        </m:e>
                        <m:sub>
                          <m:r>
                            <a:rPr lang="en-US" sz="1400" b="0" i="1" smtClean="0">
                              <a:latin typeface="Cambria Math" panose="02040503050406030204" pitchFamily="18" charset="0"/>
                              <a:ea typeface="Cambria Math" panose="02040503050406030204" pitchFamily="18" charset="0"/>
                            </a:rPr>
                            <m:t>2</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𝑁</m:t>
                          </m:r>
                        </m:e>
                        <m:sub>
                          <m:r>
                            <a:rPr lang="en-US" sz="1400" b="0" i="1" smtClean="0">
                              <a:latin typeface="Cambria Math" panose="02040503050406030204" pitchFamily="18" charset="0"/>
                              <a:ea typeface="Cambria Math" panose="02040503050406030204" pitchFamily="18" charset="0"/>
                            </a:rPr>
                            <m:t>2</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26" name="TextBox 25">
                <a:extLst>
                  <a:ext uri="{FF2B5EF4-FFF2-40B4-BE49-F238E27FC236}">
                    <a16:creationId xmlns:a16="http://schemas.microsoft.com/office/drawing/2014/main" id="{836B1B7B-0A43-1212-4F67-82EB7CDAA42B}"/>
                  </a:ext>
                </a:extLst>
              </p:cNvPr>
              <p:cNvSpPr txBox="1">
                <a:spLocks noRot="1" noChangeAspect="1" noMove="1" noResize="1" noEditPoints="1" noAdjustHandles="1" noChangeArrowheads="1" noChangeShapeType="1" noTextEdit="1"/>
              </p:cNvSpPr>
              <p:nvPr/>
            </p:nvSpPr>
            <p:spPr>
              <a:xfrm>
                <a:off x="6029307" y="1352889"/>
                <a:ext cx="2080379" cy="1200329"/>
              </a:xfrm>
              <a:prstGeom prst="rect">
                <a:avLst/>
              </a:prstGeom>
              <a:blipFill>
                <a:blip r:embed="rId4"/>
                <a:stretch>
                  <a:fillRect t="-1042"/>
                </a:stretch>
              </a:blipFill>
            </p:spPr>
            <p:txBody>
              <a:bodyPr/>
              <a:lstStyle/>
              <a:p>
                <a:r>
                  <a:rPr lang="en-US">
                    <a:noFill/>
                  </a:rPr>
                  <a:t> </a:t>
                </a:r>
              </a:p>
            </p:txBody>
          </p:sp>
        </mc:Fallback>
      </mc:AlternateContent>
      <p:sp>
        <p:nvSpPr>
          <p:cNvPr id="35" name="Rounded Rectangle 34">
            <a:extLst>
              <a:ext uri="{FF2B5EF4-FFF2-40B4-BE49-F238E27FC236}">
                <a16:creationId xmlns:a16="http://schemas.microsoft.com/office/drawing/2014/main" id="{59C8C39C-B495-87FE-7CBF-9EEF52FB305F}"/>
              </a:ext>
            </a:extLst>
          </p:cNvPr>
          <p:cNvSpPr/>
          <p:nvPr/>
        </p:nvSpPr>
        <p:spPr>
          <a:xfrm>
            <a:off x="444381" y="2873618"/>
            <a:ext cx="8255238" cy="233716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260A497-BFB4-2B00-1925-84877D231AAB}"/>
                  </a:ext>
                </a:extLst>
              </p:cNvPr>
              <p:cNvSpPr txBox="1"/>
              <p:nvPr/>
            </p:nvSpPr>
            <p:spPr>
              <a:xfrm>
                <a:off x="3791313" y="3196000"/>
                <a:ext cx="4475988" cy="369332"/>
              </a:xfrm>
              <a:prstGeom prst="rect">
                <a:avLst/>
              </a:prstGeom>
              <a:noFill/>
            </p:spPr>
            <p:txBody>
              <a:bodyPr wrap="square" rtlCol="0" anchor="ctr">
                <a:spAutoFit/>
              </a:bodyPr>
              <a:lstStyle/>
              <a:p>
                <a:pPr algn="ctr"/>
                <a:r>
                  <a:rPr lang="en-US" b="1" dirty="0"/>
                  <a:t>What we believe about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1</m:t>
                        </m:r>
                      </m:sub>
                    </m:sSub>
                  </m:oMath>
                </a14:m>
                <a:r>
                  <a:rPr lang="en-US" b="1" dirty="0"/>
                  <a:t> and</a:t>
                </a:r>
                <a:r>
                  <a:rPr lang="en-US"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2</m:t>
                        </m:r>
                      </m:sub>
                    </m:sSub>
                    <m:r>
                      <m:rPr>
                        <m:nor/>
                      </m:rPr>
                      <a:rPr lang="en-US" b="1" dirty="0"/>
                      <m:t>?</m:t>
                    </m:r>
                  </m:oMath>
                </a14:m>
                <a:endParaRPr lang="en-US" i="1" dirty="0">
                  <a:latin typeface="Cambria Math" panose="02040503050406030204" pitchFamily="18" charset="0"/>
                  <a:ea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A260A497-BFB4-2B00-1925-84877D231AAB}"/>
                  </a:ext>
                </a:extLst>
              </p:cNvPr>
              <p:cNvSpPr txBox="1">
                <a:spLocks noRot="1" noChangeAspect="1" noMove="1" noResize="1" noEditPoints="1" noAdjustHandles="1" noChangeArrowheads="1" noChangeShapeType="1" noTextEdit="1"/>
              </p:cNvSpPr>
              <p:nvPr/>
            </p:nvSpPr>
            <p:spPr>
              <a:xfrm>
                <a:off x="3791313" y="3196000"/>
                <a:ext cx="4475988" cy="369332"/>
              </a:xfrm>
              <a:prstGeom prst="rect">
                <a:avLst/>
              </a:prstGeom>
              <a:blipFill>
                <a:blip r:embed="rId5"/>
                <a:stretch>
                  <a:fillRect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6F9EC36-EEDF-8063-F642-39781DBFCB75}"/>
                  </a:ext>
                </a:extLst>
              </p:cNvPr>
              <p:cNvSpPr txBox="1"/>
              <p:nvPr/>
            </p:nvSpPr>
            <p:spPr>
              <a:xfrm>
                <a:off x="4302246" y="3751703"/>
                <a:ext cx="4264026" cy="830997"/>
              </a:xfrm>
              <a:prstGeom prst="rect">
                <a:avLst/>
              </a:prstGeom>
              <a:noFill/>
            </p:spPr>
            <p:txBody>
              <a:bodyPr wrap="square" rtlCol="0">
                <a:spAutoFit/>
              </a:bodyPr>
              <a:lstStyle/>
              <a:p>
                <a:r>
                  <a:rPr lang="en-US" sz="1600" dirty="0"/>
                  <a:t>Since this is a fixed effect model, the underlying true </a:t>
                </a:r>
                <a14:m>
                  <m:oMath xmlns:m="http://schemas.openxmlformats.org/officeDocument/2006/math">
                    <m:r>
                      <a:rPr lang="en-US" sz="1600" i="1" smtClean="0">
                        <a:latin typeface="Cambria Math" panose="02040503050406030204" pitchFamily="18" charset="0"/>
                        <a:ea typeface="Cambria Math" panose="02040503050406030204" pitchFamily="18" charset="0"/>
                      </a:rPr>
                      <m:t>𝛽</m:t>
                    </m:r>
                  </m:oMath>
                </a14:m>
                <a:r>
                  <a:rPr lang="en-US" sz="1600" dirty="0"/>
                  <a:t> is a fixed value, i.e.,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i="1">
                            <a:latin typeface="Cambria Math" panose="02040503050406030204" pitchFamily="18" charset="0"/>
                            <a:ea typeface="Cambria Math" panose="02040503050406030204" pitchFamily="18" charset="0"/>
                          </a:rPr>
                          <m:t>1</m:t>
                        </m:r>
                      </m:sub>
                    </m:sSub>
                  </m:oMath>
                </a14:m>
                <a:r>
                  <a:rPr lang="en-US" sz="1600" dirty="0"/>
                  <a:t> and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b="0" i="1" smtClean="0">
                            <a:latin typeface="Cambria Math" panose="02040503050406030204" pitchFamily="18" charset="0"/>
                            <a:ea typeface="Cambria Math" panose="02040503050406030204" pitchFamily="18" charset="0"/>
                          </a:rPr>
                          <m:t>2</m:t>
                        </m:r>
                      </m:sub>
                    </m:sSub>
                  </m:oMath>
                </a14:m>
                <a:r>
                  <a:rPr lang="en-US" sz="1600" dirty="0"/>
                  <a:t> should be fixed effect (constant) instead of a random effect.</a:t>
                </a:r>
              </a:p>
            </p:txBody>
          </p:sp>
        </mc:Choice>
        <mc:Fallback xmlns="">
          <p:sp>
            <p:nvSpPr>
              <p:cNvPr id="42" name="TextBox 41">
                <a:extLst>
                  <a:ext uri="{FF2B5EF4-FFF2-40B4-BE49-F238E27FC236}">
                    <a16:creationId xmlns:a16="http://schemas.microsoft.com/office/drawing/2014/main" id="{16F9EC36-EEDF-8063-F642-39781DBFCB75}"/>
                  </a:ext>
                </a:extLst>
              </p:cNvPr>
              <p:cNvSpPr txBox="1">
                <a:spLocks noRot="1" noChangeAspect="1" noMove="1" noResize="1" noEditPoints="1" noAdjustHandles="1" noChangeArrowheads="1" noChangeShapeType="1" noTextEdit="1"/>
              </p:cNvSpPr>
              <p:nvPr/>
            </p:nvSpPr>
            <p:spPr>
              <a:xfrm>
                <a:off x="4302246" y="3751703"/>
                <a:ext cx="4264026" cy="830997"/>
              </a:xfrm>
              <a:prstGeom prst="rect">
                <a:avLst/>
              </a:prstGeom>
              <a:blipFill>
                <a:blip r:embed="rId6"/>
                <a:stretch>
                  <a:fillRect l="-593" t="-1515" r="-297" b="-757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8302A0B-6EF8-0CAE-CA3E-7F423B39145F}"/>
              </a:ext>
            </a:extLst>
          </p:cNvPr>
          <p:cNvPicPr>
            <a:picLocks noChangeAspect="1"/>
          </p:cNvPicPr>
          <p:nvPr/>
        </p:nvPicPr>
        <p:blipFill>
          <a:blip r:embed="rId7"/>
          <a:stretch>
            <a:fillRect/>
          </a:stretch>
        </p:blipFill>
        <p:spPr>
          <a:xfrm>
            <a:off x="804504" y="2957989"/>
            <a:ext cx="3048001" cy="2286001"/>
          </a:xfrm>
          <a:prstGeom prst="rect">
            <a:avLst/>
          </a:prstGeom>
        </p:spPr>
      </p:pic>
    </p:spTree>
    <p:extLst>
      <p:ext uri="{BB962C8B-B14F-4D97-AF65-F5344CB8AC3E}">
        <p14:creationId xmlns:p14="http://schemas.microsoft.com/office/powerpoint/2010/main" val="2117497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6615B-4A41-6B3D-DA90-1E1825663450}"/>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5F22A839-6D38-6BE0-2C8D-3F651003202C}"/>
              </a:ext>
            </a:extLst>
          </p:cNvPr>
          <p:cNvSpPr/>
          <p:nvPr/>
        </p:nvSpPr>
        <p:spPr>
          <a:xfrm>
            <a:off x="444381" y="5310449"/>
            <a:ext cx="8255238" cy="364248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3D91CF4C-181E-D215-F4BF-704EF4753012}"/>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Meta-Analysis Random Effect </a:t>
            </a:r>
          </a:p>
        </p:txBody>
      </p:sp>
      <p:sp>
        <p:nvSpPr>
          <p:cNvPr id="3" name="TextBox 2">
            <a:extLst>
              <a:ext uri="{FF2B5EF4-FFF2-40B4-BE49-F238E27FC236}">
                <a16:creationId xmlns:a16="http://schemas.microsoft.com/office/drawing/2014/main" id="{CE01E09F-7054-F5EF-B5E2-4D30F8C3B057}"/>
              </a:ext>
            </a:extLst>
          </p:cNvPr>
          <p:cNvSpPr txBox="1"/>
          <p:nvPr/>
        </p:nvSpPr>
        <p:spPr>
          <a:xfrm>
            <a:off x="577728" y="499364"/>
            <a:ext cx="7988544" cy="276999"/>
          </a:xfrm>
          <a:prstGeom prst="rect">
            <a:avLst/>
          </a:prstGeom>
          <a:noFill/>
        </p:spPr>
        <p:txBody>
          <a:bodyPr wrap="square" rtlCol="0">
            <a:spAutoFit/>
          </a:bodyPr>
          <a:lstStyle/>
          <a:p>
            <a:pPr algn="ctr"/>
            <a:r>
              <a:rPr lang="en-US" sz="1200" dirty="0"/>
              <a:t>Synthesizes statistical evidence across multiple independent studies assuming the true effect is random</a:t>
            </a:r>
          </a:p>
        </p:txBody>
      </p:sp>
      <p:sp>
        <p:nvSpPr>
          <p:cNvPr id="7" name="TextBox 6">
            <a:extLst>
              <a:ext uri="{FF2B5EF4-FFF2-40B4-BE49-F238E27FC236}">
                <a16:creationId xmlns:a16="http://schemas.microsoft.com/office/drawing/2014/main" id="{A067B397-C6B0-C07C-4F83-376AB84FFD97}"/>
              </a:ext>
            </a:extLst>
          </p:cNvPr>
          <p:cNvSpPr txBox="1"/>
          <p:nvPr/>
        </p:nvSpPr>
        <p:spPr>
          <a:xfrm>
            <a:off x="3889973" y="5267048"/>
            <a:ext cx="1541897" cy="369332"/>
          </a:xfrm>
          <a:prstGeom prst="rect">
            <a:avLst/>
          </a:prstGeom>
          <a:noFill/>
        </p:spPr>
        <p:txBody>
          <a:bodyPr wrap="none" rtlCol="0">
            <a:spAutoFit/>
          </a:bodyPr>
          <a:lstStyle/>
          <a:p>
            <a:r>
              <a:rPr lang="en-US" b="1" dirty="0"/>
              <a:t>Meta-Analysis</a:t>
            </a:r>
          </a:p>
        </p:txBody>
      </p:sp>
      <p:sp>
        <p:nvSpPr>
          <p:cNvPr id="13" name="Rounded Rectangle 12">
            <a:extLst>
              <a:ext uri="{FF2B5EF4-FFF2-40B4-BE49-F238E27FC236}">
                <a16:creationId xmlns:a16="http://schemas.microsoft.com/office/drawing/2014/main" id="{0CFACDAF-3FB8-35FC-37B7-C25DE5AD4848}"/>
              </a:ext>
            </a:extLst>
          </p:cNvPr>
          <p:cNvSpPr/>
          <p:nvPr/>
        </p:nvSpPr>
        <p:spPr>
          <a:xfrm>
            <a:off x="444381" y="881691"/>
            <a:ext cx="8255238" cy="189256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4" name="TextBox 13">
            <a:extLst>
              <a:ext uri="{FF2B5EF4-FFF2-40B4-BE49-F238E27FC236}">
                <a16:creationId xmlns:a16="http://schemas.microsoft.com/office/drawing/2014/main" id="{1A83B92F-6F2B-5CCE-AD05-7077546B05C2}"/>
              </a:ext>
            </a:extLst>
          </p:cNvPr>
          <p:cNvSpPr txBox="1"/>
          <p:nvPr/>
        </p:nvSpPr>
        <p:spPr>
          <a:xfrm>
            <a:off x="2334006" y="851807"/>
            <a:ext cx="4475988" cy="369332"/>
          </a:xfrm>
          <a:prstGeom prst="rect">
            <a:avLst/>
          </a:prstGeom>
          <a:noFill/>
        </p:spPr>
        <p:txBody>
          <a:bodyPr wrap="square" rtlCol="0" anchor="ctr">
            <a:spAutoFit/>
          </a:bodyPr>
          <a:lstStyle/>
          <a:p>
            <a:pPr algn="ctr"/>
            <a:r>
              <a:rPr lang="en-US" b="1" dirty="0"/>
              <a:t>Several Independent Cohorts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1AA7E26-FBEE-38C9-D195-8D1BA6E4B693}"/>
                  </a:ext>
                </a:extLst>
              </p:cNvPr>
              <p:cNvSpPr txBox="1"/>
              <p:nvPr/>
            </p:nvSpPr>
            <p:spPr>
              <a:xfrm>
                <a:off x="697819" y="5515712"/>
                <a:ext cx="7493783" cy="909160"/>
              </a:xfrm>
              <a:prstGeom prst="rect">
                <a:avLst/>
              </a:prstGeom>
              <a:noFill/>
            </p:spPr>
            <p:txBody>
              <a:bodyPr wrap="square" rtlCol="0">
                <a:spAutoFit/>
              </a:bodyPr>
              <a:lstStyle/>
              <a:p>
                <a:pPr algn="ctr"/>
                <a14:m>
                  <m:oMath xmlns:m="http://schemas.openxmlformats.org/officeDocument/2006/math">
                    <m:acc>
                      <m:accPr>
                        <m:chr m:val="̂"/>
                        <m:ctrlPr>
                          <a:rPr lang="en-US" sz="1350" i="1" smtClean="0">
                            <a:latin typeface="Cambria Math" panose="02040503050406030204" pitchFamily="18" charset="0"/>
                            <a:ea typeface="Cambria Math" panose="02040503050406030204" pitchFamily="18" charset="0"/>
                          </a:rPr>
                        </m:ctrlPr>
                      </m:accPr>
                      <m:e>
                        <m:r>
                          <a:rPr lang="en-US" sz="1350" i="1">
                            <a:latin typeface="Cambria Math" panose="02040503050406030204" pitchFamily="18" charset="0"/>
                            <a:ea typeface="Cambria Math" panose="02040503050406030204" pitchFamily="18" charset="0"/>
                          </a:rPr>
                          <m:t>𝛽</m:t>
                        </m:r>
                      </m:e>
                    </m:acc>
                    <m:r>
                      <a:rPr lang="en-US" sz="1350" i="1">
                        <a:latin typeface="Cambria Math" panose="02040503050406030204" pitchFamily="18" charset="0"/>
                        <a:ea typeface="Cambria Math" panose="02040503050406030204" pitchFamily="18" charset="0"/>
                      </a:rPr>
                      <m:t>=</m:t>
                    </m:r>
                    <m:f>
                      <m:fPr>
                        <m:ctrlPr>
                          <a:rPr lang="en-US" sz="1350" i="1">
                            <a:latin typeface="Cambria Math" panose="02040503050406030204" pitchFamily="18" charset="0"/>
                            <a:ea typeface="Cambria Math" panose="02040503050406030204" pitchFamily="18" charset="0"/>
                          </a:rPr>
                        </m:ctrlPr>
                      </m:fPr>
                      <m:num>
                        <m:nary>
                          <m:naryPr>
                            <m:chr m:val="∑"/>
                            <m:limLoc m:val="subSup"/>
                            <m:supHide m:val="on"/>
                            <m:ctrlPr>
                              <a:rPr lang="en-US" sz="1350" i="1">
                                <a:latin typeface="Cambria Math" panose="02040503050406030204" pitchFamily="18" charset="0"/>
                                <a:ea typeface="Cambria Math" panose="02040503050406030204" pitchFamily="18" charset="0"/>
                              </a:rPr>
                            </m:ctrlPr>
                          </m:naryPr>
                          <m:sub>
                            <m:r>
                              <m:rPr>
                                <m:brk m:alnAt="9"/>
                              </m:rPr>
                              <a:rPr lang="en-US" sz="1350" i="1">
                                <a:latin typeface="Cambria Math" panose="02040503050406030204" pitchFamily="18" charset="0"/>
                                <a:ea typeface="Cambria Math" panose="02040503050406030204" pitchFamily="18" charset="0"/>
                              </a:rPr>
                              <m:t>𝑘</m:t>
                            </m:r>
                          </m:sub>
                          <m:sup/>
                          <m:e>
                            <m:sSubSup>
                              <m:sSubSupPr>
                                <m:ctrlPr>
                                  <a:rPr lang="en-US" sz="1350" i="1" smtClean="0">
                                    <a:latin typeface="Cambria Math" panose="02040503050406030204" pitchFamily="18" charset="0"/>
                                    <a:ea typeface="Cambria Math" panose="02040503050406030204" pitchFamily="18" charset="0"/>
                                  </a:rPr>
                                </m:ctrlPr>
                              </m:sSubSupPr>
                              <m:e>
                                <m:r>
                                  <a:rPr lang="en-US" sz="1350" b="0" i="1" smtClean="0">
                                    <a:latin typeface="Cambria Math" panose="02040503050406030204" pitchFamily="18" charset="0"/>
                                    <a:ea typeface="Cambria Math" panose="02040503050406030204" pitchFamily="18" charset="0"/>
                                  </a:rPr>
                                  <m:t>𝑤</m:t>
                                </m:r>
                              </m:e>
                              <m:sub>
                                <m:r>
                                  <a:rPr lang="en-US" sz="1350" b="0" i="1" smtClean="0">
                                    <a:latin typeface="Cambria Math" panose="02040503050406030204" pitchFamily="18" charset="0"/>
                                    <a:ea typeface="Cambria Math" panose="02040503050406030204" pitchFamily="18" charset="0"/>
                                  </a:rPr>
                                  <m:t>𝑘</m:t>
                                </m:r>
                              </m:sub>
                              <m:sup>
                                <m:r>
                                  <a:rPr lang="en-US" sz="1350" b="0" i="1" smtClean="0">
                                    <a:latin typeface="Cambria Math" panose="02040503050406030204" pitchFamily="18" charset="0"/>
                                    <a:ea typeface="Cambria Math" panose="02040503050406030204" pitchFamily="18" charset="0"/>
                                  </a:rPr>
                                  <m:t>∗</m:t>
                                </m:r>
                              </m:sup>
                            </m:sSubSup>
                            <m:sSub>
                              <m:sSubPr>
                                <m:ctrlPr>
                                  <a:rPr lang="en-US" sz="1350" i="1">
                                    <a:latin typeface="Cambria Math" panose="02040503050406030204" pitchFamily="18" charset="0"/>
                                    <a:ea typeface="Cambria Math" panose="02040503050406030204" pitchFamily="18" charset="0"/>
                                  </a:rPr>
                                </m:ctrlPr>
                              </m:sSubPr>
                              <m:e>
                                <m:acc>
                                  <m:accPr>
                                    <m:chr m:val="̂"/>
                                    <m:ctrlPr>
                                      <a:rPr lang="en-US" sz="1350" i="1">
                                        <a:latin typeface="Cambria Math" panose="02040503050406030204" pitchFamily="18" charset="0"/>
                                        <a:ea typeface="Cambria Math" panose="02040503050406030204" pitchFamily="18" charset="0"/>
                                      </a:rPr>
                                    </m:ctrlPr>
                                  </m:accPr>
                                  <m:e>
                                    <m:r>
                                      <a:rPr lang="en-US" sz="1350" i="1">
                                        <a:latin typeface="Cambria Math" panose="02040503050406030204" pitchFamily="18" charset="0"/>
                                        <a:ea typeface="Cambria Math" panose="02040503050406030204" pitchFamily="18" charset="0"/>
                                      </a:rPr>
                                      <m:t>𝛽</m:t>
                                    </m:r>
                                  </m:e>
                                </m:acc>
                              </m:e>
                              <m:sub>
                                <m:r>
                                  <a:rPr lang="en-US" sz="1350" i="1">
                                    <a:latin typeface="Cambria Math" panose="02040503050406030204" pitchFamily="18" charset="0"/>
                                    <a:ea typeface="Cambria Math" panose="02040503050406030204" pitchFamily="18" charset="0"/>
                                  </a:rPr>
                                  <m:t>𝑘</m:t>
                                </m:r>
                              </m:sub>
                            </m:sSub>
                          </m:e>
                        </m:nary>
                      </m:num>
                      <m:den>
                        <m:nary>
                          <m:naryPr>
                            <m:chr m:val="∑"/>
                            <m:limLoc m:val="subSup"/>
                            <m:supHide m:val="on"/>
                            <m:ctrlPr>
                              <a:rPr lang="en-US" sz="1350" i="1">
                                <a:latin typeface="Cambria Math" panose="02040503050406030204" pitchFamily="18" charset="0"/>
                                <a:ea typeface="Cambria Math" panose="02040503050406030204" pitchFamily="18" charset="0"/>
                              </a:rPr>
                            </m:ctrlPr>
                          </m:naryPr>
                          <m:sub>
                            <m:r>
                              <m:rPr>
                                <m:brk m:alnAt="9"/>
                              </m:rPr>
                              <a:rPr lang="en-US" sz="1350" i="1">
                                <a:latin typeface="Cambria Math" panose="02040503050406030204" pitchFamily="18" charset="0"/>
                                <a:ea typeface="Cambria Math" panose="02040503050406030204" pitchFamily="18" charset="0"/>
                              </a:rPr>
                              <m:t>𝑘</m:t>
                            </m:r>
                          </m:sub>
                          <m:sup/>
                          <m:e>
                            <m:sSubSup>
                              <m:sSubSupPr>
                                <m:ctrlPr>
                                  <a:rPr lang="en-US" sz="1350" i="1">
                                    <a:latin typeface="Cambria Math" panose="02040503050406030204" pitchFamily="18" charset="0"/>
                                    <a:ea typeface="Cambria Math" panose="02040503050406030204" pitchFamily="18" charset="0"/>
                                  </a:rPr>
                                </m:ctrlPr>
                              </m:sSubSupPr>
                              <m:e>
                                <m:r>
                                  <a:rPr lang="en-US" sz="1350" i="1">
                                    <a:latin typeface="Cambria Math" panose="02040503050406030204" pitchFamily="18" charset="0"/>
                                    <a:ea typeface="Cambria Math" panose="02040503050406030204" pitchFamily="18" charset="0"/>
                                  </a:rPr>
                                  <m:t>𝑤</m:t>
                                </m:r>
                              </m:e>
                              <m:sub>
                                <m:r>
                                  <a:rPr lang="en-US" sz="1350" i="1">
                                    <a:latin typeface="Cambria Math" panose="02040503050406030204" pitchFamily="18" charset="0"/>
                                    <a:ea typeface="Cambria Math" panose="02040503050406030204" pitchFamily="18" charset="0"/>
                                  </a:rPr>
                                  <m:t>𝑘</m:t>
                                </m:r>
                              </m:sub>
                              <m:sup>
                                <m:r>
                                  <a:rPr lang="en-US" sz="1350" i="1">
                                    <a:latin typeface="Cambria Math" panose="02040503050406030204" pitchFamily="18" charset="0"/>
                                    <a:ea typeface="Cambria Math" panose="02040503050406030204" pitchFamily="18" charset="0"/>
                                  </a:rPr>
                                  <m:t>∗</m:t>
                                </m:r>
                              </m:sup>
                            </m:sSubSup>
                          </m:e>
                        </m:nary>
                      </m:den>
                    </m:f>
                  </m:oMath>
                </a14:m>
                <a:r>
                  <a:rPr lang="en-US" sz="1350" dirty="0"/>
                  <a:t>, where</a:t>
                </a:r>
                <a:r>
                  <a:rPr lang="en-US" sz="1350" i="1" dirty="0">
                    <a:latin typeface="Cambria Math" panose="02040503050406030204" pitchFamily="18" charset="0"/>
                    <a:ea typeface="Cambria Math" panose="02040503050406030204" pitchFamily="18" charset="0"/>
                  </a:rPr>
                  <a:t> </a:t>
                </a:r>
                <a14:m>
                  <m:oMath xmlns:m="http://schemas.openxmlformats.org/officeDocument/2006/math">
                    <m:sSubSup>
                      <m:sSubSupPr>
                        <m:ctrlPr>
                          <a:rPr lang="en-US" sz="1350" i="1">
                            <a:latin typeface="Cambria Math" panose="02040503050406030204" pitchFamily="18" charset="0"/>
                            <a:ea typeface="Cambria Math" panose="02040503050406030204" pitchFamily="18" charset="0"/>
                          </a:rPr>
                        </m:ctrlPr>
                      </m:sSubSupPr>
                      <m:e>
                        <m:r>
                          <a:rPr lang="en-US" sz="1350" i="1">
                            <a:latin typeface="Cambria Math" panose="02040503050406030204" pitchFamily="18" charset="0"/>
                            <a:ea typeface="Cambria Math" panose="02040503050406030204" pitchFamily="18" charset="0"/>
                          </a:rPr>
                          <m:t>𝑤</m:t>
                        </m:r>
                      </m:e>
                      <m:sub>
                        <m:r>
                          <a:rPr lang="en-US" sz="1350" i="1">
                            <a:latin typeface="Cambria Math" panose="02040503050406030204" pitchFamily="18" charset="0"/>
                            <a:ea typeface="Cambria Math" panose="02040503050406030204" pitchFamily="18" charset="0"/>
                          </a:rPr>
                          <m:t>𝑘</m:t>
                        </m:r>
                      </m:sub>
                      <m:sup>
                        <m:r>
                          <a:rPr lang="en-US" sz="1350" i="1">
                            <a:latin typeface="Cambria Math" panose="02040503050406030204" pitchFamily="18" charset="0"/>
                            <a:ea typeface="Cambria Math" panose="02040503050406030204" pitchFamily="18" charset="0"/>
                          </a:rPr>
                          <m:t>∗</m:t>
                        </m:r>
                      </m:sup>
                    </m:sSubSup>
                    <m:r>
                      <a:rPr lang="en-US" sz="1350" i="1">
                        <a:latin typeface="Cambria Math" panose="02040503050406030204" pitchFamily="18" charset="0"/>
                        <a:ea typeface="Cambria Math" panose="02040503050406030204" pitchFamily="18" charset="0"/>
                      </a:rPr>
                      <m:t>=</m:t>
                    </m:r>
                    <m:f>
                      <m:fPr>
                        <m:ctrlPr>
                          <a:rPr lang="en-US" sz="1350" i="1">
                            <a:latin typeface="Cambria Math" panose="02040503050406030204" pitchFamily="18" charset="0"/>
                            <a:ea typeface="Cambria Math" panose="02040503050406030204" pitchFamily="18" charset="0"/>
                          </a:rPr>
                        </m:ctrlPr>
                      </m:fPr>
                      <m:num>
                        <m:r>
                          <a:rPr lang="en-US" sz="1350" i="1">
                            <a:latin typeface="Cambria Math" panose="02040503050406030204" pitchFamily="18" charset="0"/>
                            <a:ea typeface="Cambria Math" panose="02040503050406030204" pitchFamily="18" charset="0"/>
                          </a:rPr>
                          <m:t>1</m:t>
                        </m:r>
                      </m:num>
                      <m:den>
                        <m:sSubSup>
                          <m:sSubSupPr>
                            <m:ctrlPr>
                              <a:rPr lang="en-US" sz="1350" i="1">
                                <a:latin typeface="Cambria Math" panose="02040503050406030204" pitchFamily="18" charset="0"/>
                                <a:ea typeface="Cambria Math" panose="02040503050406030204" pitchFamily="18" charset="0"/>
                              </a:rPr>
                            </m:ctrlPr>
                          </m:sSubSupPr>
                          <m:e>
                            <m:r>
                              <a:rPr lang="en-US" sz="1350" i="1">
                                <a:latin typeface="Cambria Math" panose="02040503050406030204" pitchFamily="18" charset="0"/>
                                <a:ea typeface="Cambria Math" panose="02040503050406030204" pitchFamily="18" charset="0"/>
                              </a:rPr>
                              <m:t>𝑆𝐸</m:t>
                            </m:r>
                          </m:e>
                          <m:sub>
                            <m:r>
                              <a:rPr lang="en-US" sz="1350" i="1">
                                <a:latin typeface="Cambria Math" panose="02040503050406030204" pitchFamily="18" charset="0"/>
                                <a:ea typeface="Cambria Math" panose="02040503050406030204" pitchFamily="18" charset="0"/>
                              </a:rPr>
                              <m:t>𝑘</m:t>
                            </m:r>
                          </m:sub>
                          <m:sup>
                            <m:r>
                              <a:rPr lang="en-US" sz="1350" i="1">
                                <a:latin typeface="Cambria Math" panose="02040503050406030204" pitchFamily="18" charset="0"/>
                                <a:ea typeface="Cambria Math" panose="02040503050406030204" pitchFamily="18" charset="0"/>
                              </a:rPr>
                              <m:t>2</m:t>
                            </m:r>
                          </m:sup>
                        </m:sSubSup>
                        <m:r>
                          <a:rPr lang="en-US" sz="1350" i="1">
                            <a:latin typeface="Cambria Math" panose="02040503050406030204" pitchFamily="18" charset="0"/>
                            <a:ea typeface="Cambria Math" panose="02040503050406030204" pitchFamily="18" charset="0"/>
                          </a:rPr>
                          <m:t>+</m:t>
                        </m:r>
                        <m:sSup>
                          <m:sSupPr>
                            <m:ctrlPr>
                              <a:rPr lang="en-US" sz="1350" i="1">
                                <a:latin typeface="Cambria Math" panose="02040503050406030204" pitchFamily="18" charset="0"/>
                                <a:ea typeface="Cambria Math" panose="02040503050406030204" pitchFamily="18" charset="0"/>
                              </a:rPr>
                            </m:ctrlPr>
                          </m:sSupPr>
                          <m:e>
                            <m:r>
                              <a:rPr lang="en-US" sz="1350" i="1">
                                <a:latin typeface="Cambria Math" panose="02040503050406030204" pitchFamily="18" charset="0"/>
                                <a:ea typeface="Cambria Math" panose="02040503050406030204" pitchFamily="18" charset="0"/>
                              </a:rPr>
                              <m:t>𝜏</m:t>
                            </m:r>
                          </m:e>
                          <m:sup>
                            <m:r>
                              <a:rPr lang="en-US" sz="1350" i="1">
                                <a:latin typeface="Cambria Math" panose="02040503050406030204" pitchFamily="18" charset="0"/>
                                <a:ea typeface="Cambria Math" panose="02040503050406030204" pitchFamily="18" charset="0"/>
                              </a:rPr>
                              <m:t>2</m:t>
                            </m:r>
                          </m:sup>
                        </m:sSup>
                      </m:den>
                    </m:f>
                  </m:oMath>
                </a14:m>
                <a:endParaRPr lang="en-US" sz="1350" i="1" dirty="0">
                  <a:latin typeface="Cambria Math" panose="02040503050406030204" pitchFamily="18" charset="0"/>
                  <a:ea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bSup>
                      <m:sSubSupPr>
                        <m:ctrlPr>
                          <a:rPr lang="en-US" sz="1350" i="1" smtClean="0">
                            <a:latin typeface="Cambria Math" panose="02040503050406030204" pitchFamily="18" charset="0"/>
                            <a:ea typeface="Cambria Math" panose="02040503050406030204" pitchFamily="18" charset="0"/>
                          </a:rPr>
                        </m:ctrlPr>
                      </m:sSubSupPr>
                      <m:e>
                        <m:r>
                          <a:rPr lang="en-US" sz="1350" i="1">
                            <a:latin typeface="Cambria Math" panose="02040503050406030204" pitchFamily="18" charset="0"/>
                            <a:ea typeface="Cambria Math" panose="02040503050406030204" pitchFamily="18" charset="0"/>
                          </a:rPr>
                          <m:t>𝑤</m:t>
                        </m:r>
                      </m:e>
                      <m:sub>
                        <m:r>
                          <a:rPr lang="en-US" sz="1350" i="1">
                            <a:latin typeface="Cambria Math" panose="02040503050406030204" pitchFamily="18" charset="0"/>
                            <a:ea typeface="Cambria Math" panose="02040503050406030204" pitchFamily="18" charset="0"/>
                          </a:rPr>
                          <m:t>𝑘</m:t>
                        </m:r>
                      </m:sub>
                      <m:sup>
                        <m:r>
                          <a:rPr lang="en-US" sz="1350" i="1">
                            <a:latin typeface="Cambria Math" panose="02040503050406030204" pitchFamily="18" charset="0"/>
                            <a:ea typeface="Cambria Math" panose="02040503050406030204" pitchFamily="18" charset="0"/>
                          </a:rPr>
                          <m:t>∗</m:t>
                        </m:r>
                      </m:sup>
                    </m:sSubSup>
                  </m:oMath>
                </a14:m>
                <a:r>
                  <a:rPr lang="en-US" sz="1350" i="1" dirty="0">
                    <a:latin typeface="Cambria Math" panose="02040503050406030204" pitchFamily="18" charset="0"/>
                    <a:ea typeface="Cambria Math" panose="02040503050406030204" pitchFamily="18" charset="0"/>
                  </a:rPr>
                  <a:t> </a:t>
                </a:r>
                <a:r>
                  <a:rPr lang="en-US" sz="1350" dirty="0"/>
                  <a:t>is the random-effects weight for the </a:t>
                </a:r>
                <a14:m>
                  <m:oMath xmlns:m="http://schemas.openxmlformats.org/officeDocument/2006/math">
                    <m:r>
                      <a:rPr lang="en-US" sz="1350" i="1">
                        <a:latin typeface="Cambria Math" panose="02040503050406030204" pitchFamily="18" charset="0"/>
                        <a:ea typeface="Cambria Math" panose="02040503050406030204" pitchFamily="18" charset="0"/>
                      </a:rPr>
                      <m:t>𝑘</m:t>
                    </m:r>
                  </m:oMath>
                </a14:m>
                <a:r>
                  <a:rPr lang="en-US" sz="1350" dirty="0"/>
                  <a:t>-</a:t>
                </a:r>
                <a:r>
                  <a:rPr lang="en-US" sz="1350" dirty="0" err="1"/>
                  <a:t>th</a:t>
                </a:r>
                <a:r>
                  <a:rPr lang="en-US" sz="1350" dirty="0"/>
                  <a:t> study</a:t>
                </a:r>
                <a:endParaRPr lang="en-US" sz="1350" i="1" dirty="0">
                  <a:latin typeface="Cambria Math" panose="02040503050406030204" pitchFamily="18" charset="0"/>
                  <a:ea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sSup>
                      <m:sSupPr>
                        <m:ctrlPr>
                          <a:rPr lang="en-US" sz="1350" i="1" smtClean="0">
                            <a:latin typeface="Cambria Math" panose="02040503050406030204" pitchFamily="18" charset="0"/>
                            <a:ea typeface="Cambria Math" panose="02040503050406030204" pitchFamily="18" charset="0"/>
                          </a:rPr>
                        </m:ctrlPr>
                      </m:sSupPr>
                      <m:e>
                        <m:r>
                          <a:rPr lang="en-US" sz="1350" i="1">
                            <a:latin typeface="Cambria Math" panose="02040503050406030204" pitchFamily="18" charset="0"/>
                            <a:ea typeface="Cambria Math" panose="02040503050406030204" pitchFamily="18" charset="0"/>
                          </a:rPr>
                          <m:t>𝜏</m:t>
                        </m:r>
                      </m:e>
                      <m:sup>
                        <m:r>
                          <a:rPr lang="en-US" sz="1350" i="1">
                            <a:latin typeface="Cambria Math" panose="02040503050406030204" pitchFamily="18" charset="0"/>
                            <a:ea typeface="Cambria Math" panose="02040503050406030204" pitchFamily="18" charset="0"/>
                          </a:rPr>
                          <m:t>2</m:t>
                        </m:r>
                      </m:sup>
                    </m:sSup>
                  </m:oMath>
                </a14:m>
                <a:r>
                  <a:rPr lang="en-US" sz="1350" dirty="0"/>
                  <a:t> is the between-study variance (heterogeneity)</a:t>
                </a:r>
              </a:p>
            </p:txBody>
          </p:sp>
        </mc:Choice>
        <mc:Fallback xmlns="">
          <p:sp>
            <p:nvSpPr>
              <p:cNvPr id="27" name="TextBox 26">
                <a:extLst>
                  <a:ext uri="{FF2B5EF4-FFF2-40B4-BE49-F238E27FC236}">
                    <a16:creationId xmlns:a16="http://schemas.microsoft.com/office/drawing/2014/main" id="{E1AA7E26-FBEE-38C9-D195-8D1BA6E4B693}"/>
                  </a:ext>
                </a:extLst>
              </p:cNvPr>
              <p:cNvSpPr txBox="1">
                <a:spLocks noRot="1" noChangeAspect="1" noMove="1" noResize="1" noEditPoints="1" noAdjustHandles="1" noChangeArrowheads="1" noChangeShapeType="1" noTextEdit="1"/>
              </p:cNvSpPr>
              <p:nvPr/>
            </p:nvSpPr>
            <p:spPr>
              <a:xfrm>
                <a:off x="697819" y="5515712"/>
                <a:ext cx="7493783" cy="909160"/>
              </a:xfrm>
              <a:prstGeom prst="rect">
                <a:avLst/>
              </a:prstGeom>
              <a:blipFill>
                <a:blip r:embed="rId2"/>
                <a:stretch>
                  <a:fillRect t="-20833" b="-4167"/>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0FB8FEF9-6729-43FA-36CA-10BFC7586C15}"/>
              </a:ext>
            </a:extLst>
          </p:cNvPr>
          <p:cNvSpPr/>
          <p:nvPr/>
        </p:nvSpPr>
        <p:spPr>
          <a:xfrm>
            <a:off x="1458211" y="1450615"/>
            <a:ext cx="1042415" cy="1058222"/>
          </a:xfrm>
          <a:prstGeom prst="ellipse">
            <a:avLst/>
          </a:prstGeom>
          <a:solidFill>
            <a:schemeClr val="accent2">
              <a:lumMod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Study 1</a:t>
            </a:r>
          </a:p>
          <a:p>
            <a:pPr algn="ctr"/>
            <a:r>
              <a:rPr lang="en-US" sz="1100" dirty="0"/>
              <a:t>N1=5,000</a:t>
            </a:r>
          </a:p>
        </p:txBody>
      </p:sp>
      <p:sp>
        <p:nvSpPr>
          <p:cNvPr id="10" name="Oval 9">
            <a:extLst>
              <a:ext uri="{FF2B5EF4-FFF2-40B4-BE49-F238E27FC236}">
                <a16:creationId xmlns:a16="http://schemas.microsoft.com/office/drawing/2014/main" id="{F39514DD-D7D6-C288-1E92-AF3E641F2AE5}"/>
              </a:ext>
            </a:extLst>
          </p:cNvPr>
          <p:cNvSpPr/>
          <p:nvPr/>
        </p:nvSpPr>
        <p:spPr>
          <a:xfrm>
            <a:off x="5073165" y="1252129"/>
            <a:ext cx="1371600" cy="1371600"/>
          </a:xfrm>
          <a:prstGeom prst="ellipse">
            <a:avLst/>
          </a:prstGeom>
          <a:solidFill>
            <a:schemeClr val="accent2">
              <a:lumMod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Study 2</a:t>
            </a:r>
          </a:p>
          <a:p>
            <a:pPr algn="ctr"/>
            <a:r>
              <a:rPr lang="en-US" sz="1100" dirty="0"/>
              <a:t>N2=8,000</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E467781-50DF-FD34-A9BD-5C3EABD210B0}"/>
                  </a:ext>
                </a:extLst>
              </p:cNvPr>
              <p:cNvSpPr txBox="1"/>
              <p:nvPr/>
            </p:nvSpPr>
            <p:spPr>
              <a:xfrm>
                <a:off x="2115702" y="1372091"/>
                <a:ext cx="2080379" cy="1200329"/>
              </a:xfrm>
              <a:prstGeom prst="rect">
                <a:avLst/>
              </a:prstGeom>
              <a:noFill/>
            </p:spPr>
            <p:txBody>
              <a:bodyPr wrap="square">
                <a:spAutoFit/>
              </a:bodyPr>
              <a:lstStyle/>
              <a:p>
                <a:pPr algn="ctr"/>
                <a:r>
                  <a:rPr lang="en-US" sz="1600" b="1" dirty="0"/>
                  <a:t>Sumstats 1</a:t>
                </a:r>
                <a:endParaRPr lang="en-US" sz="1600" b="1" i="0"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𝛽</m:t>
                          </m:r>
                        </m:e>
                        <m:sub>
                          <m:r>
                            <a:rPr lang="en-US" sz="1400" b="0" i="1" smtClean="0">
                              <a:latin typeface="Cambria Math" panose="02040503050406030204" pitchFamily="18" charset="0"/>
                              <a:ea typeface="Cambria Math" panose="02040503050406030204" pitchFamily="18" charset="0"/>
                            </a:rPr>
                            <m:t>1</m:t>
                          </m:r>
                        </m:sub>
                      </m:sSub>
                      <m:r>
                        <a:rPr lang="en-US" sz="1400" b="0" i="1" smtClean="0">
                          <a:latin typeface="Cambria Math" panose="02040503050406030204" pitchFamily="18" charset="0"/>
                          <a:ea typeface="Cambria Math" panose="02040503050406030204" pitchFamily="18" charset="0"/>
                        </a:rPr>
                        <m:t> </m:t>
                      </m:r>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𝑆𝐸</m:t>
                          </m:r>
                        </m:e>
                        <m:sub>
                          <m:r>
                            <a:rPr lang="en-US" sz="1400" b="0" i="1" smtClean="0">
                              <a:latin typeface="Cambria Math" panose="02040503050406030204" pitchFamily="18" charset="0"/>
                              <a:ea typeface="Cambria Math" panose="02040503050406030204" pitchFamily="18" charset="0"/>
                            </a:rPr>
                            <m:t>1</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𝑁</m:t>
                          </m:r>
                        </m:e>
                        <m:sub>
                          <m:r>
                            <a:rPr lang="en-US" sz="1400" b="0" i="1" smtClean="0">
                              <a:latin typeface="Cambria Math" panose="02040503050406030204" pitchFamily="18" charset="0"/>
                              <a:ea typeface="Cambria Math" panose="02040503050406030204" pitchFamily="18" charset="0"/>
                            </a:rPr>
                            <m:t>1</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25" name="TextBox 24">
                <a:extLst>
                  <a:ext uri="{FF2B5EF4-FFF2-40B4-BE49-F238E27FC236}">
                    <a16:creationId xmlns:a16="http://schemas.microsoft.com/office/drawing/2014/main" id="{AE467781-50DF-FD34-A9BD-5C3EABD210B0}"/>
                  </a:ext>
                </a:extLst>
              </p:cNvPr>
              <p:cNvSpPr txBox="1">
                <a:spLocks noRot="1" noChangeAspect="1" noMove="1" noResize="1" noEditPoints="1" noAdjustHandles="1" noChangeArrowheads="1" noChangeShapeType="1" noTextEdit="1"/>
              </p:cNvSpPr>
              <p:nvPr/>
            </p:nvSpPr>
            <p:spPr>
              <a:xfrm>
                <a:off x="2115702" y="1372091"/>
                <a:ext cx="2080379" cy="1200329"/>
              </a:xfrm>
              <a:prstGeom prst="rect">
                <a:avLst/>
              </a:prstGeom>
              <a:blipFill>
                <a:blip r:embed="rId3"/>
                <a:stretch>
                  <a:fillRect t="-2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768A74F-7F1E-6189-1346-56C105F3F4DF}"/>
                  </a:ext>
                </a:extLst>
              </p:cNvPr>
              <p:cNvSpPr txBox="1"/>
              <p:nvPr/>
            </p:nvSpPr>
            <p:spPr>
              <a:xfrm>
                <a:off x="6029307" y="1352889"/>
                <a:ext cx="2080379" cy="1200329"/>
              </a:xfrm>
              <a:prstGeom prst="rect">
                <a:avLst/>
              </a:prstGeom>
              <a:noFill/>
            </p:spPr>
            <p:txBody>
              <a:bodyPr wrap="square">
                <a:spAutoFit/>
              </a:bodyPr>
              <a:lstStyle/>
              <a:p>
                <a:pPr algn="ctr"/>
                <a:r>
                  <a:rPr lang="en-US" sz="1600" b="1" dirty="0"/>
                  <a:t>Sumstats 2</a:t>
                </a:r>
                <a:endParaRPr lang="en-US" sz="1600" b="1" i="0"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𝛽</m:t>
                          </m:r>
                        </m:e>
                        <m:sub>
                          <m:r>
                            <a:rPr lang="en-US" sz="1400" b="0" i="1" smtClean="0">
                              <a:latin typeface="Cambria Math" panose="02040503050406030204" pitchFamily="18" charset="0"/>
                              <a:ea typeface="Cambria Math" panose="02040503050406030204" pitchFamily="18" charset="0"/>
                            </a:rPr>
                            <m:t>2</m:t>
                          </m:r>
                        </m:sub>
                      </m:sSub>
                      <m:r>
                        <a:rPr lang="en-US" sz="1400" b="0" i="1" smtClean="0">
                          <a:latin typeface="Cambria Math" panose="02040503050406030204" pitchFamily="18" charset="0"/>
                          <a:ea typeface="Cambria Math" panose="02040503050406030204" pitchFamily="18" charset="0"/>
                        </a:rPr>
                        <m:t> </m:t>
                      </m:r>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𝑆𝐸</m:t>
                          </m:r>
                        </m:e>
                        <m:sub>
                          <m:r>
                            <a:rPr lang="en-US" sz="1400" b="0" i="1" smtClean="0">
                              <a:latin typeface="Cambria Math" panose="02040503050406030204" pitchFamily="18" charset="0"/>
                              <a:ea typeface="Cambria Math" panose="02040503050406030204" pitchFamily="18" charset="0"/>
                            </a:rPr>
                            <m:t>2</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𝑁</m:t>
                          </m:r>
                        </m:e>
                        <m:sub>
                          <m:r>
                            <a:rPr lang="en-US" sz="1400" b="0" i="1" smtClean="0">
                              <a:latin typeface="Cambria Math" panose="02040503050406030204" pitchFamily="18" charset="0"/>
                              <a:ea typeface="Cambria Math" panose="02040503050406030204" pitchFamily="18" charset="0"/>
                            </a:rPr>
                            <m:t>2</m:t>
                          </m:r>
                        </m:sub>
                      </m:sSub>
                    </m:oMath>
                  </m:oMathPara>
                </a14:m>
                <a:endParaRPr lang="en-US" sz="14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26" name="TextBox 25">
                <a:extLst>
                  <a:ext uri="{FF2B5EF4-FFF2-40B4-BE49-F238E27FC236}">
                    <a16:creationId xmlns:a16="http://schemas.microsoft.com/office/drawing/2014/main" id="{B768A74F-7F1E-6189-1346-56C105F3F4DF}"/>
                  </a:ext>
                </a:extLst>
              </p:cNvPr>
              <p:cNvSpPr txBox="1">
                <a:spLocks noRot="1" noChangeAspect="1" noMove="1" noResize="1" noEditPoints="1" noAdjustHandles="1" noChangeArrowheads="1" noChangeShapeType="1" noTextEdit="1"/>
              </p:cNvSpPr>
              <p:nvPr/>
            </p:nvSpPr>
            <p:spPr>
              <a:xfrm>
                <a:off x="6029307" y="1352889"/>
                <a:ext cx="2080379" cy="1200329"/>
              </a:xfrm>
              <a:prstGeom prst="rect">
                <a:avLst/>
              </a:prstGeom>
              <a:blipFill>
                <a:blip r:embed="rId4"/>
                <a:stretch>
                  <a:fillRect t="-1042"/>
                </a:stretch>
              </a:blipFill>
            </p:spPr>
            <p:txBody>
              <a:bodyPr/>
              <a:lstStyle/>
              <a:p>
                <a:r>
                  <a:rPr lang="en-US">
                    <a:noFill/>
                  </a:rPr>
                  <a:t> </a:t>
                </a:r>
              </a:p>
            </p:txBody>
          </p:sp>
        </mc:Fallback>
      </mc:AlternateContent>
      <p:sp>
        <p:nvSpPr>
          <p:cNvPr id="35" name="Rounded Rectangle 34">
            <a:extLst>
              <a:ext uri="{FF2B5EF4-FFF2-40B4-BE49-F238E27FC236}">
                <a16:creationId xmlns:a16="http://schemas.microsoft.com/office/drawing/2014/main" id="{5D2B334B-41D8-32BD-739B-928C7AF593CC}"/>
              </a:ext>
            </a:extLst>
          </p:cNvPr>
          <p:cNvSpPr/>
          <p:nvPr/>
        </p:nvSpPr>
        <p:spPr>
          <a:xfrm>
            <a:off x="444381" y="2873618"/>
            <a:ext cx="8255238" cy="233716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FAA82E3-DAAF-19DE-E4DB-E78AFC8AA65B}"/>
                  </a:ext>
                </a:extLst>
              </p:cNvPr>
              <p:cNvSpPr txBox="1"/>
              <p:nvPr/>
            </p:nvSpPr>
            <p:spPr>
              <a:xfrm>
                <a:off x="4483362" y="3057867"/>
                <a:ext cx="4475988" cy="369332"/>
              </a:xfrm>
              <a:prstGeom prst="rect">
                <a:avLst/>
              </a:prstGeom>
              <a:noFill/>
            </p:spPr>
            <p:txBody>
              <a:bodyPr wrap="square" rtlCol="0" anchor="ctr">
                <a:spAutoFit/>
              </a:bodyPr>
              <a:lstStyle/>
              <a:p>
                <a:pPr algn="ctr"/>
                <a:r>
                  <a:rPr lang="en-US" b="1" dirty="0"/>
                  <a:t>What we believe about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1</m:t>
                        </m:r>
                      </m:sub>
                    </m:sSub>
                  </m:oMath>
                </a14:m>
                <a:r>
                  <a:rPr lang="en-US" b="1" dirty="0"/>
                  <a:t> and</a:t>
                </a:r>
                <a:r>
                  <a:rPr lang="en-US"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2</m:t>
                        </m:r>
                      </m:sub>
                    </m:sSub>
                    <m:r>
                      <m:rPr>
                        <m:nor/>
                      </m:rPr>
                      <a:rPr lang="en-US" b="1" dirty="0"/>
                      <m:t>?</m:t>
                    </m:r>
                  </m:oMath>
                </a14:m>
                <a:endParaRPr lang="en-US" i="1" dirty="0">
                  <a:latin typeface="Cambria Math" panose="02040503050406030204" pitchFamily="18" charset="0"/>
                  <a:ea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EFAA82E3-DAAF-19DE-E4DB-E78AFC8AA65B}"/>
                  </a:ext>
                </a:extLst>
              </p:cNvPr>
              <p:cNvSpPr txBox="1">
                <a:spLocks noRot="1" noChangeAspect="1" noMove="1" noResize="1" noEditPoints="1" noAdjustHandles="1" noChangeArrowheads="1" noChangeShapeType="1" noTextEdit="1"/>
              </p:cNvSpPr>
              <p:nvPr/>
            </p:nvSpPr>
            <p:spPr>
              <a:xfrm>
                <a:off x="4483362" y="3057867"/>
                <a:ext cx="4475988" cy="369332"/>
              </a:xfrm>
              <a:prstGeom prst="rect">
                <a:avLst/>
              </a:prstGeom>
              <a:blipFill>
                <a:blip r:embed="rId5"/>
                <a:stretch>
                  <a:fillRect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9A0D76A-BDA6-297E-F553-2519EDECBCB5}"/>
                  </a:ext>
                </a:extLst>
              </p:cNvPr>
              <p:cNvSpPr txBox="1"/>
              <p:nvPr/>
            </p:nvSpPr>
            <p:spPr>
              <a:xfrm>
                <a:off x="4826643" y="3610311"/>
                <a:ext cx="3652370" cy="1328312"/>
              </a:xfrm>
              <a:prstGeom prst="rect">
                <a:avLst/>
              </a:prstGeom>
              <a:noFill/>
            </p:spPr>
            <p:txBody>
              <a:bodyPr wrap="square" rtlCol="0">
                <a:spAutoFit/>
              </a:bodyPr>
              <a:lstStyle/>
              <a:p>
                <a:pPr algn="just"/>
                <a:r>
                  <a:rPr lang="en-US" sz="1600" dirty="0"/>
                  <a:t>Since this is a random effect model,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i="1">
                            <a:latin typeface="Cambria Math" panose="02040503050406030204" pitchFamily="18" charset="0"/>
                            <a:ea typeface="Cambria Math" panose="02040503050406030204" pitchFamily="18" charset="0"/>
                          </a:rPr>
                          <m:t>1</m:t>
                        </m:r>
                      </m:sub>
                    </m:sSub>
                  </m:oMath>
                </a14:m>
                <a:r>
                  <a:rPr lang="en-US" sz="1600" dirty="0"/>
                  <a:t> and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i="1">
                            <a:latin typeface="Cambria Math" panose="02040503050406030204" pitchFamily="18" charset="0"/>
                            <a:ea typeface="Cambria Math" panose="02040503050406030204" pitchFamily="18" charset="0"/>
                          </a:rPr>
                          <m:t>2</m:t>
                        </m:r>
                      </m:sub>
                    </m:sSub>
                    <m:r>
                      <a:rPr lang="en-US" sz="1600" i="1">
                        <a:latin typeface="Cambria Math" panose="02040503050406030204" pitchFamily="18" charset="0"/>
                        <a:ea typeface="Cambria Math" panose="02040503050406030204" pitchFamily="18" charset="0"/>
                      </a:rPr>
                      <m:t> </m:t>
                    </m:r>
                  </m:oMath>
                </a14:m>
                <a:r>
                  <a:rPr lang="en-US" sz="1600" dirty="0"/>
                  <a:t> both come from a distribution </a:t>
                </a:r>
                <a14:m>
                  <m:oMath xmlns:m="http://schemas.openxmlformats.org/officeDocument/2006/math">
                    <m:r>
                      <m:rPr>
                        <m:sty m:val="p"/>
                      </m:rPr>
                      <a:rPr lang="el-GR" sz="1600" i="1">
                        <a:latin typeface="Cambria Math" panose="02040503050406030204" pitchFamily="18" charset="0"/>
                        <a:ea typeface="Cambria Math" panose="02040503050406030204" pitchFamily="18" charset="0"/>
                      </a:rPr>
                      <m:t>β</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𝑁</m:t>
                    </m:r>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i="1">
                                <a:latin typeface="Cambria Math" panose="02040503050406030204" pitchFamily="18" charset="0"/>
                                <a:ea typeface="Cambria Math" panose="02040503050406030204" pitchFamily="18" charset="0"/>
                              </a:rPr>
                              <m:t>0</m:t>
                            </m:r>
                          </m:sub>
                        </m:sSub>
                        <m:r>
                          <a:rPr lang="en-US" sz="1600" i="1">
                            <a:latin typeface="Cambria Math" panose="02040503050406030204" pitchFamily="18" charset="0"/>
                            <a:ea typeface="Cambria Math" panose="02040503050406030204" pitchFamily="18" charset="0"/>
                          </a:rPr>
                          <m:t>,</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ea typeface="Cambria Math" panose="02040503050406030204" pitchFamily="18" charset="0"/>
                              </a:rPr>
                              <m:t>0</m:t>
                            </m:r>
                          </m:sub>
                          <m:sup>
                            <m:r>
                              <a:rPr lang="en-US" sz="1600" i="1">
                                <a:latin typeface="Cambria Math" panose="02040503050406030204" pitchFamily="18" charset="0"/>
                                <a:ea typeface="Cambria Math" panose="02040503050406030204" pitchFamily="18" charset="0"/>
                              </a:rPr>
                              <m:t>2</m:t>
                            </m:r>
                          </m:sup>
                        </m:sSubSup>
                      </m:e>
                    </m:d>
                  </m:oMath>
                </a14:m>
                <a:r>
                  <a:rPr lang="en-US" sz="1600" dirty="0"/>
                  <a:t> which is centered at the underlying true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𝛽</m:t>
                        </m:r>
                      </m:e>
                      <m:sub>
                        <m:r>
                          <a:rPr lang="en-US" sz="1600" i="1">
                            <a:latin typeface="Cambria Math" panose="02040503050406030204" pitchFamily="18" charset="0"/>
                            <a:ea typeface="Cambria Math" panose="02040503050406030204" pitchFamily="18" charset="0"/>
                          </a:rPr>
                          <m:t>0</m:t>
                        </m:r>
                      </m:sub>
                    </m:sSub>
                  </m:oMath>
                </a14:m>
                <a:r>
                  <a:rPr lang="en-US" sz="1600" dirty="0"/>
                  <a:t>, rather than a fixed value.</a:t>
                </a:r>
              </a:p>
            </p:txBody>
          </p:sp>
        </mc:Choice>
        <mc:Fallback xmlns="">
          <p:sp>
            <p:nvSpPr>
              <p:cNvPr id="42" name="TextBox 41">
                <a:extLst>
                  <a:ext uri="{FF2B5EF4-FFF2-40B4-BE49-F238E27FC236}">
                    <a16:creationId xmlns:a16="http://schemas.microsoft.com/office/drawing/2014/main" id="{E9A0D76A-BDA6-297E-F553-2519EDECBCB5}"/>
                  </a:ext>
                </a:extLst>
              </p:cNvPr>
              <p:cNvSpPr txBox="1">
                <a:spLocks noRot="1" noChangeAspect="1" noMove="1" noResize="1" noEditPoints="1" noAdjustHandles="1" noChangeArrowheads="1" noChangeShapeType="1" noTextEdit="1"/>
              </p:cNvSpPr>
              <p:nvPr/>
            </p:nvSpPr>
            <p:spPr>
              <a:xfrm>
                <a:off x="4826643" y="3610311"/>
                <a:ext cx="3652370" cy="1328312"/>
              </a:xfrm>
              <a:prstGeom prst="rect">
                <a:avLst/>
              </a:prstGeom>
              <a:blipFill>
                <a:blip r:embed="rId6"/>
                <a:stretch>
                  <a:fillRect l="-1042" t="-1905" r="-1042" b="-4762"/>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A3EF70A8-A5F0-3773-1BF9-164D44DBD676}"/>
              </a:ext>
            </a:extLst>
          </p:cNvPr>
          <p:cNvPicPr>
            <a:picLocks noChangeAspect="1"/>
          </p:cNvPicPr>
          <p:nvPr/>
        </p:nvPicPr>
        <p:blipFill>
          <a:blip r:embed="rId7"/>
          <a:stretch>
            <a:fillRect/>
          </a:stretch>
        </p:blipFill>
        <p:spPr>
          <a:xfrm>
            <a:off x="697819" y="2878260"/>
            <a:ext cx="3973515" cy="2384109"/>
          </a:xfrm>
          <a:prstGeom prst="rect">
            <a:avLst/>
          </a:prstGeom>
        </p:spPr>
      </p:pic>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BF214A51-7771-00A7-E3DE-D36CBAC531D4}"/>
                  </a:ext>
                </a:extLst>
              </p:cNvPr>
              <p:cNvGraphicFramePr>
                <a:graphicFrameLocks noGrp="1"/>
              </p:cNvGraphicFramePr>
              <p:nvPr>
                <p:extLst>
                  <p:ext uri="{D42A27DB-BD31-4B8C-83A1-F6EECF244321}">
                    <p14:modId xmlns:p14="http://schemas.microsoft.com/office/powerpoint/2010/main" val="143650479"/>
                  </p:ext>
                </p:extLst>
              </p:nvPr>
            </p:nvGraphicFramePr>
            <p:xfrm>
              <a:off x="697819" y="6397576"/>
              <a:ext cx="7744226" cy="2382520"/>
            </p:xfrm>
            <a:graphic>
              <a:graphicData uri="http://schemas.openxmlformats.org/drawingml/2006/table">
                <a:tbl>
                  <a:tblPr firstRow="1" bandRow="1">
                    <a:tableStyleId>{5C22544A-7EE6-4342-B048-85BDC9FD1C3A}</a:tableStyleId>
                  </a:tblPr>
                  <a:tblGrid>
                    <a:gridCol w="1061358">
                      <a:extLst>
                        <a:ext uri="{9D8B030D-6E8A-4147-A177-3AD203B41FA5}">
                          <a16:colId xmlns:a16="http://schemas.microsoft.com/office/drawing/2014/main" val="1625179642"/>
                        </a:ext>
                      </a:extLst>
                    </a:gridCol>
                    <a:gridCol w="2841171">
                      <a:extLst>
                        <a:ext uri="{9D8B030D-6E8A-4147-A177-3AD203B41FA5}">
                          <a16:colId xmlns:a16="http://schemas.microsoft.com/office/drawing/2014/main" val="2661727216"/>
                        </a:ext>
                      </a:extLst>
                    </a:gridCol>
                    <a:gridCol w="3841697">
                      <a:extLst>
                        <a:ext uri="{9D8B030D-6E8A-4147-A177-3AD203B41FA5}">
                          <a16:colId xmlns:a16="http://schemas.microsoft.com/office/drawing/2014/main" val="789762914"/>
                        </a:ext>
                      </a:extLst>
                    </a:gridCol>
                  </a:tblGrid>
                  <a:tr h="370840">
                    <a:tc>
                      <a:txBody>
                        <a:bodyPr/>
                        <a:lstStyle/>
                        <a:p>
                          <a:pPr algn="ctr"/>
                          <a:endParaRPr lang="en-US" sz="1400" dirty="0"/>
                        </a:p>
                      </a:txBody>
                      <a:tcPr anchor="ctr"/>
                    </a:tc>
                    <a:tc>
                      <a:txBody>
                        <a:bodyPr/>
                        <a:lstStyle/>
                        <a:p>
                          <a:pPr algn="ctr"/>
                          <a:r>
                            <a:rPr lang="en-US" sz="1600" dirty="0"/>
                            <a:t>Meta-Analysis Fixed Effect</a:t>
                          </a:r>
                        </a:p>
                      </a:txBody>
                      <a:tcPr anchor="ctr"/>
                    </a:tc>
                    <a:tc>
                      <a:txBody>
                        <a:bodyPr/>
                        <a:lstStyle/>
                        <a:p>
                          <a:pPr algn="ctr"/>
                          <a:r>
                            <a:rPr lang="en-US" sz="1600" dirty="0"/>
                            <a:t>Meta-Analysis Random Effect</a:t>
                          </a:r>
                        </a:p>
                      </a:txBody>
                      <a:tcPr anchor="ctr"/>
                    </a:tc>
                    <a:extLst>
                      <a:ext uri="{0D108BD9-81ED-4DB2-BD59-A6C34878D82A}">
                        <a16:rowId xmlns:a16="http://schemas.microsoft.com/office/drawing/2014/main" val="107622382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dk1"/>
                              </a:solidFill>
                              <a:effectLst/>
                              <a:latin typeface="+mn-lt"/>
                              <a:ea typeface="+mn-ea"/>
                              <a:cs typeface="+mn-cs"/>
                            </a:rPr>
                            <a:t>Assumption</a:t>
                          </a:r>
                        </a:p>
                      </a:txBody>
                      <a:tcPr anchor="ctr"/>
                    </a:tc>
                    <a:tc>
                      <a:txBody>
                        <a:bodyPr/>
                        <a:lstStyle/>
                        <a:p>
                          <a:pPr algn="ctr"/>
                          <a:r>
                            <a:rPr lang="en-US" sz="1200" b="0" kern="1200" dirty="0">
                              <a:solidFill>
                                <a:schemeClr val="dk1"/>
                              </a:solidFill>
                              <a:effectLst/>
                              <a:latin typeface="+mn-lt"/>
                              <a:ea typeface="+mn-ea"/>
                              <a:cs typeface="+mn-cs"/>
                            </a:rPr>
                            <a:t>All studies estimate the </a:t>
                          </a:r>
                          <a:r>
                            <a:rPr lang="en-US" sz="1200" b="1" kern="1200" dirty="0">
                              <a:solidFill>
                                <a:schemeClr val="dk1"/>
                              </a:solidFill>
                              <a:effectLst/>
                              <a:latin typeface="+mn-lt"/>
                              <a:ea typeface="+mn-ea"/>
                              <a:cs typeface="+mn-cs"/>
                            </a:rPr>
                            <a:t>same true effect</a:t>
                          </a:r>
                          <a:endParaRPr lang="en-US" sz="1200" dirty="0"/>
                        </a:p>
                      </a:txBody>
                      <a:tcPr anchor="ctr"/>
                    </a:tc>
                    <a:tc>
                      <a:txBody>
                        <a:bodyPr/>
                        <a:lstStyle/>
                        <a:p>
                          <a:pPr algn="ctr"/>
                          <a:r>
                            <a:rPr lang="en-US" sz="1200" b="0" kern="1200" dirty="0">
                              <a:solidFill>
                                <a:schemeClr val="dk1"/>
                              </a:solidFill>
                              <a:effectLst/>
                              <a:latin typeface="+mn-lt"/>
                              <a:ea typeface="+mn-ea"/>
                              <a:cs typeface="+mn-cs"/>
                            </a:rPr>
                            <a:t>Studies estimate </a:t>
                          </a:r>
                          <a:r>
                            <a:rPr lang="en-US" sz="1200" b="1" kern="1200" dirty="0">
                              <a:solidFill>
                                <a:schemeClr val="dk1"/>
                              </a:solidFill>
                              <a:effectLst/>
                              <a:latin typeface="+mn-lt"/>
                              <a:ea typeface="+mn-ea"/>
                              <a:cs typeface="+mn-cs"/>
                            </a:rPr>
                            <a:t>different true effects</a:t>
                          </a:r>
                          <a:r>
                            <a:rPr lang="en-US" sz="1200" b="0" kern="1200" dirty="0">
                              <a:solidFill>
                                <a:schemeClr val="dk1"/>
                              </a:solidFill>
                              <a:effectLst/>
                              <a:latin typeface="+mn-lt"/>
                              <a:ea typeface="+mn-ea"/>
                              <a:cs typeface="+mn-cs"/>
                            </a:rPr>
                            <a:t> from a distribution </a:t>
                          </a:r>
                          <a:endParaRPr lang="en-US" sz="1200" dirty="0"/>
                        </a:p>
                      </a:txBody>
                      <a:tcPr anchor="ctr"/>
                    </a:tc>
                    <a:extLst>
                      <a:ext uri="{0D108BD9-81ED-4DB2-BD59-A6C34878D82A}">
                        <a16:rowId xmlns:a16="http://schemas.microsoft.com/office/drawing/2014/main" val="1432603467"/>
                      </a:ext>
                    </a:extLst>
                  </a:tr>
                  <a:tr h="370840">
                    <a:tc>
                      <a:txBody>
                        <a:bodyPr/>
                        <a:lstStyle/>
                        <a:p>
                          <a:pPr algn="ctr"/>
                          <a:r>
                            <a:rPr lang="en-US" sz="1400" b="1" dirty="0"/>
                            <a:t>Weight Formula</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𝑤</m:t>
                                    </m:r>
                                  </m:e>
                                  <m:sub>
                                    <m:r>
                                      <a:rPr lang="en-US" sz="1200" b="0" i="1" smtClean="0">
                                        <a:latin typeface="Cambria Math" panose="02040503050406030204" pitchFamily="18" charset="0"/>
                                        <a:ea typeface="Cambria Math" panose="02040503050406030204" pitchFamily="18" charset="0"/>
                                      </a:rPr>
                                      <m:t>𝑘</m:t>
                                    </m:r>
                                  </m:sub>
                                </m:sSub>
                                <m:r>
                                  <a:rPr lang="en-US" sz="1200" i="1">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1</m:t>
                                    </m:r>
                                  </m:num>
                                  <m:den>
                                    <m:sSubSup>
                                      <m:sSubSupPr>
                                        <m:ctrlPr>
                                          <a:rPr lang="en-US" sz="1200" b="0" i="1" smtClean="0">
                                            <a:latin typeface="Cambria Math" panose="02040503050406030204" pitchFamily="18" charset="0"/>
                                            <a:ea typeface="Cambria Math" panose="02040503050406030204" pitchFamily="18" charset="0"/>
                                          </a:rPr>
                                        </m:ctrlPr>
                                      </m:sSubSupPr>
                                      <m:e>
                                        <m:r>
                                          <a:rPr lang="en-US" sz="1200" b="0" i="1" smtClean="0">
                                            <a:latin typeface="Cambria Math" panose="02040503050406030204" pitchFamily="18" charset="0"/>
                                            <a:ea typeface="Cambria Math" panose="02040503050406030204" pitchFamily="18" charset="0"/>
                                          </a:rPr>
                                          <m:t>𝑆𝐸</m:t>
                                        </m:r>
                                      </m:e>
                                      <m:sub>
                                        <m:r>
                                          <a:rPr lang="en-US" sz="1200" b="0" i="1" smtClean="0">
                                            <a:latin typeface="Cambria Math" panose="02040503050406030204" pitchFamily="18" charset="0"/>
                                            <a:ea typeface="Cambria Math" panose="02040503050406030204" pitchFamily="18" charset="0"/>
                                          </a:rPr>
                                          <m:t>𝑘</m:t>
                                        </m:r>
                                      </m:sub>
                                      <m:sup>
                                        <m:r>
                                          <a:rPr lang="en-US" sz="1200" b="0" i="1" smtClean="0">
                                            <a:latin typeface="Cambria Math" panose="02040503050406030204" pitchFamily="18" charset="0"/>
                                            <a:ea typeface="Cambria Math" panose="02040503050406030204" pitchFamily="18" charset="0"/>
                                          </a:rPr>
                                          <m:t>2</m:t>
                                        </m:r>
                                      </m:sup>
                                    </m:sSubSup>
                                  </m:den>
                                </m:f>
                              </m:oMath>
                            </m:oMathPara>
                          </a14:m>
                          <a:endParaRPr lang="en-US" sz="1200" dirty="0"/>
                        </a:p>
                      </a:txBody>
                      <a:tcPr anchor="ctr"/>
                    </a:tc>
                    <a:tc>
                      <a:txBody>
                        <a:bodyPr/>
                        <a:lstStyle/>
                        <a:p>
                          <a:pPr algn="ctr"/>
                          <a14:m>
                            <m:oMathPara xmlns:m="http://schemas.openxmlformats.org/officeDocument/2006/math">
                              <m:oMathParaPr>
                                <m:jc m:val="centerGroup"/>
                              </m:oMathParaPr>
                              <m:oMath xmlns:m="http://schemas.openxmlformats.org/officeDocument/2006/math">
                                <m:sSubSup>
                                  <m:sSubSupPr>
                                    <m:ctrlPr>
                                      <a:rPr lang="en-US" sz="1200" i="1" smtClean="0">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𝑤</m:t>
                                    </m:r>
                                  </m:e>
                                  <m:sub>
                                    <m:r>
                                      <a:rPr lang="en-US" sz="1200" i="1">
                                        <a:latin typeface="Cambria Math" panose="02040503050406030204" pitchFamily="18" charset="0"/>
                                        <a:ea typeface="Cambria Math" panose="02040503050406030204" pitchFamily="18" charset="0"/>
                                      </a:rPr>
                                      <m:t>𝑘</m:t>
                                    </m:r>
                                  </m:sub>
                                  <m:sup>
                                    <m:r>
                                      <a:rPr lang="en-US" sz="1200" i="1">
                                        <a:latin typeface="Cambria Math" panose="02040503050406030204" pitchFamily="18" charset="0"/>
                                        <a:ea typeface="Cambria Math" panose="02040503050406030204" pitchFamily="18" charset="0"/>
                                      </a:rPr>
                                      <m:t>∗</m:t>
                                    </m:r>
                                  </m:sup>
                                </m:sSubSup>
                                <m:r>
                                  <a:rPr lang="en-US" sz="1200" i="1">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1</m:t>
                                    </m:r>
                                  </m:num>
                                  <m:den>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𝑆𝐸</m:t>
                                        </m:r>
                                      </m:e>
                                      <m:sub>
                                        <m:r>
                                          <a:rPr lang="en-US" sz="1200" i="1">
                                            <a:latin typeface="Cambria Math" panose="02040503050406030204" pitchFamily="18" charset="0"/>
                                            <a:ea typeface="Cambria Math" panose="02040503050406030204" pitchFamily="18" charset="0"/>
                                          </a:rPr>
                                          <m:t>𝑘</m:t>
                                        </m:r>
                                      </m:sub>
                                      <m:sup>
                                        <m:r>
                                          <a:rPr lang="en-US" sz="1200" i="1">
                                            <a:latin typeface="Cambria Math" panose="02040503050406030204" pitchFamily="18" charset="0"/>
                                            <a:ea typeface="Cambria Math" panose="02040503050406030204" pitchFamily="18" charset="0"/>
                                          </a:rPr>
                                          <m:t>2</m:t>
                                        </m:r>
                                      </m:sup>
                                    </m:sSubSup>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𝜏</m:t>
                                        </m:r>
                                      </m:e>
                                      <m:sup>
                                        <m:r>
                                          <a:rPr lang="en-US" sz="1200" i="1">
                                            <a:latin typeface="Cambria Math" panose="02040503050406030204" pitchFamily="18" charset="0"/>
                                            <a:ea typeface="Cambria Math" panose="02040503050406030204" pitchFamily="18" charset="0"/>
                                          </a:rPr>
                                          <m:t>2</m:t>
                                        </m:r>
                                      </m:sup>
                                    </m:sSup>
                                  </m:den>
                                </m:f>
                              </m:oMath>
                            </m:oMathPara>
                          </a14:m>
                          <a:endParaRPr lang="en-US" sz="1200" dirty="0"/>
                        </a:p>
                      </a:txBody>
                      <a:tcPr anchor="ctr"/>
                    </a:tc>
                    <a:extLst>
                      <a:ext uri="{0D108BD9-81ED-4DB2-BD59-A6C34878D82A}">
                        <a16:rowId xmlns:a16="http://schemas.microsoft.com/office/drawing/2014/main" val="2510895536"/>
                      </a:ext>
                    </a:extLst>
                  </a:tr>
                  <a:tr h="370840">
                    <a:tc>
                      <a:txBody>
                        <a:bodyPr/>
                        <a:lstStyle/>
                        <a:p>
                          <a:pPr algn="ctr"/>
                          <a:r>
                            <a:rPr lang="en-US" sz="1400" b="1" dirty="0"/>
                            <a:t>When to Use</a:t>
                          </a:r>
                        </a:p>
                      </a:txBody>
                      <a:tcPr anchor="ctr"/>
                    </a:tc>
                    <a:tc>
                      <a:txBody>
                        <a:bodyPr/>
                        <a:lstStyle/>
                        <a:p>
                          <a:pPr algn="ctr"/>
                          <a:r>
                            <a:rPr lang="en-US" sz="1200" dirty="0"/>
                            <a:t>Studies are very </a:t>
                          </a:r>
                          <a:r>
                            <a:rPr lang="en-US" sz="1200" b="1" dirty="0"/>
                            <a:t>similar</a:t>
                          </a:r>
                          <a:r>
                            <a:rPr lang="en-US" sz="1200" dirty="0"/>
                            <a:t> in design and population</a:t>
                          </a:r>
                        </a:p>
                      </a:txBody>
                      <a:tcPr anchor="ctr"/>
                    </a:tc>
                    <a:tc>
                      <a:txBody>
                        <a:bodyPr/>
                        <a:lstStyle/>
                        <a:p>
                          <a:pPr algn="ctr"/>
                          <a:r>
                            <a:rPr lang="en-US" sz="1200" b="1" dirty="0"/>
                            <a:t>Significant heterogeneity</a:t>
                          </a:r>
                          <a:r>
                            <a:rPr lang="en-US" sz="1200" dirty="0"/>
                            <a:t> between studies </a:t>
                          </a:r>
                        </a:p>
                      </a:txBody>
                      <a:tcPr anchor="ctr"/>
                    </a:tc>
                    <a:extLst>
                      <a:ext uri="{0D108BD9-81ED-4DB2-BD59-A6C34878D82A}">
                        <a16:rowId xmlns:a16="http://schemas.microsoft.com/office/drawing/2014/main" val="414459565"/>
                      </a:ext>
                    </a:extLst>
                  </a:tr>
                  <a:tr h="370840">
                    <a:tc>
                      <a:txBody>
                        <a:bodyPr/>
                        <a:lstStyle/>
                        <a:p>
                          <a:pPr algn="ctr"/>
                          <a:r>
                            <a:rPr lang="en-US" sz="1400" b="1" dirty="0"/>
                            <a:t>Results</a:t>
                          </a:r>
                        </a:p>
                      </a:txBody>
                      <a:tcPr anchor="ctr"/>
                    </a:tc>
                    <a:tc>
                      <a:txBody>
                        <a:bodyPr/>
                        <a:lstStyle/>
                        <a:p>
                          <a:pPr algn="ctr"/>
                          <a:r>
                            <a:rPr lang="en-US" sz="1200" dirty="0"/>
                            <a:t>Narrower confidence intervals, give the effect in the populations</a:t>
                          </a:r>
                        </a:p>
                      </a:txBody>
                      <a:tcPr anchor="ctr"/>
                    </a:tc>
                    <a:tc>
                      <a:txBody>
                        <a:bodyPr/>
                        <a:lstStyle/>
                        <a:p>
                          <a:pPr algn="ctr"/>
                          <a:r>
                            <a:rPr lang="en-US" sz="1200" dirty="0"/>
                            <a:t>Wider confidence intervals, give the average effect across broader populations</a:t>
                          </a:r>
                        </a:p>
                      </a:txBody>
                      <a:tcPr anchor="ctr"/>
                    </a:tc>
                    <a:extLst>
                      <a:ext uri="{0D108BD9-81ED-4DB2-BD59-A6C34878D82A}">
                        <a16:rowId xmlns:a16="http://schemas.microsoft.com/office/drawing/2014/main" val="856361420"/>
                      </a:ext>
                    </a:extLst>
                  </a:tr>
                </a:tbl>
              </a:graphicData>
            </a:graphic>
          </p:graphicFrame>
        </mc:Choice>
        <mc:Fallback xmlns="">
          <p:graphicFrame>
            <p:nvGraphicFramePr>
              <p:cNvPr id="9" name="Table 8">
                <a:extLst>
                  <a:ext uri="{FF2B5EF4-FFF2-40B4-BE49-F238E27FC236}">
                    <a16:creationId xmlns:a16="http://schemas.microsoft.com/office/drawing/2014/main" id="{BF214A51-7771-00A7-E3DE-D36CBAC531D4}"/>
                  </a:ext>
                </a:extLst>
              </p:cNvPr>
              <p:cNvGraphicFramePr>
                <a:graphicFrameLocks noGrp="1"/>
              </p:cNvGraphicFramePr>
              <p:nvPr>
                <p:extLst>
                  <p:ext uri="{D42A27DB-BD31-4B8C-83A1-F6EECF244321}">
                    <p14:modId xmlns:p14="http://schemas.microsoft.com/office/powerpoint/2010/main" val="143650479"/>
                  </p:ext>
                </p:extLst>
              </p:nvPr>
            </p:nvGraphicFramePr>
            <p:xfrm>
              <a:off x="697819" y="6397576"/>
              <a:ext cx="7744226" cy="2382520"/>
            </p:xfrm>
            <a:graphic>
              <a:graphicData uri="http://schemas.openxmlformats.org/drawingml/2006/table">
                <a:tbl>
                  <a:tblPr firstRow="1" bandRow="1">
                    <a:tableStyleId>{5C22544A-7EE6-4342-B048-85BDC9FD1C3A}</a:tableStyleId>
                  </a:tblPr>
                  <a:tblGrid>
                    <a:gridCol w="1061358">
                      <a:extLst>
                        <a:ext uri="{9D8B030D-6E8A-4147-A177-3AD203B41FA5}">
                          <a16:colId xmlns:a16="http://schemas.microsoft.com/office/drawing/2014/main" val="1625179642"/>
                        </a:ext>
                      </a:extLst>
                    </a:gridCol>
                    <a:gridCol w="2841171">
                      <a:extLst>
                        <a:ext uri="{9D8B030D-6E8A-4147-A177-3AD203B41FA5}">
                          <a16:colId xmlns:a16="http://schemas.microsoft.com/office/drawing/2014/main" val="2661727216"/>
                        </a:ext>
                      </a:extLst>
                    </a:gridCol>
                    <a:gridCol w="3841697">
                      <a:extLst>
                        <a:ext uri="{9D8B030D-6E8A-4147-A177-3AD203B41FA5}">
                          <a16:colId xmlns:a16="http://schemas.microsoft.com/office/drawing/2014/main" val="789762914"/>
                        </a:ext>
                      </a:extLst>
                    </a:gridCol>
                  </a:tblGrid>
                  <a:tr h="370840">
                    <a:tc>
                      <a:txBody>
                        <a:bodyPr/>
                        <a:lstStyle/>
                        <a:p>
                          <a:pPr algn="ctr"/>
                          <a:endParaRPr lang="en-US" sz="1400" dirty="0"/>
                        </a:p>
                      </a:txBody>
                      <a:tcPr anchor="ctr"/>
                    </a:tc>
                    <a:tc>
                      <a:txBody>
                        <a:bodyPr/>
                        <a:lstStyle/>
                        <a:p>
                          <a:pPr algn="ctr"/>
                          <a:r>
                            <a:rPr lang="en-US" sz="1600" dirty="0"/>
                            <a:t>Meta-Analysis Fixed Effect</a:t>
                          </a:r>
                        </a:p>
                      </a:txBody>
                      <a:tcPr anchor="ctr"/>
                    </a:tc>
                    <a:tc>
                      <a:txBody>
                        <a:bodyPr/>
                        <a:lstStyle/>
                        <a:p>
                          <a:pPr algn="ctr"/>
                          <a:r>
                            <a:rPr lang="en-US" sz="1600" dirty="0"/>
                            <a:t>Meta-Analysis Random Effect</a:t>
                          </a:r>
                        </a:p>
                      </a:txBody>
                      <a:tcPr anchor="ctr"/>
                    </a:tc>
                    <a:extLst>
                      <a:ext uri="{0D108BD9-81ED-4DB2-BD59-A6C34878D82A}">
                        <a16:rowId xmlns:a16="http://schemas.microsoft.com/office/drawing/2014/main" val="1076223827"/>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dk1"/>
                              </a:solidFill>
                              <a:effectLst/>
                              <a:latin typeface="+mn-lt"/>
                              <a:ea typeface="+mn-ea"/>
                              <a:cs typeface="+mn-cs"/>
                            </a:rPr>
                            <a:t>Assumption</a:t>
                          </a:r>
                        </a:p>
                      </a:txBody>
                      <a:tcPr anchor="ctr"/>
                    </a:tc>
                    <a:tc>
                      <a:txBody>
                        <a:bodyPr/>
                        <a:lstStyle/>
                        <a:p>
                          <a:pPr algn="ctr"/>
                          <a:r>
                            <a:rPr lang="en-US" sz="1200" b="0" kern="1200" dirty="0">
                              <a:solidFill>
                                <a:schemeClr val="dk1"/>
                              </a:solidFill>
                              <a:effectLst/>
                              <a:latin typeface="+mn-lt"/>
                              <a:ea typeface="+mn-ea"/>
                              <a:cs typeface="+mn-cs"/>
                            </a:rPr>
                            <a:t>All studies estimate the </a:t>
                          </a:r>
                          <a:r>
                            <a:rPr lang="en-US" sz="1200" b="1" kern="1200" dirty="0">
                              <a:solidFill>
                                <a:schemeClr val="dk1"/>
                              </a:solidFill>
                              <a:effectLst/>
                              <a:latin typeface="+mn-lt"/>
                              <a:ea typeface="+mn-ea"/>
                              <a:cs typeface="+mn-cs"/>
                            </a:rPr>
                            <a:t>same true effect</a:t>
                          </a:r>
                          <a:endParaRPr lang="en-US" sz="1200" dirty="0"/>
                        </a:p>
                      </a:txBody>
                      <a:tcPr anchor="ctr"/>
                    </a:tc>
                    <a:tc>
                      <a:txBody>
                        <a:bodyPr/>
                        <a:lstStyle/>
                        <a:p>
                          <a:pPr algn="ctr"/>
                          <a:r>
                            <a:rPr lang="en-US" sz="1200" b="0" kern="1200" dirty="0">
                              <a:solidFill>
                                <a:schemeClr val="dk1"/>
                              </a:solidFill>
                              <a:effectLst/>
                              <a:latin typeface="+mn-lt"/>
                              <a:ea typeface="+mn-ea"/>
                              <a:cs typeface="+mn-cs"/>
                            </a:rPr>
                            <a:t>Studies estimate </a:t>
                          </a:r>
                          <a:r>
                            <a:rPr lang="en-US" sz="1200" b="1" kern="1200" dirty="0">
                              <a:solidFill>
                                <a:schemeClr val="dk1"/>
                              </a:solidFill>
                              <a:effectLst/>
                              <a:latin typeface="+mn-lt"/>
                              <a:ea typeface="+mn-ea"/>
                              <a:cs typeface="+mn-cs"/>
                            </a:rPr>
                            <a:t>different true effects</a:t>
                          </a:r>
                          <a:r>
                            <a:rPr lang="en-US" sz="1200" b="0" kern="1200" dirty="0">
                              <a:solidFill>
                                <a:schemeClr val="dk1"/>
                              </a:solidFill>
                              <a:effectLst/>
                              <a:latin typeface="+mn-lt"/>
                              <a:ea typeface="+mn-ea"/>
                              <a:cs typeface="+mn-cs"/>
                            </a:rPr>
                            <a:t> from a distribution </a:t>
                          </a:r>
                          <a:endParaRPr lang="en-US" sz="1200" dirty="0"/>
                        </a:p>
                      </a:txBody>
                      <a:tcPr anchor="ctr"/>
                    </a:tc>
                    <a:extLst>
                      <a:ext uri="{0D108BD9-81ED-4DB2-BD59-A6C34878D82A}">
                        <a16:rowId xmlns:a16="http://schemas.microsoft.com/office/drawing/2014/main" val="1432603467"/>
                      </a:ext>
                    </a:extLst>
                  </a:tr>
                  <a:tr h="518160">
                    <a:tc>
                      <a:txBody>
                        <a:bodyPr/>
                        <a:lstStyle/>
                        <a:p>
                          <a:pPr algn="ctr"/>
                          <a:r>
                            <a:rPr lang="en-US" sz="1400" b="1" dirty="0"/>
                            <a:t>Weight Formula</a:t>
                          </a:r>
                        </a:p>
                      </a:txBody>
                      <a:tcPr anchor="ctr"/>
                    </a:tc>
                    <a:tc>
                      <a:txBody>
                        <a:bodyPr/>
                        <a:lstStyle/>
                        <a:p>
                          <a:endParaRPr lang="en-US"/>
                        </a:p>
                      </a:txBody>
                      <a:tcPr anchor="ctr">
                        <a:blipFill>
                          <a:blip r:embed="rId8"/>
                          <a:stretch>
                            <a:fillRect l="-37500" t="-173171" r="-136607" b="-197561"/>
                          </a:stretch>
                        </a:blipFill>
                      </a:tcPr>
                    </a:tc>
                    <a:tc>
                      <a:txBody>
                        <a:bodyPr/>
                        <a:lstStyle/>
                        <a:p>
                          <a:endParaRPr lang="en-US"/>
                        </a:p>
                      </a:txBody>
                      <a:tcPr anchor="ctr">
                        <a:blipFill>
                          <a:blip r:embed="rId8"/>
                          <a:stretch>
                            <a:fillRect l="-101650" t="-173171" r="-990" b="-197561"/>
                          </a:stretch>
                        </a:blipFill>
                      </a:tcPr>
                    </a:tc>
                    <a:extLst>
                      <a:ext uri="{0D108BD9-81ED-4DB2-BD59-A6C34878D82A}">
                        <a16:rowId xmlns:a16="http://schemas.microsoft.com/office/drawing/2014/main" val="2510895536"/>
                      </a:ext>
                    </a:extLst>
                  </a:tr>
                  <a:tr h="518160">
                    <a:tc>
                      <a:txBody>
                        <a:bodyPr/>
                        <a:lstStyle/>
                        <a:p>
                          <a:pPr algn="ctr"/>
                          <a:r>
                            <a:rPr lang="en-US" sz="1400" b="1" dirty="0"/>
                            <a:t>When to Use</a:t>
                          </a:r>
                        </a:p>
                      </a:txBody>
                      <a:tcPr anchor="ctr"/>
                    </a:tc>
                    <a:tc>
                      <a:txBody>
                        <a:bodyPr/>
                        <a:lstStyle/>
                        <a:p>
                          <a:pPr algn="ctr"/>
                          <a:r>
                            <a:rPr lang="en-US" sz="1200" dirty="0"/>
                            <a:t>Studies are very </a:t>
                          </a:r>
                          <a:r>
                            <a:rPr lang="en-US" sz="1200" b="1" dirty="0"/>
                            <a:t>similar</a:t>
                          </a:r>
                          <a:r>
                            <a:rPr lang="en-US" sz="1200" dirty="0"/>
                            <a:t> in design and population</a:t>
                          </a:r>
                        </a:p>
                      </a:txBody>
                      <a:tcPr anchor="ctr"/>
                    </a:tc>
                    <a:tc>
                      <a:txBody>
                        <a:bodyPr/>
                        <a:lstStyle/>
                        <a:p>
                          <a:pPr algn="ctr"/>
                          <a:r>
                            <a:rPr lang="en-US" sz="1200" b="1" dirty="0"/>
                            <a:t>Significant heterogeneity</a:t>
                          </a:r>
                          <a:r>
                            <a:rPr lang="en-US" sz="1200" dirty="0"/>
                            <a:t> between studies </a:t>
                          </a:r>
                        </a:p>
                      </a:txBody>
                      <a:tcPr anchor="ctr"/>
                    </a:tc>
                    <a:extLst>
                      <a:ext uri="{0D108BD9-81ED-4DB2-BD59-A6C34878D82A}">
                        <a16:rowId xmlns:a16="http://schemas.microsoft.com/office/drawing/2014/main" val="414459565"/>
                      </a:ext>
                    </a:extLst>
                  </a:tr>
                  <a:tr h="457200">
                    <a:tc>
                      <a:txBody>
                        <a:bodyPr/>
                        <a:lstStyle/>
                        <a:p>
                          <a:pPr algn="ctr"/>
                          <a:r>
                            <a:rPr lang="en-US" sz="1400" b="1" dirty="0"/>
                            <a:t>Results</a:t>
                          </a:r>
                        </a:p>
                      </a:txBody>
                      <a:tcPr anchor="ctr"/>
                    </a:tc>
                    <a:tc>
                      <a:txBody>
                        <a:bodyPr/>
                        <a:lstStyle/>
                        <a:p>
                          <a:pPr algn="ctr"/>
                          <a:r>
                            <a:rPr lang="en-US" sz="1200" dirty="0"/>
                            <a:t>Narrower confidence intervals, give the effect in the populations</a:t>
                          </a:r>
                        </a:p>
                      </a:txBody>
                      <a:tcPr anchor="ctr"/>
                    </a:tc>
                    <a:tc>
                      <a:txBody>
                        <a:bodyPr/>
                        <a:lstStyle/>
                        <a:p>
                          <a:pPr algn="ctr"/>
                          <a:r>
                            <a:rPr lang="en-US" sz="1200" dirty="0"/>
                            <a:t>Wider confidence intervals, give the average effect across broader populations</a:t>
                          </a:r>
                        </a:p>
                      </a:txBody>
                      <a:tcPr anchor="ctr"/>
                    </a:tc>
                    <a:extLst>
                      <a:ext uri="{0D108BD9-81ED-4DB2-BD59-A6C34878D82A}">
                        <a16:rowId xmlns:a16="http://schemas.microsoft.com/office/drawing/2014/main" val="856361420"/>
                      </a:ext>
                    </a:extLst>
                  </a:tr>
                </a:tbl>
              </a:graphicData>
            </a:graphic>
          </p:graphicFrame>
        </mc:Fallback>
      </mc:AlternateContent>
    </p:spTree>
    <p:extLst>
      <p:ext uri="{BB962C8B-B14F-4D97-AF65-F5344CB8AC3E}">
        <p14:creationId xmlns:p14="http://schemas.microsoft.com/office/powerpoint/2010/main" val="1067902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A6B19-5D70-958D-39B5-63C1D378F2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8D19A7-1F93-C930-654F-D803D4C16D95}"/>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Likelihood</a:t>
            </a:r>
          </a:p>
        </p:txBody>
      </p:sp>
      <p:sp>
        <p:nvSpPr>
          <p:cNvPr id="3" name="TextBox 2">
            <a:extLst>
              <a:ext uri="{FF2B5EF4-FFF2-40B4-BE49-F238E27FC236}">
                <a16:creationId xmlns:a16="http://schemas.microsoft.com/office/drawing/2014/main" id="{5C2F0BFE-C629-28EC-E833-240F6C9BB62E}"/>
              </a:ext>
            </a:extLst>
          </p:cNvPr>
          <p:cNvSpPr txBox="1"/>
          <p:nvPr/>
        </p:nvSpPr>
        <p:spPr>
          <a:xfrm>
            <a:off x="577728" y="443381"/>
            <a:ext cx="7988544" cy="338554"/>
          </a:xfrm>
          <a:prstGeom prst="rect">
            <a:avLst/>
          </a:prstGeom>
          <a:noFill/>
        </p:spPr>
        <p:txBody>
          <a:bodyPr wrap="square" rtlCol="0">
            <a:spAutoFit/>
          </a:bodyPr>
          <a:lstStyle/>
          <a:p>
            <a:pPr algn="ctr"/>
            <a:r>
              <a:rPr lang="en-US" sz="1600" dirty="0"/>
              <a:t>Finding the best model to explain the data</a:t>
            </a:r>
          </a:p>
        </p:txBody>
      </p:sp>
      <p:sp>
        <p:nvSpPr>
          <p:cNvPr id="4" name="Rounded Rectangle 3">
            <a:extLst>
              <a:ext uri="{FF2B5EF4-FFF2-40B4-BE49-F238E27FC236}">
                <a16:creationId xmlns:a16="http://schemas.microsoft.com/office/drawing/2014/main" id="{87EF7634-DBCA-8B47-3B2E-06CEE322377A}"/>
              </a:ext>
            </a:extLst>
          </p:cNvPr>
          <p:cNvSpPr/>
          <p:nvPr/>
        </p:nvSpPr>
        <p:spPr>
          <a:xfrm>
            <a:off x="4718457" y="788652"/>
            <a:ext cx="4023091" cy="378334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9" name="Rounded Rectangle 8">
            <a:extLst>
              <a:ext uri="{FF2B5EF4-FFF2-40B4-BE49-F238E27FC236}">
                <a16:creationId xmlns:a16="http://schemas.microsoft.com/office/drawing/2014/main" id="{16D3638E-9B0E-4D1D-06F0-084A20BCBAC1}"/>
              </a:ext>
            </a:extLst>
          </p:cNvPr>
          <p:cNvSpPr/>
          <p:nvPr/>
        </p:nvSpPr>
        <p:spPr>
          <a:xfrm>
            <a:off x="402451" y="788654"/>
            <a:ext cx="4037408" cy="378334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C1A25222-24CC-8AFB-31C3-6DE2A334245F}"/>
              </a:ext>
            </a:extLst>
          </p:cNvPr>
          <p:cNvSpPr txBox="1"/>
          <p:nvPr/>
        </p:nvSpPr>
        <p:spPr>
          <a:xfrm>
            <a:off x="202503" y="985292"/>
            <a:ext cx="4475988" cy="338554"/>
          </a:xfrm>
          <a:prstGeom prst="rect">
            <a:avLst/>
          </a:prstGeom>
          <a:noFill/>
        </p:spPr>
        <p:txBody>
          <a:bodyPr wrap="square" rtlCol="0" anchor="ctr">
            <a:spAutoFit/>
          </a:bodyPr>
          <a:lstStyle/>
          <a:p>
            <a:pPr algn="ctr"/>
            <a:r>
              <a:rPr lang="en-US" sz="1600" b="1" dirty="0"/>
              <a:t>1. Three Competing Models</a:t>
            </a:r>
            <a:endParaRPr lang="en-US" sz="1600" dirty="0"/>
          </a:p>
        </p:txBody>
      </p:sp>
      <p:sp>
        <p:nvSpPr>
          <p:cNvPr id="28" name="TextBox 27">
            <a:extLst>
              <a:ext uri="{FF2B5EF4-FFF2-40B4-BE49-F238E27FC236}">
                <a16:creationId xmlns:a16="http://schemas.microsoft.com/office/drawing/2014/main" id="{F0BBBBEB-8145-3189-27FC-120B97F16DBD}"/>
              </a:ext>
            </a:extLst>
          </p:cNvPr>
          <p:cNvSpPr txBox="1"/>
          <p:nvPr/>
        </p:nvSpPr>
        <p:spPr>
          <a:xfrm>
            <a:off x="4462334" y="974250"/>
            <a:ext cx="4475988" cy="369332"/>
          </a:xfrm>
          <a:prstGeom prst="rect">
            <a:avLst/>
          </a:prstGeom>
          <a:noFill/>
        </p:spPr>
        <p:txBody>
          <a:bodyPr wrap="square" rtlCol="0" anchor="ctr">
            <a:spAutoFit/>
          </a:bodyPr>
          <a:lstStyle/>
          <a:p>
            <a:pPr algn="ctr"/>
            <a:r>
              <a:rPr lang="en-US" b="1" dirty="0"/>
              <a:t>2. Observe Data</a:t>
            </a:r>
            <a:endParaRPr lang="en-US" sz="1200" dirty="0"/>
          </a:p>
        </p:txBody>
      </p:sp>
      <p:sp>
        <p:nvSpPr>
          <p:cNvPr id="68" name="Rounded Rectangle 67">
            <a:extLst>
              <a:ext uri="{FF2B5EF4-FFF2-40B4-BE49-F238E27FC236}">
                <a16:creationId xmlns:a16="http://schemas.microsoft.com/office/drawing/2014/main" id="{CF228292-8A01-C39D-4A3E-345706CF03EF}"/>
              </a:ext>
            </a:extLst>
          </p:cNvPr>
          <p:cNvSpPr/>
          <p:nvPr/>
        </p:nvSpPr>
        <p:spPr>
          <a:xfrm>
            <a:off x="1661168" y="1529482"/>
            <a:ext cx="1600200" cy="640080"/>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68">
            <a:extLst>
              <a:ext uri="{FF2B5EF4-FFF2-40B4-BE49-F238E27FC236}">
                <a16:creationId xmlns:a16="http://schemas.microsoft.com/office/drawing/2014/main" id="{4C1B558A-67E4-8B26-B9EA-397FEDB09764}"/>
              </a:ext>
            </a:extLst>
          </p:cNvPr>
          <p:cNvSpPr/>
          <p:nvPr/>
        </p:nvSpPr>
        <p:spPr>
          <a:xfrm>
            <a:off x="1666385" y="2495676"/>
            <a:ext cx="1564172" cy="614665"/>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0" name="Rounded Rectangle 69">
            <a:extLst>
              <a:ext uri="{FF2B5EF4-FFF2-40B4-BE49-F238E27FC236}">
                <a16:creationId xmlns:a16="http://schemas.microsoft.com/office/drawing/2014/main" id="{C94125CB-B6FB-33E8-EDD9-8749A8918B64}"/>
              </a:ext>
            </a:extLst>
          </p:cNvPr>
          <p:cNvSpPr/>
          <p:nvPr/>
        </p:nvSpPr>
        <p:spPr>
          <a:xfrm>
            <a:off x="1661168" y="3391646"/>
            <a:ext cx="1597654" cy="635530"/>
          </a:xfrm>
          <a:prstGeom prst="roundRect">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5378CEC-AB77-C45D-151E-891ED021B278}"/>
                  </a:ext>
                </a:extLst>
              </p:cNvPr>
              <p:cNvSpPr txBox="1"/>
              <p:nvPr/>
            </p:nvSpPr>
            <p:spPr>
              <a:xfrm>
                <a:off x="1876938" y="1529481"/>
                <a:ext cx="1166114" cy="646331"/>
              </a:xfrm>
              <a:prstGeom prst="rect">
                <a:avLst/>
              </a:prstGeom>
              <a:noFill/>
            </p:spPr>
            <p:txBody>
              <a:bodyPr wrap="square">
                <a:spAutoFit/>
              </a:bodyPr>
              <a:lstStyle/>
              <a:p>
                <a:pPr algn="ctr"/>
                <a:r>
                  <a:rPr lang="en-US" sz="1200" b="1" dirty="0">
                    <a:solidFill>
                      <a:schemeClr val="bg1">
                        <a:lumMod val="95000"/>
                      </a:schemeClr>
                    </a:solidFill>
                    <a:ea typeface="Cambria Math" panose="02040503050406030204" pitchFamily="18" charset="0"/>
                  </a:rPr>
                  <a:t>Model 1</a:t>
                </a:r>
              </a:p>
              <a:p>
                <a:pPr algn="ctr"/>
                <a14:m>
                  <m:oMathPara xmlns:m="http://schemas.openxmlformats.org/officeDocument/2006/math">
                    <m:oMathParaPr>
                      <m:jc m:val="centerGroup"/>
                    </m:oMathParaPr>
                    <m:oMath xmlns:m="http://schemas.openxmlformats.org/officeDocument/2006/math">
                      <m:r>
                        <a:rPr lang="en-US" sz="1200" b="0" i="1" smtClean="0">
                          <a:solidFill>
                            <a:schemeClr val="bg1">
                              <a:lumMod val="95000"/>
                            </a:schemeClr>
                          </a:solidFill>
                          <a:latin typeface="Cambria Math" panose="02040503050406030204" pitchFamily="18" charset="0"/>
                          <a:ea typeface="Cambria Math" panose="02040503050406030204" pitchFamily="18" charset="0"/>
                        </a:rPr>
                        <m:t>𝛽</m:t>
                      </m:r>
                      <m:r>
                        <a:rPr lang="en-US" sz="1200" b="0" i="1" smtClean="0">
                          <a:solidFill>
                            <a:schemeClr val="bg1">
                              <a:lumMod val="95000"/>
                            </a:schemeClr>
                          </a:solidFill>
                          <a:latin typeface="Cambria Math" panose="02040503050406030204" pitchFamily="18" charset="0"/>
                          <a:ea typeface="Cambria Math" panose="02040503050406030204" pitchFamily="18" charset="0"/>
                        </a:rPr>
                        <m:t>=0</m:t>
                      </m:r>
                    </m:oMath>
                  </m:oMathPara>
                </a14:m>
                <a:endParaRPr lang="en-US" sz="1200" dirty="0">
                  <a:solidFill>
                    <a:schemeClr val="bg1">
                      <a:lumMod val="95000"/>
                    </a:schemeClr>
                  </a:solidFill>
                </a:endParaRPr>
              </a:p>
              <a:p>
                <a:pPr algn="ctr"/>
                <a:r>
                  <a:rPr lang="en-US" sz="1050" dirty="0">
                    <a:solidFill>
                      <a:schemeClr val="bg1">
                        <a:lumMod val="95000"/>
                      </a:schemeClr>
                    </a:solidFill>
                  </a:rPr>
                  <a:t>No effect</a:t>
                </a:r>
              </a:p>
            </p:txBody>
          </p:sp>
        </mc:Choice>
        <mc:Fallback xmlns="">
          <p:sp>
            <p:nvSpPr>
              <p:cNvPr id="31" name="TextBox 30">
                <a:extLst>
                  <a:ext uri="{FF2B5EF4-FFF2-40B4-BE49-F238E27FC236}">
                    <a16:creationId xmlns:a16="http://schemas.microsoft.com/office/drawing/2014/main" id="{B5378CEC-AB77-C45D-151E-891ED021B278}"/>
                  </a:ext>
                </a:extLst>
              </p:cNvPr>
              <p:cNvSpPr txBox="1">
                <a:spLocks noRot="1" noChangeAspect="1" noMove="1" noResize="1" noEditPoints="1" noAdjustHandles="1" noChangeArrowheads="1" noChangeShapeType="1" noTextEdit="1"/>
              </p:cNvSpPr>
              <p:nvPr/>
            </p:nvSpPr>
            <p:spPr>
              <a:xfrm>
                <a:off x="1876938" y="1529481"/>
                <a:ext cx="1166114" cy="646331"/>
              </a:xfrm>
              <a:prstGeom prst="rect">
                <a:avLst/>
              </a:prstGeom>
              <a:blipFill>
                <a:blip r:embed="rId3"/>
                <a:stretch>
                  <a:fillRect b="-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ADC2EA37-BBCF-DF49-8E87-CE67DB6A506F}"/>
                  </a:ext>
                </a:extLst>
              </p:cNvPr>
              <p:cNvSpPr txBox="1"/>
              <p:nvPr/>
            </p:nvSpPr>
            <p:spPr>
              <a:xfrm>
                <a:off x="1815222" y="2487662"/>
                <a:ext cx="1250549" cy="623248"/>
              </a:xfrm>
              <a:prstGeom prst="rect">
                <a:avLst/>
              </a:prstGeom>
              <a:noFill/>
            </p:spPr>
            <p:txBody>
              <a:bodyPr wrap="square">
                <a:spAutoFit/>
              </a:bodyPr>
              <a:lstStyle/>
              <a:p>
                <a:pPr algn="ctr"/>
                <a:r>
                  <a:rPr lang="en-US" sz="1200" b="1" dirty="0">
                    <a:solidFill>
                      <a:schemeClr val="bg1">
                        <a:lumMod val="95000"/>
                      </a:schemeClr>
                    </a:solidFill>
                    <a:ea typeface="Cambria Math" panose="02040503050406030204" pitchFamily="18" charset="0"/>
                  </a:rPr>
                  <a:t>Model 2</a:t>
                </a:r>
              </a:p>
              <a:p>
                <a:pPr algn="ctr"/>
                <a14:m>
                  <m:oMathPara xmlns:m="http://schemas.openxmlformats.org/officeDocument/2006/math">
                    <m:oMathParaPr>
                      <m:jc m:val="centerGroup"/>
                    </m:oMathParaPr>
                    <m:oMath xmlns:m="http://schemas.openxmlformats.org/officeDocument/2006/math">
                      <m:r>
                        <a:rPr lang="en-US" sz="1200" b="0" i="1" smtClean="0">
                          <a:solidFill>
                            <a:schemeClr val="bg1">
                              <a:lumMod val="95000"/>
                            </a:schemeClr>
                          </a:solidFill>
                          <a:latin typeface="Cambria Math" panose="02040503050406030204" pitchFamily="18" charset="0"/>
                          <a:ea typeface="Cambria Math" panose="02040503050406030204" pitchFamily="18" charset="0"/>
                        </a:rPr>
                        <m:t>𝛽</m:t>
                      </m:r>
                      <m:r>
                        <a:rPr lang="en-US" sz="1200" b="0" i="1" smtClean="0">
                          <a:solidFill>
                            <a:schemeClr val="bg1">
                              <a:lumMod val="95000"/>
                            </a:schemeClr>
                          </a:solidFill>
                          <a:latin typeface="Cambria Math" panose="02040503050406030204" pitchFamily="18" charset="0"/>
                          <a:ea typeface="Cambria Math" panose="02040503050406030204" pitchFamily="18" charset="0"/>
                        </a:rPr>
                        <m:t>=0.5</m:t>
                      </m:r>
                    </m:oMath>
                  </m:oMathPara>
                </a14:m>
                <a:endParaRPr lang="en-US" sz="1200" b="0" dirty="0">
                  <a:solidFill>
                    <a:schemeClr val="bg1">
                      <a:lumMod val="95000"/>
                    </a:schemeClr>
                  </a:solidFill>
                  <a:ea typeface="Cambria Math" panose="02040503050406030204" pitchFamily="18" charset="0"/>
                </a:endParaRPr>
              </a:p>
              <a:p>
                <a:pPr algn="ctr"/>
                <a:r>
                  <a:rPr lang="en-US" sz="1050" dirty="0">
                    <a:solidFill>
                      <a:schemeClr val="bg1">
                        <a:lumMod val="95000"/>
                      </a:schemeClr>
                    </a:solidFill>
                  </a:rPr>
                  <a:t>Moderate effect</a:t>
                </a:r>
              </a:p>
            </p:txBody>
          </p:sp>
        </mc:Choice>
        <mc:Fallback xmlns="">
          <p:sp>
            <p:nvSpPr>
              <p:cNvPr id="66" name="TextBox 65">
                <a:extLst>
                  <a:ext uri="{FF2B5EF4-FFF2-40B4-BE49-F238E27FC236}">
                    <a16:creationId xmlns:a16="http://schemas.microsoft.com/office/drawing/2014/main" id="{ADC2EA37-BBCF-DF49-8E87-CE67DB6A506F}"/>
                  </a:ext>
                </a:extLst>
              </p:cNvPr>
              <p:cNvSpPr txBox="1">
                <a:spLocks noRot="1" noChangeAspect="1" noMove="1" noResize="1" noEditPoints="1" noAdjustHandles="1" noChangeArrowheads="1" noChangeShapeType="1" noTextEdit="1"/>
              </p:cNvSpPr>
              <p:nvPr/>
            </p:nvSpPr>
            <p:spPr>
              <a:xfrm>
                <a:off x="1815222" y="2487662"/>
                <a:ext cx="1250549" cy="623248"/>
              </a:xfrm>
              <a:prstGeom prst="rect">
                <a:avLst/>
              </a:prstGeom>
              <a:blipFill>
                <a:blip r:embed="rId4"/>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F3F0AA7-1023-1A07-1918-E36F78B1CAB1}"/>
                  </a:ext>
                </a:extLst>
              </p:cNvPr>
              <p:cNvSpPr txBox="1"/>
              <p:nvPr/>
            </p:nvSpPr>
            <p:spPr>
              <a:xfrm>
                <a:off x="1870672" y="3396430"/>
                <a:ext cx="1172380" cy="646331"/>
              </a:xfrm>
              <a:prstGeom prst="rect">
                <a:avLst/>
              </a:prstGeom>
              <a:noFill/>
            </p:spPr>
            <p:txBody>
              <a:bodyPr wrap="square">
                <a:spAutoFit/>
              </a:bodyPr>
              <a:lstStyle/>
              <a:p>
                <a:pPr algn="ctr"/>
                <a:r>
                  <a:rPr lang="en-US" sz="1200" b="1" dirty="0">
                    <a:solidFill>
                      <a:schemeClr val="bg1">
                        <a:lumMod val="95000"/>
                      </a:schemeClr>
                    </a:solidFill>
                    <a:ea typeface="Cambria Math" panose="02040503050406030204" pitchFamily="18" charset="0"/>
                  </a:rPr>
                  <a:t>Model 3</a:t>
                </a:r>
              </a:p>
              <a:p>
                <a:pPr algn="ctr"/>
                <a14:m>
                  <m:oMathPara xmlns:m="http://schemas.openxmlformats.org/officeDocument/2006/math">
                    <m:oMathParaPr>
                      <m:jc m:val="centerGroup"/>
                    </m:oMathParaPr>
                    <m:oMath xmlns:m="http://schemas.openxmlformats.org/officeDocument/2006/math">
                      <m:r>
                        <a:rPr lang="en-US" sz="1200" b="0" i="1" smtClean="0">
                          <a:solidFill>
                            <a:schemeClr val="bg1">
                              <a:lumMod val="95000"/>
                            </a:schemeClr>
                          </a:solidFill>
                          <a:latin typeface="Cambria Math" panose="02040503050406030204" pitchFamily="18" charset="0"/>
                          <a:ea typeface="Cambria Math" panose="02040503050406030204" pitchFamily="18" charset="0"/>
                        </a:rPr>
                        <m:t>𝛽</m:t>
                      </m:r>
                      <m:r>
                        <a:rPr lang="en-US" sz="1200" b="0" i="1" smtClean="0">
                          <a:solidFill>
                            <a:schemeClr val="bg1">
                              <a:lumMod val="95000"/>
                            </a:schemeClr>
                          </a:solidFill>
                          <a:latin typeface="Cambria Math" panose="02040503050406030204" pitchFamily="18" charset="0"/>
                          <a:ea typeface="Cambria Math" panose="02040503050406030204" pitchFamily="18" charset="0"/>
                        </a:rPr>
                        <m:t>=1.0</m:t>
                      </m:r>
                    </m:oMath>
                  </m:oMathPara>
                </a14:m>
                <a:endParaRPr lang="en-US" sz="1200" b="0" dirty="0">
                  <a:solidFill>
                    <a:schemeClr val="bg1">
                      <a:lumMod val="95000"/>
                    </a:schemeClr>
                  </a:solidFill>
                  <a:ea typeface="Cambria Math" panose="02040503050406030204" pitchFamily="18" charset="0"/>
                </a:endParaRPr>
              </a:p>
              <a:p>
                <a:pPr algn="ctr"/>
                <a:r>
                  <a:rPr lang="en-US" sz="1050" dirty="0">
                    <a:solidFill>
                      <a:schemeClr val="bg1">
                        <a:lumMod val="95000"/>
                      </a:schemeClr>
                    </a:solidFill>
                  </a:rPr>
                  <a:t>Strong effect</a:t>
                </a:r>
              </a:p>
            </p:txBody>
          </p:sp>
        </mc:Choice>
        <mc:Fallback xmlns="">
          <p:sp>
            <p:nvSpPr>
              <p:cNvPr id="67" name="TextBox 66">
                <a:extLst>
                  <a:ext uri="{FF2B5EF4-FFF2-40B4-BE49-F238E27FC236}">
                    <a16:creationId xmlns:a16="http://schemas.microsoft.com/office/drawing/2014/main" id="{9F3F0AA7-1023-1A07-1918-E36F78B1CAB1}"/>
                  </a:ext>
                </a:extLst>
              </p:cNvPr>
              <p:cNvSpPr txBox="1">
                <a:spLocks noRot="1" noChangeAspect="1" noMove="1" noResize="1" noEditPoints="1" noAdjustHandles="1" noChangeArrowheads="1" noChangeShapeType="1" noTextEdit="1"/>
              </p:cNvSpPr>
              <p:nvPr/>
            </p:nvSpPr>
            <p:spPr>
              <a:xfrm>
                <a:off x="1870672" y="3396430"/>
                <a:ext cx="1172380" cy="646331"/>
              </a:xfrm>
              <a:prstGeom prst="rect">
                <a:avLst/>
              </a:prstGeom>
              <a:blipFill>
                <a:blip r:embed="rId5"/>
                <a:stretch>
                  <a:fillRect b="-1923"/>
                </a:stretch>
              </a:blipFill>
            </p:spPr>
            <p:txBody>
              <a:bodyPr/>
              <a:lstStyle/>
              <a:p>
                <a:r>
                  <a:rPr lang="en-US">
                    <a:noFill/>
                  </a:rPr>
                  <a:t> </a:t>
                </a:r>
              </a:p>
            </p:txBody>
          </p:sp>
        </mc:Fallback>
      </mc:AlternateContent>
      <p:sp>
        <p:nvSpPr>
          <p:cNvPr id="76" name="Rounded Rectangle 75">
            <a:extLst>
              <a:ext uri="{FF2B5EF4-FFF2-40B4-BE49-F238E27FC236}">
                <a16:creationId xmlns:a16="http://schemas.microsoft.com/office/drawing/2014/main" id="{4F33388B-9B25-DB6F-8F33-3F41ABF0D07A}"/>
              </a:ext>
            </a:extLst>
          </p:cNvPr>
          <p:cNvSpPr/>
          <p:nvPr/>
        </p:nvSpPr>
        <p:spPr>
          <a:xfrm>
            <a:off x="4718458" y="4881302"/>
            <a:ext cx="4023090" cy="378334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7" name="Rounded Rectangle 76">
            <a:extLst>
              <a:ext uri="{FF2B5EF4-FFF2-40B4-BE49-F238E27FC236}">
                <a16:creationId xmlns:a16="http://schemas.microsoft.com/office/drawing/2014/main" id="{FF0449FE-0585-A6D6-E653-076927E51302}"/>
              </a:ext>
            </a:extLst>
          </p:cNvPr>
          <p:cNvSpPr/>
          <p:nvPr/>
        </p:nvSpPr>
        <p:spPr>
          <a:xfrm>
            <a:off x="341399" y="4881303"/>
            <a:ext cx="4098459" cy="381354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8" name="TextBox 77">
            <a:extLst>
              <a:ext uri="{FF2B5EF4-FFF2-40B4-BE49-F238E27FC236}">
                <a16:creationId xmlns:a16="http://schemas.microsoft.com/office/drawing/2014/main" id="{BD391F87-477C-AB4A-0BB9-C9D8C65F9974}"/>
              </a:ext>
            </a:extLst>
          </p:cNvPr>
          <p:cNvSpPr txBox="1"/>
          <p:nvPr/>
        </p:nvSpPr>
        <p:spPr>
          <a:xfrm>
            <a:off x="202499" y="5077942"/>
            <a:ext cx="4475988" cy="338554"/>
          </a:xfrm>
          <a:prstGeom prst="rect">
            <a:avLst/>
          </a:prstGeom>
          <a:noFill/>
        </p:spPr>
        <p:txBody>
          <a:bodyPr wrap="square" rtlCol="0" anchor="ctr">
            <a:spAutoFit/>
          </a:bodyPr>
          <a:lstStyle/>
          <a:p>
            <a:pPr algn="ctr"/>
            <a:r>
              <a:rPr lang="en-US" sz="1600" b="1" dirty="0"/>
              <a:t>3. Likelihood Function</a:t>
            </a:r>
            <a:endParaRPr lang="en-US" sz="1600" dirty="0"/>
          </a:p>
        </p:txBody>
      </p:sp>
      <p:sp>
        <p:nvSpPr>
          <p:cNvPr id="79" name="TextBox 78">
            <a:extLst>
              <a:ext uri="{FF2B5EF4-FFF2-40B4-BE49-F238E27FC236}">
                <a16:creationId xmlns:a16="http://schemas.microsoft.com/office/drawing/2014/main" id="{AA499189-BEA4-0BEF-DA8A-46F5A6DBFC47}"/>
              </a:ext>
            </a:extLst>
          </p:cNvPr>
          <p:cNvSpPr txBox="1"/>
          <p:nvPr/>
        </p:nvSpPr>
        <p:spPr>
          <a:xfrm>
            <a:off x="4520207" y="5066900"/>
            <a:ext cx="4475988" cy="369332"/>
          </a:xfrm>
          <a:prstGeom prst="rect">
            <a:avLst/>
          </a:prstGeom>
          <a:noFill/>
        </p:spPr>
        <p:txBody>
          <a:bodyPr wrap="square" rtlCol="0" anchor="ctr">
            <a:spAutoFit/>
          </a:bodyPr>
          <a:lstStyle/>
          <a:p>
            <a:pPr algn="ctr"/>
            <a:r>
              <a:rPr lang="en-US" b="1" dirty="0"/>
              <a:t>4. Likelihood Calculation</a:t>
            </a:r>
            <a:endParaRPr lang="en-US" sz="1200" dirty="0"/>
          </a:p>
        </p:txBody>
      </p:sp>
      <p:pic>
        <p:nvPicPr>
          <p:cNvPr id="88" name="Picture 87">
            <a:extLst>
              <a:ext uri="{FF2B5EF4-FFF2-40B4-BE49-F238E27FC236}">
                <a16:creationId xmlns:a16="http://schemas.microsoft.com/office/drawing/2014/main" id="{F763CEB5-E4E6-6865-F803-E1868938B1E3}"/>
              </a:ext>
            </a:extLst>
          </p:cNvPr>
          <p:cNvPicPr>
            <a:picLocks noChangeAspect="1"/>
          </p:cNvPicPr>
          <p:nvPr/>
        </p:nvPicPr>
        <p:blipFill>
          <a:blip r:embed="rId6"/>
          <a:srcRect/>
          <a:stretch/>
        </p:blipFill>
        <p:spPr>
          <a:xfrm>
            <a:off x="5073638" y="1299560"/>
            <a:ext cx="3272439" cy="3272439"/>
          </a:xfrm>
          <a:prstGeom prst="rect">
            <a:avLst/>
          </a:prstGeom>
        </p:spPr>
      </p:pic>
      <p:pic>
        <p:nvPicPr>
          <p:cNvPr id="90" name="Picture 89">
            <a:extLst>
              <a:ext uri="{FF2B5EF4-FFF2-40B4-BE49-F238E27FC236}">
                <a16:creationId xmlns:a16="http://schemas.microsoft.com/office/drawing/2014/main" id="{82909DD9-34B9-E57B-3899-D421478A6F06}"/>
              </a:ext>
            </a:extLst>
          </p:cNvPr>
          <p:cNvPicPr>
            <a:picLocks noChangeAspect="1"/>
          </p:cNvPicPr>
          <p:nvPr/>
        </p:nvPicPr>
        <p:blipFill>
          <a:blip r:embed="rId7"/>
          <a:srcRect/>
          <a:stretch/>
        </p:blipFill>
        <p:spPr>
          <a:xfrm>
            <a:off x="5126896" y="5475667"/>
            <a:ext cx="3219181" cy="3219181"/>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56CB87A-8712-C78E-5ED2-E3E66F9D4DB9}"/>
                  </a:ext>
                </a:extLst>
              </p:cNvPr>
              <p:cNvSpPr txBox="1"/>
              <p:nvPr/>
            </p:nvSpPr>
            <p:spPr>
              <a:xfrm>
                <a:off x="8097729" y="2908347"/>
                <a:ext cx="527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accent5">
                                  <a:lumMod val="50000"/>
                                </a:schemeClr>
                              </a:solidFill>
                              <a:latin typeface="Cambria Math" panose="02040503050406030204" pitchFamily="18" charset="0"/>
                            </a:rPr>
                          </m:ctrlPr>
                        </m:sSubPr>
                        <m:e>
                          <m:r>
                            <m:rPr>
                              <m:sty m:val="p"/>
                            </m:rPr>
                            <a:rPr lang="en-US" i="1">
                              <a:solidFill>
                                <a:schemeClr val="accent5">
                                  <a:lumMod val="50000"/>
                                </a:schemeClr>
                              </a:solidFill>
                              <a:latin typeface="Cambria Math" panose="02040503050406030204" pitchFamily="18" charset="0"/>
                            </a:rPr>
                            <m:t>M</m:t>
                          </m:r>
                        </m:e>
                        <m:sub>
                          <m:r>
                            <a:rPr lang="en-US" b="0" i="1" smtClean="0">
                              <a:solidFill>
                                <a:schemeClr val="accent5">
                                  <a:lumMod val="50000"/>
                                </a:schemeClr>
                              </a:solidFill>
                              <a:latin typeface="Cambria Math" panose="02040503050406030204" pitchFamily="18" charset="0"/>
                            </a:rPr>
                            <m:t>1</m:t>
                          </m:r>
                        </m:sub>
                      </m:sSub>
                    </m:oMath>
                  </m:oMathPara>
                </a14:m>
                <a:endParaRPr lang="en-US" dirty="0">
                  <a:solidFill>
                    <a:schemeClr val="accent5">
                      <a:lumMod val="50000"/>
                    </a:schemeClr>
                  </a:solidFill>
                </a:endParaRPr>
              </a:p>
            </p:txBody>
          </p:sp>
        </mc:Choice>
        <mc:Fallback xmlns="">
          <p:sp>
            <p:nvSpPr>
              <p:cNvPr id="5" name="TextBox 4">
                <a:extLst>
                  <a:ext uri="{FF2B5EF4-FFF2-40B4-BE49-F238E27FC236}">
                    <a16:creationId xmlns:a16="http://schemas.microsoft.com/office/drawing/2014/main" id="{356CB87A-8712-C78E-5ED2-E3E66F9D4DB9}"/>
                  </a:ext>
                </a:extLst>
              </p:cNvPr>
              <p:cNvSpPr txBox="1">
                <a:spLocks noRot="1" noChangeAspect="1" noMove="1" noResize="1" noEditPoints="1" noAdjustHandles="1" noChangeArrowheads="1" noChangeShapeType="1" noTextEdit="1"/>
              </p:cNvSpPr>
              <p:nvPr/>
            </p:nvSpPr>
            <p:spPr>
              <a:xfrm>
                <a:off x="8097729" y="2908347"/>
                <a:ext cx="527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8B7456C-C4CA-FD88-9FD0-D7F80697C9E9}"/>
                  </a:ext>
                </a:extLst>
              </p:cNvPr>
              <p:cNvSpPr txBox="1"/>
              <p:nvPr/>
            </p:nvSpPr>
            <p:spPr>
              <a:xfrm>
                <a:off x="8101620" y="2090179"/>
                <a:ext cx="5324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m:rPr>
                              <m:sty m:val="p"/>
                            </m:rPr>
                            <a:rPr lang="en-US" i="1">
                              <a:solidFill>
                                <a:srgbClr val="C00000"/>
                              </a:solidFill>
                              <a:latin typeface="Cambria Math" panose="02040503050406030204" pitchFamily="18" charset="0"/>
                            </a:rPr>
                            <m:t>M</m:t>
                          </m:r>
                        </m:e>
                        <m:sub>
                          <m:r>
                            <a:rPr lang="en-US" b="0" i="1" smtClean="0">
                              <a:solidFill>
                                <a:srgbClr val="C00000"/>
                              </a:solidFill>
                              <a:latin typeface="Cambria Math" panose="02040503050406030204" pitchFamily="18" charset="0"/>
                            </a:rPr>
                            <m:t>2</m:t>
                          </m:r>
                        </m:sub>
                      </m:sSub>
                    </m:oMath>
                  </m:oMathPara>
                </a14:m>
                <a:endParaRPr lang="en-US" dirty="0">
                  <a:solidFill>
                    <a:srgbClr val="C00000"/>
                  </a:solidFill>
                </a:endParaRPr>
              </a:p>
            </p:txBody>
          </p:sp>
        </mc:Choice>
        <mc:Fallback xmlns="">
          <p:sp>
            <p:nvSpPr>
              <p:cNvPr id="6" name="TextBox 5">
                <a:extLst>
                  <a:ext uri="{FF2B5EF4-FFF2-40B4-BE49-F238E27FC236}">
                    <a16:creationId xmlns:a16="http://schemas.microsoft.com/office/drawing/2014/main" id="{D8B7456C-C4CA-FD88-9FD0-D7F80697C9E9}"/>
                  </a:ext>
                </a:extLst>
              </p:cNvPr>
              <p:cNvSpPr txBox="1">
                <a:spLocks noRot="1" noChangeAspect="1" noMove="1" noResize="1" noEditPoints="1" noAdjustHandles="1" noChangeArrowheads="1" noChangeShapeType="1" noTextEdit="1"/>
              </p:cNvSpPr>
              <p:nvPr/>
            </p:nvSpPr>
            <p:spPr>
              <a:xfrm>
                <a:off x="8101620" y="2090179"/>
                <a:ext cx="53245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611431-B3A1-FF2A-7034-235EF7D5C7C8}"/>
                  </a:ext>
                </a:extLst>
              </p:cNvPr>
              <p:cNvSpPr txBox="1"/>
              <p:nvPr/>
            </p:nvSpPr>
            <p:spPr>
              <a:xfrm>
                <a:off x="8094480" y="1311763"/>
                <a:ext cx="5324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accent6">
                                  <a:lumMod val="50000"/>
                                </a:schemeClr>
                              </a:solidFill>
                              <a:latin typeface="Cambria Math" panose="02040503050406030204" pitchFamily="18" charset="0"/>
                            </a:rPr>
                          </m:ctrlPr>
                        </m:sSubPr>
                        <m:e>
                          <m:r>
                            <m:rPr>
                              <m:sty m:val="p"/>
                            </m:rPr>
                            <a:rPr lang="en-US" i="1">
                              <a:solidFill>
                                <a:schemeClr val="accent6">
                                  <a:lumMod val="50000"/>
                                </a:schemeClr>
                              </a:solidFill>
                              <a:latin typeface="Cambria Math" panose="02040503050406030204" pitchFamily="18" charset="0"/>
                            </a:rPr>
                            <m:t>M</m:t>
                          </m:r>
                        </m:e>
                        <m:sub>
                          <m:r>
                            <a:rPr lang="en-US" b="0" i="1" smtClean="0">
                              <a:solidFill>
                                <a:schemeClr val="accent6">
                                  <a:lumMod val="50000"/>
                                </a:schemeClr>
                              </a:solidFill>
                              <a:latin typeface="Cambria Math" panose="02040503050406030204" pitchFamily="18" charset="0"/>
                            </a:rPr>
                            <m:t>3</m:t>
                          </m:r>
                        </m:sub>
                      </m:sSub>
                    </m:oMath>
                  </m:oMathPara>
                </a14:m>
                <a:endParaRPr lang="en-US" dirty="0">
                  <a:solidFill>
                    <a:schemeClr val="accent6">
                      <a:lumMod val="50000"/>
                    </a:schemeClr>
                  </a:solidFill>
                </a:endParaRPr>
              </a:p>
            </p:txBody>
          </p:sp>
        </mc:Choice>
        <mc:Fallback xmlns="">
          <p:sp>
            <p:nvSpPr>
              <p:cNvPr id="7" name="TextBox 6">
                <a:extLst>
                  <a:ext uri="{FF2B5EF4-FFF2-40B4-BE49-F238E27FC236}">
                    <a16:creationId xmlns:a16="http://schemas.microsoft.com/office/drawing/2014/main" id="{FA611431-B3A1-FF2A-7034-235EF7D5C7C8}"/>
                  </a:ext>
                </a:extLst>
              </p:cNvPr>
              <p:cNvSpPr txBox="1">
                <a:spLocks noRot="1" noChangeAspect="1" noMove="1" noResize="1" noEditPoints="1" noAdjustHandles="1" noChangeArrowheads="1" noChangeShapeType="1" noTextEdit="1"/>
              </p:cNvSpPr>
              <p:nvPr/>
            </p:nvSpPr>
            <p:spPr>
              <a:xfrm>
                <a:off x="8094480" y="1311763"/>
                <a:ext cx="53245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21FDC1-CCA3-3E53-7C3F-00C29A0BE971}"/>
                  </a:ext>
                </a:extLst>
              </p:cNvPr>
              <p:cNvSpPr txBox="1"/>
              <p:nvPr/>
            </p:nvSpPr>
            <p:spPr>
              <a:xfrm>
                <a:off x="507911" y="5813632"/>
                <a:ext cx="3897902" cy="21544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ℒ</m:t>
                      </m:r>
                      <m:d>
                        <m:dPr>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𝑀</m:t>
                          </m:r>
                        </m:e>
                        <m:e>
                          <m:r>
                            <a:rPr lang="en-US" b="0" i="1" smtClean="0">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𝑀</m:t>
                          </m:r>
                        </m:e>
                      </m:d>
                    </m:oMath>
                  </m:oMathPara>
                </a14:m>
                <a:endParaRPr lang="en-US" dirty="0">
                  <a:ea typeface="Cambria Math" panose="02040503050406030204" pitchFamily="18" charset="0"/>
                </a:endParaRPr>
              </a:p>
              <a:p>
                <a:endParaRPr lang="en-US" dirty="0"/>
              </a:p>
              <a:p>
                <a:pPr marL="285750" indent="-285750">
                  <a:buFont typeface="Arial" panose="020B0604020202020204" pitchFamily="34" charset="0"/>
                  <a:buChar char="•"/>
                </a:pPr>
                <a14:m>
                  <m:oMath xmlns:m="http://schemas.openxmlformats.org/officeDocument/2006/math">
                    <m:r>
                      <a:rPr lang="en-US" sz="1600" b="0" i="1">
                        <a:latin typeface="Cambria Math" panose="02040503050406030204" pitchFamily="18" charset="0"/>
                        <a:ea typeface="Cambria Math" panose="02040503050406030204" pitchFamily="18" charset="0"/>
                      </a:rPr>
                      <m:t>ℒ</m:t>
                    </m:r>
                  </m:oMath>
                </a14:m>
                <a:r>
                  <a:rPr lang="en-US" sz="1600" dirty="0"/>
                  <a:t>: the likelihood function for model </a:t>
                </a:r>
                <a14:m>
                  <m:oMath xmlns:m="http://schemas.openxmlformats.org/officeDocument/2006/math">
                    <m:r>
                      <a:rPr lang="en-US" sz="1600" i="1">
                        <a:latin typeface="Cambria Math" panose="02040503050406030204" pitchFamily="18" charset="0"/>
                        <a:ea typeface="Cambria Math" panose="02040503050406030204" pitchFamily="18" charset="0"/>
                      </a:rPr>
                      <m:t>𝑀</m:t>
                    </m:r>
                  </m:oMath>
                </a14:m>
                <a:r>
                  <a:rPr lang="en-US" sz="1600" dirty="0"/>
                  <a:t> under data </a:t>
                </a:r>
                <a14:m>
                  <m:oMath xmlns:m="http://schemas.openxmlformats.org/officeDocument/2006/math">
                    <m:r>
                      <a:rPr lang="en-US" sz="1600" i="1">
                        <a:latin typeface="Cambria Math" panose="02040503050406030204" pitchFamily="18" charset="0"/>
                        <a:ea typeface="Cambria Math" panose="02040503050406030204" pitchFamily="18" charset="0"/>
                      </a:rPr>
                      <m:t>𝐷</m:t>
                    </m:r>
                  </m:oMath>
                </a14:m>
                <a:endParaRPr lang="en-US" sz="1600" dirty="0"/>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ea typeface="Cambria Math" panose="02040503050406030204" pitchFamily="18" charset="0"/>
                      </a:rPr>
                      <m:t>𝑀</m:t>
                    </m:r>
                  </m:oMath>
                </a14:m>
                <a:r>
                  <a:rPr lang="en-US" sz="1600" dirty="0"/>
                  <a:t>: the model</a:t>
                </a:r>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ea typeface="Cambria Math" panose="02040503050406030204" pitchFamily="18" charset="0"/>
                      </a:rPr>
                      <m:t>𝐷</m:t>
                    </m:r>
                    <m:r>
                      <a:rPr lang="en-US" sz="1600" i="1">
                        <a:latin typeface="Cambria Math" panose="02040503050406030204" pitchFamily="18" charset="0"/>
                        <a:ea typeface="Cambria Math" panose="02040503050406030204" pitchFamily="18" charset="0"/>
                      </a:rPr>
                      <m:t> </m:t>
                    </m:r>
                  </m:oMath>
                </a14:m>
                <a:r>
                  <a:rPr lang="en-US" sz="1600" dirty="0"/>
                  <a:t>: the observed data</a:t>
                </a:r>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ea typeface="Cambria Math" panose="02040503050406030204" pitchFamily="18" charset="0"/>
                      </a:rPr>
                      <m:t>𝑃</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𝐷</m:t>
                        </m:r>
                      </m:e>
                      <m:e>
                        <m:r>
                          <a:rPr lang="en-US" sz="1600" i="1">
                            <a:latin typeface="Cambria Math" panose="02040503050406030204" pitchFamily="18" charset="0"/>
                            <a:ea typeface="Cambria Math" panose="02040503050406030204" pitchFamily="18" charset="0"/>
                          </a:rPr>
                          <m:t>𝑀</m:t>
                        </m:r>
                      </m:e>
                    </m:d>
                  </m:oMath>
                </a14:m>
                <a:r>
                  <a:rPr lang="en-US" sz="1600" dirty="0"/>
                  <a:t>: the probability of observing data D given the model </a:t>
                </a:r>
                <a14:m>
                  <m:oMath xmlns:m="http://schemas.openxmlformats.org/officeDocument/2006/math">
                    <m:r>
                      <a:rPr lang="en-US" sz="1600" i="1">
                        <a:latin typeface="Cambria Math" panose="02040503050406030204" pitchFamily="18" charset="0"/>
                        <a:ea typeface="Cambria Math" panose="02040503050406030204" pitchFamily="18" charset="0"/>
                      </a:rPr>
                      <m:t>𝑀</m:t>
                    </m:r>
                  </m:oMath>
                </a14:m>
                <a:endParaRPr lang="en-US" dirty="0"/>
              </a:p>
            </p:txBody>
          </p:sp>
        </mc:Choice>
        <mc:Fallback xmlns="">
          <p:sp>
            <p:nvSpPr>
              <p:cNvPr id="8" name="TextBox 7">
                <a:extLst>
                  <a:ext uri="{FF2B5EF4-FFF2-40B4-BE49-F238E27FC236}">
                    <a16:creationId xmlns:a16="http://schemas.microsoft.com/office/drawing/2014/main" id="{2B21FDC1-CCA3-3E53-7C3F-00C29A0BE971}"/>
                  </a:ext>
                </a:extLst>
              </p:cNvPr>
              <p:cNvSpPr txBox="1">
                <a:spLocks noRot="1" noChangeAspect="1" noMove="1" noResize="1" noEditPoints="1" noAdjustHandles="1" noChangeArrowheads="1" noChangeShapeType="1" noTextEdit="1"/>
              </p:cNvSpPr>
              <p:nvPr/>
            </p:nvSpPr>
            <p:spPr>
              <a:xfrm>
                <a:off x="507911" y="5813632"/>
                <a:ext cx="3897902" cy="2154436"/>
              </a:xfrm>
              <a:prstGeom prst="rect">
                <a:avLst/>
              </a:prstGeom>
              <a:blipFill>
                <a:blip r:embed="rId11"/>
                <a:stretch>
                  <a:fillRect l="-647" b="-1170"/>
                </a:stretch>
              </a:blipFill>
            </p:spPr>
            <p:txBody>
              <a:bodyPr/>
              <a:lstStyle/>
              <a:p>
                <a:r>
                  <a:rPr lang="en-US">
                    <a:noFill/>
                  </a:rPr>
                  <a:t> </a:t>
                </a:r>
              </a:p>
            </p:txBody>
          </p:sp>
        </mc:Fallback>
      </mc:AlternateContent>
    </p:spTree>
    <p:extLst>
      <p:ext uri="{BB962C8B-B14F-4D97-AF65-F5344CB8AC3E}">
        <p14:creationId xmlns:p14="http://schemas.microsoft.com/office/powerpoint/2010/main" val="1951899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23515-B315-905E-BD2E-044F7E74BC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2D5FFB-7298-28C4-3546-2ECFDCD838D3}"/>
              </a:ext>
            </a:extLst>
          </p:cNvPr>
          <p:cNvSpPr txBox="1"/>
          <p:nvPr/>
        </p:nvSpPr>
        <p:spPr>
          <a:xfrm>
            <a:off x="2422928" y="68478"/>
            <a:ext cx="4475988" cy="400110"/>
          </a:xfrm>
          <a:prstGeom prst="rect">
            <a:avLst/>
          </a:prstGeom>
          <a:noFill/>
        </p:spPr>
        <p:txBody>
          <a:bodyPr wrap="square" rtlCol="0" anchor="ctr">
            <a:spAutoFit/>
          </a:bodyPr>
          <a:lstStyle/>
          <a:p>
            <a:pPr algn="ctr"/>
            <a:r>
              <a:rPr lang="en-US" sz="2000" b="1" dirty="0"/>
              <a:t>Maximum Likelihood Estimation (MLE)</a:t>
            </a:r>
          </a:p>
        </p:txBody>
      </p:sp>
      <p:sp>
        <p:nvSpPr>
          <p:cNvPr id="3" name="TextBox 2">
            <a:extLst>
              <a:ext uri="{FF2B5EF4-FFF2-40B4-BE49-F238E27FC236}">
                <a16:creationId xmlns:a16="http://schemas.microsoft.com/office/drawing/2014/main" id="{662CE3FE-37A4-4EEB-2E5A-DBF9D4D0E28C}"/>
              </a:ext>
            </a:extLst>
          </p:cNvPr>
          <p:cNvSpPr txBox="1"/>
          <p:nvPr/>
        </p:nvSpPr>
        <p:spPr>
          <a:xfrm>
            <a:off x="577728" y="448565"/>
            <a:ext cx="7988544" cy="307777"/>
          </a:xfrm>
          <a:prstGeom prst="rect">
            <a:avLst/>
          </a:prstGeom>
          <a:noFill/>
        </p:spPr>
        <p:txBody>
          <a:bodyPr wrap="square" rtlCol="0">
            <a:spAutoFit/>
          </a:bodyPr>
          <a:lstStyle/>
          <a:p>
            <a:pPr algn="ctr"/>
            <a:r>
              <a:rPr lang="en-US" sz="1400" dirty="0"/>
              <a:t>Find parameter values that maximize the likelihood function</a:t>
            </a:r>
          </a:p>
        </p:txBody>
      </p:sp>
      <p:sp>
        <p:nvSpPr>
          <p:cNvPr id="9" name="Rounded Rectangle 8">
            <a:extLst>
              <a:ext uri="{FF2B5EF4-FFF2-40B4-BE49-F238E27FC236}">
                <a16:creationId xmlns:a16="http://schemas.microsoft.com/office/drawing/2014/main" id="{AD189325-D170-C8A3-9498-0B0BE2C55AD3}"/>
              </a:ext>
            </a:extLst>
          </p:cNvPr>
          <p:cNvSpPr/>
          <p:nvPr/>
        </p:nvSpPr>
        <p:spPr>
          <a:xfrm>
            <a:off x="427383" y="788653"/>
            <a:ext cx="8299174" cy="384343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78B1813C-7D59-789F-9D80-D74E467AAA88}"/>
              </a:ext>
            </a:extLst>
          </p:cNvPr>
          <p:cNvSpPr txBox="1"/>
          <p:nvPr/>
        </p:nvSpPr>
        <p:spPr>
          <a:xfrm>
            <a:off x="2170325" y="897729"/>
            <a:ext cx="4981194" cy="369332"/>
          </a:xfrm>
          <a:prstGeom prst="rect">
            <a:avLst/>
          </a:prstGeom>
          <a:noFill/>
        </p:spPr>
        <p:txBody>
          <a:bodyPr wrap="square" rtlCol="0" anchor="ctr">
            <a:spAutoFit/>
          </a:bodyPr>
          <a:lstStyle/>
          <a:p>
            <a:pPr algn="ctr"/>
            <a:r>
              <a:rPr lang="en-US" b="1" dirty="0"/>
              <a:t>MLE in Likelihood and Log-likelihood functions</a:t>
            </a:r>
            <a:endParaRPr lang="en-US" dirty="0"/>
          </a:p>
        </p:txBody>
      </p:sp>
      <mc:AlternateContent xmlns:mc="http://schemas.openxmlformats.org/markup-compatibility/2006" xmlns:a14="http://schemas.microsoft.com/office/drawing/2010/main">
        <mc:Choice Requires="a14">
          <p:sp>
            <p:nvSpPr>
              <p:cNvPr id="76" name="Rounded Rectangle 75">
                <a:extLst>
                  <a:ext uri="{FF2B5EF4-FFF2-40B4-BE49-F238E27FC236}">
                    <a16:creationId xmlns:a16="http://schemas.microsoft.com/office/drawing/2014/main" id="{B31A698B-DA3B-E129-2CFE-166EBD5C5AF5}"/>
                  </a:ext>
                </a:extLst>
              </p:cNvPr>
              <p:cNvSpPr/>
              <p:nvPr/>
            </p:nvSpPr>
            <p:spPr>
              <a:xfrm>
                <a:off x="427384" y="6411984"/>
                <a:ext cx="4040446" cy="239091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rPr>
                  <a:t>Asymptotic Properties</a:t>
                </a:r>
              </a:p>
              <a:p>
                <a:pPr marL="285750" indent="-285750">
                  <a:buFont typeface="Arial" panose="020B0604020202020204" pitchFamily="34" charset="0"/>
                  <a:buChar char="•"/>
                </a:pPr>
                <a:r>
                  <a:rPr lang="en-US" sz="1300" b="1" dirty="0">
                    <a:solidFill>
                      <a:schemeClr val="tx1"/>
                    </a:solidFill>
                  </a:rPr>
                  <a:t>Consistent</a:t>
                </a:r>
                <a:r>
                  <a:rPr lang="en-US" sz="1300" dirty="0">
                    <a:solidFill>
                      <a:schemeClr val="tx1"/>
                    </a:solidFill>
                  </a:rPr>
                  <a:t> – Converges to the true parameter as sample size increases</a:t>
                </a:r>
              </a:p>
              <a:p>
                <a:pPr marL="285750" indent="-285750">
                  <a:buFont typeface="Arial" panose="020B0604020202020204" pitchFamily="34" charset="0"/>
                  <a:buChar char="•"/>
                </a:pPr>
                <a:r>
                  <a:rPr lang="en-US" sz="1300" b="1" dirty="0">
                    <a:solidFill>
                      <a:schemeClr val="tx1"/>
                    </a:solidFill>
                  </a:rPr>
                  <a:t>Asymptotically Efficient</a:t>
                </a:r>
                <a:r>
                  <a:rPr lang="en-US" sz="1300" dirty="0">
                    <a:solidFill>
                      <a:schemeClr val="tx1"/>
                    </a:solidFill>
                  </a:rPr>
                  <a:t> – Achieves lowest possible variance among unbiased estimators (attains the Cramér-Rao bound)</a:t>
                </a:r>
              </a:p>
              <a:p>
                <a:pPr marL="285750" indent="-285750">
                  <a:buFont typeface="Arial" panose="020B0604020202020204" pitchFamily="34" charset="0"/>
                  <a:buChar char="•"/>
                </a:pPr>
                <a:r>
                  <a:rPr lang="en-US" sz="1300" b="1" dirty="0">
                    <a:solidFill>
                      <a:schemeClr val="tx1"/>
                    </a:solidFill>
                  </a:rPr>
                  <a:t>Asymptotically Normal</a:t>
                </a:r>
                <a:r>
                  <a:rPr lang="en-US" sz="1300" dirty="0">
                    <a:solidFill>
                      <a:schemeClr val="tx1"/>
                    </a:solidFill>
                  </a:rPr>
                  <a:t> – Distribution approaches normality as sample size grows</a:t>
                </a:r>
              </a:p>
              <a:p>
                <a:pPr marL="285750" indent="-285750">
                  <a:buFont typeface="Arial" panose="020B0604020202020204" pitchFamily="34" charset="0"/>
                  <a:buChar char="•"/>
                </a:pPr>
                <a:r>
                  <a:rPr lang="en-US" sz="1300" b="1" dirty="0">
                    <a:solidFill>
                      <a:schemeClr val="tx1"/>
                    </a:solidFill>
                  </a:rPr>
                  <a:t>Invariant</a:t>
                </a:r>
                <a:r>
                  <a:rPr lang="en-US" sz="1300" dirty="0">
                    <a:solidFill>
                      <a:schemeClr val="tx1"/>
                    </a:solidFill>
                  </a:rPr>
                  <a:t> – If </a:t>
                </a:r>
                <a14:m>
                  <m:oMath xmlns:m="http://schemas.openxmlformats.org/officeDocument/2006/math">
                    <m:sSub>
                      <m:sSubPr>
                        <m:ctrlPr>
                          <a:rPr lang="en-US" sz="1300" i="1">
                            <a:solidFill>
                              <a:schemeClr val="tx1"/>
                            </a:solidFill>
                            <a:latin typeface="Cambria Math" panose="02040503050406030204" pitchFamily="18" charset="0"/>
                            <a:ea typeface="Cambria Math" panose="02040503050406030204" pitchFamily="18" charset="0"/>
                          </a:rPr>
                        </m:ctrlPr>
                      </m:sSubPr>
                      <m:e>
                        <m:acc>
                          <m:accPr>
                            <m:chr m:val="̂"/>
                            <m:ctrlPr>
                              <a:rPr lang="en-US" sz="1300" i="1">
                                <a:solidFill>
                                  <a:schemeClr val="tx1"/>
                                </a:solidFill>
                                <a:latin typeface="Cambria Math" panose="02040503050406030204" pitchFamily="18" charset="0"/>
                                <a:ea typeface="Cambria Math" panose="02040503050406030204" pitchFamily="18" charset="0"/>
                              </a:rPr>
                            </m:ctrlPr>
                          </m:accPr>
                          <m:e>
                            <m:r>
                              <a:rPr lang="en-US" sz="1300" i="1">
                                <a:solidFill>
                                  <a:schemeClr val="tx1"/>
                                </a:solidFill>
                                <a:latin typeface="Cambria Math" panose="02040503050406030204" pitchFamily="18" charset="0"/>
                                <a:ea typeface="Cambria Math" panose="02040503050406030204" pitchFamily="18" charset="0"/>
                              </a:rPr>
                              <m:t>𝜃</m:t>
                            </m:r>
                          </m:e>
                        </m:acc>
                      </m:e>
                      <m:sub>
                        <m:r>
                          <m:rPr>
                            <m:sty m:val="p"/>
                          </m:rPr>
                          <a:rPr lang="en-US" sz="1300" i="1">
                            <a:solidFill>
                              <a:schemeClr val="tx1"/>
                            </a:solidFill>
                            <a:latin typeface="Cambria Math" panose="02040503050406030204" pitchFamily="18" charset="0"/>
                            <a:ea typeface="Cambria Math" panose="02040503050406030204" pitchFamily="18" charset="0"/>
                          </a:rPr>
                          <m:t>MLE</m:t>
                        </m:r>
                      </m:sub>
                    </m:sSub>
                  </m:oMath>
                </a14:m>
                <a:r>
                  <a:rPr lang="en-US" sz="1300" dirty="0">
                    <a:solidFill>
                      <a:schemeClr val="tx1"/>
                    </a:solidFill>
                    <a:ea typeface="Cambria Math" panose="02040503050406030204" pitchFamily="18" charset="0"/>
                  </a:rPr>
                  <a:t> </a:t>
                </a:r>
                <a:r>
                  <a:rPr lang="en-US" sz="1300" dirty="0">
                    <a:solidFill>
                      <a:schemeClr val="tx1"/>
                    </a:solidFill>
                  </a:rPr>
                  <a:t>is the MLE of </a:t>
                </a:r>
                <a14:m>
                  <m:oMath xmlns:m="http://schemas.openxmlformats.org/officeDocument/2006/math">
                    <m:r>
                      <a:rPr lang="en-US" sz="1300" i="1">
                        <a:solidFill>
                          <a:schemeClr val="tx1"/>
                        </a:solidFill>
                        <a:latin typeface="Cambria Math" panose="02040503050406030204" pitchFamily="18" charset="0"/>
                        <a:ea typeface="Cambria Math" panose="02040503050406030204" pitchFamily="18" charset="0"/>
                      </a:rPr>
                      <m:t>𝜃</m:t>
                    </m:r>
                  </m:oMath>
                </a14:m>
                <a:r>
                  <a:rPr lang="el-GR" sz="1300" dirty="0">
                    <a:solidFill>
                      <a:schemeClr val="tx1"/>
                    </a:solidFill>
                  </a:rPr>
                  <a:t>, </a:t>
                </a:r>
                <a:r>
                  <a:rPr lang="en-US" sz="1300" dirty="0">
                    <a:solidFill>
                      <a:schemeClr val="tx1"/>
                    </a:solidFill>
                  </a:rPr>
                  <a:t>then </a:t>
                </a:r>
                <a14:m>
                  <m:oMath xmlns:m="http://schemas.openxmlformats.org/officeDocument/2006/math">
                    <m:sSub>
                      <m:sSubPr>
                        <m:ctrlPr>
                          <a:rPr lang="en-US" sz="1300" i="1">
                            <a:solidFill>
                              <a:schemeClr val="tx1"/>
                            </a:solidFill>
                            <a:latin typeface="Cambria Math" panose="02040503050406030204" pitchFamily="18" charset="0"/>
                            <a:ea typeface="Cambria Math" panose="02040503050406030204" pitchFamily="18" charset="0"/>
                          </a:rPr>
                        </m:ctrlPr>
                      </m:sSubPr>
                      <m:e>
                        <m:r>
                          <m:rPr>
                            <m:sty m:val="p"/>
                          </m:rPr>
                          <a:rPr lang="en-US" sz="1300" i="1">
                            <a:solidFill>
                              <a:schemeClr val="tx1"/>
                            </a:solidFill>
                            <a:latin typeface="Cambria Math" panose="02040503050406030204" pitchFamily="18" charset="0"/>
                            <a:ea typeface="Cambria Math" panose="02040503050406030204" pitchFamily="18" charset="0"/>
                          </a:rPr>
                          <m:t>g</m:t>
                        </m:r>
                        <m:r>
                          <a:rPr lang="en-US" sz="1300" i="1">
                            <a:solidFill>
                              <a:schemeClr val="tx1"/>
                            </a:solidFill>
                            <a:latin typeface="Cambria Math" panose="02040503050406030204" pitchFamily="18" charset="0"/>
                            <a:ea typeface="Cambria Math" panose="02040503050406030204" pitchFamily="18" charset="0"/>
                          </a:rPr>
                          <m:t>(</m:t>
                        </m:r>
                        <m:acc>
                          <m:accPr>
                            <m:chr m:val="̂"/>
                            <m:ctrlPr>
                              <a:rPr lang="en-US" sz="1300" i="1">
                                <a:solidFill>
                                  <a:schemeClr val="tx1"/>
                                </a:solidFill>
                                <a:latin typeface="Cambria Math" panose="02040503050406030204" pitchFamily="18" charset="0"/>
                                <a:ea typeface="Cambria Math" panose="02040503050406030204" pitchFamily="18" charset="0"/>
                              </a:rPr>
                            </m:ctrlPr>
                          </m:accPr>
                          <m:e>
                            <m:r>
                              <a:rPr lang="en-US" sz="1300" i="1">
                                <a:solidFill>
                                  <a:schemeClr val="tx1"/>
                                </a:solidFill>
                                <a:latin typeface="Cambria Math" panose="02040503050406030204" pitchFamily="18" charset="0"/>
                                <a:ea typeface="Cambria Math" panose="02040503050406030204" pitchFamily="18" charset="0"/>
                              </a:rPr>
                              <m:t>𝜃</m:t>
                            </m:r>
                          </m:e>
                        </m:acc>
                      </m:e>
                      <m:sub>
                        <m:r>
                          <m:rPr>
                            <m:sty m:val="p"/>
                          </m:rPr>
                          <a:rPr lang="en-US" sz="1300" i="1">
                            <a:solidFill>
                              <a:schemeClr val="tx1"/>
                            </a:solidFill>
                            <a:latin typeface="Cambria Math" panose="02040503050406030204" pitchFamily="18" charset="0"/>
                            <a:ea typeface="Cambria Math" panose="02040503050406030204" pitchFamily="18" charset="0"/>
                          </a:rPr>
                          <m:t>MLE</m:t>
                        </m:r>
                      </m:sub>
                    </m:sSub>
                    <m:r>
                      <a:rPr lang="en-US" sz="1300" i="1">
                        <a:solidFill>
                          <a:schemeClr val="tx1"/>
                        </a:solidFill>
                        <a:latin typeface="Cambria Math" panose="02040503050406030204" pitchFamily="18" charset="0"/>
                        <a:ea typeface="Cambria Math" panose="02040503050406030204" pitchFamily="18" charset="0"/>
                      </a:rPr>
                      <m:t>)</m:t>
                    </m:r>
                  </m:oMath>
                </a14:m>
                <a:r>
                  <a:rPr lang="en-US" sz="1300" dirty="0">
                    <a:solidFill>
                      <a:schemeClr val="tx1"/>
                    </a:solidFill>
                  </a:rPr>
                  <a:t> is the MLE of </a:t>
                </a:r>
                <a14:m>
                  <m:oMath xmlns:m="http://schemas.openxmlformats.org/officeDocument/2006/math">
                    <m:r>
                      <m:rPr>
                        <m:sty m:val="p"/>
                      </m:rPr>
                      <a:rPr lang="en-US" sz="1300">
                        <a:solidFill>
                          <a:schemeClr val="tx1"/>
                        </a:solidFill>
                        <a:latin typeface="Cambria Math" panose="02040503050406030204" pitchFamily="18" charset="0"/>
                        <a:ea typeface="Cambria Math" panose="02040503050406030204" pitchFamily="18" charset="0"/>
                      </a:rPr>
                      <m:t>g</m:t>
                    </m:r>
                    <m:r>
                      <a:rPr lang="en-US" sz="1300">
                        <a:solidFill>
                          <a:schemeClr val="tx1"/>
                        </a:solidFill>
                        <a:latin typeface="Cambria Math" panose="02040503050406030204" pitchFamily="18" charset="0"/>
                        <a:ea typeface="Cambria Math" panose="02040503050406030204" pitchFamily="18" charset="0"/>
                      </a:rPr>
                      <m:t>(</m:t>
                    </m:r>
                    <m:r>
                      <a:rPr lang="en-US" sz="1300" i="1">
                        <a:solidFill>
                          <a:schemeClr val="tx1"/>
                        </a:solidFill>
                        <a:latin typeface="Cambria Math" panose="02040503050406030204" pitchFamily="18" charset="0"/>
                        <a:ea typeface="Cambria Math" panose="02040503050406030204" pitchFamily="18" charset="0"/>
                      </a:rPr>
                      <m:t>𝜃</m:t>
                    </m:r>
                    <m:r>
                      <a:rPr lang="en-US" sz="1300" i="1">
                        <a:solidFill>
                          <a:schemeClr val="tx1"/>
                        </a:solidFill>
                        <a:latin typeface="Cambria Math" panose="02040503050406030204" pitchFamily="18" charset="0"/>
                        <a:ea typeface="Cambria Math" panose="02040503050406030204" pitchFamily="18" charset="0"/>
                      </a:rPr>
                      <m:t>)</m:t>
                    </m:r>
                  </m:oMath>
                </a14:m>
                <a:r>
                  <a:rPr lang="el-GR" sz="1300" dirty="0">
                    <a:solidFill>
                      <a:schemeClr val="tx1"/>
                    </a:solidFill>
                  </a:rPr>
                  <a:t> </a:t>
                </a:r>
                <a:r>
                  <a:rPr lang="en-US" sz="1300" dirty="0">
                    <a:solidFill>
                      <a:schemeClr val="tx1"/>
                    </a:solidFill>
                  </a:rPr>
                  <a:t>for any function </a:t>
                </a:r>
                <a14:m>
                  <m:oMath xmlns:m="http://schemas.openxmlformats.org/officeDocument/2006/math">
                    <m:r>
                      <m:rPr>
                        <m:sty m:val="p"/>
                      </m:rPr>
                      <a:rPr lang="en-US" sz="1300">
                        <a:solidFill>
                          <a:schemeClr val="tx1"/>
                        </a:solidFill>
                        <a:latin typeface="Cambria Math" panose="02040503050406030204" pitchFamily="18" charset="0"/>
                        <a:ea typeface="Cambria Math" panose="02040503050406030204" pitchFamily="18" charset="0"/>
                      </a:rPr>
                      <m:t>g</m:t>
                    </m:r>
                  </m:oMath>
                </a14:m>
                <a:endParaRPr lang="en-US" sz="1300" dirty="0">
                  <a:solidFill>
                    <a:schemeClr val="tx1"/>
                  </a:solidFill>
                </a:endParaRPr>
              </a:p>
            </p:txBody>
          </p:sp>
        </mc:Choice>
        <mc:Fallback xmlns="">
          <p:sp>
            <p:nvSpPr>
              <p:cNvPr id="76" name="Rounded Rectangle 75">
                <a:extLst>
                  <a:ext uri="{FF2B5EF4-FFF2-40B4-BE49-F238E27FC236}">
                    <a16:creationId xmlns:a16="http://schemas.microsoft.com/office/drawing/2014/main" id="{B31A698B-DA3B-E129-2CFE-166EBD5C5AF5}"/>
                  </a:ext>
                </a:extLst>
              </p:cNvPr>
              <p:cNvSpPr>
                <a:spLocks noRot="1" noChangeAspect="1" noMove="1" noResize="1" noEditPoints="1" noAdjustHandles="1" noChangeArrowheads="1" noChangeShapeType="1" noTextEdit="1"/>
              </p:cNvSpPr>
              <p:nvPr/>
            </p:nvSpPr>
            <p:spPr>
              <a:xfrm>
                <a:off x="427384" y="6411984"/>
                <a:ext cx="4040446" cy="2390917"/>
              </a:xfrm>
              <a:prstGeom prst="roundRect">
                <a:avLst/>
              </a:prstGeom>
              <a:blipFill>
                <a:blip r:embed="rId3"/>
                <a:stretch>
                  <a:fillRect/>
                </a:stretch>
              </a:blipFill>
            </p:spPr>
            <p:txBody>
              <a:bodyPr/>
              <a:lstStyle/>
              <a:p>
                <a:r>
                  <a:rPr lang="en-US">
                    <a:noFill/>
                  </a:rPr>
                  <a:t> </a:t>
                </a:r>
              </a:p>
            </p:txBody>
          </p:sp>
        </mc:Fallback>
      </mc:AlternateContent>
      <p:sp>
        <p:nvSpPr>
          <p:cNvPr id="77" name="Rounded Rectangle 76">
            <a:extLst>
              <a:ext uri="{FF2B5EF4-FFF2-40B4-BE49-F238E27FC236}">
                <a16:creationId xmlns:a16="http://schemas.microsoft.com/office/drawing/2014/main" id="{A53FEB4C-9BC0-3F95-E106-4FCD75A37F89}"/>
              </a:ext>
            </a:extLst>
          </p:cNvPr>
          <p:cNvSpPr/>
          <p:nvPr/>
        </p:nvSpPr>
        <p:spPr>
          <a:xfrm>
            <a:off x="427383" y="4742409"/>
            <a:ext cx="8299174" cy="155925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8" name="TextBox 77">
            <a:extLst>
              <a:ext uri="{FF2B5EF4-FFF2-40B4-BE49-F238E27FC236}">
                <a16:creationId xmlns:a16="http://schemas.microsoft.com/office/drawing/2014/main" id="{766E9D17-0E6C-A79B-AD5E-CFF67EDE5523}"/>
              </a:ext>
            </a:extLst>
          </p:cNvPr>
          <p:cNvSpPr txBox="1"/>
          <p:nvPr/>
        </p:nvSpPr>
        <p:spPr>
          <a:xfrm>
            <a:off x="2334006" y="4704188"/>
            <a:ext cx="4475988" cy="369332"/>
          </a:xfrm>
          <a:prstGeom prst="rect">
            <a:avLst/>
          </a:prstGeom>
          <a:noFill/>
        </p:spPr>
        <p:txBody>
          <a:bodyPr wrap="square" rtlCol="0" anchor="ctr">
            <a:spAutoFit/>
          </a:bodyPr>
          <a:lstStyle/>
          <a:p>
            <a:pPr algn="ctr"/>
            <a:r>
              <a:rPr lang="en-US" b="1" dirty="0"/>
              <a:t>Key Steps</a:t>
            </a:r>
            <a:endParaRPr lang="en-US" dirty="0"/>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9D491354-CED5-3C8E-E061-E7A7C65DEA8F}"/>
                  </a:ext>
                </a:extLst>
              </p:cNvPr>
              <p:cNvSpPr txBox="1"/>
              <p:nvPr/>
            </p:nvSpPr>
            <p:spPr>
              <a:xfrm>
                <a:off x="1145986" y="5068462"/>
                <a:ext cx="6893480" cy="1110369"/>
              </a:xfrm>
              <a:prstGeom prst="rect">
                <a:avLst/>
              </a:prstGeom>
              <a:noFill/>
            </p:spPr>
            <p:txBody>
              <a:bodyPr wrap="square">
                <a:spAutoFit/>
              </a:bodyPr>
              <a:lstStyle/>
              <a:p>
                <a:pPr marL="228600" indent="-228600">
                  <a:buAutoNum type="arabicPeriod"/>
                </a:pPr>
                <a:r>
                  <a:rPr lang="en-US" sz="1200" dirty="0">
                    <a:solidFill>
                      <a:schemeClr val="tx1"/>
                    </a:solidFill>
                    <a:ea typeface="Cambria Math" panose="02040503050406030204" pitchFamily="18" charset="0"/>
                  </a:rPr>
                  <a:t>Define likelihood function </a:t>
                </a:r>
                <a14:m>
                  <m:oMath xmlns:m="http://schemas.openxmlformats.org/officeDocument/2006/math">
                    <m:r>
                      <a:rPr lang="en-US" sz="1200" i="1">
                        <a:latin typeface="Cambria Math" panose="02040503050406030204" pitchFamily="18" charset="0"/>
                        <a:ea typeface="Cambria Math" panose="02040503050406030204" pitchFamily="18" charset="0"/>
                      </a:rPr>
                      <m:t>ℒ</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𝜃</m:t>
                        </m:r>
                      </m:e>
                      <m:e>
                        <m:r>
                          <a:rPr lang="en-US" sz="1200" i="1">
                            <a:latin typeface="Cambria Math" panose="02040503050406030204" pitchFamily="18" charset="0"/>
                            <a:ea typeface="Cambria Math" panose="02040503050406030204" pitchFamily="18" charset="0"/>
                          </a:rPr>
                          <m:t>𝐷</m:t>
                        </m:r>
                      </m:e>
                    </m:d>
                  </m:oMath>
                </a14:m>
                <a:r>
                  <a:rPr lang="en-US" sz="1200" dirty="0">
                    <a:solidFill>
                      <a:schemeClr val="tx1"/>
                    </a:solidFill>
                    <a:ea typeface="Cambria Math" panose="02040503050406030204" pitchFamily="18" charset="0"/>
                  </a:rPr>
                  <a:t> </a:t>
                </a:r>
                <a:r>
                  <a:rPr lang="en-US" sz="1200" dirty="0">
                    <a:ea typeface="Cambria Math" panose="02040503050406030204" pitchFamily="18" charset="0"/>
                  </a:rPr>
                  <a:t>for model </a:t>
                </a:r>
                <a14:m>
                  <m:oMath xmlns:m="http://schemas.openxmlformats.org/officeDocument/2006/math">
                    <m:r>
                      <a:rPr lang="en-US" sz="1200" i="1">
                        <a:latin typeface="Cambria Math" panose="02040503050406030204" pitchFamily="18" charset="0"/>
                        <a:ea typeface="Cambria Math" panose="02040503050406030204" pitchFamily="18" charset="0"/>
                      </a:rPr>
                      <m:t>𝑀</m:t>
                    </m:r>
                  </m:oMath>
                </a14:m>
                <a:r>
                  <a:rPr lang="en-US" sz="1200" dirty="0">
                    <a:ea typeface="Cambria Math" panose="02040503050406030204" pitchFamily="18" charset="0"/>
                  </a:rPr>
                  <a:t> parameterized by </a:t>
                </a:r>
                <a14:m>
                  <m:oMath xmlns:m="http://schemas.openxmlformats.org/officeDocument/2006/math">
                    <m:r>
                      <a:rPr lang="en-US" sz="1200" i="1">
                        <a:latin typeface="Cambria Math" panose="02040503050406030204" pitchFamily="18" charset="0"/>
                        <a:ea typeface="Cambria Math" panose="02040503050406030204" pitchFamily="18" charset="0"/>
                      </a:rPr>
                      <m:t>𝜃</m:t>
                    </m:r>
                  </m:oMath>
                </a14:m>
                <a:endParaRPr lang="en-US" sz="1200" dirty="0">
                  <a:solidFill>
                    <a:schemeClr val="tx1"/>
                  </a:solidFill>
                  <a:ea typeface="Cambria Math" panose="02040503050406030204" pitchFamily="18" charset="0"/>
                </a:endParaRPr>
              </a:p>
              <a:p>
                <a:pPr marL="228600" indent="-228600">
                  <a:buFontTx/>
                  <a:buAutoNum type="arabicPeriod"/>
                </a:pPr>
                <a:r>
                  <a:rPr lang="en-US" sz="1200" dirty="0">
                    <a:ea typeface="Cambria Math" panose="02040503050406030204" pitchFamily="18" charset="0"/>
                  </a:rPr>
                  <a:t>(optional) Take log to obtain log-likelihood </a:t>
                </a:r>
                <a14:m>
                  <m:oMath xmlns:m="http://schemas.openxmlformats.org/officeDocument/2006/math">
                    <m:r>
                      <a:rPr lang="en-US" sz="1200" b="0" i="1" smtClean="0">
                        <a:latin typeface="Cambria Math" panose="02040503050406030204" pitchFamily="18" charset="0"/>
                        <a:ea typeface="Cambria Math" panose="02040503050406030204" pitchFamily="18" charset="0"/>
                      </a:rPr>
                      <m:t>ℓ</m:t>
                    </m:r>
                    <m:d>
                      <m:dPr>
                        <m:ctrlPr>
                          <a:rPr lang="en-US" sz="1200" i="1">
                            <a:latin typeface="Cambria Math" panose="02040503050406030204" pitchFamily="18" charset="0"/>
                            <a:ea typeface="Cambria Math" panose="02040503050406030204" pitchFamily="18" charset="0"/>
                          </a:rPr>
                        </m:ctrlPr>
                      </m:dPr>
                      <m:e>
                        <m:r>
                          <a:rPr lang="en-US" sz="1200" b="0" i="1">
                            <a:latin typeface="Cambria Math" panose="02040503050406030204" pitchFamily="18" charset="0"/>
                            <a:ea typeface="Cambria Math" panose="02040503050406030204" pitchFamily="18" charset="0"/>
                          </a:rPr>
                          <m:t>𝜃</m:t>
                        </m:r>
                      </m:e>
                      <m:e>
                        <m:r>
                          <a:rPr lang="en-US" sz="1200" b="0" i="1" smtClean="0">
                            <a:latin typeface="Cambria Math" panose="02040503050406030204" pitchFamily="18" charset="0"/>
                            <a:ea typeface="Cambria Math" panose="02040503050406030204" pitchFamily="18" charset="0"/>
                          </a:rPr>
                          <m:t>𝐷</m:t>
                        </m:r>
                      </m:e>
                    </m:d>
                    <m:r>
                      <a:rPr lang="en-US" sz="1200" b="0" i="1">
                        <a:latin typeface="Cambria Math" panose="02040503050406030204" pitchFamily="18" charset="0"/>
                        <a:ea typeface="Cambria Math" panose="02040503050406030204" pitchFamily="18" charset="0"/>
                      </a:rPr>
                      <m:t> </m:t>
                    </m:r>
                  </m:oMath>
                </a14:m>
                <a:endParaRPr lang="en-US" sz="1200" dirty="0">
                  <a:ea typeface="Cambria Math" panose="02040503050406030204" pitchFamily="18" charset="0"/>
                </a:endParaRPr>
              </a:p>
              <a:p>
                <a:pPr marL="228600" indent="-228600">
                  <a:buFontTx/>
                  <a:buAutoNum type="arabicPeriod"/>
                </a:pPr>
                <a:r>
                  <a:rPr lang="en-US" sz="1200" dirty="0">
                    <a:ea typeface="Cambria Math" panose="02040503050406030204" pitchFamily="18" charset="0"/>
                  </a:rPr>
                  <a:t>Find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acc>
                          <m:accPr>
                            <m:chr m:val="̂"/>
                            <m:ctrlPr>
                              <a:rPr lang="en-US" sz="1200" i="1">
                                <a:latin typeface="Cambria Math" panose="02040503050406030204" pitchFamily="18" charset="0"/>
                                <a:ea typeface="Cambria Math" panose="02040503050406030204" pitchFamily="18" charset="0"/>
                              </a:rPr>
                            </m:ctrlPr>
                          </m:accPr>
                          <m:e>
                            <m:r>
                              <a:rPr lang="en-US" sz="1200" i="1">
                                <a:latin typeface="Cambria Math" panose="02040503050406030204" pitchFamily="18" charset="0"/>
                                <a:ea typeface="Cambria Math" panose="02040503050406030204" pitchFamily="18" charset="0"/>
                              </a:rPr>
                              <m:t>𝜃</m:t>
                            </m:r>
                          </m:e>
                        </m:acc>
                      </m:e>
                      <m:sub>
                        <m:r>
                          <m:rPr>
                            <m:sty m:val="p"/>
                          </m:rPr>
                          <a:rPr lang="en-US" sz="1200" b="0" i="1" smtClean="0">
                            <a:latin typeface="Cambria Math" panose="02040503050406030204" pitchFamily="18" charset="0"/>
                            <a:ea typeface="Cambria Math" panose="02040503050406030204" pitchFamily="18" charset="0"/>
                          </a:rPr>
                          <m:t>MLE</m:t>
                        </m:r>
                      </m:sub>
                    </m:sSub>
                  </m:oMath>
                </a14:m>
                <a:r>
                  <a:rPr lang="en-US" sz="1200" dirty="0">
                    <a:ea typeface="Cambria Math" panose="02040503050406030204" pitchFamily="18" charset="0"/>
                  </a:rPr>
                  <a:t> by</a:t>
                </a:r>
              </a:p>
              <a:p>
                <a:pPr marL="628650" lvl="1" indent="-171450">
                  <a:buFont typeface="Arial" panose="020B0604020202020204" pitchFamily="34" charset="0"/>
                  <a:buChar char="•"/>
                </a:pPr>
                <a:r>
                  <a:rPr lang="en-US" sz="1200" dirty="0">
                    <a:ea typeface="Cambria Math" panose="02040503050406030204" pitchFamily="18" charset="0"/>
                  </a:rPr>
                  <a:t>deriving the closed-form solution analytically (setting </a:t>
                </a:r>
                <a14:m>
                  <m:oMath xmlns:m="http://schemas.openxmlformats.org/officeDocument/2006/math">
                    <m:f>
                      <m:fPr>
                        <m:ctrlPr>
                          <a:rPr lang="en-US" sz="1200" i="1">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ℒ</m:t>
                        </m:r>
                      </m:num>
                      <m:den>
                        <m:r>
                          <a:rPr lang="en-US" sz="1200" i="1">
                            <a:latin typeface="Cambria Math" panose="02040503050406030204" pitchFamily="18" charset="0"/>
                            <a:ea typeface="Cambria Math" panose="02040503050406030204" pitchFamily="18" charset="0"/>
                          </a:rPr>
                          <m:t>𝜕𝜃</m:t>
                        </m:r>
                      </m:den>
                    </m:f>
                    <m:r>
                      <a:rPr lang="en-US" sz="1200" i="1">
                        <a:latin typeface="Cambria Math" panose="02040503050406030204" pitchFamily="18" charset="0"/>
                        <a:ea typeface="Cambria Math" panose="02040503050406030204" pitchFamily="18" charset="0"/>
                      </a:rPr>
                      <m:t>=0</m:t>
                    </m:r>
                  </m:oMath>
                </a14:m>
                <a:r>
                  <a:rPr lang="en-US" sz="1200" dirty="0">
                    <a:ea typeface="Cambria Math" panose="02040503050406030204" pitchFamily="18" charset="0"/>
                  </a:rPr>
                  <a:t> or </a:t>
                </a:r>
                <a14:m>
                  <m:oMath xmlns:m="http://schemas.openxmlformats.org/officeDocument/2006/math">
                    <m:f>
                      <m:fPr>
                        <m:ctrlPr>
                          <a:rPr lang="en-US" sz="1200" i="1">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ℓ</m:t>
                        </m:r>
                      </m:num>
                      <m:den>
                        <m:r>
                          <a:rPr lang="en-US" sz="1200" i="1">
                            <a:latin typeface="Cambria Math" panose="02040503050406030204" pitchFamily="18" charset="0"/>
                            <a:ea typeface="Cambria Math" panose="02040503050406030204" pitchFamily="18" charset="0"/>
                          </a:rPr>
                          <m:t>𝜕𝜃</m:t>
                        </m:r>
                      </m:den>
                    </m:f>
                    <m:r>
                      <a:rPr lang="en-US" sz="1200" i="1">
                        <a:latin typeface="Cambria Math" panose="02040503050406030204" pitchFamily="18" charset="0"/>
                        <a:ea typeface="Cambria Math" panose="02040503050406030204" pitchFamily="18" charset="0"/>
                      </a:rPr>
                      <m:t>=0</m:t>
                    </m:r>
                  </m:oMath>
                </a14:m>
                <a:r>
                  <a:rPr lang="en-US" sz="1200" dirty="0">
                    <a:ea typeface="Cambria Math" panose="02040503050406030204" pitchFamily="18" charset="0"/>
                  </a:rPr>
                  <a:t>) </a:t>
                </a:r>
              </a:p>
              <a:p>
                <a:pPr marL="628650" lvl="1" indent="-171450">
                  <a:buFont typeface="Arial" panose="020B0604020202020204" pitchFamily="34" charset="0"/>
                  <a:buChar char="•"/>
                </a:pPr>
                <a:r>
                  <a:rPr lang="en-US" sz="1200" dirty="0">
                    <a:ea typeface="Cambria Math" panose="02040503050406030204" pitchFamily="18" charset="0"/>
                  </a:rPr>
                  <a:t>using numerical optimization over a grid (e.g., </a:t>
                </a:r>
                <a:r>
                  <a:rPr lang="en-US" sz="1200" dirty="0">
                    <a:latin typeface="Courier New" panose="02070309020205020404" pitchFamily="49" charset="0"/>
                    <a:ea typeface="Cambria Math" panose="02040503050406030204" pitchFamily="18" charset="0"/>
                    <a:cs typeface="Courier New" panose="02070309020205020404" pitchFamily="49" charset="0"/>
                  </a:rPr>
                  <a:t>optimize</a:t>
                </a:r>
                <a:r>
                  <a:rPr lang="en-US" sz="1200" dirty="0">
                    <a:ea typeface="Cambria Math" panose="02040503050406030204" pitchFamily="18" charset="0"/>
                  </a:rPr>
                  <a:t> function in R)</a:t>
                </a:r>
                <a:endParaRPr lang="en-US" sz="1200" b="0" dirty="0">
                  <a:ea typeface="Cambria Math" panose="02040503050406030204" pitchFamily="18" charset="0"/>
                </a:endParaRPr>
              </a:p>
            </p:txBody>
          </p:sp>
        </mc:Choice>
        <mc:Fallback xmlns="">
          <p:sp>
            <p:nvSpPr>
              <p:cNvPr id="66" name="TextBox 65">
                <a:extLst>
                  <a:ext uri="{FF2B5EF4-FFF2-40B4-BE49-F238E27FC236}">
                    <a16:creationId xmlns:a16="http://schemas.microsoft.com/office/drawing/2014/main" id="{9D491354-CED5-3C8E-E061-E7A7C65DEA8F}"/>
                  </a:ext>
                </a:extLst>
              </p:cNvPr>
              <p:cNvSpPr txBox="1">
                <a:spLocks noRot="1" noChangeAspect="1" noMove="1" noResize="1" noEditPoints="1" noAdjustHandles="1" noChangeArrowheads="1" noChangeShapeType="1" noTextEdit="1"/>
              </p:cNvSpPr>
              <p:nvPr/>
            </p:nvSpPr>
            <p:spPr>
              <a:xfrm>
                <a:off x="1145986" y="5068462"/>
                <a:ext cx="6893480" cy="1110369"/>
              </a:xfrm>
              <a:prstGeom prst="rect">
                <a:avLst/>
              </a:prstGeom>
              <a:blipFill>
                <a:blip r:embed="rId4"/>
                <a:stretch>
                  <a:fillRect l="-184" b="-449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9663267-3949-32B2-09C1-CA8F99B5F465}"/>
              </a:ext>
            </a:extLst>
          </p:cNvPr>
          <p:cNvPicPr>
            <a:picLocks noChangeAspect="1"/>
          </p:cNvPicPr>
          <p:nvPr/>
        </p:nvPicPr>
        <p:blipFill>
          <a:blip r:embed="rId5"/>
          <a:stretch>
            <a:fillRect/>
          </a:stretch>
        </p:blipFill>
        <p:spPr>
          <a:xfrm>
            <a:off x="1214182" y="1474231"/>
            <a:ext cx="3196519" cy="2739873"/>
          </a:xfrm>
          <a:prstGeom prst="rect">
            <a:avLst/>
          </a:prstGeom>
        </p:spPr>
      </p:pic>
      <p:sp>
        <p:nvSpPr>
          <p:cNvPr id="12" name="TextBox 11">
            <a:extLst>
              <a:ext uri="{FF2B5EF4-FFF2-40B4-BE49-F238E27FC236}">
                <a16:creationId xmlns:a16="http://schemas.microsoft.com/office/drawing/2014/main" id="{6AB6D3E6-7C23-1DD2-A1D3-F8F2DAD437C1}"/>
              </a:ext>
            </a:extLst>
          </p:cNvPr>
          <p:cNvSpPr txBox="1"/>
          <p:nvPr/>
        </p:nvSpPr>
        <p:spPr>
          <a:xfrm>
            <a:off x="1822940" y="4172588"/>
            <a:ext cx="1979003" cy="369332"/>
          </a:xfrm>
          <a:prstGeom prst="rect">
            <a:avLst/>
          </a:prstGeom>
          <a:noFill/>
        </p:spPr>
        <p:txBody>
          <a:bodyPr wrap="none" rtlCol="0">
            <a:spAutoFit/>
          </a:bodyPr>
          <a:lstStyle/>
          <a:p>
            <a:r>
              <a:rPr lang="en-US" dirty="0"/>
              <a:t>Likelihood function</a:t>
            </a:r>
          </a:p>
        </p:txBody>
      </p:sp>
      <p:pic>
        <p:nvPicPr>
          <p:cNvPr id="7" name="Picture 6">
            <a:extLst>
              <a:ext uri="{FF2B5EF4-FFF2-40B4-BE49-F238E27FC236}">
                <a16:creationId xmlns:a16="http://schemas.microsoft.com/office/drawing/2014/main" id="{92874BCB-C458-4192-E4D2-DF4DA82665A8}"/>
              </a:ext>
            </a:extLst>
          </p:cNvPr>
          <p:cNvPicPr>
            <a:picLocks noChangeAspect="1"/>
          </p:cNvPicPr>
          <p:nvPr/>
        </p:nvPicPr>
        <p:blipFill>
          <a:blip r:embed="rId6"/>
          <a:stretch>
            <a:fillRect/>
          </a:stretch>
        </p:blipFill>
        <p:spPr>
          <a:xfrm>
            <a:off x="4872067" y="1472567"/>
            <a:ext cx="3200400" cy="2743200"/>
          </a:xfrm>
          <a:prstGeom prst="rect">
            <a:avLst/>
          </a:prstGeom>
        </p:spPr>
      </p:pic>
      <p:sp>
        <p:nvSpPr>
          <p:cNvPr id="13" name="TextBox 12">
            <a:extLst>
              <a:ext uri="{FF2B5EF4-FFF2-40B4-BE49-F238E27FC236}">
                <a16:creationId xmlns:a16="http://schemas.microsoft.com/office/drawing/2014/main" id="{99215E62-6120-1AF7-6ED0-1A615E209833}"/>
              </a:ext>
            </a:extLst>
          </p:cNvPr>
          <p:cNvSpPr txBox="1"/>
          <p:nvPr/>
        </p:nvSpPr>
        <p:spPr>
          <a:xfrm>
            <a:off x="5305634" y="4172588"/>
            <a:ext cx="2333267" cy="369332"/>
          </a:xfrm>
          <a:prstGeom prst="rect">
            <a:avLst/>
          </a:prstGeom>
          <a:noFill/>
        </p:spPr>
        <p:txBody>
          <a:bodyPr wrap="none" rtlCol="0">
            <a:spAutoFit/>
          </a:bodyPr>
          <a:lstStyle/>
          <a:p>
            <a:r>
              <a:rPr lang="en-US" dirty="0"/>
              <a:t>Log-likelihood function</a:t>
            </a:r>
          </a:p>
        </p:txBody>
      </p:sp>
      <p:sp>
        <p:nvSpPr>
          <p:cNvPr id="17" name="Rounded Rectangle 16">
            <a:extLst>
              <a:ext uri="{FF2B5EF4-FFF2-40B4-BE49-F238E27FC236}">
                <a16:creationId xmlns:a16="http://schemas.microsoft.com/office/drawing/2014/main" id="{521239F1-E432-1E18-3F37-05161DC7AFA1}"/>
              </a:ext>
            </a:extLst>
          </p:cNvPr>
          <p:cNvSpPr/>
          <p:nvPr/>
        </p:nvSpPr>
        <p:spPr>
          <a:xfrm>
            <a:off x="4676172" y="6411984"/>
            <a:ext cx="4050385" cy="239091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rPr>
              <a:t>Practical Considerations</a:t>
            </a:r>
          </a:p>
          <a:p>
            <a:pPr marL="285750" indent="-285750">
              <a:buFont typeface="Arial" panose="020B0604020202020204" pitchFamily="34" charset="0"/>
              <a:buChar char="•"/>
            </a:pPr>
            <a:r>
              <a:rPr lang="en-US" sz="1300" b="1" dirty="0">
                <a:solidFill>
                  <a:schemeClr val="tx1"/>
                </a:solidFill>
              </a:rPr>
              <a:t>No Closed-Form in General</a:t>
            </a:r>
            <a:r>
              <a:rPr lang="en-US" sz="1300" dirty="0">
                <a:solidFill>
                  <a:schemeClr val="tx1"/>
                </a:solidFill>
              </a:rPr>
              <a:t> – Often requires numerical optimization methods</a:t>
            </a:r>
          </a:p>
          <a:p>
            <a:pPr marL="285750" indent="-285750">
              <a:buFont typeface="Arial" panose="020B0604020202020204" pitchFamily="34" charset="0"/>
              <a:buChar char="•"/>
            </a:pPr>
            <a:r>
              <a:rPr lang="en-US" sz="1300" b="1" dirty="0">
                <a:solidFill>
                  <a:schemeClr val="tx1"/>
                </a:solidFill>
              </a:rPr>
              <a:t>Grid Search </a:t>
            </a:r>
            <a:r>
              <a:rPr lang="en-US" sz="1300" dirty="0">
                <a:solidFill>
                  <a:schemeClr val="tx1"/>
                </a:solidFill>
              </a:rPr>
              <a:t>– Simple but computationally expensive approach for finding MLE</a:t>
            </a:r>
          </a:p>
          <a:p>
            <a:pPr marL="285750" indent="-285750">
              <a:buFont typeface="Arial" panose="020B0604020202020204" pitchFamily="34" charset="0"/>
              <a:buChar char="•"/>
            </a:pPr>
            <a:r>
              <a:rPr lang="en-US" sz="1300" b="1" dirty="0">
                <a:solidFill>
                  <a:schemeClr val="tx1"/>
                </a:solidFill>
              </a:rPr>
              <a:t>Numerical Optimization</a:t>
            </a:r>
            <a:r>
              <a:rPr lang="en-US" sz="1300" dirty="0">
                <a:solidFill>
                  <a:schemeClr val="tx1"/>
                </a:solidFill>
              </a:rPr>
              <a:t> – Common algorithms include Newton-Raphson and gradient descent, but may encounter convergence issues </a:t>
            </a:r>
          </a:p>
          <a:p>
            <a:pPr marL="285750" indent="-285750">
              <a:buFont typeface="Arial" panose="020B0604020202020204" pitchFamily="34" charset="0"/>
              <a:buChar char="•"/>
            </a:pPr>
            <a:r>
              <a:rPr lang="en-US" sz="1300" b="1" dirty="0">
                <a:solidFill>
                  <a:schemeClr val="tx1"/>
                </a:solidFill>
              </a:rPr>
              <a:t>Starting Values </a:t>
            </a:r>
            <a:r>
              <a:rPr lang="en-US" sz="1300" dirty="0">
                <a:solidFill>
                  <a:schemeClr val="tx1"/>
                </a:solidFill>
              </a:rPr>
              <a:t>– Good initial values can improve convergence and avoid local maxima</a:t>
            </a:r>
          </a:p>
        </p:txBody>
      </p:sp>
    </p:spTree>
    <p:extLst>
      <p:ext uri="{BB962C8B-B14F-4D97-AF65-F5344CB8AC3E}">
        <p14:creationId xmlns:p14="http://schemas.microsoft.com/office/powerpoint/2010/main" val="3744647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7A79-E3CE-731D-9949-22FCBDDCDD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C00FE2-AF7F-0F5E-7DD7-9A0E1A92935C}"/>
              </a:ext>
            </a:extLst>
          </p:cNvPr>
          <p:cNvSpPr txBox="1"/>
          <p:nvPr/>
        </p:nvSpPr>
        <p:spPr>
          <a:xfrm>
            <a:off x="2174527" y="79309"/>
            <a:ext cx="4788100" cy="400110"/>
          </a:xfrm>
          <a:prstGeom prst="rect">
            <a:avLst/>
          </a:prstGeom>
          <a:noFill/>
        </p:spPr>
        <p:txBody>
          <a:bodyPr wrap="square" rtlCol="0" anchor="ctr">
            <a:spAutoFit/>
          </a:bodyPr>
          <a:lstStyle/>
          <a:p>
            <a:pPr algn="ctr"/>
            <a:r>
              <a:rPr lang="en-US" sz="2000" b="1" dirty="0"/>
              <a:t>Likelihood Ratio and Likelihood Ratio Test</a:t>
            </a:r>
          </a:p>
        </p:txBody>
      </p:sp>
      <p:sp>
        <p:nvSpPr>
          <p:cNvPr id="3" name="TextBox 2">
            <a:extLst>
              <a:ext uri="{FF2B5EF4-FFF2-40B4-BE49-F238E27FC236}">
                <a16:creationId xmlns:a16="http://schemas.microsoft.com/office/drawing/2014/main" id="{68285E5F-F908-3D99-E388-BADBCA884581}"/>
              </a:ext>
            </a:extLst>
          </p:cNvPr>
          <p:cNvSpPr txBox="1"/>
          <p:nvPr/>
        </p:nvSpPr>
        <p:spPr>
          <a:xfrm>
            <a:off x="577728" y="465498"/>
            <a:ext cx="7988544" cy="307777"/>
          </a:xfrm>
          <a:prstGeom prst="rect">
            <a:avLst/>
          </a:prstGeom>
          <a:noFill/>
        </p:spPr>
        <p:txBody>
          <a:bodyPr wrap="square" rtlCol="0">
            <a:spAutoFit/>
          </a:bodyPr>
          <a:lstStyle/>
          <a:p>
            <a:pPr algn="ctr"/>
            <a:r>
              <a:rPr lang="en-US" sz="1400" dirty="0"/>
              <a:t>Compare the likelihoods for two models</a:t>
            </a:r>
          </a:p>
        </p:txBody>
      </p:sp>
      <p:sp>
        <p:nvSpPr>
          <p:cNvPr id="4" name="Rounded Rectangle 3">
            <a:extLst>
              <a:ext uri="{FF2B5EF4-FFF2-40B4-BE49-F238E27FC236}">
                <a16:creationId xmlns:a16="http://schemas.microsoft.com/office/drawing/2014/main" id="{B592A444-0627-7B1C-D69B-CE1C4671AC35}"/>
              </a:ext>
            </a:extLst>
          </p:cNvPr>
          <p:cNvSpPr/>
          <p:nvPr/>
        </p:nvSpPr>
        <p:spPr>
          <a:xfrm>
            <a:off x="4730717" y="776363"/>
            <a:ext cx="4052913" cy="378334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9" name="Rounded Rectangle 8">
            <a:extLst>
              <a:ext uri="{FF2B5EF4-FFF2-40B4-BE49-F238E27FC236}">
                <a16:creationId xmlns:a16="http://schemas.microsoft.com/office/drawing/2014/main" id="{EFD3312E-E6E0-D286-8426-998B7199C67A}"/>
              </a:ext>
            </a:extLst>
          </p:cNvPr>
          <p:cNvSpPr/>
          <p:nvPr/>
        </p:nvSpPr>
        <p:spPr>
          <a:xfrm>
            <a:off x="360369" y="788653"/>
            <a:ext cx="4079490" cy="378334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CD2DD803-FA16-D9A0-EE81-C3DC9B65184A}"/>
              </a:ext>
            </a:extLst>
          </p:cNvPr>
          <p:cNvSpPr txBox="1"/>
          <p:nvPr/>
        </p:nvSpPr>
        <p:spPr>
          <a:xfrm>
            <a:off x="192314" y="985292"/>
            <a:ext cx="4475988" cy="338554"/>
          </a:xfrm>
          <a:prstGeom prst="rect">
            <a:avLst/>
          </a:prstGeom>
          <a:noFill/>
        </p:spPr>
        <p:txBody>
          <a:bodyPr wrap="square" rtlCol="0" anchor="ctr">
            <a:spAutoFit/>
          </a:bodyPr>
          <a:lstStyle/>
          <a:p>
            <a:pPr algn="ctr"/>
            <a:r>
              <a:rPr lang="en-US" sz="1600" b="1" dirty="0"/>
              <a:t>1. Two Competing Models</a:t>
            </a:r>
            <a:endParaRPr lang="en-US" sz="1600" dirty="0"/>
          </a:p>
        </p:txBody>
      </p:sp>
      <p:sp>
        <p:nvSpPr>
          <p:cNvPr id="68" name="Rounded Rectangle 67">
            <a:extLst>
              <a:ext uri="{FF2B5EF4-FFF2-40B4-BE49-F238E27FC236}">
                <a16:creationId xmlns:a16="http://schemas.microsoft.com/office/drawing/2014/main" id="{E8FC6D37-4594-5278-26F5-73F4782517B8}"/>
              </a:ext>
            </a:extLst>
          </p:cNvPr>
          <p:cNvSpPr/>
          <p:nvPr/>
        </p:nvSpPr>
        <p:spPr>
          <a:xfrm>
            <a:off x="1650979" y="1732680"/>
            <a:ext cx="1600200" cy="640080"/>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68">
            <a:extLst>
              <a:ext uri="{FF2B5EF4-FFF2-40B4-BE49-F238E27FC236}">
                <a16:creationId xmlns:a16="http://schemas.microsoft.com/office/drawing/2014/main" id="{CDD5297B-7A03-5ACB-2AE7-E7FEB0BDE4CC}"/>
              </a:ext>
            </a:extLst>
          </p:cNvPr>
          <p:cNvSpPr/>
          <p:nvPr/>
        </p:nvSpPr>
        <p:spPr>
          <a:xfrm>
            <a:off x="1656196" y="3189942"/>
            <a:ext cx="1564172" cy="614665"/>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CC20230-B7F7-ED6E-5C7F-1A45763D7072}"/>
                  </a:ext>
                </a:extLst>
              </p:cNvPr>
              <p:cNvSpPr txBox="1"/>
              <p:nvPr/>
            </p:nvSpPr>
            <p:spPr>
              <a:xfrm>
                <a:off x="1866749" y="1732679"/>
                <a:ext cx="1166114" cy="646331"/>
              </a:xfrm>
              <a:prstGeom prst="rect">
                <a:avLst/>
              </a:prstGeom>
              <a:noFill/>
            </p:spPr>
            <p:txBody>
              <a:bodyPr wrap="square">
                <a:spAutoFit/>
              </a:bodyPr>
              <a:lstStyle/>
              <a:p>
                <a:pPr algn="ctr"/>
                <a:r>
                  <a:rPr lang="en-US" sz="1200" b="1" dirty="0">
                    <a:solidFill>
                      <a:schemeClr val="bg1">
                        <a:lumMod val="95000"/>
                      </a:schemeClr>
                    </a:solidFill>
                    <a:ea typeface="Cambria Math" panose="02040503050406030204" pitchFamily="18" charset="0"/>
                  </a:rPr>
                  <a:t>Model 1</a:t>
                </a:r>
              </a:p>
              <a:p>
                <a:pPr algn="ctr"/>
                <a14:m>
                  <m:oMathPara xmlns:m="http://schemas.openxmlformats.org/officeDocument/2006/math">
                    <m:oMathParaPr>
                      <m:jc m:val="centerGroup"/>
                    </m:oMathParaPr>
                    <m:oMath xmlns:m="http://schemas.openxmlformats.org/officeDocument/2006/math">
                      <m:r>
                        <a:rPr lang="en-US" sz="1200" b="0" i="1" smtClean="0">
                          <a:solidFill>
                            <a:schemeClr val="bg1">
                              <a:lumMod val="95000"/>
                            </a:schemeClr>
                          </a:solidFill>
                          <a:latin typeface="Cambria Math" panose="02040503050406030204" pitchFamily="18" charset="0"/>
                          <a:ea typeface="Cambria Math" panose="02040503050406030204" pitchFamily="18" charset="0"/>
                        </a:rPr>
                        <m:t>𝛽</m:t>
                      </m:r>
                      <m:r>
                        <a:rPr lang="en-US" sz="1200" b="0" i="1" smtClean="0">
                          <a:solidFill>
                            <a:schemeClr val="bg1">
                              <a:lumMod val="95000"/>
                            </a:schemeClr>
                          </a:solidFill>
                          <a:latin typeface="Cambria Math" panose="02040503050406030204" pitchFamily="18" charset="0"/>
                          <a:ea typeface="Cambria Math" panose="02040503050406030204" pitchFamily="18" charset="0"/>
                        </a:rPr>
                        <m:t>=0</m:t>
                      </m:r>
                    </m:oMath>
                  </m:oMathPara>
                </a14:m>
                <a:endParaRPr lang="en-US" sz="1200" dirty="0">
                  <a:solidFill>
                    <a:schemeClr val="bg1">
                      <a:lumMod val="95000"/>
                    </a:schemeClr>
                  </a:solidFill>
                </a:endParaRPr>
              </a:p>
              <a:p>
                <a:pPr algn="ctr"/>
                <a:r>
                  <a:rPr lang="en-US" sz="1050" dirty="0">
                    <a:solidFill>
                      <a:schemeClr val="bg1">
                        <a:lumMod val="95000"/>
                      </a:schemeClr>
                    </a:solidFill>
                  </a:rPr>
                  <a:t>No effect</a:t>
                </a:r>
              </a:p>
            </p:txBody>
          </p:sp>
        </mc:Choice>
        <mc:Fallback xmlns="">
          <p:sp>
            <p:nvSpPr>
              <p:cNvPr id="31" name="TextBox 30">
                <a:extLst>
                  <a:ext uri="{FF2B5EF4-FFF2-40B4-BE49-F238E27FC236}">
                    <a16:creationId xmlns:a16="http://schemas.microsoft.com/office/drawing/2014/main" id="{FCC20230-B7F7-ED6E-5C7F-1A45763D7072}"/>
                  </a:ext>
                </a:extLst>
              </p:cNvPr>
              <p:cNvSpPr txBox="1">
                <a:spLocks noRot="1" noChangeAspect="1" noMove="1" noResize="1" noEditPoints="1" noAdjustHandles="1" noChangeArrowheads="1" noChangeShapeType="1" noTextEdit="1"/>
              </p:cNvSpPr>
              <p:nvPr/>
            </p:nvSpPr>
            <p:spPr>
              <a:xfrm>
                <a:off x="1866749" y="1732679"/>
                <a:ext cx="1166114" cy="646331"/>
              </a:xfrm>
              <a:prstGeom prst="rect">
                <a:avLst/>
              </a:prstGeom>
              <a:blipFill>
                <a:blip r:embed="rId3"/>
                <a:stretch>
                  <a:fillRect b="-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A5620FE-DD52-4EFF-CB3B-748398682950}"/>
                  </a:ext>
                </a:extLst>
              </p:cNvPr>
              <p:cNvSpPr txBox="1"/>
              <p:nvPr/>
            </p:nvSpPr>
            <p:spPr>
              <a:xfrm>
                <a:off x="1805033" y="3181928"/>
                <a:ext cx="1250549" cy="623248"/>
              </a:xfrm>
              <a:prstGeom prst="rect">
                <a:avLst/>
              </a:prstGeom>
              <a:noFill/>
            </p:spPr>
            <p:txBody>
              <a:bodyPr wrap="square">
                <a:spAutoFit/>
              </a:bodyPr>
              <a:lstStyle/>
              <a:p>
                <a:pPr algn="ctr"/>
                <a:r>
                  <a:rPr lang="en-US" sz="1200" b="1" dirty="0">
                    <a:solidFill>
                      <a:schemeClr val="bg1">
                        <a:lumMod val="95000"/>
                      </a:schemeClr>
                    </a:solidFill>
                    <a:ea typeface="Cambria Math" panose="02040503050406030204" pitchFamily="18" charset="0"/>
                  </a:rPr>
                  <a:t>Model 2</a:t>
                </a:r>
              </a:p>
              <a:p>
                <a:pPr algn="ctr"/>
                <a14:m>
                  <m:oMathPara xmlns:m="http://schemas.openxmlformats.org/officeDocument/2006/math">
                    <m:oMathParaPr>
                      <m:jc m:val="centerGroup"/>
                    </m:oMathParaPr>
                    <m:oMath xmlns:m="http://schemas.openxmlformats.org/officeDocument/2006/math">
                      <m:r>
                        <a:rPr lang="en-US" sz="1200" b="0" i="1" smtClean="0">
                          <a:solidFill>
                            <a:schemeClr val="bg1">
                              <a:lumMod val="95000"/>
                            </a:schemeClr>
                          </a:solidFill>
                          <a:latin typeface="Cambria Math" panose="02040503050406030204" pitchFamily="18" charset="0"/>
                          <a:ea typeface="Cambria Math" panose="02040503050406030204" pitchFamily="18" charset="0"/>
                        </a:rPr>
                        <m:t>𝛽</m:t>
                      </m:r>
                      <m:r>
                        <a:rPr lang="en-US" sz="1200" b="0" i="1" smtClean="0">
                          <a:solidFill>
                            <a:schemeClr val="bg1">
                              <a:lumMod val="95000"/>
                            </a:schemeClr>
                          </a:solidFill>
                          <a:latin typeface="Cambria Math" panose="02040503050406030204" pitchFamily="18" charset="0"/>
                          <a:ea typeface="Cambria Math" panose="02040503050406030204" pitchFamily="18" charset="0"/>
                        </a:rPr>
                        <m:t>=0.5</m:t>
                      </m:r>
                    </m:oMath>
                  </m:oMathPara>
                </a14:m>
                <a:endParaRPr lang="en-US" sz="1200" b="0" dirty="0">
                  <a:solidFill>
                    <a:schemeClr val="bg1">
                      <a:lumMod val="95000"/>
                    </a:schemeClr>
                  </a:solidFill>
                  <a:ea typeface="Cambria Math" panose="02040503050406030204" pitchFamily="18" charset="0"/>
                </a:endParaRPr>
              </a:p>
              <a:p>
                <a:pPr algn="ctr"/>
                <a:r>
                  <a:rPr lang="en-US" sz="1050" dirty="0">
                    <a:solidFill>
                      <a:schemeClr val="bg1">
                        <a:lumMod val="95000"/>
                      </a:schemeClr>
                    </a:solidFill>
                  </a:rPr>
                  <a:t>Moderate effect</a:t>
                </a:r>
              </a:p>
            </p:txBody>
          </p:sp>
        </mc:Choice>
        <mc:Fallback xmlns="">
          <p:sp>
            <p:nvSpPr>
              <p:cNvPr id="66" name="TextBox 65">
                <a:extLst>
                  <a:ext uri="{FF2B5EF4-FFF2-40B4-BE49-F238E27FC236}">
                    <a16:creationId xmlns:a16="http://schemas.microsoft.com/office/drawing/2014/main" id="{6A5620FE-DD52-4EFF-CB3B-748398682950}"/>
                  </a:ext>
                </a:extLst>
              </p:cNvPr>
              <p:cNvSpPr txBox="1">
                <a:spLocks noRot="1" noChangeAspect="1" noMove="1" noResize="1" noEditPoints="1" noAdjustHandles="1" noChangeArrowheads="1" noChangeShapeType="1" noTextEdit="1"/>
              </p:cNvSpPr>
              <p:nvPr/>
            </p:nvSpPr>
            <p:spPr>
              <a:xfrm>
                <a:off x="1805033" y="3181928"/>
                <a:ext cx="1250549" cy="623248"/>
              </a:xfrm>
              <a:prstGeom prst="rect">
                <a:avLst/>
              </a:prstGeom>
              <a:blipFill>
                <a:blip r:embed="rId4"/>
                <a:stretch>
                  <a:fillRect b="-6000"/>
                </a:stretch>
              </a:blipFill>
            </p:spPr>
            <p:txBody>
              <a:bodyPr/>
              <a:lstStyle/>
              <a:p>
                <a:r>
                  <a:rPr lang="en-US">
                    <a:noFill/>
                  </a:rPr>
                  <a:t> </a:t>
                </a:r>
              </a:p>
            </p:txBody>
          </p:sp>
        </mc:Fallback>
      </mc:AlternateContent>
      <p:sp>
        <p:nvSpPr>
          <p:cNvPr id="77" name="Rounded Rectangle 76">
            <a:extLst>
              <a:ext uri="{FF2B5EF4-FFF2-40B4-BE49-F238E27FC236}">
                <a16:creationId xmlns:a16="http://schemas.microsoft.com/office/drawing/2014/main" id="{7857FE25-C85A-A254-5A07-8726C8F73692}"/>
              </a:ext>
            </a:extLst>
          </p:cNvPr>
          <p:cNvSpPr/>
          <p:nvPr/>
        </p:nvSpPr>
        <p:spPr>
          <a:xfrm>
            <a:off x="360368" y="4881303"/>
            <a:ext cx="4079491" cy="369553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8" name="TextBox 77">
            <a:extLst>
              <a:ext uri="{FF2B5EF4-FFF2-40B4-BE49-F238E27FC236}">
                <a16:creationId xmlns:a16="http://schemas.microsoft.com/office/drawing/2014/main" id="{997EF58D-A60D-7C9C-9AEA-F0E04DFFD08D}"/>
              </a:ext>
            </a:extLst>
          </p:cNvPr>
          <p:cNvSpPr txBox="1"/>
          <p:nvPr/>
        </p:nvSpPr>
        <p:spPr>
          <a:xfrm>
            <a:off x="162119" y="5127653"/>
            <a:ext cx="4475988" cy="338554"/>
          </a:xfrm>
          <a:prstGeom prst="rect">
            <a:avLst/>
          </a:prstGeom>
          <a:noFill/>
        </p:spPr>
        <p:txBody>
          <a:bodyPr wrap="square" rtlCol="0" anchor="ctr">
            <a:spAutoFit/>
          </a:bodyPr>
          <a:lstStyle/>
          <a:p>
            <a:pPr algn="ctr"/>
            <a:r>
              <a:rPr lang="en-US" sz="1600" b="1" dirty="0"/>
              <a:t>3. Likelihood Ratio Calculation</a:t>
            </a:r>
            <a:endParaRPr lang="en-US" sz="1600" dirty="0"/>
          </a:p>
        </p:txBody>
      </p:sp>
      <p:sp>
        <p:nvSpPr>
          <p:cNvPr id="7" name="TextBox 6">
            <a:extLst>
              <a:ext uri="{FF2B5EF4-FFF2-40B4-BE49-F238E27FC236}">
                <a16:creationId xmlns:a16="http://schemas.microsoft.com/office/drawing/2014/main" id="{5B4013C9-46E4-DBE4-271D-5C3B3E91A437}"/>
              </a:ext>
            </a:extLst>
          </p:cNvPr>
          <p:cNvSpPr txBox="1"/>
          <p:nvPr/>
        </p:nvSpPr>
        <p:spPr>
          <a:xfrm>
            <a:off x="4587699" y="980127"/>
            <a:ext cx="4475988" cy="338554"/>
          </a:xfrm>
          <a:prstGeom prst="rect">
            <a:avLst/>
          </a:prstGeom>
          <a:noFill/>
        </p:spPr>
        <p:txBody>
          <a:bodyPr wrap="square" rtlCol="0" anchor="ctr">
            <a:spAutoFit/>
          </a:bodyPr>
          <a:lstStyle/>
          <a:p>
            <a:pPr algn="ctr"/>
            <a:r>
              <a:rPr lang="en-US" sz="1600" b="1" dirty="0"/>
              <a:t>2. Which Model Fits Best?</a:t>
            </a:r>
            <a:endParaRPr lang="en-US" sz="1600" dirty="0"/>
          </a:p>
        </p:txBody>
      </p:sp>
      <p:pic>
        <p:nvPicPr>
          <p:cNvPr id="12" name="Picture 11">
            <a:extLst>
              <a:ext uri="{FF2B5EF4-FFF2-40B4-BE49-F238E27FC236}">
                <a16:creationId xmlns:a16="http://schemas.microsoft.com/office/drawing/2014/main" id="{C45881ED-0683-805B-5415-371A4D9D4144}"/>
              </a:ext>
            </a:extLst>
          </p:cNvPr>
          <p:cNvPicPr>
            <a:picLocks noChangeAspect="1"/>
          </p:cNvPicPr>
          <p:nvPr/>
        </p:nvPicPr>
        <p:blipFill>
          <a:blip r:embed="rId5"/>
          <a:srcRect/>
          <a:stretch/>
        </p:blipFill>
        <p:spPr>
          <a:xfrm>
            <a:off x="5296452" y="1543218"/>
            <a:ext cx="2921099" cy="2921099"/>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680014D-6278-D30C-FD81-480404331B50}"/>
                  </a:ext>
                </a:extLst>
              </p:cNvPr>
              <p:cNvSpPr txBox="1"/>
              <p:nvPr/>
            </p:nvSpPr>
            <p:spPr>
              <a:xfrm>
                <a:off x="575708" y="5822018"/>
                <a:ext cx="3657642" cy="1184235"/>
              </a:xfrm>
              <a:prstGeom prst="rect">
                <a:avLst/>
              </a:prstGeom>
              <a:noFill/>
            </p:spPr>
            <p:txBody>
              <a:bodyPr wrap="square" rtlCol="0">
                <a:spAutoFit/>
              </a:bodyPr>
              <a:lstStyle/>
              <a:p>
                <a:r>
                  <a:rPr lang="en-US" sz="1400" b="1" dirty="0"/>
                  <a:t>Likelihood Ratio</a:t>
                </a:r>
                <a:r>
                  <a:rPr lang="en-US" sz="1400" dirty="0"/>
                  <a:t>:</a:t>
                </a:r>
              </a:p>
              <a:p>
                <a:pPr/>
                <a14:m>
                  <m:oMathPara xmlns:m="http://schemas.openxmlformats.org/officeDocument/2006/math">
                    <m:oMathParaPr>
                      <m:jc m:val="centerGroup"/>
                    </m:oMathParaPr>
                    <m:oMath xmlns:m="http://schemas.openxmlformats.org/officeDocument/2006/math">
                      <m:r>
                        <m:rPr>
                          <m:sty m:val="p"/>
                        </m:rPr>
                        <a:rPr lang="en-US" sz="1400" b="0" i="0" smtClean="0">
                          <a:latin typeface="Cambria Math" panose="02040503050406030204" pitchFamily="18" charset="0"/>
                        </a:rPr>
                        <m:t>LR</m:t>
                      </m:r>
                      <m:r>
                        <a:rPr lang="en-US" sz="1400" b="0" i="1" smtClean="0">
                          <a:latin typeface="Cambria Math" panose="02040503050406030204" pitchFamily="18" charset="0"/>
                        </a:rPr>
                        <m:t>=</m:t>
                      </m:r>
                      <m:f>
                        <m:fPr>
                          <m:ctrlPr>
                            <a:rPr lang="en-US" sz="1400" i="1" smtClean="0">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ℒ</m:t>
                          </m:r>
                          <m:r>
                            <a:rPr lang="en-US" sz="1400" i="1">
                              <a:latin typeface="Cambria Math" panose="02040503050406030204" pitchFamily="18" charset="0"/>
                              <a:ea typeface="Cambria Math" panose="02040503050406030204" pitchFamily="18" charset="0"/>
                            </a:rPr>
                            <m:t>(</m:t>
                          </m:r>
                          <m:sSub>
                            <m:sSubPr>
                              <m:ctrlPr>
                                <a:rPr lang="en-US" sz="140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𝑀</m:t>
                              </m:r>
                            </m:e>
                            <m:sub>
                              <m:r>
                                <a:rPr lang="en-US" sz="1400" b="0" i="1" smtClean="0">
                                  <a:latin typeface="Cambria Math" panose="02040503050406030204" pitchFamily="18" charset="0"/>
                                  <a:ea typeface="Cambria Math" panose="02040503050406030204" pitchFamily="18" charset="0"/>
                                </a:rPr>
                                <m:t>1</m:t>
                              </m:r>
                            </m:sub>
                          </m:sSub>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𝐷</m:t>
                          </m:r>
                          <m:r>
                            <a:rPr lang="en-US" sz="1400" i="1">
                              <a:latin typeface="Cambria Math" panose="02040503050406030204" pitchFamily="18" charset="0"/>
                              <a:ea typeface="Cambria Math" panose="02040503050406030204" pitchFamily="18" charset="0"/>
                            </a:rPr>
                            <m:t>)</m:t>
                          </m:r>
                        </m:num>
                        <m:den>
                          <m:r>
                            <a:rPr lang="en-US" sz="1400" i="1" smtClean="0">
                              <a:latin typeface="Cambria Math" panose="02040503050406030204" pitchFamily="18" charset="0"/>
                              <a:ea typeface="Cambria Math" panose="02040503050406030204" pitchFamily="18" charset="0"/>
                            </a:rPr>
                            <m:t>ℒ</m:t>
                          </m:r>
                          <m:d>
                            <m:dPr>
                              <m:ctrlPr>
                                <a:rPr lang="en-US" sz="1400" b="0" i="1" smtClean="0">
                                  <a:latin typeface="Cambria Math" panose="02040503050406030204" pitchFamily="18" charset="0"/>
                                  <a:ea typeface="Cambria Math" panose="02040503050406030204" pitchFamily="18" charset="0"/>
                                </a:rPr>
                              </m:ctrlPr>
                            </m:dPr>
                            <m:e>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𝑀</m:t>
                                  </m:r>
                                </m:e>
                                <m:sub>
                                  <m:r>
                                    <a:rPr lang="en-US" sz="1400" b="0" i="1" smtClean="0">
                                      <a:latin typeface="Cambria Math" panose="02040503050406030204" pitchFamily="18" charset="0"/>
                                      <a:ea typeface="Cambria Math" panose="02040503050406030204" pitchFamily="18" charset="0"/>
                                    </a:rPr>
                                    <m:t>2</m:t>
                                  </m:r>
                                </m:sub>
                              </m:sSub>
                            </m:e>
                            <m:e>
                              <m:r>
                                <a:rPr lang="en-US" sz="1400" b="0" i="1" smtClean="0">
                                  <a:latin typeface="Cambria Math" panose="02040503050406030204" pitchFamily="18" charset="0"/>
                                  <a:ea typeface="Cambria Math" panose="02040503050406030204" pitchFamily="18" charset="0"/>
                                </a:rPr>
                                <m:t>𝐷</m:t>
                              </m:r>
                            </m:e>
                          </m:d>
                        </m:den>
                      </m:f>
                    </m:oMath>
                  </m:oMathPara>
                </a14:m>
                <a:endParaRPr lang="en-US" sz="1400" dirty="0"/>
              </a:p>
              <a:p>
                <a:r>
                  <a:rPr lang="en-US" sz="1400" dirty="0"/>
                  <a:t>or equivalently, calculate log-likelihood</a:t>
                </a:r>
              </a:p>
              <a:p>
                <a:pPr/>
                <a14:m>
                  <m:oMathPara xmlns:m="http://schemas.openxmlformats.org/officeDocument/2006/math">
                    <m:oMathParaPr>
                      <m:jc m:val="centerGroup"/>
                    </m:oMathParaPr>
                    <m:oMath xmlns:m="http://schemas.openxmlformats.org/officeDocument/2006/math">
                      <m:func>
                        <m:funcPr>
                          <m:ctrlPr>
                            <a:rPr lang="en-US" sz="1400" b="0" i="1" smtClean="0">
                              <a:latin typeface="Cambria Math" panose="02040503050406030204" pitchFamily="18" charset="0"/>
                              <a:ea typeface="Cambria Math" panose="02040503050406030204" pitchFamily="18" charset="0"/>
                            </a:rPr>
                          </m:ctrlPr>
                        </m:funcPr>
                        <m:fName>
                          <m:r>
                            <m:rPr>
                              <m:sty m:val="p"/>
                            </m:rPr>
                            <a:rPr lang="en-US" sz="1400" b="0" i="0" smtClean="0">
                              <a:latin typeface="Cambria Math" panose="02040503050406030204" pitchFamily="18" charset="0"/>
                              <a:ea typeface="Cambria Math" panose="02040503050406030204" pitchFamily="18" charset="0"/>
                            </a:rPr>
                            <m:t>log</m:t>
                          </m:r>
                        </m:fName>
                        <m:e>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𝐿𝑅</m:t>
                              </m:r>
                            </m:e>
                          </m:d>
                        </m:e>
                      </m:func>
                    </m:oMath>
                  </m:oMathPara>
                </a14:m>
                <a:endParaRPr lang="en-US" sz="1400" dirty="0"/>
              </a:p>
            </p:txBody>
          </p:sp>
        </mc:Choice>
        <mc:Fallback xmlns="">
          <p:sp>
            <p:nvSpPr>
              <p:cNvPr id="19" name="TextBox 18">
                <a:extLst>
                  <a:ext uri="{FF2B5EF4-FFF2-40B4-BE49-F238E27FC236}">
                    <a16:creationId xmlns:a16="http://schemas.microsoft.com/office/drawing/2014/main" id="{6680014D-6278-D30C-FD81-480404331B50}"/>
                  </a:ext>
                </a:extLst>
              </p:cNvPr>
              <p:cNvSpPr txBox="1">
                <a:spLocks noRot="1" noChangeAspect="1" noMove="1" noResize="1" noEditPoints="1" noAdjustHandles="1" noChangeArrowheads="1" noChangeShapeType="1" noTextEdit="1"/>
              </p:cNvSpPr>
              <p:nvPr/>
            </p:nvSpPr>
            <p:spPr>
              <a:xfrm>
                <a:off x="575708" y="5822018"/>
                <a:ext cx="3657642" cy="1184235"/>
              </a:xfrm>
              <a:prstGeom prst="rect">
                <a:avLst/>
              </a:prstGeom>
              <a:blipFill>
                <a:blip r:embed="rId6"/>
                <a:stretch>
                  <a:fillRect l="-692" t="-1064" b="-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3465FE0-0C4C-031F-EC21-57EBF96BB129}"/>
                  </a:ext>
                </a:extLst>
              </p:cNvPr>
              <p:cNvSpPr txBox="1"/>
              <p:nvPr/>
            </p:nvSpPr>
            <p:spPr>
              <a:xfrm>
                <a:off x="575708" y="7362064"/>
                <a:ext cx="3197639" cy="954107"/>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sz="1400" i="1" smtClean="0">
                        <a:latin typeface="Cambria Math" panose="02040503050406030204" pitchFamily="18" charset="0"/>
                        <a:ea typeface="Cambria Math" panose="02040503050406030204" pitchFamily="18" charset="0"/>
                      </a:rPr>
                      <m:t>𝐿𝑅</m:t>
                    </m:r>
                    <m:r>
                      <a:rPr lang="en-US" sz="1400" b="0" i="1" smtClean="0">
                        <a:latin typeface="Cambria Math" panose="02040503050406030204" pitchFamily="18" charset="0"/>
                        <a:ea typeface="Cambria Math" panose="02040503050406030204" pitchFamily="18" charset="0"/>
                      </a:rPr>
                      <m:t>&gt;</m:t>
                    </m:r>
                    <m:r>
                      <a:rPr lang="en-US" sz="1400" i="1">
                        <a:latin typeface="Cambria Math" panose="02040503050406030204" pitchFamily="18" charset="0"/>
                        <a:ea typeface="Cambria Math" panose="02040503050406030204" pitchFamily="18" charset="0"/>
                      </a:rPr>
                      <m:t>1</m:t>
                    </m:r>
                  </m:oMath>
                </a14:m>
                <a:r>
                  <a:rPr lang="en-US" sz="1400" b="1" dirty="0"/>
                  <a:t> or </a:t>
                </a:r>
                <a14:m>
                  <m:oMath xmlns:m="http://schemas.openxmlformats.org/officeDocument/2006/math">
                    <m:func>
                      <m:funcPr>
                        <m:ctrlPr>
                          <a:rPr lang="en-US" sz="1400" i="1">
                            <a:latin typeface="Cambria Math" panose="02040503050406030204" pitchFamily="18" charset="0"/>
                            <a:ea typeface="Cambria Math" panose="02040503050406030204" pitchFamily="18" charset="0"/>
                          </a:rPr>
                        </m:ctrlPr>
                      </m:funcPr>
                      <m:fName>
                        <m:r>
                          <m:rPr>
                            <m:sty m:val="p"/>
                          </m:rPr>
                          <a:rPr lang="en-US" sz="1400">
                            <a:latin typeface="Cambria Math" panose="02040503050406030204" pitchFamily="18" charset="0"/>
                            <a:ea typeface="Cambria Math" panose="02040503050406030204" pitchFamily="18" charset="0"/>
                          </a:rPr>
                          <m:t>log</m:t>
                        </m:r>
                      </m:fName>
                      <m:e>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𝐿𝑅</m:t>
                            </m:r>
                          </m:e>
                        </m:d>
                      </m:e>
                    </m:func>
                    <m:r>
                      <a:rPr lang="en-US" sz="1400" i="1">
                        <a:latin typeface="Cambria Math" panose="02040503050406030204" pitchFamily="18" charset="0"/>
                        <a:ea typeface="Cambria Math" panose="02040503050406030204" pitchFamily="18" charset="0"/>
                      </a:rPr>
                      <m:t> &lt;0</m:t>
                    </m:r>
                  </m:oMath>
                </a14:m>
                <a:r>
                  <a:rPr lang="en-US" sz="1400" dirty="0"/>
                  <a:t>: Model 1 better explains the data</a:t>
                </a:r>
                <a:endParaRPr lang="en-US" sz="1400" b="0" i="1"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US" sz="1400" b="0" i="1" smtClean="0">
                        <a:latin typeface="Cambria Math" panose="02040503050406030204" pitchFamily="18" charset="0"/>
                        <a:ea typeface="Cambria Math" panose="02040503050406030204" pitchFamily="18" charset="0"/>
                      </a:rPr>
                      <m:t>𝐿𝑅</m:t>
                    </m:r>
                    <m:r>
                      <a:rPr lang="en-US" sz="1400" b="0" i="1" smtClean="0">
                        <a:latin typeface="Cambria Math" panose="02040503050406030204" pitchFamily="18" charset="0"/>
                        <a:ea typeface="Cambria Math" panose="02040503050406030204" pitchFamily="18" charset="0"/>
                      </a:rPr>
                      <m:t>&lt;1</m:t>
                    </m:r>
                  </m:oMath>
                </a14:m>
                <a:r>
                  <a:rPr lang="en-US" sz="1400" b="1" dirty="0"/>
                  <a:t> or </a:t>
                </a:r>
                <a14:m>
                  <m:oMath xmlns:m="http://schemas.openxmlformats.org/officeDocument/2006/math">
                    <m:func>
                      <m:funcPr>
                        <m:ctrlPr>
                          <a:rPr lang="en-US" sz="1400" i="1">
                            <a:latin typeface="Cambria Math" panose="02040503050406030204" pitchFamily="18" charset="0"/>
                            <a:ea typeface="Cambria Math" panose="02040503050406030204" pitchFamily="18" charset="0"/>
                          </a:rPr>
                        </m:ctrlPr>
                      </m:funcPr>
                      <m:fName>
                        <m:r>
                          <m:rPr>
                            <m:sty m:val="p"/>
                          </m:rPr>
                          <a:rPr lang="en-US" sz="1400">
                            <a:latin typeface="Cambria Math" panose="02040503050406030204" pitchFamily="18" charset="0"/>
                            <a:ea typeface="Cambria Math" panose="02040503050406030204" pitchFamily="18" charset="0"/>
                          </a:rPr>
                          <m:t>log</m:t>
                        </m:r>
                      </m:fName>
                      <m:e>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𝐿𝑅</m:t>
                            </m:r>
                          </m:e>
                        </m:d>
                      </m:e>
                    </m:func>
                    <m:r>
                      <a:rPr lang="en-US" sz="1400" i="1">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&gt;</m:t>
                    </m:r>
                    <m:r>
                      <a:rPr lang="en-US" sz="1400" b="0" i="1" smtClean="0">
                        <a:latin typeface="Cambria Math" panose="02040503050406030204" pitchFamily="18" charset="0"/>
                        <a:ea typeface="Cambria Math" panose="02040503050406030204" pitchFamily="18" charset="0"/>
                      </a:rPr>
                      <m:t>0</m:t>
                    </m:r>
                  </m:oMath>
                </a14:m>
                <a:r>
                  <a:rPr lang="en-US" sz="1400" dirty="0"/>
                  <a:t>: Model 2 better explains the data</a:t>
                </a:r>
              </a:p>
            </p:txBody>
          </p:sp>
        </mc:Choice>
        <mc:Fallback xmlns="">
          <p:sp>
            <p:nvSpPr>
              <p:cNvPr id="20" name="TextBox 19">
                <a:extLst>
                  <a:ext uri="{FF2B5EF4-FFF2-40B4-BE49-F238E27FC236}">
                    <a16:creationId xmlns:a16="http://schemas.microsoft.com/office/drawing/2014/main" id="{03465FE0-0C4C-031F-EC21-57EBF96BB129}"/>
                  </a:ext>
                </a:extLst>
              </p:cNvPr>
              <p:cNvSpPr txBox="1">
                <a:spLocks noRot="1" noChangeAspect="1" noMove="1" noResize="1" noEditPoints="1" noAdjustHandles="1" noChangeArrowheads="1" noChangeShapeType="1" noTextEdit="1"/>
              </p:cNvSpPr>
              <p:nvPr/>
            </p:nvSpPr>
            <p:spPr>
              <a:xfrm>
                <a:off x="575708" y="7362064"/>
                <a:ext cx="3197639" cy="954107"/>
              </a:xfrm>
              <a:prstGeom prst="rect">
                <a:avLst/>
              </a:prstGeom>
              <a:blipFill>
                <a:blip r:embed="rId7"/>
                <a:stretch>
                  <a:fillRect l="-395" t="-1316"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851A0F-52BE-87BE-ABFA-3992C7C5FF0A}"/>
                  </a:ext>
                </a:extLst>
              </p:cNvPr>
              <p:cNvSpPr txBox="1"/>
              <p:nvPr/>
            </p:nvSpPr>
            <p:spPr>
              <a:xfrm>
                <a:off x="8009848" y="2361386"/>
                <a:ext cx="527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accent5">
                                  <a:lumMod val="50000"/>
                                </a:schemeClr>
                              </a:solidFill>
                              <a:latin typeface="Cambria Math" panose="02040503050406030204" pitchFamily="18" charset="0"/>
                            </a:rPr>
                          </m:ctrlPr>
                        </m:sSubPr>
                        <m:e>
                          <m:r>
                            <m:rPr>
                              <m:sty m:val="p"/>
                            </m:rPr>
                            <a:rPr lang="en-US" i="1">
                              <a:solidFill>
                                <a:schemeClr val="accent5">
                                  <a:lumMod val="50000"/>
                                </a:schemeClr>
                              </a:solidFill>
                              <a:latin typeface="Cambria Math" panose="02040503050406030204" pitchFamily="18" charset="0"/>
                            </a:rPr>
                            <m:t>M</m:t>
                          </m:r>
                        </m:e>
                        <m:sub>
                          <m:r>
                            <a:rPr lang="en-US" b="0" i="1" smtClean="0">
                              <a:solidFill>
                                <a:schemeClr val="accent5">
                                  <a:lumMod val="50000"/>
                                </a:schemeClr>
                              </a:solidFill>
                              <a:latin typeface="Cambria Math" panose="02040503050406030204" pitchFamily="18" charset="0"/>
                            </a:rPr>
                            <m:t>1</m:t>
                          </m:r>
                        </m:sub>
                      </m:sSub>
                    </m:oMath>
                  </m:oMathPara>
                </a14:m>
                <a:endParaRPr lang="en-US" dirty="0">
                  <a:solidFill>
                    <a:schemeClr val="accent5">
                      <a:lumMod val="50000"/>
                    </a:schemeClr>
                  </a:solidFill>
                </a:endParaRPr>
              </a:p>
            </p:txBody>
          </p:sp>
        </mc:Choice>
        <mc:Fallback xmlns="">
          <p:sp>
            <p:nvSpPr>
              <p:cNvPr id="5" name="TextBox 4">
                <a:extLst>
                  <a:ext uri="{FF2B5EF4-FFF2-40B4-BE49-F238E27FC236}">
                    <a16:creationId xmlns:a16="http://schemas.microsoft.com/office/drawing/2014/main" id="{CC851A0F-52BE-87BE-ABFA-3992C7C5FF0A}"/>
                  </a:ext>
                </a:extLst>
              </p:cNvPr>
              <p:cNvSpPr txBox="1">
                <a:spLocks noRot="1" noChangeAspect="1" noMove="1" noResize="1" noEditPoints="1" noAdjustHandles="1" noChangeArrowheads="1" noChangeShapeType="1" noTextEdit="1"/>
              </p:cNvSpPr>
              <p:nvPr/>
            </p:nvSpPr>
            <p:spPr>
              <a:xfrm>
                <a:off x="8009848" y="2361386"/>
                <a:ext cx="527132"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697BA2-3C2A-2065-EFA7-8F6E1BC94262}"/>
                  </a:ext>
                </a:extLst>
              </p:cNvPr>
              <p:cNvSpPr txBox="1"/>
              <p:nvPr/>
            </p:nvSpPr>
            <p:spPr>
              <a:xfrm>
                <a:off x="8013739" y="1543218"/>
                <a:ext cx="5324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m:rPr>
                              <m:sty m:val="p"/>
                            </m:rPr>
                            <a:rPr lang="en-US" i="1">
                              <a:solidFill>
                                <a:srgbClr val="C00000"/>
                              </a:solidFill>
                              <a:latin typeface="Cambria Math" panose="02040503050406030204" pitchFamily="18" charset="0"/>
                            </a:rPr>
                            <m:t>M</m:t>
                          </m:r>
                        </m:e>
                        <m:sub>
                          <m:r>
                            <a:rPr lang="en-US" b="0" i="1" smtClean="0">
                              <a:solidFill>
                                <a:srgbClr val="C00000"/>
                              </a:solidFill>
                              <a:latin typeface="Cambria Math" panose="02040503050406030204" pitchFamily="18" charset="0"/>
                            </a:rPr>
                            <m:t>2</m:t>
                          </m:r>
                        </m:sub>
                      </m:sSub>
                    </m:oMath>
                  </m:oMathPara>
                </a14:m>
                <a:endParaRPr lang="en-US" dirty="0">
                  <a:solidFill>
                    <a:srgbClr val="C00000"/>
                  </a:solidFill>
                </a:endParaRPr>
              </a:p>
            </p:txBody>
          </p:sp>
        </mc:Choice>
        <mc:Fallback xmlns="">
          <p:sp>
            <p:nvSpPr>
              <p:cNvPr id="6" name="TextBox 5">
                <a:extLst>
                  <a:ext uri="{FF2B5EF4-FFF2-40B4-BE49-F238E27FC236}">
                    <a16:creationId xmlns:a16="http://schemas.microsoft.com/office/drawing/2014/main" id="{83697BA2-3C2A-2065-EFA7-8F6E1BC94262}"/>
                  </a:ext>
                </a:extLst>
              </p:cNvPr>
              <p:cNvSpPr txBox="1">
                <a:spLocks noRot="1" noChangeAspect="1" noMove="1" noResize="1" noEditPoints="1" noAdjustHandles="1" noChangeArrowheads="1" noChangeShapeType="1" noTextEdit="1"/>
              </p:cNvSpPr>
              <p:nvPr/>
            </p:nvSpPr>
            <p:spPr>
              <a:xfrm>
                <a:off x="8013739" y="1543218"/>
                <a:ext cx="532453" cy="369332"/>
              </a:xfrm>
              <a:prstGeom prst="rect">
                <a:avLst/>
              </a:prstGeom>
              <a:blipFill>
                <a:blip r:embed="rId11"/>
                <a:stretch>
                  <a:fillRect/>
                </a:stretch>
              </a:blipFill>
            </p:spPr>
            <p:txBody>
              <a:bodyPr/>
              <a:lstStyle/>
              <a:p>
                <a:r>
                  <a:rPr lang="en-US">
                    <a:noFill/>
                  </a:rPr>
                  <a:t> </a:t>
                </a:r>
              </a:p>
            </p:txBody>
          </p:sp>
        </mc:Fallback>
      </mc:AlternateContent>
      <p:sp>
        <p:nvSpPr>
          <p:cNvPr id="8" name="Rounded Rectangle 7">
            <a:extLst>
              <a:ext uri="{FF2B5EF4-FFF2-40B4-BE49-F238E27FC236}">
                <a16:creationId xmlns:a16="http://schemas.microsoft.com/office/drawing/2014/main" id="{452F9E88-A759-10D1-0E5B-7BC7A3C4B1AE}"/>
              </a:ext>
            </a:extLst>
          </p:cNvPr>
          <p:cNvSpPr/>
          <p:nvPr/>
        </p:nvSpPr>
        <p:spPr>
          <a:xfrm>
            <a:off x="4730717" y="4793493"/>
            <a:ext cx="4052913" cy="378334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TextBox 9">
            <a:extLst>
              <a:ext uri="{FF2B5EF4-FFF2-40B4-BE49-F238E27FC236}">
                <a16:creationId xmlns:a16="http://schemas.microsoft.com/office/drawing/2014/main" id="{1F88C126-E746-A5EC-CC79-A0FD374B382C}"/>
              </a:ext>
            </a:extLst>
          </p:cNvPr>
          <p:cNvSpPr txBox="1"/>
          <p:nvPr/>
        </p:nvSpPr>
        <p:spPr>
          <a:xfrm>
            <a:off x="4587699" y="4997257"/>
            <a:ext cx="4475988" cy="338554"/>
          </a:xfrm>
          <a:prstGeom prst="rect">
            <a:avLst/>
          </a:prstGeom>
          <a:noFill/>
        </p:spPr>
        <p:txBody>
          <a:bodyPr wrap="square" rtlCol="0" anchor="ctr">
            <a:spAutoFit/>
          </a:bodyPr>
          <a:lstStyle/>
          <a:p>
            <a:pPr algn="ctr"/>
            <a:r>
              <a:rPr lang="en-US" sz="1600" b="1" dirty="0"/>
              <a:t>Likelihood Ratio Test</a:t>
            </a:r>
            <a:endParaRPr lang="en-US" sz="160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33B205E-CE41-B50E-4DEE-8A407F370BE9}"/>
                  </a:ext>
                </a:extLst>
              </p:cNvPr>
              <p:cNvSpPr txBox="1"/>
              <p:nvPr/>
            </p:nvSpPr>
            <p:spPr>
              <a:xfrm>
                <a:off x="4879320" y="5422995"/>
                <a:ext cx="3813268" cy="8461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l-GR" sz="1200" b="0" i="1" smtClean="0">
                          <a:solidFill>
                            <a:schemeClr val="tx1"/>
                          </a:solidFill>
                          <a:latin typeface="Cambria Math" panose="02040503050406030204" pitchFamily="18" charset="0"/>
                          <a:ea typeface="Cambria Math" panose="02040503050406030204" pitchFamily="18" charset="0"/>
                        </a:rPr>
                        <m:t>Λ</m:t>
                      </m:r>
                      <m:r>
                        <a:rPr lang="en-US" sz="1200" b="0" i="1" smtClean="0">
                          <a:solidFill>
                            <a:schemeClr val="tx1"/>
                          </a:solidFill>
                          <a:latin typeface="Cambria Math" panose="02040503050406030204" pitchFamily="18" charset="0"/>
                          <a:ea typeface="Cambria Math" panose="02040503050406030204" pitchFamily="18" charset="0"/>
                        </a:rPr>
                        <m:t>=−2</m:t>
                      </m:r>
                      <m:func>
                        <m:funcPr>
                          <m:ctrlPr>
                            <a:rPr lang="en-US" sz="12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1200" b="0" i="0" smtClean="0">
                              <a:solidFill>
                                <a:schemeClr val="tx1"/>
                              </a:solidFill>
                              <a:latin typeface="Cambria Math" panose="02040503050406030204" pitchFamily="18" charset="0"/>
                              <a:ea typeface="Cambria Math" panose="02040503050406030204" pitchFamily="18" charset="0"/>
                            </a:rPr>
                            <m:t>l</m:t>
                          </m:r>
                          <m:r>
                            <m:rPr>
                              <m:sty m:val="p"/>
                            </m:rPr>
                            <a:rPr lang="en-US" sz="1200" b="0" i="1" smtClean="0">
                              <a:solidFill>
                                <a:schemeClr val="tx1"/>
                              </a:solidFill>
                              <a:latin typeface="Cambria Math" panose="02040503050406030204" pitchFamily="18" charset="0"/>
                              <a:ea typeface="Cambria Math" panose="02040503050406030204" pitchFamily="18" charset="0"/>
                            </a:rPr>
                            <m:t>og</m:t>
                          </m:r>
                        </m:fName>
                        <m:e>
                          <m:f>
                            <m:fPr>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ℒ</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0</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num>
                            <m:den>
                              <m:r>
                                <a:rPr lang="en-US" sz="1200" i="1">
                                  <a:latin typeface="Cambria Math" panose="02040503050406030204" pitchFamily="18" charset="0"/>
                                  <a:ea typeface="Cambria Math" panose="02040503050406030204" pitchFamily="18" charset="0"/>
                                </a:rPr>
                                <m:t>ℒ</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den>
                          </m:f>
                        </m:e>
                      </m:func>
                      <m:r>
                        <a:rPr lang="en-US" sz="1200" b="0" i="1" smtClean="0">
                          <a:solidFill>
                            <a:schemeClr val="tx1"/>
                          </a:solidFill>
                          <a:latin typeface="Cambria Math" panose="02040503050406030204" pitchFamily="18" charset="0"/>
                          <a:ea typeface="Cambria Math" panose="02040503050406030204" pitchFamily="18" charset="0"/>
                        </a:rPr>
                        <m:t>=−2[</m:t>
                      </m:r>
                      <m:func>
                        <m:funcPr>
                          <m:ctrlPr>
                            <a:rPr lang="en-US" sz="1200" b="0" i="1" smtClean="0">
                              <a:solidFill>
                                <a:schemeClr val="tx1"/>
                              </a:solidFill>
                              <a:latin typeface="Cambria Math" panose="02040503050406030204" pitchFamily="18" charset="0"/>
                              <a:ea typeface="Cambria Math" panose="02040503050406030204" pitchFamily="18" charset="0"/>
                            </a:rPr>
                          </m:ctrlPr>
                        </m:funcPr>
                        <m:fName>
                          <m:r>
                            <a:rPr lang="en-US" sz="1200">
                              <a:latin typeface="Cambria Math" panose="02040503050406030204" pitchFamily="18" charset="0"/>
                              <a:ea typeface="Cambria Math" panose="02040503050406030204" pitchFamily="18" charset="0"/>
                            </a:rPr>
                            <m:t>ℓ</m:t>
                          </m:r>
                        </m:fName>
                        <m:e>
                          <m:sSub>
                            <m:sSubPr>
                              <m:ctrlPr>
                                <a:rPr lang="en-US" sz="1200" i="1">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0</m:t>
                              </m:r>
                            </m:sub>
                          </m:sSub>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r>
                            <a:rPr lang="en-US" sz="1200" b="0" i="1" smtClean="0">
                              <a:latin typeface="Cambria Math" panose="02040503050406030204" pitchFamily="18" charset="0"/>
                              <a:ea typeface="Cambria Math" panose="02040503050406030204" pitchFamily="18" charset="0"/>
                            </a:rPr>
                            <m:t>)</m:t>
                          </m:r>
                        </m:e>
                      </m:func>
                      <m:r>
                        <a:rPr lang="en-US" sz="1200" b="0" i="1" smtClean="0">
                          <a:solidFill>
                            <a:schemeClr val="tx1"/>
                          </a:solidFill>
                          <a:latin typeface="Cambria Math" panose="02040503050406030204" pitchFamily="18" charset="0"/>
                          <a:ea typeface="Cambria Math" panose="02040503050406030204" pitchFamily="18" charset="0"/>
                        </a:rPr>
                        <m:t>−</m:t>
                      </m:r>
                      <m:func>
                        <m:funcPr>
                          <m:ctrlPr>
                            <a:rPr lang="en-US" sz="1200" i="1">
                              <a:latin typeface="Cambria Math" panose="02040503050406030204" pitchFamily="18" charset="0"/>
                              <a:ea typeface="Cambria Math" panose="02040503050406030204" pitchFamily="18" charset="0"/>
                            </a:rPr>
                          </m:ctrlPr>
                        </m:funcPr>
                        <m:fName>
                          <m:r>
                            <a:rPr lang="en-US" sz="1200">
                              <a:latin typeface="Cambria Math" panose="02040503050406030204" pitchFamily="18" charset="0"/>
                              <a:ea typeface="Cambria Math" panose="02040503050406030204" pitchFamily="18" charset="0"/>
                            </a:rPr>
                            <m:t>ℓ</m:t>
                          </m:r>
                        </m:fName>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e>
                      </m:func>
                      <m:r>
                        <a:rPr lang="en-US" sz="1200" b="0" i="1" smtClean="0">
                          <a:solidFill>
                            <a:schemeClr val="tx1"/>
                          </a:solidFill>
                          <a:latin typeface="Cambria Math" panose="02040503050406030204" pitchFamily="18" charset="0"/>
                          <a:ea typeface="Cambria Math" panose="02040503050406030204" pitchFamily="18" charset="0"/>
                        </a:rPr>
                        <m:t>]</m:t>
                      </m:r>
                    </m:oMath>
                  </m:oMathPara>
                </a14:m>
                <a:endParaRPr lang="en-US" sz="1200" dirty="0">
                  <a:solidFill>
                    <a:schemeClr val="tx1"/>
                  </a:solidFill>
                </a:endParaRPr>
              </a:p>
              <a:p>
                <a:pPr marL="171450" indent="-171450">
                  <a:buFont typeface="Arial" panose="020B0604020202020204" pitchFamily="34" charset="0"/>
                  <a:buChar char="•"/>
                </a:pPr>
                <a14:m>
                  <m:oMath xmlns:m="http://schemas.openxmlformats.org/officeDocument/2006/math">
                    <m:r>
                      <a:rPr lang="en-US" sz="1200" i="1">
                        <a:latin typeface="Cambria Math" panose="02040503050406030204" pitchFamily="18" charset="0"/>
                        <a:ea typeface="Cambria Math" panose="02040503050406030204" pitchFamily="18" charset="0"/>
                      </a:rPr>
                      <m:t>ℒ</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0</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oMath>
                </a14:m>
                <a:r>
                  <a:rPr lang="en-US" sz="1200" dirty="0"/>
                  <a:t>: likelihood of</a:t>
                </a:r>
                <a:r>
                  <a:rPr lang="en-US" sz="1200" dirty="0">
                    <a:ea typeface="Cambria Math" panose="02040503050406030204" pitchFamily="18" charset="0"/>
                  </a:rPr>
                  <a:t> </a:t>
                </a: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0</m:t>
                        </m:r>
                      </m:sub>
                    </m:sSub>
                  </m:oMath>
                </a14:m>
                <a:r>
                  <a:rPr lang="en-US" sz="1200" dirty="0"/>
                  <a:t> given data </a:t>
                </a:r>
                <a14:m>
                  <m:oMath xmlns:m="http://schemas.openxmlformats.org/officeDocument/2006/math">
                    <m:r>
                      <a:rPr lang="en-US" sz="1200" i="1">
                        <a:latin typeface="Cambria Math" panose="02040503050406030204" pitchFamily="18" charset="0"/>
                        <a:ea typeface="Cambria Math" panose="02040503050406030204" pitchFamily="18" charset="0"/>
                      </a:rPr>
                      <m:t>𝐷</m:t>
                    </m:r>
                  </m:oMath>
                </a14:m>
                <a:r>
                  <a:rPr lang="en-US" sz="1200" dirty="0">
                    <a:solidFill>
                      <a:schemeClr val="tx1"/>
                    </a:solidFill>
                  </a:rPr>
                  <a:t> (null)</a:t>
                </a:r>
              </a:p>
              <a:p>
                <a:pPr marL="171450" indent="-171450">
                  <a:buFont typeface="Arial" panose="020B0604020202020204" pitchFamily="34" charset="0"/>
                  <a:buChar char="•"/>
                </a:pPr>
                <a14:m>
                  <m:oMath xmlns:m="http://schemas.openxmlformats.org/officeDocument/2006/math">
                    <m:r>
                      <a:rPr lang="en-US" sz="1200" i="1">
                        <a:latin typeface="Cambria Math" panose="02040503050406030204" pitchFamily="18" charset="0"/>
                        <a:ea typeface="Cambria Math" panose="02040503050406030204" pitchFamily="18" charset="0"/>
                      </a:rPr>
                      <m:t>ℒ</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oMath>
                </a14:m>
                <a:r>
                  <a:rPr lang="en-US" sz="1200" dirty="0"/>
                  <a:t>: likelihood of</a:t>
                </a:r>
                <a:r>
                  <a:rPr lang="en-US" sz="1200" dirty="0">
                    <a:ea typeface="Cambria Math" panose="02040503050406030204" pitchFamily="18" charset="0"/>
                  </a:rPr>
                  <a:t> </a:t>
                </a: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1</m:t>
                        </m:r>
                      </m:sub>
                    </m:sSub>
                  </m:oMath>
                </a14:m>
                <a:r>
                  <a:rPr lang="en-US" sz="1200" dirty="0"/>
                  <a:t> given data </a:t>
                </a:r>
                <a14:m>
                  <m:oMath xmlns:m="http://schemas.openxmlformats.org/officeDocument/2006/math">
                    <m:r>
                      <a:rPr lang="en-US" sz="1200" i="1">
                        <a:latin typeface="Cambria Math" panose="02040503050406030204" pitchFamily="18" charset="0"/>
                        <a:ea typeface="Cambria Math" panose="02040503050406030204" pitchFamily="18" charset="0"/>
                      </a:rPr>
                      <m:t>𝐷</m:t>
                    </m:r>
                  </m:oMath>
                </a14:m>
                <a:r>
                  <a:rPr lang="en-US" sz="1200" dirty="0"/>
                  <a:t> (alternative)</a:t>
                </a:r>
              </a:p>
            </p:txBody>
          </p:sp>
        </mc:Choice>
        <mc:Fallback xmlns="">
          <p:sp>
            <p:nvSpPr>
              <p:cNvPr id="24" name="TextBox 23">
                <a:extLst>
                  <a:ext uri="{FF2B5EF4-FFF2-40B4-BE49-F238E27FC236}">
                    <a16:creationId xmlns:a16="http://schemas.microsoft.com/office/drawing/2014/main" id="{B33B205E-CE41-B50E-4DEE-8A407F370BE9}"/>
                  </a:ext>
                </a:extLst>
              </p:cNvPr>
              <p:cNvSpPr txBox="1">
                <a:spLocks noRot="1" noChangeAspect="1" noMove="1" noResize="1" noEditPoints="1" noAdjustHandles="1" noChangeArrowheads="1" noChangeShapeType="1" noTextEdit="1"/>
              </p:cNvSpPr>
              <p:nvPr/>
            </p:nvSpPr>
            <p:spPr>
              <a:xfrm>
                <a:off x="4879320" y="5422995"/>
                <a:ext cx="3813268" cy="846129"/>
              </a:xfrm>
              <a:prstGeom prst="rect">
                <a:avLst/>
              </a:prstGeom>
              <a:blipFill>
                <a:blip r:embed="rId12"/>
                <a:stretch>
                  <a:fillRect b="-4478"/>
                </a:stretch>
              </a:blipFill>
            </p:spPr>
            <p:txBody>
              <a:bodyPr/>
              <a:lstStyle/>
              <a:p>
                <a:r>
                  <a:rPr lang="en-US">
                    <a:noFill/>
                  </a:rPr>
                  <a:t> </a:t>
                </a:r>
              </a:p>
            </p:txBody>
          </p:sp>
        </mc:Fallback>
      </mc:AlternateContent>
      <p:pic>
        <p:nvPicPr>
          <p:cNvPr id="26" name="Picture 25">
            <a:extLst>
              <a:ext uri="{FF2B5EF4-FFF2-40B4-BE49-F238E27FC236}">
                <a16:creationId xmlns:a16="http://schemas.microsoft.com/office/drawing/2014/main" id="{87978504-3AC2-A475-3FF4-FCFB2E9611D2}"/>
              </a:ext>
            </a:extLst>
          </p:cNvPr>
          <p:cNvPicPr>
            <a:picLocks noChangeAspect="1"/>
          </p:cNvPicPr>
          <p:nvPr/>
        </p:nvPicPr>
        <p:blipFill>
          <a:blip r:embed="rId13"/>
          <a:srcRect/>
          <a:stretch/>
        </p:blipFill>
        <p:spPr>
          <a:xfrm>
            <a:off x="4776592" y="6215607"/>
            <a:ext cx="3860485" cy="2316291"/>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D7142DC-5915-4DC9-BEB3-CEA9B04B990F}"/>
                  </a:ext>
                </a:extLst>
              </p:cNvPr>
              <p:cNvSpPr txBox="1"/>
              <p:nvPr/>
            </p:nvSpPr>
            <p:spPr>
              <a:xfrm>
                <a:off x="5441848" y="6352435"/>
                <a:ext cx="3442422" cy="1384995"/>
              </a:xfrm>
              <a:prstGeom prst="rect">
                <a:avLst/>
              </a:prstGeom>
              <a:noFill/>
            </p:spPr>
            <p:txBody>
              <a:bodyPr wrap="square" rtlCol="0">
                <a:spAutoFit/>
              </a:bodyPr>
              <a:lstStyle/>
              <a:p>
                <a:pPr marL="171450" indent="-171450">
                  <a:buFont typeface="Arial" panose="020B0604020202020204" pitchFamily="34" charset="0"/>
                  <a:buChar char="•"/>
                </a:pPr>
                <a:r>
                  <a:rPr lang="en-US" sz="1400" dirty="0"/>
                  <a:t>Must be nested models</a:t>
                </a:r>
                <a:endParaRPr lang="en-US" sz="1400"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r>
                      <m:rPr>
                        <m:sty m:val="p"/>
                      </m:rPr>
                      <a:rPr lang="el-GR" sz="1400" i="1">
                        <a:latin typeface="Cambria Math" panose="02040503050406030204" pitchFamily="18" charset="0"/>
                        <a:ea typeface="Cambria Math" panose="02040503050406030204" pitchFamily="18" charset="0"/>
                      </a:rPr>
                      <m:t>Λ</m:t>
                    </m:r>
                  </m:oMath>
                </a14:m>
                <a:r>
                  <a:rPr lang="en-US" sz="1400" dirty="0"/>
                  <a:t> asymptotically follows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𝜒</m:t>
                        </m:r>
                      </m:e>
                      <m:sup>
                        <m:r>
                          <a:rPr lang="en-US" sz="1400" i="1">
                            <a:latin typeface="Cambria Math" panose="02040503050406030204" pitchFamily="18" charset="0"/>
                          </a:rPr>
                          <m:t>2</m:t>
                        </m:r>
                      </m:sup>
                    </m:sSup>
                  </m:oMath>
                </a14:m>
                <a:r>
                  <a:rPr lang="en-US" sz="1400" dirty="0"/>
                  <a:t> distribution</a:t>
                </a:r>
              </a:p>
              <a:p>
                <a:pPr marL="171450" indent="-171450">
                  <a:buFont typeface="Arial" panose="020B0604020202020204" pitchFamily="34" charset="0"/>
                  <a:buChar char="•"/>
                </a:pPr>
                <a:r>
                  <a:rPr lang="en-US" sz="1400" dirty="0"/>
                  <a:t>Degree of freedom (</a:t>
                </a:r>
                <a:r>
                  <a:rPr lang="en-US" sz="1400" dirty="0" err="1"/>
                  <a:t>df</a:t>
                </a:r>
                <a:r>
                  <a:rPr lang="en-US" sz="1400" dirty="0"/>
                  <a:t>) is</a:t>
                </a:r>
                <a:endParaRPr lang="en-US" sz="1400" i="1" dirty="0">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sz="1400" i="1" dirty="0">
                          <a:latin typeface="Cambria Math" panose="02040503050406030204" pitchFamily="18" charset="0"/>
                        </a:rPr>
                        <m:t> </m:t>
                      </m:r>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dim</m:t>
                          </m:r>
                        </m:fName>
                        <m:e>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Θ</m:t>
                                  </m:r>
                                </m:e>
                                <m:sub>
                                  <m:r>
                                    <a:rPr lang="en-US" sz="1400" i="1">
                                      <a:latin typeface="Cambria Math" panose="02040503050406030204" pitchFamily="18" charset="0"/>
                                    </a:rPr>
                                    <m:t>1</m:t>
                                  </m:r>
                                </m:sub>
                              </m:sSub>
                            </m:e>
                          </m:d>
                        </m:e>
                      </m:func>
                      <m:r>
                        <a:rPr lang="en-US" sz="1400" i="1">
                          <a:latin typeface="Cambria Math" panose="02040503050406030204" pitchFamily="18" charset="0"/>
                          <a:ea typeface="Cambria Math" panose="02040503050406030204" pitchFamily="18" charset="0"/>
                        </a:rPr>
                        <m:t>−</m:t>
                      </m:r>
                      <m:func>
                        <m:funcPr>
                          <m:ctrlPr>
                            <a:rPr lang="en-US" sz="1400" i="1">
                              <a:latin typeface="Cambria Math" panose="02040503050406030204" pitchFamily="18" charset="0"/>
                              <a:ea typeface="Cambria Math" panose="02040503050406030204" pitchFamily="18" charset="0"/>
                            </a:rPr>
                          </m:ctrlPr>
                        </m:funcPr>
                        <m:fName>
                          <m:r>
                            <m:rPr>
                              <m:sty m:val="p"/>
                            </m:rPr>
                            <a:rPr lang="en-US" sz="1400">
                              <a:latin typeface="Cambria Math" panose="02040503050406030204" pitchFamily="18" charset="0"/>
                              <a:ea typeface="Cambria Math" panose="02040503050406030204" pitchFamily="18" charset="0"/>
                            </a:rPr>
                            <m:t>dim</m:t>
                          </m:r>
                        </m:fName>
                        <m:e>
                          <m:d>
                            <m:dPr>
                              <m:ctrlPr>
                                <a:rPr lang="en-US" sz="1400" i="1">
                                  <a:latin typeface="Cambria Math" panose="02040503050406030204" pitchFamily="18" charset="0"/>
                                  <a:ea typeface="Cambria Math" panose="02040503050406030204" pitchFamily="18" charset="0"/>
                                </a:rPr>
                              </m:ctrlPr>
                            </m:dPr>
                            <m:e>
                              <m:sSub>
                                <m:sSubPr>
                                  <m:ctrlPr>
                                    <a:rPr lang="en-US" sz="1400" i="1">
                                      <a:latin typeface="Cambria Math" panose="02040503050406030204" pitchFamily="18" charset="0"/>
                                      <a:ea typeface="Cambria Math" panose="02040503050406030204" pitchFamily="18" charset="0"/>
                                    </a:rPr>
                                  </m:ctrlPr>
                                </m:sSubPr>
                                <m:e>
                                  <m:r>
                                    <m:rPr>
                                      <m:sty m:val="p"/>
                                    </m:rPr>
                                    <a:rPr lang="el-GR" sz="1400" i="1">
                                      <a:latin typeface="Cambria Math" panose="02040503050406030204" pitchFamily="18" charset="0"/>
                                      <a:ea typeface="Cambria Math" panose="02040503050406030204" pitchFamily="18" charset="0"/>
                                    </a:rPr>
                                    <m:t>Θ</m:t>
                                  </m:r>
                                </m:e>
                                <m:sub>
                                  <m:r>
                                    <a:rPr lang="en-US" sz="1400" i="1">
                                      <a:latin typeface="Cambria Math" panose="02040503050406030204" pitchFamily="18" charset="0"/>
                                      <a:ea typeface="Cambria Math" panose="02040503050406030204" pitchFamily="18" charset="0"/>
                                    </a:rPr>
                                    <m:t>0</m:t>
                                  </m:r>
                                </m:sub>
                              </m:sSub>
                            </m:e>
                          </m:d>
                        </m:e>
                      </m:func>
                    </m:oMath>
                  </m:oMathPara>
                </a14:m>
                <a:endParaRPr lang="en-US" sz="1400" dirty="0">
                  <a:ea typeface="Cambria Math" panose="02040503050406030204" pitchFamily="18" charset="0"/>
                </a:endParaRPr>
              </a:p>
              <a:p>
                <a:pPr marL="171450" indent="-171450">
                  <a:buFont typeface="Arial" panose="020B0604020202020204" pitchFamily="34" charset="0"/>
                  <a:buChar char="•"/>
                </a:pPr>
                <a:r>
                  <a:rPr lang="en-US" sz="1400" dirty="0"/>
                  <a:t>Compare </a:t>
                </a:r>
                <a14:m>
                  <m:oMath xmlns:m="http://schemas.openxmlformats.org/officeDocument/2006/math">
                    <m:r>
                      <m:rPr>
                        <m:sty m:val="p"/>
                      </m:rPr>
                      <a:rPr lang="el-GR" sz="1400" i="1">
                        <a:latin typeface="Cambria Math" panose="02040503050406030204" pitchFamily="18" charset="0"/>
                        <a:ea typeface="Cambria Math" panose="02040503050406030204" pitchFamily="18" charset="0"/>
                      </a:rPr>
                      <m:t>Λ</m:t>
                    </m:r>
                    <m:r>
                      <a:rPr lang="el-GR" sz="1400" i="1">
                        <a:latin typeface="Cambria Math" panose="02040503050406030204" pitchFamily="18" charset="0"/>
                        <a:ea typeface="Cambria Math" panose="02040503050406030204" pitchFamily="18" charset="0"/>
                      </a:rPr>
                      <m:t> </m:t>
                    </m:r>
                  </m:oMath>
                </a14:m>
                <a:r>
                  <a:rPr lang="en-US" sz="1400" dirty="0"/>
                  <a:t>in LRT to the critical value based on significance level to reject </a:t>
                </a:r>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𝐻</m:t>
                        </m:r>
                      </m:e>
                      <m:sub>
                        <m:r>
                          <a:rPr lang="en-US" sz="1400" i="1">
                            <a:latin typeface="Cambria Math" panose="02040503050406030204" pitchFamily="18" charset="0"/>
                            <a:ea typeface="Cambria Math" panose="02040503050406030204" pitchFamily="18" charset="0"/>
                          </a:rPr>
                          <m:t>0</m:t>
                        </m:r>
                      </m:sub>
                    </m:sSub>
                  </m:oMath>
                </a14:m>
                <a:endParaRPr lang="en-US" sz="1400" dirty="0"/>
              </a:p>
            </p:txBody>
          </p:sp>
        </mc:Choice>
        <mc:Fallback xmlns="">
          <p:sp>
            <p:nvSpPr>
              <p:cNvPr id="27" name="TextBox 26">
                <a:extLst>
                  <a:ext uri="{FF2B5EF4-FFF2-40B4-BE49-F238E27FC236}">
                    <a16:creationId xmlns:a16="http://schemas.microsoft.com/office/drawing/2014/main" id="{2D7142DC-5915-4DC9-BEB3-CEA9B04B990F}"/>
                  </a:ext>
                </a:extLst>
              </p:cNvPr>
              <p:cNvSpPr txBox="1">
                <a:spLocks noRot="1" noChangeAspect="1" noMove="1" noResize="1" noEditPoints="1" noAdjustHandles="1" noChangeArrowheads="1" noChangeShapeType="1" noTextEdit="1"/>
              </p:cNvSpPr>
              <p:nvPr/>
            </p:nvSpPr>
            <p:spPr>
              <a:xfrm>
                <a:off x="5441848" y="6352435"/>
                <a:ext cx="3442422" cy="1384995"/>
              </a:xfrm>
              <a:prstGeom prst="rect">
                <a:avLst/>
              </a:prstGeom>
              <a:blipFill>
                <a:blip r:embed="rId14"/>
                <a:stretch>
                  <a:fillRect l="-368" t="-909" b="-3636"/>
                </a:stretch>
              </a:blipFill>
            </p:spPr>
            <p:txBody>
              <a:bodyPr/>
              <a:lstStyle/>
              <a:p>
                <a:r>
                  <a:rPr lang="en-US">
                    <a:noFill/>
                  </a:rPr>
                  <a:t> </a:t>
                </a:r>
              </a:p>
            </p:txBody>
          </p:sp>
        </mc:Fallback>
      </mc:AlternateContent>
    </p:spTree>
    <p:extLst>
      <p:ext uri="{BB962C8B-B14F-4D97-AF65-F5344CB8AC3E}">
        <p14:creationId xmlns:p14="http://schemas.microsoft.com/office/powerpoint/2010/main" val="3981718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4837E-E71C-C9AE-521C-5E2B0236DC6E}"/>
            </a:ext>
          </a:extLst>
        </p:cNvPr>
        <p:cNvGrpSpPr/>
        <p:nvPr/>
      </p:nvGrpSpPr>
      <p:grpSpPr>
        <a:xfrm>
          <a:off x="0" y="0"/>
          <a:ext cx="0" cy="0"/>
          <a:chOff x="0" y="0"/>
          <a:chExt cx="0" cy="0"/>
        </a:xfrm>
      </p:grpSpPr>
      <p:sp>
        <p:nvSpPr>
          <p:cNvPr id="42" name="Rounded Rectangle 41">
            <a:extLst>
              <a:ext uri="{FF2B5EF4-FFF2-40B4-BE49-F238E27FC236}">
                <a16:creationId xmlns:a16="http://schemas.microsoft.com/office/drawing/2014/main" id="{08953BC6-CB42-F5A5-CF35-2D6A03507063}"/>
              </a:ext>
            </a:extLst>
          </p:cNvPr>
          <p:cNvSpPr/>
          <p:nvPr/>
        </p:nvSpPr>
        <p:spPr>
          <a:xfrm>
            <a:off x="451413" y="6565453"/>
            <a:ext cx="8241174" cy="235351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66F85145-5D62-3BE5-856B-9E4EABAF67EB}"/>
              </a:ext>
            </a:extLst>
          </p:cNvPr>
          <p:cNvSpPr txBox="1"/>
          <p:nvPr/>
        </p:nvSpPr>
        <p:spPr>
          <a:xfrm>
            <a:off x="2334006" y="139038"/>
            <a:ext cx="4475988" cy="400110"/>
          </a:xfrm>
          <a:prstGeom prst="rect">
            <a:avLst/>
          </a:prstGeom>
          <a:noFill/>
        </p:spPr>
        <p:txBody>
          <a:bodyPr wrap="square" rtlCol="0" anchor="ctr">
            <a:spAutoFit/>
          </a:bodyPr>
          <a:lstStyle/>
          <a:p>
            <a:pPr algn="ctr"/>
            <a:r>
              <a:rPr lang="en-US" sz="2000" b="1" dirty="0"/>
              <a:t>Expectation-Maximum (EM) Algorithm</a:t>
            </a:r>
          </a:p>
        </p:txBody>
      </p:sp>
      <p:sp>
        <p:nvSpPr>
          <p:cNvPr id="7" name="Rounded Rectangle 6">
            <a:extLst>
              <a:ext uri="{FF2B5EF4-FFF2-40B4-BE49-F238E27FC236}">
                <a16:creationId xmlns:a16="http://schemas.microsoft.com/office/drawing/2014/main" id="{894CEBB1-239D-B61A-8073-DA7C655CB48D}"/>
              </a:ext>
            </a:extLst>
          </p:cNvPr>
          <p:cNvSpPr/>
          <p:nvPr/>
        </p:nvSpPr>
        <p:spPr>
          <a:xfrm>
            <a:off x="451413" y="4027247"/>
            <a:ext cx="8241174" cy="235351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Rounded Rectangle 9">
            <a:extLst>
              <a:ext uri="{FF2B5EF4-FFF2-40B4-BE49-F238E27FC236}">
                <a16:creationId xmlns:a16="http://schemas.microsoft.com/office/drawing/2014/main" id="{12EA407A-A3E1-F3A6-0BD6-3BA98DF26876}"/>
              </a:ext>
            </a:extLst>
          </p:cNvPr>
          <p:cNvSpPr/>
          <p:nvPr/>
        </p:nvSpPr>
        <p:spPr>
          <a:xfrm>
            <a:off x="451413" y="900026"/>
            <a:ext cx="8241174" cy="294252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F4556D69-DF3D-F0E8-EC64-63238A5F4670}"/>
              </a:ext>
            </a:extLst>
          </p:cNvPr>
          <p:cNvSpPr txBox="1"/>
          <p:nvPr/>
        </p:nvSpPr>
        <p:spPr>
          <a:xfrm>
            <a:off x="2291382" y="952308"/>
            <a:ext cx="4475988" cy="338554"/>
          </a:xfrm>
          <a:prstGeom prst="rect">
            <a:avLst/>
          </a:prstGeom>
          <a:noFill/>
        </p:spPr>
        <p:txBody>
          <a:bodyPr wrap="square" rtlCol="0" anchor="ctr">
            <a:spAutoFit/>
          </a:bodyPr>
          <a:lstStyle/>
          <a:p>
            <a:pPr algn="ctr"/>
            <a:r>
              <a:rPr lang="en-US" sz="1600" b="1" dirty="0"/>
              <a:t>Background</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10CAA00-4C82-F179-57C5-F1C0D9A9712F}"/>
                  </a:ext>
                </a:extLst>
              </p:cNvPr>
              <p:cNvSpPr txBox="1"/>
              <p:nvPr/>
            </p:nvSpPr>
            <p:spPr>
              <a:xfrm>
                <a:off x="590206" y="1304751"/>
                <a:ext cx="8368599" cy="2417521"/>
              </a:xfrm>
              <a:prstGeom prst="rect">
                <a:avLst/>
              </a:prstGeom>
              <a:noFill/>
            </p:spPr>
            <p:txBody>
              <a:bodyPr wrap="square">
                <a:spAutoFit/>
              </a:bodyPr>
              <a:lstStyle/>
              <a:p>
                <a:pPr marL="171450" indent="-171450">
                  <a:buFont typeface="Arial" panose="020B0604020202020204" pitchFamily="34" charset="0"/>
                  <a:buChar char="•"/>
                </a:pPr>
                <a:r>
                  <a:rPr lang="en-US" sz="1300" b="1" dirty="0">
                    <a:ea typeface="Cambria Math" panose="02040503050406030204" pitchFamily="18" charset="0"/>
                  </a:rPr>
                  <a:t>Data</a:t>
                </a:r>
                <a:r>
                  <a:rPr lang="en-US" sz="1300" dirty="0">
                    <a:ea typeface="Cambria Math" panose="02040503050406030204" pitchFamily="18" charset="0"/>
                  </a:rPr>
                  <a:t> = Observed data </a:t>
                </a:r>
                <a14:m>
                  <m:oMath xmlns:m="http://schemas.openxmlformats.org/officeDocument/2006/math">
                    <m:r>
                      <a:rPr lang="en-US" sz="1300" b="1" i="1" smtClean="0">
                        <a:latin typeface="Cambria Math" panose="02040503050406030204" pitchFamily="18" charset="0"/>
                        <a:ea typeface="Cambria Math" panose="02040503050406030204" pitchFamily="18" charset="0"/>
                      </a:rPr>
                      <m:t>𝑿</m:t>
                    </m:r>
                  </m:oMath>
                </a14:m>
                <a:r>
                  <a:rPr lang="en-US" sz="1300" dirty="0">
                    <a:ea typeface="Cambria Math" panose="02040503050406030204" pitchFamily="18" charset="0"/>
                  </a:rPr>
                  <a:t> + unobserved latent data </a:t>
                </a:r>
                <a14:m>
                  <m:oMath xmlns:m="http://schemas.openxmlformats.org/officeDocument/2006/math">
                    <m:r>
                      <a:rPr lang="en-US" sz="1300" b="1" i="1" smtClean="0">
                        <a:latin typeface="Cambria Math" panose="02040503050406030204" pitchFamily="18" charset="0"/>
                        <a:ea typeface="Cambria Math" panose="02040503050406030204" pitchFamily="18" charset="0"/>
                      </a:rPr>
                      <m:t>𝒁</m:t>
                    </m:r>
                  </m:oMath>
                </a14:m>
                <a:endParaRPr lang="en-US" sz="1300" dirty="0">
                  <a:ea typeface="Cambria Math" panose="02040503050406030204" pitchFamily="18" charset="0"/>
                </a:endParaRPr>
              </a:p>
              <a:p>
                <a:pPr marL="171450" indent="-171450">
                  <a:buFont typeface="Arial" panose="020B0604020202020204" pitchFamily="34" charset="0"/>
                  <a:buChar char="•"/>
                </a:pPr>
                <a:r>
                  <a:rPr lang="en-US" sz="1300" b="1" dirty="0">
                    <a:ea typeface="Cambria Math" panose="02040503050406030204" pitchFamily="18" charset="0"/>
                  </a:rPr>
                  <a:t>Parameters</a:t>
                </a:r>
                <a:r>
                  <a:rPr lang="en-US" sz="1300" dirty="0">
                    <a:ea typeface="Cambria Math" panose="02040503050406030204" pitchFamily="18" charset="0"/>
                  </a:rPr>
                  <a:t> (unknown): </a:t>
                </a:r>
                <a14:m>
                  <m:oMath xmlns:m="http://schemas.openxmlformats.org/officeDocument/2006/math">
                    <m:r>
                      <a:rPr lang="el-GR" sz="1300" b="0" i="1" smtClean="0">
                        <a:latin typeface="Cambria Math" panose="02040503050406030204" pitchFamily="18" charset="0"/>
                        <a:ea typeface="Cambria Math" panose="02040503050406030204" pitchFamily="18" charset="0"/>
                      </a:rPr>
                      <m:t>𝜃</m:t>
                    </m:r>
                  </m:oMath>
                </a14:m>
                <a:endParaRPr lang="en-US" sz="1300" dirty="0">
                  <a:ea typeface="Cambria Math" panose="02040503050406030204" pitchFamily="18" charset="0"/>
                </a:endParaRPr>
              </a:p>
              <a:p>
                <a:pPr marL="171450" indent="-171450">
                  <a:buFont typeface="Arial" panose="020B0604020202020204" pitchFamily="34" charset="0"/>
                  <a:buChar char="•"/>
                </a:pPr>
                <a:r>
                  <a:rPr lang="en-US" sz="1300" b="1" dirty="0">
                    <a:ea typeface="Cambria Math" panose="02040503050406030204" pitchFamily="18" charset="0"/>
                  </a:rPr>
                  <a:t>Goal</a:t>
                </a:r>
                <a:r>
                  <a:rPr lang="en-US" sz="1300" dirty="0">
                    <a:ea typeface="Cambria Math" panose="02040503050406030204" pitchFamily="18" charset="0"/>
                  </a:rPr>
                  <a:t>: we want to compute the MLE of </a:t>
                </a:r>
                <a14:m>
                  <m:oMath xmlns:m="http://schemas.openxmlformats.org/officeDocument/2006/math">
                    <m:r>
                      <a:rPr lang="el-GR" sz="1300" b="0" i="1">
                        <a:latin typeface="Cambria Math" panose="02040503050406030204" pitchFamily="18" charset="0"/>
                        <a:ea typeface="Cambria Math" panose="02040503050406030204" pitchFamily="18" charset="0"/>
                      </a:rPr>
                      <m:t>𝜃</m:t>
                    </m:r>
                  </m:oMath>
                </a14:m>
                <a:r>
                  <a:rPr lang="en-US" sz="1300" dirty="0">
                    <a:ea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r>
                        <m:rPr>
                          <m:sty m:val="p"/>
                        </m:rPr>
                        <a:rPr lang="en-US" sz="1300">
                          <a:latin typeface="Cambria Math" panose="02040503050406030204" pitchFamily="18" charset="0"/>
                          <a:ea typeface="Cambria Math" panose="02040503050406030204" pitchFamily="18" charset="0"/>
                        </a:rPr>
                        <m:t>L</m:t>
                      </m:r>
                      <m:d>
                        <m:dPr>
                          <m:ctrlPr>
                            <a:rPr lang="en-US" sz="1300" i="1">
                              <a:latin typeface="Cambria Math" panose="02040503050406030204" pitchFamily="18" charset="0"/>
                              <a:ea typeface="Cambria Math" panose="02040503050406030204" pitchFamily="18" charset="0"/>
                            </a:rPr>
                          </m:ctrlPr>
                        </m:dPr>
                        <m:e>
                          <m:r>
                            <a:rPr lang="el-GR" sz="1300" b="0" i="1">
                              <a:latin typeface="Cambria Math" panose="02040503050406030204" pitchFamily="18" charset="0"/>
                              <a:ea typeface="Cambria Math" panose="02040503050406030204" pitchFamily="18" charset="0"/>
                            </a:rPr>
                            <m:t>𝜃</m:t>
                          </m:r>
                          <m:r>
                            <a:rPr lang="en-US" sz="1300" b="1" i="1">
                              <a:latin typeface="Cambria Math" panose="02040503050406030204" pitchFamily="18" charset="0"/>
                              <a:ea typeface="Cambria Math" panose="02040503050406030204" pitchFamily="18" charset="0"/>
                            </a:rPr>
                            <m:t>;</m:t>
                          </m:r>
                          <m:r>
                            <a:rPr lang="en-US" sz="1300" b="1" i="1">
                              <a:latin typeface="Cambria Math" panose="02040503050406030204" pitchFamily="18" charset="0"/>
                              <a:ea typeface="Cambria Math" panose="02040503050406030204" pitchFamily="18" charset="0"/>
                            </a:rPr>
                            <m:t>𝑿</m:t>
                          </m:r>
                        </m:e>
                      </m:d>
                      <m:r>
                        <a:rPr lang="en-US" sz="1300" b="1" i="1">
                          <a:latin typeface="Cambria Math" panose="02040503050406030204" pitchFamily="18" charset="0"/>
                          <a:ea typeface="Cambria Math" panose="02040503050406030204" pitchFamily="18" charset="0"/>
                        </a:rPr>
                        <m:t>=</m:t>
                      </m:r>
                      <m:r>
                        <m:rPr>
                          <m:sty m:val="p"/>
                        </m:rPr>
                        <a:rPr lang="en-US" sz="1300">
                          <a:latin typeface="Cambria Math" panose="02040503050406030204" pitchFamily="18" charset="0"/>
                          <a:ea typeface="Cambria Math" panose="02040503050406030204" pitchFamily="18" charset="0"/>
                        </a:rPr>
                        <m:t>Pr</m:t>
                      </m:r>
                      <m:d>
                        <m:dPr>
                          <m:ctrlPr>
                            <a:rPr lang="en-US" sz="1300" b="1" i="1">
                              <a:latin typeface="Cambria Math" panose="02040503050406030204" pitchFamily="18" charset="0"/>
                              <a:ea typeface="Cambria Math" panose="02040503050406030204" pitchFamily="18" charset="0"/>
                            </a:rPr>
                          </m:ctrlPr>
                        </m:dPr>
                        <m:e>
                          <m:r>
                            <a:rPr lang="en-US" sz="1300" b="1" i="1">
                              <a:latin typeface="Cambria Math" panose="02040503050406030204" pitchFamily="18" charset="0"/>
                              <a:ea typeface="Cambria Math" panose="02040503050406030204" pitchFamily="18" charset="0"/>
                            </a:rPr>
                            <m:t>𝑿</m:t>
                          </m:r>
                        </m:e>
                        <m:e>
                          <m:r>
                            <a:rPr lang="el-GR" sz="1300" b="0" i="1">
                              <a:latin typeface="Cambria Math" panose="02040503050406030204" pitchFamily="18" charset="0"/>
                              <a:ea typeface="Cambria Math" panose="02040503050406030204" pitchFamily="18" charset="0"/>
                            </a:rPr>
                            <m:t>𝜃</m:t>
                          </m:r>
                        </m:e>
                      </m:d>
                      <m:r>
                        <a:rPr lang="en-US" sz="1300" b="1" i="1" smtClean="0">
                          <a:latin typeface="Cambria Math" panose="02040503050406030204" pitchFamily="18" charset="0"/>
                          <a:ea typeface="Cambria Math" panose="02040503050406030204" pitchFamily="18" charset="0"/>
                        </a:rPr>
                        <m:t>=</m:t>
                      </m:r>
                      <m:nary>
                        <m:naryPr>
                          <m:limLoc m:val="undOvr"/>
                          <m:subHide m:val="on"/>
                          <m:supHide m:val="on"/>
                          <m:ctrlPr>
                            <a:rPr lang="en-US" sz="1300" b="1" i="1" smtClean="0">
                              <a:latin typeface="Cambria Math" panose="02040503050406030204" pitchFamily="18" charset="0"/>
                              <a:ea typeface="Cambria Math" panose="02040503050406030204" pitchFamily="18" charset="0"/>
                            </a:rPr>
                          </m:ctrlPr>
                        </m:naryPr>
                        <m:sub/>
                        <m:sup/>
                        <m:e>
                          <m:r>
                            <m:rPr>
                              <m:sty m:val="p"/>
                            </m:rPr>
                            <a:rPr lang="en-US" sz="1300" b="1" i="1" smtClean="0">
                              <a:latin typeface="Cambria Math" panose="02040503050406030204" pitchFamily="18" charset="0"/>
                              <a:ea typeface="Cambria Math" panose="02040503050406030204" pitchFamily="18" charset="0"/>
                            </a:rPr>
                            <m:t>P</m:t>
                          </m:r>
                          <m:r>
                            <a:rPr lang="en-US" sz="1300" b="1" i="1" smtClean="0">
                              <a:latin typeface="Cambria Math" panose="02040503050406030204" pitchFamily="18" charset="0"/>
                              <a:ea typeface="Cambria Math" panose="02040503050406030204" pitchFamily="18" charset="0"/>
                            </a:rPr>
                            <m:t>(</m:t>
                          </m:r>
                          <m:r>
                            <a:rPr lang="en-US" sz="1300" b="1" i="1" smtClean="0">
                              <a:latin typeface="Cambria Math" panose="02040503050406030204" pitchFamily="18" charset="0"/>
                              <a:ea typeface="Cambria Math" panose="02040503050406030204" pitchFamily="18" charset="0"/>
                            </a:rPr>
                            <m:t>𝑿</m:t>
                          </m:r>
                          <m:r>
                            <a:rPr lang="en-US" sz="1300" b="1" i="1" smtClean="0">
                              <a:latin typeface="Cambria Math" panose="02040503050406030204" pitchFamily="18" charset="0"/>
                              <a:ea typeface="Cambria Math" panose="02040503050406030204" pitchFamily="18" charset="0"/>
                            </a:rPr>
                            <m:t>,</m:t>
                          </m:r>
                          <m:r>
                            <a:rPr lang="en-US" sz="1300" b="1" i="1" smtClean="0">
                              <a:latin typeface="Cambria Math" panose="02040503050406030204" pitchFamily="18" charset="0"/>
                              <a:ea typeface="Cambria Math" panose="02040503050406030204" pitchFamily="18" charset="0"/>
                            </a:rPr>
                            <m:t>𝒁</m:t>
                          </m:r>
                          <m:r>
                            <a:rPr lang="en-US" sz="1300" b="1" i="1" smtClean="0">
                              <a:latin typeface="Cambria Math" panose="02040503050406030204" pitchFamily="18" charset="0"/>
                              <a:ea typeface="Cambria Math" panose="02040503050406030204" pitchFamily="18" charset="0"/>
                            </a:rPr>
                            <m:t>|</m:t>
                          </m:r>
                        </m:e>
                      </m:nary>
                      <m:r>
                        <a:rPr lang="el-GR" sz="1300" b="0" i="1" smtClean="0">
                          <a:latin typeface="Cambria Math" panose="02040503050406030204" pitchFamily="18" charset="0"/>
                          <a:ea typeface="Cambria Math" panose="02040503050406030204" pitchFamily="18" charset="0"/>
                        </a:rPr>
                        <m:t>𝜃</m:t>
                      </m:r>
                      <m:r>
                        <a:rPr lang="en-US" sz="1300" b="1"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𝑑</m:t>
                      </m:r>
                      <m:r>
                        <a:rPr lang="en-US" sz="1300" b="1" i="1" smtClean="0">
                          <a:latin typeface="Cambria Math" panose="02040503050406030204" pitchFamily="18" charset="0"/>
                          <a:ea typeface="Cambria Math" panose="02040503050406030204" pitchFamily="18" charset="0"/>
                        </a:rPr>
                        <m:t>𝒁</m:t>
                      </m:r>
                      <m:r>
                        <a:rPr lang="en-US" sz="1300" b="1" i="1" smtClean="0">
                          <a:latin typeface="Cambria Math" panose="02040503050406030204" pitchFamily="18" charset="0"/>
                          <a:ea typeface="Cambria Math" panose="02040503050406030204" pitchFamily="18" charset="0"/>
                        </a:rPr>
                        <m:t>=</m:t>
                      </m:r>
                      <m:nary>
                        <m:naryPr>
                          <m:limLoc m:val="undOvr"/>
                          <m:subHide m:val="on"/>
                          <m:supHide m:val="on"/>
                          <m:ctrlPr>
                            <a:rPr lang="en-US" sz="1300" b="1" i="1">
                              <a:latin typeface="Cambria Math" panose="02040503050406030204" pitchFamily="18" charset="0"/>
                              <a:ea typeface="Cambria Math" panose="02040503050406030204" pitchFamily="18" charset="0"/>
                            </a:rPr>
                          </m:ctrlPr>
                        </m:naryPr>
                        <m:sub/>
                        <m:sup/>
                        <m:e>
                          <m:r>
                            <m:rPr>
                              <m:sty m:val="p"/>
                            </m:rPr>
                            <a:rPr lang="en-US" sz="1300" b="0" i="0" smtClean="0">
                              <a:latin typeface="Cambria Math" panose="02040503050406030204" pitchFamily="18" charset="0"/>
                              <a:ea typeface="Cambria Math" panose="02040503050406030204" pitchFamily="18" charset="0"/>
                            </a:rPr>
                            <m:t>P</m:t>
                          </m:r>
                          <m:r>
                            <a:rPr lang="en-US" sz="1300" b="1" i="1">
                              <a:latin typeface="Cambria Math" panose="02040503050406030204" pitchFamily="18" charset="0"/>
                              <a:ea typeface="Cambria Math" panose="02040503050406030204" pitchFamily="18" charset="0"/>
                            </a:rPr>
                            <m:t>(</m:t>
                          </m:r>
                          <m:r>
                            <a:rPr lang="en-US" sz="1300" b="1" i="1">
                              <a:latin typeface="Cambria Math" panose="02040503050406030204" pitchFamily="18" charset="0"/>
                              <a:ea typeface="Cambria Math" panose="02040503050406030204" pitchFamily="18" charset="0"/>
                            </a:rPr>
                            <m:t>𝑿</m:t>
                          </m:r>
                          <m:r>
                            <a:rPr lang="en-US" sz="1300" b="1" i="1">
                              <a:latin typeface="Cambria Math" panose="02040503050406030204" pitchFamily="18" charset="0"/>
                              <a:ea typeface="Cambria Math" panose="02040503050406030204" pitchFamily="18" charset="0"/>
                            </a:rPr>
                            <m:t>|</m:t>
                          </m:r>
                        </m:e>
                      </m:nary>
                      <m:r>
                        <a:rPr lang="el-GR" sz="1300" b="0" i="1">
                          <a:latin typeface="Cambria Math" panose="02040503050406030204" pitchFamily="18" charset="0"/>
                          <a:ea typeface="Cambria Math" panose="02040503050406030204" pitchFamily="18" charset="0"/>
                        </a:rPr>
                        <m:t>𝜃</m:t>
                      </m:r>
                      <m:r>
                        <a:rPr lang="en-US" sz="1300" b="1" i="1" smtClean="0">
                          <a:latin typeface="Cambria Math" panose="02040503050406030204" pitchFamily="18" charset="0"/>
                          <a:ea typeface="Cambria Math" panose="02040503050406030204" pitchFamily="18" charset="0"/>
                        </a:rPr>
                        <m:t>,</m:t>
                      </m:r>
                      <m:r>
                        <a:rPr lang="en-US" sz="1300" b="1" i="1" smtClean="0">
                          <a:latin typeface="Cambria Math" panose="02040503050406030204" pitchFamily="18" charset="0"/>
                          <a:ea typeface="Cambria Math" panose="02040503050406030204" pitchFamily="18" charset="0"/>
                        </a:rPr>
                        <m:t>𝒁</m:t>
                      </m:r>
                      <m:r>
                        <a:rPr lang="en-US" sz="1300" b="1" i="1">
                          <a:latin typeface="Cambria Math" panose="02040503050406030204" pitchFamily="18" charset="0"/>
                          <a:ea typeface="Cambria Math" panose="02040503050406030204" pitchFamily="18" charset="0"/>
                        </a:rPr>
                        <m:t>)</m:t>
                      </m:r>
                      <m:r>
                        <m:rPr>
                          <m:sty m:val="p"/>
                        </m:rPr>
                        <a:rPr lang="en-US" sz="1300" b="0" i="0" smtClean="0">
                          <a:latin typeface="Cambria Math" panose="02040503050406030204" pitchFamily="18" charset="0"/>
                          <a:ea typeface="Cambria Math" panose="02040503050406030204" pitchFamily="18" charset="0"/>
                        </a:rPr>
                        <m:t>P</m:t>
                      </m:r>
                      <m:d>
                        <m:dPr>
                          <m:ctrlPr>
                            <a:rPr lang="en-US" sz="1300" b="1" i="1" smtClean="0">
                              <a:latin typeface="Cambria Math" panose="02040503050406030204" pitchFamily="18" charset="0"/>
                              <a:ea typeface="Cambria Math" panose="02040503050406030204" pitchFamily="18" charset="0"/>
                            </a:rPr>
                          </m:ctrlPr>
                        </m:dPr>
                        <m:e>
                          <m:r>
                            <a:rPr lang="en-US" sz="1300" b="1" i="1" smtClean="0">
                              <a:latin typeface="Cambria Math" panose="02040503050406030204" pitchFamily="18" charset="0"/>
                              <a:ea typeface="Cambria Math" panose="02040503050406030204" pitchFamily="18" charset="0"/>
                            </a:rPr>
                            <m:t>𝒁</m:t>
                          </m:r>
                        </m:e>
                        <m:e>
                          <m:r>
                            <a:rPr lang="el-GR" sz="1300" b="0" i="1">
                              <a:latin typeface="Cambria Math" panose="02040503050406030204" pitchFamily="18" charset="0"/>
                              <a:ea typeface="Cambria Math" panose="02040503050406030204" pitchFamily="18" charset="0"/>
                            </a:rPr>
                            <m:t>𝜃</m:t>
                          </m:r>
                        </m:e>
                      </m:d>
                      <m:r>
                        <a:rPr lang="en-US" sz="1300" b="0" i="1" smtClean="0">
                          <a:latin typeface="Cambria Math" panose="02040503050406030204" pitchFamily="18" charset="0"/>
                          <a:ea typeface="Cambria Math" panose="02040503050406030204" pitchFamily="18" charset="0"/>
                        </a:rPr>
                        <m:t>𝑑</m:t>
                      </m:r>
                      <m:r>
                        <a:rPr lang="en-US" sz="1300" b="1" i="1">
                          <a:latin typeface="Cambria Math" panose="02040503050406030204" pitchFamily="18" charset="0"/>
                          <a:ea typeface="Cambria Math" panose="02040503050406030204" pitchFamily="18" charset="0"/>
                        </a:rPr>
                        <m:t>𝒁</m:t>
                      </m:r>
                    </m:oMath>
                  </m:oMathPara>
                </a14:m>
                <a:endParaRPr lang="en-US" sz="1300" b="1" dirty="0">
                  <a:ea typeface="Cambria Math" panose="02040503050406030204" pitchFamily="18" charset="0"/>
                </a:endParaRPr>
              </a:p>
              <a:p>
                <a:r>
                  <a:rPr lang="en-US" sz="1300" b="1" i="1" dirty="0">
                    <a:ea typeface="Cambria Math" panose="02040503050406030204" pitchFamily="18" charset="0"/>
                  </a:rPr>
                  <a:t>Why difficult? </a:t>
                </a:r>
                <a:r>
                  <a:rPr lang="en-US" sz="1300" b="1" dirty="0">
                    <a:ea typeface="Cambria Math" panose="02040503050406030204" pitchFamily="18" charset="0"/>
                  </a:rPr>
                  <a:t>Both </a:t>
                </a:r>
                <a14:m>
                  <m:oMath xmlns:m="http://schemas.openxmlformats.org/officeDocument/2006/math">
                    <m:r>
                      <a:rPr lang="en-US" sz="1300" b="1" i="1">
                        <a:latin typeface="Cambria Math" panose="02040503050406030204" pitchFamily="18" charset="0"/>
                        <a:ea typeface="Cambria Math" panose="02040503050406030204" pitchFamily="18" charset="0"/>
                      </a:rPr>
                      <m:t>𝒁</m:t>
                    </m:r>
                  </m:oMath>
                </a14:m>
                <a:r>
                  <a:rPr lang="en-US" sz="1300" b="1" dirty="0">
                    <a:ea typeface="Cambria Math" panose="02040503050406030204" pitchFamily="18" charset="0"/>
                  </a:rPr>
                  <a:t> and </a:t>
                </a:r>
                <a14:m>
                  <m:oMath xmlns:m="http://schemas.openxmlformats.org/officeDocument/2006/math">
                    <m:r>
                      <a:rPr lang="en-US" sz="1400" b="1" i="1">
                        <a:latin typeface="Cambria Math" panose="02040503050406030204" pitchFamily="18" charset="0"/>
                        <a:ea typeface="Cambria Math" panose="02040503050406030204" pitchFamily="18" charset="0"/>
                      </a:rPr>
                      <m:t>𝑿</m:t>
                    </m:r>
                  </m:oMath>
                </a14:m>
                <a:r>
                  <a:rPr lang="en-US" sz="1300" b="1" dirty="0">
                    <a:ea typeface="Cambria Math" panose="02040503050406030204" pitchFamily="18" charset="0"/>
                  </a:rPr>
                  <a:t> are unknown!</a:t>
                </a:r>
              </a:p>
              <a:p>
                <a:pPr marL="171450" indent="-171450">
                  <a:buFont typeface="Arial" panose="020B0604020202020204" pitchFamily="34" charset="0"/>
                  <a:buChar char="•"/>
                </a:pPr>
                <a:r>
                  <a:rPr lang="en-US" sz="1300" dirty="0">
                    <a:ea typeface="Cambria Math" panose="02040503050406030204" pitchFamily="18" charset="0"/>
                  </a:rPr>
                  <a:t>If </a:t>
                </a:r>
                <a14:m>
                  <m:oMath xmlns:m="http://schemas.openxmlformats.org/officeDocument/2006/math">
                    <m:r>
                      <a:rPr lang="el-GR" sz="1300" b="0" i="1" smtClean="0">
                        <a:latin typeface="Cambria Math" panose="02040503050406030204" pitchFamily="18" charset="0"/>
                        <a:ea typeface="Cambria Math" panose="02040503050406030204" pitchFamily="18" charset="0"/>
                      </a:rPr>
                      <m:t>𝜃</m:t>
                    </m:r>
                  </m:oMath>
                </a14:m>
                <a:r>
                  <a:rPr lang="en-US" sz="1300" dirty="0">
                    <a:ea typeface="Cambria Math" panose="02040503050406030204" pitchFamily="18" charset="0"/>
                  </a:rPr>
                  <a:t> is known, usually the values of the </a:t>
                </a:r>
                <a14:m>
                  <m:oMath xmlns:m="http://schemas.openxmlformats.org/officeDocument/2006/math">
                    <m:r>
                      <a:rPr lang="en-US" sz="1300" b="1" i="1" smtClean="0">
                        <a:latin typeface="Cambria Math" panose="02040503050406030204" pitchFamily="18" charset="0"/>
                        <a:ea typeface="Cambria Math" panose="02040503050406030204" pitchFamily="18" charset="0"/>
                      </a:rPr>
                      <m:t>𝒁</m:t>
                    </m:r>
                  </m:oMath>
                </a14:m>
                <a:r>
                  <a:rPr lang="en-US" sz="1300" dirty="0">
                    <a:ea typeface="Cambria Math" panose="02040503050406030204" pitchFamily="18" charset="0"/>
                  </a:rPr>
                  <a:t> can be found by maximizing the log-likelihood over all possible values of </a:t>
                </a:r>
                <a14:m>
                  <m:oMath xmlns:m="http://schemas.openxmlformats.org/officeDocument/2006/math">
                    <m:r>
                      <a:rPr lang="en-US" sz="1300" b="1" i="1" smtClean="0">
                        <a:latin typeface="Cambria Math" panose="02040503050406030204" pitchFamily="18" charset="0"/>
                        <a:ea typeface="Cambria Math" panose="02040503050406030204" pitchFamily="18" charset="0"/>
                      </a:rPr>
                      <m:t>𝒁</m:t>
                    </m:r>
                  </m:oMath>
                </a14:m>
                <a:r>
                  <a:rPr lang="en-US" sz="1300" dirty="0">
                    <a:ea typeface="Cambria Math" panose="02040503050406030204" pitchFamily="18" charset="0"/>
                  </a:rPr>
                  <a:t>, either simply by iterating over </a:t>
                </a:r>
                <a14:m>
                  <m:oMath xmlns:m="http://schemas.openxmlformats.org/officeDocument/2006/math">
                    <m:r>
                      <a:rPr lang="en-US" sz="1300" b="1" i="1" smtClean="0">
                        <a:latin typeface="Cambria Math" panose="02040503050406030204" pitchFamily="18" charset="0"/>
                        <a:ea typeface="Cambria Math" panose="02040503050406030204" pitchFamily="18" charset="0"/>
                      </a:rPr>
                      <m:t>𝒁</m:t>
                    </m:r>
                  </m:oMath>
                </a14:m>
                <a:r>
                  <a:rPr lang="en-US" sz="1300" dirty="0">
                    <a:ea typeface="Cambria Math" panose="02040503050406030204" pitchFamily="18" charset="0"/>
                  </a:rPr>
                  <a:t> or through certain algorithms for hidden Markov models.</a:t>
                </a:r>
              </a:p>
              <a:p>
                <a:pPr marL="171450" indent="-171450">
                  <a:buFont typeface="Arial" panose="020B0604020202020204" pitchFamily="34" charset="0"/>
                  <a:buChar char="•"/>
                </a:pPr>
                <a:r>
                  <a:rPr lang="en-US" sz="1300" dirty="0">
                    <a:ea typeface="Cambria Math" panose="02040503050406030204" pitchFamily="18" charset="0"/>
                  </a:rPr>
                  <a:t>If </a:t>
                </a:r>
                <a14:m>
                  <m:oMath xmlns:m="http://schemas.openxmlformats.org/officeDocument/2006/math">
                    <m:r>
                      <a:rPr lang="en-US" sz="1300" b="1" i="1" smtClean="0">
                        <a:latin typeface="Cambria Math" panose="02040503050406030204" pitchFamily="18" charset="0"/>
                        <a:ea typeface="Cambria Math" panose="02040503050406030204" pitchFamily="18" charset="0"/>
                      </a:rPr>
                      <m:t>𝒁</m:t>
                    </m:r>
                  </m:oMath>
                </a14:m>
                <a:r>
                  <a:rPr lang="en-US" sz="1300" dirty="0">
                    <a:ea typeface="Cambria Math" panose="02040503050406030204" pitchFamily="18" charset="0"/>
                  </a:rPr>
                  <a:t> is known, then we can find </a:t>
                </a:r>
                <a14:m>
                  <m:oMath xmlns:m="http://schemas.openxmlformats.org/officeDocument/2006/math">
                    <m:r>
                      <a:rPr lang="el-GR" sz="1300" b="0" i="1" smtClean="0">
                        <a:latin typeface="Cambria Math" panose="02040503050406030204" pitchFamily="18" charset="0"/>
                        <a:ea typeface="Cambria Math" panose="02040503050406030204" pitchFamily="18" charset="0"/>
                      </a:rPr>
                      <m:t>𝜃</m:t>
                    </m:r>
                  </m:oMath>
                </a14:m>
                <a:r>
                  <a:rPr lang="en-US" sz="1300" dirty="0">
                    <a:ea typeface="Cambria Math" panose="02040503050406030204" pitchFamily="18" charset="0"/>
                  </a:rPr>
                  <a:t> fairly typically </a:t>
                </a:r>
                <a:r>
                  <a:rPr lang="en-US" sz="1300" dirty="0">
                    <a:latin typeface="Calibri" panose="020F0502020204030204" pitchFamily="34" charset="0"/>
                    <a:ea typeface="Cambria Math" panose="02040503050406030204" pitchFamily="18" charset="0"/>
                    <a:cs typeface="Calibri" panose="020F0502020204030204" pitchFamily="34" charset="0"/>
                  </a:rPr>
                  <a:t>by </a:t>
                </a:r>
                <a:r>
                  <a:rPr lang="en-US" sz="1300" dirty="0">
                    <a:latin typeface="Calibri" panose="020F0502020204030204" pitchFamily="34" charset="0"/>
                    <a:cs typeface="Calibri" panose="020F0502020204030204" pitchFamily="34" charset="0"/>
                  </a:rPr>
                  <a:t>grouping </a:t>
                </a:r>
                <a14:m>
                  <m:oMath xmlns:m="http://schemas.openxmlformats.org/officeDocument/2006/math">
                    <m:r>
                      <a:rPr lang="en-US" sz="1300" b="1" i="1">
                        <a:latin typeface="Cambria Math" panose="02040503050406030204" pitchFamily="18" charset="0"/>
                        <a:ea typeface="Cambria Math" panose="02040503050406030204" pitchFamily="18" charset="0"/>
                      </a:rPr>
                      <m:t>𝑿</m:t>
                    </m:r>
                  </m:oMath>
                </a14:m>
                <a:r>
                  <a:rPr lang="en-US" sz="1300" dirty="0">
                    <a:latin typeface="Calibri" panose="020F0502020204030204" pitchFamily="34" charset="0"/>
                    <a:cs typeface="Calibri" panose="020F0502020204030204" pitchFamily="34" charset="0"/>
                  </a:rPr>
                  <a:t> according to the value of the associated latent variable and averaging the values, or some function of the values, of the points in each group. </a:t>
                </a:r>
              </a:p>
              <a:p>
                <a:pPr marL="171450" indent="-171450">
                  <a:buFont typeface="Arial" panose="020B0604020202020204" pitchFamily="34" charset="0"/>
                  <a:buChar char="•"/>
                </a:pPr>
                <a:r>
                  <a:rPr lang="en-US" sz="1300" b="1" dirty="0">
                    <a:latin typeface="Calibri" panose="020F0502020204030204" pitchFamily="34" charset="0"/>
                    <a:ea typeface="Cambria Math" panose="02040503050406030204" pitchFamily="18" charset="0"/>
                    <a:cs typeface="Calibri" panose="020F0502020204030204" pitchFamily="34" charset="0"/>
                  </a:rPr>
                  <a:t>Motivation</a:t>
                </a:r>
                <a:r>
                  <a:rPr lang="en-US" sz="1300" dirty="0">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el-GR" sz="1300" b="0" i="1">
                        <a:latin typeface="Cambria Math" panose="02040503050406030204" pitchFamily="18" charset="0"/>
                        <a:ea typeface="Cambria Math" panose="02040503050406030204" pitchFamily="18" charset="0"/>
                      </a:rPr>
                      <m:t>𝜃</m:t>
                    </m:r>
                  </m:oMath>
                </a14:m>
                <a:r>
                  <a:rPr lang="en-US" sz="1300" dirty="0">
                    <a:ea typeface="Cambria Math" panose="02040503050406030204" pitchFamily="18" charset="0"/>
                  </a:rPr>
                  <a:t> and </a:t>
                </a:r>
                <a14:m>
                  <m:oMath xmlns:m="http://schemas.openxmlformats.org/officeDocument/2006/math">
                    <m:r>
                      <a:rPr lang="en-US" sz="1300" b="1" i="1">
                        <a:latin typeface="Cambria Math" panose="02040503050406030204" pitchFamily="18" charset="0"/>
                        <a:ea typeface="Cambria Math" panose="02040503050406030204" pitchFamily="18" charset="0"/>
                      </a:rPr>
                      <m:t>𝒁</m:t>
                    </m:r>
                  </m:oMath>
                </a14:m>
                <a:r>
                  <a:rPr lang="en-US" sz="1300" dirty="0">
                    <a:latin typeface="Calibri" panose="020F0502020204030204" pitchFamily="34" charset="0"/>
                    <a:ea typeface="Cambria Math" panose="02040503050406030204" pitchFamily="18" charset="0"/>
                    <a:cs typeface="Calibri" panose="020F0502020204030204" pitchFamily="34" charset="0"/>
                  </a:rPr>
                  <a:t> can be updated </a:t>
                </a:r>
                <a:r>
                  <a:rPr lang="en-US" sz="1300" b="1" i="1" dirty="0">
                    <a:latin typeface="Calibri" panose="020F0502020204030204" pitchFamily="34" charset="0"/>
                    <a:ea typeface="Cambria Math" panose="02040503050406030204" pitchFamily="18" charset="0"/>
                    <a:cs typeface="Calibri" panose="020F0502020204030204" pitchFamily="34" charset="0"/>
                  </a:rPr>
                  <a:t>iteratively</a:t>
                </a:r>
                <a:r>
                  <a:rPr lang="en-US" sz="1300" dirty="0">
                    <a:latin typeface="Calibri" panose="020F0502020204030204" pitchFamily="34" charset="0"/>
                    <a:ea typeface="Cambria Math" panose="02040503050406030204" pitchFamily="18" charset="0"/>
                    <a:cs typeface="Calibri" panose="020F0502020204030204" pitchFamily="34" charset="0"/>
                  </a:rPr>
                  <a:t> and reaches a (local) maximum!</a:t>
                </a:r>
              </a:p>
            </p:txBody>
          </p:sp>
        </mc:Choice>
        <mc:Fallback xmlns="">
          <p:sp>
            <p:nvSpPr>
              <p:cNvPr id="12" name="TextBox 11">
                <a:extLst>
                  <a:ext uri="{FF2B5EF4-FFF2-40B4-BE49-F238E27FC236}">
                    <a16:creationId xmlns:a16="http://schemas.microsoft.com/office/drawing/2014/main" id="{510CAA00-4C82-F179-57C5-F1C0D9A9712F}"/>
                  </a:ext>
                </a:extLst>
              </p:cNvPr>
              <p:cNvSpPr txBox="1">
                <a:spLocks noRot="1" noChangeAspect="1" noMove="1" noResize="1" noEditPoints="1" noAdjustHandles="1" noChangeArrowheads="1" noChangeShapeType="1" noTextEdit="1"/>
              </p:cNvSpPr>
              <p:nvPr/>
            </p:nvSpPr>
            <p:spPr>
              <a:xfrm>
                <a:off x="590206" y="1304751"/>
                <a:ext cx="8368599" cy="2417521"/>
              </a:xfrm>
              <a:prstGeom prst="rect">
                <a:avLst/>
              </a:prstGeom>
              <a:blipFill>
                <a:blip r:embed="rId2"/>
                <a:stretch>
                  <a:fillRect l="-152" t="-7813" b="-156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484967EB-57FB-87C7-50C8-4E097108D407}"/>
              </a:ext>
            </a:extLst>
          </p:cNvPr>
          <p:cNvSpPr txBox="1"/>
          <p:nvPr/>
        </p:nvSpPr>
        <p:spPr>
          <a:xfrm>
            <a:off x="451413" y="443356"/>
            <a:ext cx="8241174" cy="461665"/>
          </a:xfrm>
          <a:prstGeom prst="rect">
            <a:avLst/>
          </a:prstGeom>
          <a:noFill/>
        </p:spPr>
        <p:txBody>
          <a:bodyPr wrap="square" rtlCol="0">
            <a:spAutoFit/>
          </a:bodyPr>
          <a:lstStyle/>
          <a:p>
            <a:pPr algn="ctr"/>
            <a:r>
              <a:rPr lang="en-US" sz="1200" dirty="0"/>
              <a:t>The EM algorithm estimates parameters when data is incomplete by alternating between guessing the missing values based on current parameters (E-step) and updating parameters based on those guesses (M-step) until convergence.</a:t>
            </a:r>
          </a:p>
        </p:txBody>
      </p:sp>
      <p:cxnSp>
        <p:nvCxnSpPr>
          <p:cNvPr id="16" name="Straight Arrow Connector 15">
            <a:extLst>
              <a:ext uri="{FF2B5EF4-FFF2-40B4-BE49-F238E27FC236}">
                <a16:creationId xmlns:a16="http://schemas.microsoft.com/office/drawing/2014/main" id="{760D9569-984A-7DD2-E092-2E9FE50B61F2}"/>
              </a:ext>
            </a:extLst>
          </p:cNvPr>
          <p:cNvCxnSpPr>
            <a:cxnSpLocks/>
          </p:cNvCxnSpPr>
          <p:nvPr/>
        </p:nvCxnSpPr>
        <p:spPr>
          <a:xfrm flipV="1">
            <a:off x="819140" y="5188679"/>
            <a:ext cx="506694" cy="186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6" name="Curved Connector 25">
            <a:extLst>
              <a:ext uri="{FF2B5EF4-FFF2-40B4-BE49-F238E27FC236}">
                <a16:creationId xmlns:a16="http://schemas.microsoft.com/office/drawing/2014/main" id="{403283A7-1C26-4285-8E21-CB648FAE8680}"/>
              </a:ext>
            </a:extLst>
          </p:cNvPr>
          <p:cNvCxnSpPr>
            <a:cxnSpLocks/>
            <a:stCxn id="9" idx="0"/>
            <a:endCxn id="13" idx="0"/>
          </p:cNvCxnSpPr>
          <p:nvPr/>
        </p:nvCxnSpPr>
        <p:spPr>
          <a:xfrm rot="5400000" flipH="1" flipV="1">
            <a:off x="2433539" y="4080974"/>
            <a:ext cx="12700" cy="1392450"/>
          </a:xfrm>
          <a:prstGeom prst="curvedConnector3">
            <a:avLst>
              <a:gd name="adj1" fmla="val 180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7BA3B6C-2374-3D14-FED4-A32F13DAA58D}"/>
              </a:ext>
            </a:extLst>
          </p:cNvPr>
          <p:cNvSpPr>
            <a:spLocks noChangeAspect="1"/>
          </p:cNvSpPr>
          <p:nvPr/>
        </p:nvSpPr>
        <p:spPr>
          <a:xfrm>
            <a:off x="1325834" y="4777199"/>
            <a:ext cx="822960" cy="822960"/>
          </a:xfrm>
          <a:prstGeom prst="ellipse">
            <a:avLst/>
          </a:prstGeom>
          <a:solidFill>
            <a:schemeClr val="accent4">
              <a:lumMod val="75000"/>
            </a:schemeClr>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E</a:t>
            </a:r>
          </a:p>
        </p:txBody>
      </p:sp>
      <p:sp>
        <p:nvSpPr>
          <p:cNvPr id="13" name="Oval 12">
            <a:extLst>
              <a:ext uri="{FF2B5EF4-FFF2-40B4-BE49-F238E27FC236}">
                <a16:creationId xmlns:a16="http://schemas.microsoft.com/office/drawing/2014/main" id="{6AC918D1-BAC1-7AD1-4125-2BABF0A7C447}"/>
              </a:ext>
            </a:extLst>
          </p:cNvPr>
          <p:cNvSpPr>
            <a:spLocks noChangeAspect="1"/>
          </p:cNvSpPr>
          <p:nvPr/>
        </p:nvSpPr>
        <p:spPr>
          <a:xfrm>
            <a:off x="2718284" y="4777199"/>
            <a:ext cx="822960" cy="822960"/>
          </a:xfrm>
          <a:prstGeom prst="ellipse">
            <a:avLst/>
          </a:prstGeom>
          <a:solidFill>
            <a:schemeClr val="accent2">
              <a:lumMod val="75000"/>
            </a:schemeClr>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M</a:t>
            </a: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E1E50DC4-6695-C738-FC21-8644FD7C5956}"/>
                  </a:ext>
                </a:extLst>
              </p:cNvPr>
              <p:cNvSpPr txBox="1"/>
              <p:nvPr/>
            </p:nvSpPr>
            <p:spPr>
              <a:xfrm>
                <a:off x="1040649" y="5598295"/>
                <a:ext cx="1393330" cy="261610"/>
              </a:xfrm>
              <a:prstGeom prst="rect">
                <a:avLst/>
              </a:prstGeom>
              <a:noFill/>
            </p:spPr>
            <p:txBody>
              <a:bodyPr wrap="none" rtlCol="0">
                <a:spAutoFit/>
              </a:bodyPr>
              <a:lstStyle/>
              <a:p>
                <a:r>
                  <a:rPr lang="en-US" sz="1100" dirty="0">
                    <a:solidFill>
                      <a:schemeClr val="accent4">
                        <a:lumMod val="75000"/>
                      </a:schemeClr>
                    </a:solidFill>
                  </a:rPr>
                  <a:t>Guess </a:t>
                </a:r>
                <a:r>
                  <a:rPr lang="en-US" sz="1100" dirty="0">
                    <a:solidFill>
                      <a:srgbClr val="BF9000"/>
                    </a:solidFill>
                  </a:rPr>
                  <a:t>missing data </a:t>
                </a:r>
                <a14:m>
                  <m:oMath xmlns:m="http://schemas.openxmlformats.org/officeDocument/2006/math">
                    <m:r>
                      <a:rPr lang="en-US" sz="1100" b="1" i="1">
                        <a:solidFill>
                          <a:srgbClr val="BF9000"/>
                        </a:solidFill>
                        <a:latin typeface="Cambria Math" panose="02040503050406030204" pitchFamily="18" charset="0"/>
                        <a:ea typeface="Cambria Math" panose="02040503050406030204" pitchFamily="18" charset="0"/>
                      </a:rPr>
                      <m:t>𝒁</m:t>
                    </m:r>
                  </m:oMath>
                </a14:m>
                <a:endParaRPr lang="en-US" sz="1100" dirty="0">
                  <a:solidFill>
                    <a:schemeClr val="accent4">
                      <a:lumMod val="75000"/>
                    </a:schemeClr>
                  </a:solidFill>
                </a:endParaRPr>
              </a:p>
            </p:txBody>
          </p:sp>
        </mc:Choice>
        <mc:Fallback xmlns="">
          <p:sp>
            <p:nvSpPr>
              <p:cNvPr id="58" name="TextBox 57">
                <a:extLst>
                  <a:ext uri="{FF2B5EF4-FFF2-40B4-BE49-F238E27FC236}">
                    <a16:creationId xmlns:a16="http://schemas.microsoft.com/office/drawing/2014/main" id="{E1E50DC4-6695-C738-FC21-8644FD7C5956}"/>
                  </a:ext>
                </a:extLst>
              </p:cNvPr>
              <p:cNvSpPr txBox="1">
                <a:spLocks noRot="1" noChangeAspect="1" noMove="1" noResize="1" noEditPoints="1" noAdjustHandles="1" noChangeArrowheads="1" noChangeShapeType="1" noTextEdit="1"/>
              </p:cNvSpPr>
              <p:nvPr/>
            </p:nvSpPr>
            <p:spPr>
              <a:xfrm>
                <a:off x="1040649" y="5598295"/>
                <a:ext cx="1393330" cy="2616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1BCF892-5637-CC96-8BFF-A173EB78EF25}"/>
                  </a:ext>
                </a:extLst>
              </p:cNvPr>
              <p:cNvSpPr txBox="1"/>
              <p:nvPr/>
            </p:nvSpPr>
            <p:spPr>
              <a:xfrm>
                <a:off x="2370005" y="5590601"/>
                <a:ext cx="1519519" cy="276999"/>
              </a:xfrm>
              <a:prstGeom prst="rect">
                <a:avLst/>
              </a:prstGeom>
              <a:noFill/>
            </p:spPr>
            <p:txBody>
              <a:bodyPr wrap="none" rtlCol="0">
                <a:spAutoFit/>
              </a:bodyPr>
              <a:lstStyle/>
              <a:p>
                <a:r>
                  <a:rPr lang="en-US" sz="1200" dirty="0">
                    <a:solidFill>
                      <a:schemeClr val="accent2">
                        <a:lumMod val="75000"/>
                      </a:schemeClr>
                    </a:solidFill>
                  </a:rPr>
                  <a:t>Update </a:t>
                </a:r>
                <a:r>
                  <a:rPr lang="en-US" sz="1200" dirty="0">
                    <a:solidFill>
                      <a:srgbClr val="C55A11"/>
                    </a:solidFill>
                  </a:rPr>
                  <a:t>parameters </a:t>
                </a:r>
                <a14:m>
                  <m:oMath xmlns:m="http://schemas.openxmlformats.org/officeDocument/2006/math">
                    <m:r>
                      <a:rPr lang="el-GR" sz="1200" i="1">
                        <a:solidFill>
                          <a:srgbClr val="C55A11"/>
                        </a:solidFill>
                        <a:latin typeface="Cambria Math" panose="02040503050406030204" pitchFamily="18" charset="0"/>
                        <a:ea typeface="Cambria Math" panose="02040503050406030204" pitchFamily="18" charset="0"/>
                      </a:rPr>
                      <m:t>𝜃</m:t>
                    </m:r>
                  </m:oMath>
                </a14:m>
                <a:endParaRPr lang="en-US" sz="1200" dirty="0">
                  <a:ea typeface="Cambria Math" panose="02040503050406030204" pitchFamily="18" charset="0"/>
                </a:endParaRPr>
              </a:p>
            </p:txBody>
          </p:sp>
        </mc:Choice>
        <mc:Fallback xmlns="">
          <p:sp>
            <p:nvSpPr>
              <p:cNvPr id="59" name="TextBox 58">
                <a:extLst>
                  <a:ext uri="{FF2B5EF4-FFF2-40B4-BE49-F238E27FC236}">
                    <a16:creationId xmlns:a16="http://schemas.microsoft.com/office/drawing/2014/main" id="{D1BCF892-5637-CC96-8BFF-A173EB78EF25}"/>
                  </a:ext>
                </a:extLst>
              </p:cNvPr>
              <p:cNvSpPr txBox="1">
                <a:spLocks noRot="1" noChangeAspect="1" noMove="1" noResize="1" noEditPoints="1" noAdjustHandles="1" noChangeArrowheads="1" noChangeShapeType="1" noTextEdit="1"/>
              </p:cNvSpPr>
              <p:nvPr/>
            </p:nvSpPr>
            <p:spPr>
              <a:xfrm>
                <a:off x="2370005" y="5590601"/>
                <a:ext cx="1519519" cy="276999"/>
              </a:xfrm>
              <a:prstGeom prst="rect">
                <a:avLst/>
              </a:prstGeom>
              <a:blipFill>
                <a:blip r:embed="rId4"/>
                <a:stretch>
                  <a:fillRect b="-13043"/>
                </a:stretch>
              </a:blipFill>
            </p:spPr>
            <p:txBody>
              <a:bodyPr/>
              <a:lstStyle/>
              <a:p>
                <a:r>
                  <a:rPr lang="en-US">
                    <a:noFill/>
                  </a:rPr>
                  <a:t> </a:t>
                </a:r>
              </a:p>
            </p:txBody>
          </p:sp>
        </mc:Fallback>
      </mc:AlternateContent>
      <p:cxnSp>
        <p:nvCxnSpPr>
          <p:cNvPr id="75" name="Curved Connector 74">
            <a:extLst>
              <a:ext uri="{FF2B5EF4-FFF2-40B4-BE49-F238E27FC236}">
                <a16:creationId xmlns:a16="http://schemas.microsoft.com/office/drawing/2014/main" id="{D1DD7BA7-FE49-B492-A154-3F8DB9866462}"/>
              </a:ext>
            </a:extLst>
          </p:cNvPr>
          <p:cNvCxnSpPr>
            <a:cxnSpLocks/>
            <a:stCxn id="59" idx="2"/>
            <a:endCxn id="58" idx="2"/>
          </p:cNvCxnSpPr>
          <p:nvPr/>
        </p:nvCxnSpPr>
        <p:spPr>
          <a:xfrm rot="5400000" flipH="1">
            <a:off x="2429692" y="5167528"/>
            <a:ext cx="7695" cy="1392451"/>
          </a:xfrm>
          <a:prstGeom prst="curvedConnector3">
            <a:avLst>
              <a:gd name="adj1" fmla="val -2970760"/>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C2EC1E2-1970-3FCD-8E03-87237276E41A}"/>
                  </a:ext>
                </a:extLst>
              </p:cNvPr>
              <p:cNvSpPr txBox="1"/>
              <p:nvPr/>
            </p:nvSpPr>
            <p:spPr>
              <a:xfrm>
                <a:off x="4330453" y="4371563"/>
                <a:ext cx="4213673" cy="1963999"/>
              </a:xfrm>
              <a:prstGeom prst="rect">
                <a:avLst/>
              </a:prstGeom>
              <a:noFill/>
            </p:spPr>
            <p:txBody>
              <a:bodyPr wrap="square" rtlCol="0">
                <a:spAutoFit/>
              </a:bodyPr>
              <a:lstStyle/>
              <a:p>
                <a:r>
                  <a:rPr lang="en-US" altLang="zh-CN" sz="1200" b="1" dirty="0"/>
                  <a:t>Step 1: Initialization</a:t>
                </a:r>
              </a:p>
              <a:p>
                <a:r>
                  <a:rPr lang="en-US" altLang="zh-CN" sz="1200" dirty="0"/>
                  <a:t>	Initialize the parameters </a:t>
                </a:r>
                <a14:m>
                  <m:oMath xmlns:m="http://schemas.openxmlformats.org/officeDocument/2006/math">
                    <m:r>
                      <a:rPr lang="en-US" sz="1200" b="0" i="1" dirty="0" smtClean="0">
                        <a:latin typeface="Cambria Math" panose="02040503050406030204" pitchFamily="18" charset="0"/>
                      </a:rPr>
                      <m:t>𝜃</m:t>
                    </m:r>
                  </m:oMath>
                </a14:m>
                <a:r>
                  <a:rPr lang="en-US" altLang="zh-CN" sz="1200" dirty="0"/>
                  <a:t> to some random values</a:t>
                </a:r>
              </a:p>
              <a:p>
                <a:r>
                  <a:rPr lang="en-US" altLang="zh-CN" sz="1200" b="1" dirty="0"/>
                  <a:t>Step 2: Expectation (E) step</a:t>
                </a:r>
              </a:p>
              <a:p>
                <a:r>
                  <a:rPr lang="en-US" altLang="zh-CN" sz="1200" dirty="0"/>
                  <a:t>	Compute the probability of each possible value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𝑍</m:t>
                    </m:r>
                  </m:oMath>
                </a14:m>
                <a:r>
                  <a:rPr lang="en-US" altLang="zh-CN" sz="1200" dirty="0"/>
                  <a:t> given </a:t>
                </a:r>
              </a:p>
              <a:p>
                <a:r>
                  <a:rPr lang="en-US" altLang="zh-CN" sz="1200" dirty="0"/>
                  <a:t>	the current</a:t>
                </a:r>
                <a14:m>
                  <m:oMath xmlns:m="http://schemas.openxmlformats.org/officeDocument/2006/math">
                    <m:r>
                      <a:rPr lang="en-US" sz="1200" b="0" i="0" dirty="0" smtClean="0">
                        <a:latin typeface="Cambria Math" panose="02040503050406030204" pitchFamily="18" charset="0"/>
                      </a:rPr>
                      <m:t> </m:t>
                    </m:r>
                    <m:sSup>
                      <m:sSupPr>
                        <m:ctrlPr>
                          <a:rPr lang="en-US" sz="1200" i="1" dirty="0">
                            <a:latin typeface="Cambria Math" panose="02040503050406030204" pitchFamily="18" charset="0"/>
                          </a:rPr>
                        </m:ctrlPr>
                      </m:sSupPr>
                      <m:e>
                        <m:r>
                          <a:rPr lang="en-US" sz="1200" b="0" i="1" dirty="0" smtClean="0">
                            <a:latin typeface="Cambria Math" panose="02040503050406030204" pitchFamily="18" charset="0"/>
                          </a:rPr>
                          <m:t>𝜃</m:t>
                        </m:r>
                      </m:e>
                      <m:sup>
                        <m:d>
                          <m:dPr>
                            <m:ctrlPr>
                              <a:rPr lang="en-US" sz="1200" i="1" dirty="0">
                                <a:latin typeface="Cambria Math" panose="02040503050406030204" pitchFamily="18" charset="0"/>
                              </a:rPr>
                            </m:ctrlPr>
                          </m:dPr>
                          <m:e>
                            <m:r>
                              <a:rPr lang="en-US" sz="1200" b="0" i="1" dirty="0" smtClean="0">
                                <a:latin typeface="Cambria Math" panose="02040503050406030204" pitchFamily="18" charset="0"/>
                              </a:rPr>
                              <m:t>𝑡</m:t>
                            </m:r>
                          </m:e>
                        </m:d>
                      </m:sup>
                    </m:sSup>
                  </m:oMath>
                </a14:m>
                <a:endParaRPr lang="en-US" altLang="zh-CN" sz="1200" dirty="0"/>
              </a:p>
              <a:p>
                <a:r>
                  <a:rPr lang="en-US" sz="1200" b="1" dirty="0"/>
                  <a:t>Step 3: Maximum (M) step</a:t>
                </a:r>
              </a:p>
              <a:p>
                <a:r>
                  <a:rPr lang="en-US" sz="1200" dirty="0">
                    <a:latin typeface="Calibri" panose="020F0502020204030204" pitchFamily="34" charset="0"/>
                    <a:cs typeface="Calibri" panose="020F0502020204030204" pitchFamily="34" charset="0"/>
                  </a:rPr>
                  <a:t>	Use the just-computed values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𝑍</m:t>
                    </m:r>
                  </m:oMath>
                </a14:m>
                <a:r>
                  <a:rPr lang="en-US" sz="1200" dirty="0">
                    <a:latin typeface="Calibri" panose="020F0502020204030204" pitchFamily="34" charset="0"/>
                    <a:cs typeface="Calibri" panose="020F0502020204030204" pitchFamily="34" charset="0"/>
                  </a:rPr>
                  <a:t> to compute a better 	estimate for the parameters</a:t>
                </a:r>
                <a14:m>
                  <m:oMath xmlns:m="http://schemas.openxmlformats.org/officeDocument/2006/math">
                    <m:r>
                      <a:rPr lang="en-US" sz="1200" b="0" i="0" dirty="0" smtClean="0">
                        <a:latin typeface="Cambria Math" panose="02040503050406030204" pitchFamily="18" charset="0"/>
                      </a:rPr>
                      <m:t> </m:t>
                    </m:r>
                    <m:sSup>
                      <m:sSupPr>
                        <m:ctrlPr>
                          <a:rPr lang="en-US" sz="1200" i="1" dirty="0">
                            <a:latin typeface="Cambria Math" panose="02040503050406030204" pitchFamily="18" charset="0"/>
                          </a:rPr>
                        </m:ctrlPr>
                      </m:sSupPr>
                      <m:e>
                        <m:r>
                          <a:rPr lang="en-US" sz="1200" b="0" i="1" dirty="0" smtClean="0">
                            <a:latin typeface="Cambria Math" panose="02040503050406030204" pitchFamily="18" charset="0"/>
                          </a:rPr>
                          <m:t>𝜃</m:t>
                        </m:r>
                      </m:e>
                      <m:sup>
                        <m:d>
                          <m:dPr>
                            <m:ctrlPr>
                              <a:rPr lang="en-US" sz="1200" i="1" dirty="0">
                                <a:latin typeface="Cambria Math" panose="02040503050406030204" pitchFamily="18" charset="0"/>
                              </a:rPr>
                            </m:ctrlPr>
                          </m:dPr>
                          <m:e>
                            <m:r>
                              <a:rPr lang="en-US" sz="1200" b="0" i="1" dirty="0" smtClean="0">
                                <a:latin typeface="Cambria Math" panose="02040503050406030204" pitchFamily="18" charset="0"/>
                              </a:rPr>
                              <m:t>𝑡</m:t>
                            </m:r>
                            <m:r>
                              <a:rPr lang="en-US" sz="1200" b="0" i="1" dirty="0" smtClean="0">
                                <a:latin typeface="Cambria Math" panose="02040503050406030204" pitchFamily="18" charset="0"/>
                              </a:rPr>
                              <m:t>+1</m:t>
                            </m:r>
                          </m:e>
                        </m:d>
                      </m:sup>
                    </m:sSup>
                  </m:oMath>
                </a14:m>
                <a:endParaRPr lang="en-US" sz="1200" dirty="0">
                  <a:latin typeface="Calibri" panose="020F0502020204030204" pitchFamily="34" charset="0"/>
                </a:endParaRPr>
              </a:p>
              <a:p>
                <a:endParaRPr lang="en-US" sz="1200" dirty="0">
                  <a:latin typeface="Calibri" panose="020F0502020204030204" pitchFamily="34" charset="0"/>
                  <a:cs typeface="Calibri" panose="020F0502020204030204" pitchFamily="34" charset="0"/>
                </a:endParaRPr>
              </a:p>
              <a:p>
                <a:r>
                  <a:rPr lang="en-US" sz="1200" b="1" dirty="0">
                    <a:latin typeface="Calibri" panose="020F0502020204030204" pitchFamily="34" charset="0"/>
                    <a:cs typeface="Calibri" panose="020F0502020204030204" pitchFamily="34" charset="0"/>
                  </a:rPr>
                  <a:t>Iterate steps 2 and 3 until convergence.</a:t>
                </a:r>
                <a:endParaRPr lang="en-US" sz="1200" b="1" dirty="0">
                  <a:latin typeface="Calibri" panose="020F0502020204030204" pitchFamily="34" charset="0"/>
                  <a:ea typeface="Cambria Math" panose="02040503050406030204" pitchFamily="18"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FC2EC1E2-1970-3FCD-8E03-87237276E41A}"/>
                  </a:ext>
                </a:extLst>
              </p:cNvPr>
              <p:cNvSpPr txBox="1">
                <a:spLocks noRot="1" noChangeAspect="1" noMove="1" noResize="1" noEditPoints="1" noAdjustHandles="1" noChangeArrowheads="1" noChangeShapeType="1" noTextEdit="1"/>
              </p:cNvSpPr>
              <p:nvPr/>
            </p:nvSpPr>
            <p:spPr>
              <a:xfrm>
                <a:off x="4330453" y="4371563"/>
                <a:ext cx="4213673" cy="1963999"/>
              </a:xfrm>
              <a:prstGeom prst="rect">
                <a:avLst/>
              </a:prstGeom>
              <a:blipFill>
                <a:blip r:embed="rId5"/>
                <a:stretch>
                  <a:fillRect r="-601" b="-193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F288F0B-AADA-A4A7-688F-EA32BAE0E827}"/>
              </a:ext>
            </a:extLst>
          </p:cNvPr>
          <p:cNvSpPr txBox="1"/>
          <p:nvPr/>
        </p:nvSpPr>
        <p:spPr>
          <a:xfrm>
            <a:off x="2334006" y="4079527"/>
            <a:ext cx="4475988" cy="338554"/>
          </a:xfrm>
          <a:prstGeom prst="rect">
            <a:avLst/>
          </a:prstGeom>
          <a:noFill/>
        </p:spPr>
        <p:txBody>
          <a:bodyPr wrap="square" rtlCol="0" anchor="ctr">
            <a:spAutoFit/>
          </a:bodyPr>
          <a:lstStyle/>
          <a:p>
            <a:pPr algn="ctr"/>
            <a:r>
              <a:rPr lang="en-US" sz="1600" b="1" dirty="0"/>
              <a:t>EM algorithm</a:t>
            </a:r>
          </a:p>
        </p:txBody>
      </p:sp>
      <mc:AlternateContent xmlns:mc="http://schemas.openxmlformats.org/markup-compatibility/2006" xmlns:a14="http://schemas.microsoft.com/office/drawing/2010/main">
        <mc:Choice Requires="a14">
          <p:graphicFrame>
            <p:nvGraphicFramePr>
              <p:cNvPr id="32" name="Table 31">
                <a:extLst>
                  <a:ext uri="{FF2B5EF4-FFF2-40B4-BE49-F238E27FC236}">
                    <a16:creationId xmlns:a16="http://schemas.microsoft.com/office/drawing/2014/main" id="{573A9811-9579-BFA1-5DC4-D67E2BE54B2A}"/>
                  </a:ext>
                </a:extLst>
              </p:cNvPr>
              <p:cNvGraphicFramePr>
                <a:graphicFrameLocks noGrp="1"/>
              </p:cNvGraphicFramePr>
              <p:nvPr>
                <p:extLst>
                  <p:ext uri="{D42A27DB-BD31-4B8C-83A1-F6EECF244321}">
                    <p14:modId xmlns:p14="http://schemas.microsoft.com/office/powerpoint/2010/main" val="1520522974"/>
                  </p:ext>
                </p:extLst>
              </p:nvPr>
            </p:nvGraphicFramePr>
            <p:xfrm>
              <a:off x="828444" y="6698973"/>
              <a:ext cx="7487112" cy="2086472"/>
            </p:xfrm>
            <a:graphic>
              <a:graphicData uri="http://schemas.openxmlformats.org/drawingml/2006/table">
                <a:tbl>
                  <a:tblPr firstRow="1" bandRow="1">
                    <a:tableStyleId>{5C22544A-7EE6-4342-B048-85BDC9FD1C3A}</a:tableStyleId>
                  </a:tblPr>
                  <a:tblGrid>
                    <a:gridCol w="1871778">
                      <a:extLst>
                        <a:ext uri="{9D8B030D-6E8A-4147-A177-3AD203B41FA5}">
                          <a16:colId xmlns:a16="http://schemas.microsoft.com/office/drawing/2014/main" val="3933975400"/>
                        </a:ext>
                      </a:extLst>
                    </a:gridCol>
                    <a:gridCol w="1871778">
                      <a:extLst>
                        <a:ext uri="{9D8B030D-6E8A-4147-A177-3AD203B41FA5}">
                          <a16:colId xmlns:a16="http://schemas.microsoft.com/office/drawing/2014/main" val="1254274657"/>
                        </a:ext>
                      </a:extLst>
                    </a:gridCol>
                    <a:gridCol w="1871778">
                      <a:extLst>
                        <a:ext uri="{9D8B030D-6E8A-4147-A177-3AD203B41FA5}">
                          <a16:colId xmlns:a16="http://schemas.microsoft.com/office/drawing/2014/main" val="214067056"/>
                        </a:ext>
                      </a:extLst>
                    </a:gridCol>
                    <a:gridCol w="1871778">
                      <a:extLst>
                        <a:ext uri="{9D8B030D-6E8A-4147-A177-3AD203B41FA5}">
                          <a16:colId xmlns:a16="http://schemas.microsoft.com/office/drawing/2014/main" val="1544898864"/>
                        </a:ext>
                      </a:extLst>
                    </a:gridCol>
                  </a:tblGrid>
                  <a:tr h="349112">
                    <a:tc>
                      <a:txBody>
                        <a:bodyPr/>
                        <a:lstStyle/>
                        <a:p>
                          <a:r>
                            <a:rPr lang="en-US" sz="1200" dirty="0"/>
                            <a:t>Application</a:t>
                          </a:r>
                        </a:p>
                      </a:txBody>
                      <a:tcPr anchor="ctr"/>
                    </a:tc>
                    <a:tc>
                      <a:txBody>
                        <a:bodyPr/>
                        <a:lstStyle/>
                        <a:p>
                          <a:r>
                            <a:rPr lang="en-US" sz="1200" dirty="0"/>
                            <a:t>Parameter (</a:t>
                          </a:r>
                          <a14:m>
                            <m:oMath xmlns:m="http://schemas.openxmlformats.org/officeDocument/2006/math">
                              <m:r>
                                <a:rPr lang="el-GR" sz="1200" b="0" i="1" smtClean="0">
                                  <a:latin typeface="Cambria Math" panose="02040503050406030204" pitchFamily="18" charset="0"/>
                                  <a:ea typeface="Cambria Math" panose="02040503050406030204" pitchFamily="18" charset="0"/>
                                </a:rPr>
                                <m:t>𝜃</m:t>
                              </m:r>
                            </m:oMath>
                          </a14:m>
                          <a:r>
                            <a:rPr lang="en-US" sz="1200" dirty="0"/>
                            <a:t>)</a:t>
                          </a:r>
                        </a:p>
                      </a:txBody>
                      <a:tcPr anchor="ctr"/>
                    </a:tc>
                    <a:tc>
                      <a:txBody>
                        <a:bodyPr/>
                        <a:lstStyle/>
                        <a:p>
                          <a:r>
                            <a:rPr lang="en-US" sz="1200" dirty="0"/>
                            <a:t>Latent variable (</a:t>
                          </a:r>
                          <a14:m>
                            <m:oMath xmlns:m="http://schemas.openxmlformats.org/officeDocument/2006/math">
                              <m:r>
                                <a:rPr lang="en-US" sz="1200" b="1" i="1" smtClean="0">
                                  <a:latin typeface="Cambria Math" panose="02040503050406030204" pitchFamily="18" charset="0"/>
                                  <a:ea typeface="Cambria Math" panose="02040503050406030204" pitchFamily="18" charset="0"/>
                                </a:rPr>
                                <m:t>𝒁</m:t>
                              </m:r>
                            </m:oMath>
                          </a14:m>
                          <a:r>
                            <a:rPr lang="en-US" sz="1200" dirty="0"/>
                            <a:t>)</a:t>
                          </a:r>
                        </a:p>
                      </a:txBody>
                      <a:tcPr anchor="ctr"/>
                    </a:tc>
                    <a:tc>
                      <a:txBody>
                        <a:bodyPr/>
                        <a:lstStyle/>
                        <a:p>
                          <a:r>
                            <a:rPr lang="en-US" sz="1200" dirty="0"/>
                            <a:t>Software</a:t>
                          </a:r>
                        </a:p>
                      </a:txBody>
                      <a:tcPr anchor="ctr"/>
                    </a:tc>
                    <a:extLst>
                      <a:ext uri="{0D108BD9-81ED-4DB2-BD59-A6C34878D82A}">
                        <a16:rowId xmlns:a16="http://schemas.microsoft.com/office/drawing/2014/main" val="4059003377"/>
                      </a:ext>
                    </a:extLst>
                  </a:tr>
                  <a:tr h="430412">
                    <a:tc>
                      <a:txBody>
                        <a:bodyPr/>
                        <a:lstStyle/>
                        <a:p>
                          <a:r>
                            <a:rPr lang="en-US" sz="1200" dirty="0">
                              <a:latin typeface="Calibri" panose="020F0502020204030204" pitchFamily="34" charset="0"/>
                              <a:cs typeface="Calibri" panose="020F0502020204030204" pitchFamily="34" charset="0"/>
                            </a:rPr>
                            <a:t>MAF Estimation with Genotyping Errors</a:t>
                          </a:r>
                          <a:endParaRPr lang="en-US" sz="1200" dirty="0"/>
                        </a:p>
                      </a:txBody>
                      <a:tcPr anchor="ctr"/>
                    </a:tc>
                    <a:tc>
                      <a:txBody>
                        <a:bodyPr/>
                        <a:lstStyle/>
                        <a:p>
                          <a:r>
                            <a:rPr lang="en-US" sz="1200" dirty="0"/>
                            <a:t>MAF;</a:t>
                          </a:r>
                          <a:br>
                            <a:rPr lang="en-US" sz="1200" dirty="0"/>
                          </a:br>
                          <a:r>
                            <a:rPr lang="en-US" sz="1200" dirty="0"/>
                            <a:t>genotyping error rate</a:t>
                          </a:r>
                        </a:p>
                      </a:txBody>
                      <a:tcPr anchor="ctr"/>
                    </a:tc>
                    <a:tc>
                      <a:txBody>
                        <a:bodyPr/>
                        <a:lstStyle/>
                        <a:p>
                          <a:r>
                            <a:rPr lang="en-US" sz="1200" dirty="0"/>
                            <a:t>True genotypes at each individual</a:t>
                          </a:r>
                        </a:p>
                      </a:txBody>
                      <a:tcPr anchor="ctr"/>
                    </a:tc>
                    <a:tc>
                      <a:txBody>
                        <a:bodyPr/>
                        <a:lstStyle/>
                        <a:p>
                          <a:r>
                            <a:rPr lang="en-US" sz="1200" dirty="0"/>
                            <a:t>GATK</a:t>
                          </a:r>
                        </a:p>
                      </a:txBody>
                      <a:tcPr anchor="ctr"/>
                    </a:tc>
                    <a:extLst>
                      <a:ext uri="{0D108BD9-81ED-4DB2-BD59-A6C34878D82A}">
                        <a16:rowId xmlns:a16="http://schemas.microsoft.com/office/drawing/2014/main" val="2220048645"/>
                      </a:ext>
                    </a:extLst>
                  </a:tr>
                  <a:tr h="774741">
                    <a:tc>
                      <a:txBody>
                        <a:bodyPr/>
                        <a:lstStyle/>
                        <a:p>
                          <a:r>
                            <a:rPr lang="en-US" sz="1200" b="0" i="0" u="none" strike="noStrike" kern="1200" dirty="0">
                              <a:solidFill>
                                <a:schemeClr val="dk1"/>
                              </a:solidFill>
                              <a:effectLst/>
                              <a:latin typeface="+mn-lt"/>
                              <a:ea typeface="+mn-ea"/>
                              <a:cs typeface="+mn-cs"/>
                            </a:rPr>
                            <a:t>Local Ancestry Inference</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Allele frequencies in ancestral populations; ancestry transition rates along chromosome</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Local ancestry state (which ancestral population) at each genomic position for each haplotype</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ELAI</a:t>
                          </a:r>
                        </a:p>
                        <a:p>
                          <a:r>
                            <a:rPr lang="en-US" sz="1200" b="0" i="0" u="none" strike="noStrike" kern="1200" dirty="0" err="1">
                              <a:solidFill>
                                <a:schemeClr val="dk1"/>
                              </a:solidFill>
                              <a:effectLst/>
                              <a:latin typeface="+mn-lt"/>
                              <a:ea typeface="+mn-ea"/>
                              <a:cs typeface="+mn-cs"/>
                            </a:rPr>
                            <a:t>RFMix</a:t>
                          </a:r>
                          <a:endParaRPr lang="en-US" sz="1200" b="0" i="0" u="none" strike="noStrike" kern="1200" dirty="0">
                            <a:solidFill>
                              <a:schemeClr val="dk1"/>
                            </a:solidFill>
                            <a:effectLst/>
                            <a:latin typeface="+mn-lt"/>
                            <a:ea typeface="+mn-ea"/>
                            <a:cs typeface="+mn-cs"/>
                          </a:endParaRPr>
                        </a:p>
                        <a:p>
                          <a:endParaRPr lang="en-US" sz="1200" dirty="0"/>
                        </a:p>
                      </a:txBody>
                      <a:tcPr anchor="ctr"/>
                    </a:tc>
                    <a:extLst>
                      <a:ext uri="{0D108BD9-81ED-4DB2-BD59-A6C34878D82A}">
                        <a16:rowId xmlns:a16="http://schemas.microsoft.com/office/drawing/2014/main" val="1907644606"/>
                      </a:ext>
                    </a:extLst>
                  </a:tr>
                  <a:tr h="430412">
                    <a:tc>
                      <a:txBody>
                        <a:bodyPr/>
                        <a:lstStyle/>
                        <a:p>
                          <a:r>
                            <a:rPr lang="en-US" sz="1200" b="0" i="0" u="none" strike="noStrike" kern="1200" dirty="0">
                              <a:solidFill>
                                <a:schemeClr val="dk1"/>
                              </a:solidFill>
                              <a:effectLst/>
                              <a:latin typeface="+mn-lt"/>
                              <a:ea typeface="+mn-ea"/>
                              <a:cs typeface="+mn-cs"/>
                            </a:rPr>
                            <a:t>Ancestry Estimation</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Allele frequencies in each ancestral population</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Ancestry proportion for each individual</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STRUCTURE</a:t>
                          </a:r>
                        </a:p>
                        <a:p>
                          <a:r>
                            <a:rPr lang="en-US" sz="1200" b="0" i="0" u="none" strike="noStrike" kern="1200" dirty="0">
                              <a:solidFill>
                                <a:schemeClr val="dk1"/>
                              </a:solidFill>
                              <a:effectLst/>
                              <a:latin typeface="+mn-lt"/>
                              <a:ea typeface="+mn-ea"/>
                              <a:cs typeface="+mn-cs"/>
                            </a:rPr>
                            <a:t>ADMIXTURE</a:t>
                          </a:r>
                          <a:endParaRPr lang="en-US" sz="1200" dirty="0"/>
                        </a:p>
                      </a:txBody>
                      <a:tcPr anchor="ctr"/>
                    </a:tc>
                    <a:extLst>
                      <a:ext uri="{0D108BD9-81ED-4DB2-BD59-A6C34878D82A}">
                        <a16:rowId xmlns:a16="http://schemas.microsoft.com/office/drawing/2014/main" val="4093025528"/>
                      </a:ext>
                    </a:extLst>
                  </a:tr>
                </a:tbl>
              </a:graphicData>
            </a:graphic>
          </p:graphicFrame>
        </mc:Choice>
        <mc:Fallback xmlns="">
          <p:graphicFrame>
            <p:nvGraphicFramePr>
              <p:cNvPr id="32" name="Table 31">
                <a:extLst>
                  <a:ext uri="{FF2B5EF4-FFF2-40B4-BE49-F238E27FC236}">
                    <a16:creationId xmlns:a16="http://schemas.microsoft.com/office/drawing/2014/main" id="{573A9811-9579-BFA1-5DC4-D67E2BE54B2A}"/>
                  </a:ext>
                </a:extLst>
              </p:cNvPr>
              <p:cNvGraphicFramePr>
                <a:graphicFrameLocks noGrp="1"/>
              </p:cNvGraphicFramePr>
              <p:nvPr>
                <p:extLst>
                  <p:ext uri="{D42A27DB-BD31-4B8C-83A1-F6EECF244321}">
                    <p14:modId xmlns:p14="http://schemas.microsoft.com/office/powerpoint/2010/main" val="1520522974"/>
                  </p:ext>
                </p:extLst>
              </p:nvPr>
            </p:nvGraphicFramePr>
            <p:xfrm>
              <a:off x="828444" y="6698973"/>
              <a:ext cx="7487112" cy="2086472"/>
            </p:xfrm>
            <a:graphic>
              <a:graphicData uri="http://schemas.openxmlformats.org/drawingml/2006/table">
                <a:tbl>
                  <a:tblPr firstRow="1" bandRow="1">
                    <a:tableStyleId>{5C22544A-7EE6-4342-B048-85BDC9FD1C3A}</a:tableStyleId>
                  </a:tblPr>
                  <a:tblGrid>
                    <a:gridCol w="1871778">
                      <a:extLst>
                        <a:ext uri="{9D8B030D-6E8A-4147-A177-3AD203B41FA5}">
                          <a16:colId xmlns:a16="http://schemas.microsoft.com/office/drawing/2014/main" val="3933975400"/>
                        </a:ext>
                      </a:extLst>
                    </a:gridCol>
                    <a:gridCol w="1871778">
                      <a:extLst>
                        <a:ext uri="{9D8B030D-6E8A-4147-A177-3AD203B41FA5}">
                          <a16:colId xmlns:a16="http://schemas.microsoft.com/office/drawing/2014/main" val="1254274657"/>
                        </a:ext>
                      </a:extLst>
                    </a:gridCol>
                    <a:gridCol w="1871778">
                      <a:extLst>
                        <a:ext uri="{9D8B030D-6E8A-4147-A177-3AD203B41FA5}">
                          <a16:colId xmlns:a16="http://schemas.microsoft.com/office/drawing/2014/main" val="214067056"/>
                        </a:ext>
                      </a:extLst>
                    </a:gridCol>
                    <a:gridCol w="1871778">
                      <a:extLst>
                        <a:ext uri="{9D8B030D-6E8A-4147-A177-3AD203B41FA5}">
                          <a16:colId xmlns:a16="http://schemas.microsoft.com/office/drawing/2014/main" val="1544898864"/>
                        </a:ext>
                      </a:extLst>
                    </a:gridCol>
                  </a:tblGrid>
                  <a:tr h="349112">
                    <a:tc>
                      <a:txBody>
                        <a:bodyPr/>
                        <a:lstStyle/>
                        <a:p>
                          <a:r>
                            <a:rPr lang="en-US" sz="1200" dirty="0"/>
                            <a:t>Application</a:t>
                          </a:r>
                        </a:p>
                      </a:txBody>
                      <a:tcPr anchor="ctr"/>
                    </a:tc>
                    <a:tc>
                      <a:txBody>
                        <a:bodyPr/>
                        <a:lstStyle/>
                        <a:p>
                          <a:endParaRPr lang="en-US"/>
                        </a:p>
                      </a:txBody>
                      <a:tcPr anchor="ctr">
                        <a:blipFill>
                          <a:blip r:embed="rId6"/>
                          <a:stretch>
                            <a:fillRect l="-101361" t="-3571" r="-202721" b="-503571"/>
                          </a:stretch>
                        </a:blipFill>
                      </a:tcPr>
                    </a:tc>
                    <a:tc>
                      <a:txBody>
                        <a:bodyPr/>
                        <a:lstStyle/>
                        <a:p>
                          <a:endParaRPr lang="en-US"/>
                        </a:p>
                      </a:txBody>
                      <a:tcPr anchor="ctr">
                        <a:blipFill>
                          <a:blip r:embed="rId6"/>
                          <a:stretch>
                            <a:fillRect l="-200000" t="-3571" r="-101351" b="-503571"/>
                          </a:stretch>
                        </a:blipFill>
                      </a:tcPr>
                    </a:tc>
                    <a:tc>
                      <a:txBody>
                        <a:bodyPr/>
                        <a:lstStyle/>
                        <a:p>
                          <a:r>
                            <a:rPr lang="en-US" sz="1200" dirty="0"/>
                            <a:t>Software</a:t>
                          </a:r>
                        </a:p>
                      </a:txBody>
                      <a:tcPr anchor="ctr"/>
                    </a:tc>
                    <a:extLst>
                      <a:ext uri="{0D108BD9-81ED-4DB2-BD59-A6C34878D82A}">
                        <a16:rowId xmlns:a16="http://schemas.microsoft.com/office/drawing/2014/main" val="4059003377"/>
                      </a:ext>
                    </a:extLst>
                  </a:tr>
                  <a:tr h="457200">
                    <a:tc>
                      <a:txBody>
                        <a:bodyPr/>
                        <a:lstStyle/>
                        <a:p>
                          <a:r>
                            <a:rPr lang="en-US" sz="1200" dirty="0">
                              <a:latin typeface="Calibri" panose="020F0502020204030204" pitchFamily="34" charset="0"/>
                              <a:cs typeface="Calibri" panose="020F0502020204030204" pitchFamily="34" charset="0"/>
                            </a:rPr>
                            <a:t>MAF Estimation with Genotyping Errors</a:t>
                          </a:r>
                          <a:endParaRPr lang="en-US" sz="1200" dirty="0"/>
                        </a:p>
                      </a:txBody>
                      <a:tcPr anchor="ctr"/>
                    </a:tc>
                    <a:tc>
                      <a:txBody>
                        <a:bodyPr/>
                        <a:lstStyle/>
                        <a:p>
                          <a:r>
                            <a:rPr lang="en-US" sz="1200" dirty="0"/>
                            <a:t>MAF;</a:t>
                          </a:r>
                          <a:br>
                            <a:rPr lang="en-US" sz="1200" dirty="0"/>
                          </a:br>
                          <a:r>
                            <a:rPr lang="en-US" sz="1200" dirty="0"/>
                            <a:t>genotyping error rate</a:t>
                          </a:r>
                        </a:p>
                      </a:txBody>
                      <a:tcPr anchor="ctr"/>
                    </a:tc>
                    <a:tc>
                      <a:txBody>
                        <a:bodyPr/>
                        <a:lstStyle/>
                        <a:p>
                          <a:r>
                            <a:rPr lang="en-US" sz="1200" dirty="0"/>
                            <a:t>True genotypes at each individual</a:t>
                          </a:r>
                        </a:p>
                      </a:txBody>
                      <a:tcPr anchor="ctr"/>
                    </a:tc>
                    <a:tc>
                      <a:txBody>
                        <a:bodyPr/>
                        <a:lstStyle/>
                        <a:p>
                          <a:r>
                            <a:rPr lang="en-US" sz="1200" dirty="0"/>
                            <a:t>GATK</a:t>
                          </a:r>
                        </a:p>
                      </a:txBody>
                      <a:tcPr anchor="ctr"/>
                    </a:tc>
                    <a:extLst>
                      <a:ext uri="{0D108BD9-81ED-4DB2-BD59-A6C34878D82A}">
                        <a16:rowId xmlns:a16="http://schemas.microsoft.com/office/drawing/2014/main" val="2220048645"/>
                      </a:ext>
                    </a:extLst>
                  </a:tr>
                  <a:tr h="822960">
                    <a:tc>
                      <a:txBody>
                        <a:bodyPr/>
                        <a:lstStyle/>
                        <a:p>
                          <a:r>
                            <a:rPr lang="en-US" sz="1200" b="0" i="0" u="none" strike="noStrike" kern="1200" dirty="0">
                              <a:solidFill>
                                <a:schemeClr val="dk1"/>
                              </a:solidFill>
                              <a:effectLst/>
                              <a:latin typeface="+mn-lt"/>
                              <a:ea typeface="+mn-ea"/>
                              <a:cs typeface="+mn-cs"/>
                            </a:rPr>
                            <a:t>Local Ancestry Inference</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Allele frequencies in ancestral populations; ancestry transition rates along chromosome</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Local ancestry state (which ancestral population) at each genomic position for each haplotype</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ELAI</a:t>
                          </a:r>
                        </a:p>
                        <a:p>
                          <a:r>
                            <a:rPr lang="en-US" sz="1200" b="0" i="0" u="none" strike="noStrike" kern="1200" dirty="0" err="1">
                              <a:solidFill>
                                <a:schemeClr val="dk1"/>
                              </a:solidFill>
                              <a:effectLst/>
                              <a:latin typeface="+mn-lt"/>
                              <a:ea typeface="+mn-ea"/>
                              <a:cs typeface="+mn-cs"/>
                            </a:rPr>
                            <a:t>RFMix</a:t>
                          </a:r>
                          <a:endParaRPr lang="en-US" sz="1200" b="0" i="0" u="none" strike="noStrike" kern="1200" dirty="0">
                            <a:solidFill>
                              <a:schemeClr val="dk1"/>
                            </a:solidFill>
                            <a:effectLst/>
                            <a:latin typeface="+mn-lt"/>
                            <a:ea typeface="+mn-ea"/>
                            <a:cs typeface="+mn-cs"/>
                          </a:endParaRPr>
                        </a:p>
                        <a:p>
                          <a:endParaRPr lang="en-US" sz="1200" dirty="0"/>
                        </a:p>
                      </a:txBody>
                      <a:tcPr anchor="ctr"/>
                    </a:tc>
                    <a:extLst>
                      <a:ext uri="{0D108BD9-81ED-4DB2-BD59-A6C34878D82A}">
                        <a16:rowId xmlns:a16="http://schemas.microsoft.com/office/drawing/2014/main" val="1907644606"/>
                      </a:ext>
                    </a:extLst>
                  </a:tr>
                  <a:tr h="457200">
                    <a:tc>
                      <a:txBody>
                        <a:bodyPr/>
                        <a:lstStyle/>
                        <a:p>
                          <a:r>
                            <a:rPr lang="en-US" sz="1200" b="0" i="0" u="none" strike="noStrike" kern="1200" dirty="0">
                              <a:solidFill>
                                <a:schemeClr val="dk1"/>
                              </a:solidFill>
                              <a:effectLst/>
                              <a:latin typeface="+mn-lt"/>
                              <a:ea typeface="+mn-ea"/>
                              <a:cs typeface="+mn-cs"/>
                            </a:rPr>
                            <a:t>Ancestry Estimation</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Allele frequencies in each ancestral population</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Ancestry proportion for each individual</a:t>
                          </a:r>
                          <a:endParaRPr lang="en-US" sz="1200" dirty="0"/>
                        </a:p>
                      </a:txBody>
                      <a:tcPr anchor="ctr"/>
                    </a:tc>
                    <a:tc>
                      <a:txBody>
                        <a:bodyPr/>
                        <a:lstStyle/>
                        <a:p>
                          <a:r>
                            <a:rPr lang="en-US" sz="1200" b="0" i="0" u="none" strike="noStrike" kern="1200" dirty="0">
                              <a:solidFill>
                                <a:schemeClr val="dk1"/>
                              </a:solidFill>
                              <a:effectLst/>
                              <a:latin typeface="+mn-lt"/>
                              <a:ea typeface="+mn-ea"/>
                              <a:cs typeface="+mn-cs"/>
                            </a:rPr>
                            <a:t>STRUCTURE</a:t>
                          </a:r>
                        </a:p>
                        <a:p>
                          <a:r>
                            <a:rPr lang="en-US" sz="1200" b="0" i="0" u="none" strike="noStrike" kern="1200" dirty="0">
                              <a:solidFill>
                                <a:schemeClr val="dk1"/>
                              </a:solidFill>
                              <a:effectLst/>
                              <a:latin typeface="+mn-lt"/>
                              <a:ea typeface="+mn-ea"/>
                              <a:cs typeface="+mn-cs"/>
                            </a:rPr>
                            <a:t>ADMIXTURE</a:t>
                          </a:r>
                          <a:endParaRPr lang="en-US" sz="1200" dirty="0"/>
                        </a:p>
                      </a:txBody>
                      <a:tcPr anchor="ctr"/>
                    </a:tc>
                    <a:extLst>
                      <a:ext uri="{0D108BD9-81ED-4DB2-BD59-A6C34878D82A}">
                        <a16:rowId xmlns:a16="http://schemas.microsoft.com/office/drawing/2014/main" val="4093025528"/>
                      </a:ext>
                    </a:extLst>
                  </a:tr>
                </a:tbl>
              </a:graphicData>
            </a:graphic>
          </p:graphicFrame>
        </mc:Fallback>
      </mc:AlternateContent>
      <p:cxnSp>
        <p:nvCxnSpPr>
          <p:cNvPr id="41" name="Straight Arrow Connector 40">
            <a:extLst>
              <a:ext uri="{FF2B5EF4-FFF2-40B4-BE49-F238E27FC236}">
                <a16:creationId xmlns:a16="http://schemas.microsoft.com/office/drawing/2014/main" id="{8ACC073D-367E-DE7B-00C0-A6F8E5A624D2}"/>
              </a:ext>
            </a:extLst>
          </p:cNvPr>
          <p:cNvCxnSpPr>
            <a:cxnSpLocks/>
            <a:stCxn id="13" idx="6"/>
          </p:cNvCxnSpPr>
          <p:nvPr/>
        </p:nvCxnSpPr>
        <p:spPr>
          <a:xfrm>
            <a:off x="3541244" y="5188679"/>
            <a:ext cx="38262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01111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2352D8-779F-B8A1-06FE-C3DFEC81E289}"/>
              </a:ext>
            </a:extLst>
          </p:cNvPr>
          <p:cNvSpPr txBox="1"/>
          <p:nvPr/>
        </p:nvSpPr>
        <p:spPr>
          <a:xfrm>
            <a:off x="2334006" y="139038"/>
            <a:ext cx="4475988" cy="400110"/>
          </a:xfrm>
          <a:prstGeom prst="rect">
            <a:avLst/>
          </a:prstGeom>
          <a:noFill/>
        </p:spPr>
        <p:txBody>
          <a:bodyPr wrap="square" rtlCol="0" anchor="ctr">
            <a:spAutoFit/>
          </a:bodyPr>
          <a:lstStyle/>
          <a:p>
            <a:pPr algn="ctr"/>
            <a:r>
              <a:rPr lang="en-US" sz="2000" b="1" dirty="0"/>
              <a:t>Bayes’ Rule</a:t>
            </a:r>
          </a:p>
        </p:txBody>
      </p:sp>
      <p:sp>
        <p:nvSpPr>
          <p:cNvPr id="4" name="Rounded Rectangle 3">
            <a:extLst>
              <a:ext uri="{FF2B5EF4-FFF2-40B4-BE49-F238E27FC236}">
                <a16:creationId xmlns:a16="http://schemas.microsoft.com/office/drawing/2014/main" id="{5D826815-6AC3-D82C-644E-49A1B0F4D9EC}"/>
              </a:ext>
            </a:extLst>
          </p:cNvPr>
          <p:cNvSpPr/>
          <p:nvPr/>
        </p:nvSpPr>
        <p:spPr>
          <a:xfrm>
            <a:off x="439839" y="981519"/>
            <a:ext cx="8252748" cy="165579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 name="Rounded Rectangle 6">
            <a:extLst>
              <a:ext uri="{FF2B5EF4-FFF2-40B4-BE49-F238E27FC236}">
                <a16:creationId xmlns:a16="http://schemas.microsoft.com/office/drawing/2014/main" id="{2E556C71-CC47-3BA7-1D18-7E53612D307F}"/>
              </a:ext>
            </a:extLst>
          </p:cNvPr>
          <p:cNvSpPr/>
          <p:nvPr/>
        </p:nvSpPr>
        <p:spPr>
          <a:xfrm>
            <a:off x="439837" y="4845649"/>
            <a:ext cx="8252748" cy="377655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8" name="TextBox 7">
            <a:extLst>
              <a:ext uri="{FF2B5EF4-FFF2-40B4-BE49-F238E27FC236}">
                <a16:creationId xmlns:a16="http://schemas.microsoft.com/office/drawing/2014/main" id="{0CC82790-785E-6609-7611-CB579F4A3E55}"/>
              </a:ext>
            </a:extLst>
          </p:cNvPr>
          <p:cNvSpPr txBox="1"/>
          <p:nvPr/>
        </p:nvSpPr>
        <p:spPr>
          <a:xfrm>
            <a:off x="1785410" y="4924021"/>
            <a:ext cx="5350845" cy="338554"/>
          </a:xfrm>
          <a:prstGeom prst="rect">
            <a:avLst/>
          </a:prstGeom>
          <a:noFill/>
        </p:spPr>
        <p:txBody>
          <a:bodyPr wrap="square" rtlCol="0" anchor="ctr">
            <a:spAutoFit/>
          </a:bodyPr>
          <a:lstStyle/>
          <a:p>
            <a:pPr algn="ctr"/>
            <a:r>
              <a:rPr lang="en-US" sz="1600" b="1" dirty="0"/>
              <a:t>Bayes’ Rule Components: Prior, Likelihood, Posterior</a:t>
            </a:r>
            <a:endParaRPr lang="en-US" sz="1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A805C7D-6B0F-F4C3-A311-52A7116FC8E0}"/>
                  </a:ext>
                </a:extLst>
              </p:cNvPr>
              <p:cNvSpPr txBox="1"/>
              <p:nvPr/>
            </p:nvSpPr>
            <p:spPr>
              <a:xfrm>
                <a:off x="5340725" y="5597477"/>
                <a:ext cx="3351860" cy="2677656"/>
              </a:xfrm>
              <a:prstGeom prst="rect">
                <a:avLst/>
              </a:prstGeom>
              <a:noFill/>
            </p:spPr>
            <p:txBody>
              <a:bodyPr wrap="square" rtlCol="0">
                <a:spAutoFit/>
              </a:bodyPr>
              <a:lstStyle/>
              <a:p>
                <a:pPr marL="171450" indent="-171450" algn="just">
                  <a:buFont typeface="Arial" panose="020B0604020202020204" pitchFamily="34" charset="0"/>
                  <a:buChar char="•"/>
                </a:pPr>
                <a:r>
                  <a:rPr lang="en-US" sz="1200" b="1" dirty="0"/>
                  <a:t>Prior belief favored moderate effect and large effect slightly</a:t>
                </a:r>
                <a:r>
                  <a:rPr lang="en-US" sz="1200" dirty="0"/>
                  <a:t>: Started with 20% confidence in Model 1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𝛽</m:t>
                    </m:r>
                    <m:r>
                      <a:rPr lang="en-US" sz="1200" i="1" smtClean="0">
                        <a:solidFill>
                          <a:schemeClr val="tx1"/>
                        </a:solidFill>
                        <a:latin typeface="Cambria Math" panose="02040503050406030204" pitchFamily="18" charset="0"/>
                        <a:ea typeface="Cambria Math" panose="02040503050406030204" pitchFamily="18" charset="0"/>
                      </a:rPr>
                      <m:t>=0</m:t>
                    </m:r>
                  </m:oMath>
                </a14:m>
                <a:r>
                  <a:rPr lang="en-US" sz="1200" dirty="0"/>
                  <a:t>), 40% in Model 2 (</a:t>
                </a:r>
                <a14:m>
                  <m:oMath xmlns:m="http://schemas.openxmlformats.org/officeDocument/2006/math">
                    <m:r>
                      <a:rPr lang="en-US" sz="1200" i="1">
                        <a:latin typeface="Cambria Math" panose="02040503050406030204" pitchFamily="18" charset="0"/>
                        <a:ea typeface="Cambria Math" panose="02040503050406030204" pitchFamily="18" charset="0"/>
                      </a:rPr>
                      <m:t>𝛽</m:t>
                    </m:r>
                    <m:r>
                      <a:rPr lang="en-US" sz="1200" i="1">
                        <a:latin typeface="Cambria Math" panose="02040503050406030204" pitchFamily="18" charset="0"/>
                        <a:ea typeface="Cambria Math" panose="02040503050406030204" pitchFamily="18" charset="0"/>
                      </a:rPr>
                      <m:t>=0.5</m:t>
                    </m:r>
                  </m:oMath>
                </a14:m>
                <a:r>
                  <a:rPr lang="en-US" sz="1200" dirty="0"/>
                  <a:t>) and 40% in Model 3 (</a:t>
                </a:r>
                <a14:m>
                  <m:oMath xmlns:m="http://schemas.openxmlformats.org/officeDocument/2006/math">
                    <m:r>
                      <a:rPr lang="en-US" sz="1200" i="1">
                        <a:latin typeface="Cambria Math" panose="02040503050406030204" pitchFamily="18" charset="0"/>
                        <a:ea typeface="Cambria Math" panose="02040503050406030204" pitchFamily="18" charset="0"/>
                      </a:rPr>
                      <m:t>𝛽</m:t>
                    </m:r>
                    <m:r>
                      <a:rPr lang="en-US" sz="1200" i="1">
                        <a:latin typeface="Cambria Math" panose="02040503050406030204" pitchFamily="18" charset="0"/>
                        <a:ea typeface="Cambria Math" panose="02040503050406030204" pitchFamily="18" charset="0"/>
                      </a:rPr>
                      <m:t>=1</m:t>
                    </m:r>
                  </m:oMath>
                </a14:m>
                <a:r>
                  <a:rPr lang="en-US" sz="1200" dirty="0"/>
                  <a:t>)</a:t>
                </a:r>
                <a:endParaRPr lang="el-GR" sz="1200" dirty="0"/>
              </a:p>
              <a:p>
                <a:pPr marL="171450" indent="-171450" algn="just">
                  <a:buFont typeface="Arial" panose="020B0604020202020204" pitchFamily="34" charset="0"/>
                  <a:buChar char="•"/>
                </a:pPr>
                <a:r>
                  <a:rPr lang="en-US" sz="1200" b="1" dirty="0"/>
                  <a:t>Data supported moderate effect: </a:t>
                </a:r>
                <a:r>
                  <a:rPr lang="en-US" sz="1200" dirty="0"/>
                  <a:t>Likelihood was highest for Model 2 (</a:t>
                </a:r>
                <a14:m>
                  <m:oMath xmlns:m="http://schemas.openxmlformats.org/officeDocument/2006/math">
                    <m:r>
                      <a:rPr lang="en-US" sz="1200" i="1">
                        <a:latin typeface="Cambria Math" panose="02040503050406030204" pitchFamily="18" charset="0"/>
                        <a:ea typeface="Cambria Math" panose="02040503050406030204" pitchFamily="18" charset="0"/>
                      </a:rPr>
                      <m:t>𝛽</m:t>
                    </m:r>
                    <m:r>
                      <a:rPr lang="en-US" sz="1200" i="1">
                        <a:latin typeface="Cambria Math" panose="02040503050406030204" pitchFamily="18" charset="0"/>
                        <a:ea typeface="Cambria Math" panose="02040503050406030204" pitchFamily="18" charset="0"/>
                      </a:rPr>
                      <m:t>=0.5</m:t>
                    </m:r>
                  </m:oMath>
                </a14:m>
                <a:r>
                  <a:rPr lang="en-US" sz="1200" dirty="0"/>
                  <a:t>)</a:t>
                </a:r>
              </a:p>
              <a:p>
                <a:pPr marL="171450" indent="-171450" algn="just">
                  <a:buFont typeface="Arial" panose="020B0604020202020204" pitchFamily="34" charset="0"/>
                  <a:buChar char="•"/>
                </a:pPr>
                <a:r>
                  <a:rPr lang="en-US" sz="1200" b="1" dirty="0"/>
                  <a:t>Posterior balanced both sources: </a:t>
                </a:r>
                <a:r>
                  <a:rPr lang="en-US" sz="1200" dirty="0"/>
                  <a:t>Updated belief supports Model 2 over the other two</a:t>
                </a:r>
                <a:endParaRPr lang="el-GR" sz="1200" dirty="0"/>
              </a:p>
              <a:p>
                <a:pPr marL="171450" indent="-171450" algn="just">
                  <a:buFont typeface="Arial" panose="020B0604020202020204" pitchFamily="34" charset="0"/>
                  <a:buChar char="•"/>
                </a:pPr>
                <a:r>
                  <a:rPr lang="en-US" sz="1200" b="1" dirty="0"/>
                  <a:t>Conclusion: </a:t>
                </a:r>
                <a:r>
                  <a:rPr lang="en-US" sz="1200" dirty="0"/>
                  <a:t>Despite Models 2 and 3 having equal priors, Model 2 becomes most probable because the data strongly favor it over Model 3</a:t>
                </a:r>
              </a:p>
              <a:p>
                <a:pPr algn="just"/>
                <a:endParaRPr lang="en-US" sz="1200" dirty="0"/>
              </a:p>
              <a:p>
                <a:pPr algn="just"/>
                <a:r>
                  <a:rPr lang="en-US" sz="1200" b="1" dirty="0"/>
                  <a:t>Bayes rule shows how prior knowledge and new data combine to update our belief of the models.</a:t>
                </a:r>
              </a:p>
            </p:txBody>
          </p:sp>
        </mc:Choice>
        <mc:Fallback xmlns="">
          <p:sp>
            <p:nvSpPr>
              <p:cNvPr id="9" name="TextBox 8">
                <a:extLst>
                  <a:ext uri="{FF2B5EF4-FFF2-40B4-BE49-F238E27FC236}">
                    <a16:creationId xmlns:a16="http://schemas.microsoft.com/office/drawing/2014/main" id="{FA805C7D-6B0F-F4C3-A311-52A7116FC8E0}"/>
                  </a:ext>
                </a:extLst>
              </p:cNvPr>
              <p:cNvSpPr txBox="1">
                <a:spLocks noRot="1" noChangeAspect="1" noMove="1" noResize="1" noEditPoints="1" noAdjustHandles="1" noChangeArrowheads="1" noChangeShapeType="1" noTextEdit="1"/>
              </p:cNvSpPr>
              <p:nvPr/>
            </p:nvSpPr>
            <p:spPr>
              <a:xfrm>
                <a:off x="5340725" y="5597477"/>
                <a:ext cx="3351860" cy="2677656"/>
              </a:xfrm>
              <a:prstGeom prst="rect">
                <a:avLst/>
              </a:prstGeom>
              <a:blipFill>
                <a:blip r:embed="rId2"/>
                <a:stretch>
                  <a:fillRect b="-472"/>
                </a:stretch>
              </a:blipFill>
            </p:spPr>
            <p:txBody>
              <a:bodyPr/>
              <a:lstStyle/>
              <a:p>
                <a:r>
                  <a:rPr lang="en-US">
                    <a:noFill/>
                  </a:rPr>
                  <a:t> </a:t>
                </a:r>
              </a:p>
            </p:txBody>
          </p:sp>
        </mc:Fallback>
      </mc:AlternateContent>
      <p:sp>
        <p:nvSpPr>
          <p:cNvPr id="10" name="Rounded Rectangle 9">
            <a:extLst>
              <a:ext uri="{FF2B5EF4-FFF2-40B4-BE49-F238E27FC236}">
                <a16:creationId xmlns:a16="http://schemas.microsoft.com/office/drawing/2014/main" id="{92554501-EE6C-B6BC-6DAA-6748EE132F96}"/>
              </a:ext>
            </a:extLst>
          </p:cNvPr>
          <p:cNvSpPr/>
          <p:nvPr/>
        </p:nvSpPr>
        <p:spPr>
          <a:xfrm>
            <a:off x="439839" y="2792632"/>
            <a:ext cx="8252747" cy="188326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10344929-4B7D-3203-AD1E-0FACBE27D1C4}"/>
              </a:ext>
            </a:extLst>
          </p:cNvPr>
          <p:cNvSpPr txBox="1"/>
          <p:nvPr/>
        </p:nvSpPr>
        <p:spPr>
          <a:xfrm>
            <a:off x="2291382" y="2818944"/>
            <a:ext cx="4475988" cy="338554"/>
          </a:xfrm>
          <a:prstGeom prst="rect">
            <a:avLst/>
          </a:prstGeom>
          <a:noFill/>
        </p:spPr>
        <p:txBody>
          <a:bodyPr wrap="square" rtlCol="0" anchor="ctr">
            <a:spAutoFit/>
          </a:bodyPr>
          <a:lstStyle/>
          <a:p>
            <a:pPr algn="ctr"/>
            <a:r>
              <a:rPr lang="en-US" sz="1600" b="1" dirty="0"/>
              <a:t>Key formula</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BEA2EF-7A06-78C9-3DA7-E211CF204716}"/>
                  </a:ext>
                </a:extLst>
              </p:cNvPr>
              <p:cNvSpPr txBox="1"/>
              <p:nvPr/>
            </p:nvSpPr>
            <p:spPr>
              <a:xfrm>
                <a:off x="728237" y="3124303"/>
                <a:ext cx="5590157" cy="15091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ea typeface="Cambria Math" panose="02040503050406030204" pitchFamily="18" charset="0"/>
                        </a:rPr>
                        <m:t>𝑃</m:t>
                      </m:r>
                      <m:d>
                        <m:dPr>
                          <m:ctrlPr>
                            <a:rPr lang="en-US" sz="1300" b="0" i="1" smtClean="0">
                              <a:latin typeface="Cambria Math" panose="02040503050406030204" pitchFamily="18" charset="0"/>
                              <a:ea typeface="Cambria Math" panose="02040503050406030204" pitchFamily="18" charset="0"/>
                            </a:rPr>
                          </m:ctrlPr>
                        </m:dPr>
                        <m:e>
                          <m:r>
                            <a:rPr lang="en-US" sz="1300" b="0" i="1" smtClean="0">
                              <a:latin typeface="Cambria Math" panose="02040503050406030204" pitchFamily="18" charset="0"/>
                              <a:ea typeface="Cambria Math" panose="02040503050406030204" pitchFamily="18" charset="0"/>
                            </a:rPr>
                            <m:t>𝜃</m:t>
                          </m:r>
                        </m:e>
                        <m:e>
                          <m:r>
                            <a:rPr lang="en-US" sz="1300" b="0" i="1" smtClean="0">
                              <a:latin typeface="Cambria Math" panose="02040503050406030204" pitchFamily="18" charset="0"/>
                              <a:ea typeface="Cambria Math" panose="02040503050406030204" pitchFamily="18" charset="0"/>
                            </a:rPr>
                            <m:t>𝐷</m:t>
                          </m:r>
                        </m:e>
                      </m:d>
                      <m:r>
                        <a:rPr lang="en-US" sz="1300" b="0" i="1" smtClean="0">
                          <a:latin typeface="Cambria Math" panose="02040503050406030204" pitchFamily="18" charset="0"/>
                          <a:ea typeface="Cambria Math" panose="02040503050406030204" pitchFamily="18" charset="0"/>
                        </a:rPr>
                        <m:t>=</m:t>
                      </m:r>
                      <m:f>
                        <m:fPr>
                          <m:ctrlPr>
                            <a:rPr lang="en-US" sz="1300" b="0" i="1" smtClean="0">
                              <a:latin typeface="Cambria Math" panose="02040503050406030204" pitchFamily="18" charset="0"/>
                              <a:ea typeface="Cambria Math" panose="02040503050406030204" pitchFamily="18" charset="0"/>
                            </a:rPr>
                          </m:ctrlPr>
                        </m:fPr>
                        <m:num>
                          <m:r>
                            <a:rPr lang="en-US" sz="1300" b="0" i="1" smtClean="0">
                              <a:latin typeface="Cambria Math" panose="02040503050406030204" pitchFamily="18" charset="0"/>
                              <a:ea typeface="Cambria Math" panose="02040503050406030204" pitchFamily="18" charset="0"/>
                            </a:rPr>
                            <m:t>𝑃</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𝐷</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𝜃</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𝑃</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𝜃</m:t>
                          </m:r>
                          <m:r>
                            <a:rPr lang="en-US" sz="1300" b="0" i="1" smtClean="0">
                              <a:latin typeface="Cambria Math" panose="02040503050406030204" pitchFamily="18" charset="0"/>
                              <a:ea typeface="Cambria Math" panose="02040503050406030204" pitchFamily="18" charset="0"/>
                            </a:rPr>
                            <m:t>)</m:t>
                          </m:r>
                        </m:num>
                        <m:den>
                          <m:r>
                            <a:rPr lang="en-US" sz="1300" b="0" i="1" smtClean="0">
                              <a:latin typeface="Cambria Math" panose="02040503050406030204" pitchFamily="18" charset="0"/>
                              <a:ea typeface="Cambria Math" panose="02040503050406030204" pitchFamily="18" charset="0"/>
                            </a:rPr>
                            <m:t>𝑃</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𝐷</m:t>
                          </m:r>
                          <m:r>
                            <a:rPr lang="en-US" sz="1300" b="0" i="1" smtClean="0">
                              <a:latin typeface="Cambria Math" panose="02040503050406030204" pitchFamily="18" charset="0"/>
                              <a:ea typeface="Cambria Math" panose="02040503050406030204" pitchFamily="18" charset="0"/>
                            </a:rPr>
                            <m:t>)</m:t>
                          </m:r>
                        </m:den>
                      </m:f>
                    </m:oMath>
                  </m:oMathPara>
                </a14:m>
                <a:endParaRPr lang="en-US" sz="1300" b="0" i="1"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r>
                      <a:rPr lang="en-US" sz="1300" i="1">
                        <a:latin typeface="Cambria Math" panose="02040503050406030204" pitchFamily="18" charset="0"/>
                        <a:ea typeface="Cambria Math" panose="02040503050406030204" pitchFamily="18" charset="0"/>
                      </a:rPr>
                      <m:t>𝑃</m:t>
                    </m:r>
                    <m:d>
                      <m:dPr>
                        <m:ctrlPr>
                          <a:rPr lang="en-US" sz="1300" i="1">
                            <a:latin typeface="Cambria Math" panose="02040503050406030204" pitchFamily="18" charset="0"/>
                            <a:ea typeface="Cambria Math" panose="02040503050406030204" pitchFamily="18" charset="0"/>
                          </a:rPr>
                        </m:ctrlPr>
                      </m:dPr>
                      <m:e>
                        <m:r>
                          <a:rPr lang="en-US" sz="1300" i="1">
                            <a:latin typeface="Cambria Math" panose="02040503050406030204" pitchFamily="18" charset="0"/>
                            <a:ea typeface="Cambria Math" panose="02040503050406030204" pitchFamily="18" charset="0"/>
                          </a:rPr>
                          <m:t>𝜃</m:t>
                        </m:r>
                      </m:e>
                      <m:e>
                        <m:r>
                          <a:rPr lang="en-US" sz="1300" i="1">
                            <a:latin typeface="Cambria Math" panose="02040503050406030204" pitchFamily="18" charset="0"/>
                            <a:ea typeface="Cambria Math" panose="02040503050406030204" pitchFamily="18" charset="0"/>
                          </a:rPr>
                          <m:t>𝐷</m:t>
                        </m:r>
                      </m:e>
                    </m:d>
                  </m:oMath>
                </a14:m>
                <a:r>
                  <a:rPr lang="en-US" sz="1300" dirty="0"/>
                  <a:t>: the posterior (probability of parameter </a:t>
                </a:r>
                <a14:m>
                  <m:oMath xmlns:m="http://schemas.openxmlformats.org/officeDocument/2006/math">
                    <m:r>
                      <a:rPr lang="en-US" sz="1300" i="1">
                        <a:latin typeface="Cambria Math" panose="02040503050406030204" pitchFamily="18" charset="0"/>
                        <a:ea typeface="Cambria Math" panose="02040503050406030204" pitchFamily="18" charset="0"/>
                      </a:rPr>
                      <m:t>𝜃</m:t>
                    </m:r>
                    <m:r>
                      <a:rPr lang="en-US" sz="1300" i="1">
                        <a:latin typeface="Cambria Math" panose="02040503050406030204" pitchFamily="18" charset="0"/>
                        <a:ea typeface="Cambria Math" panose="02040503050406030204" pitchFamily="18" charset="0"/>
                      </a:rPr>
                      <m:t> </m:t>
                    </m:r>
                  </m:oMath>
                </a14:m>
                <a:r>
                  <a:rPr lang="en-US" sz="1300" dirty="0"/>
                  <a:t>given data </a:t>
                </a:r>
                <a14:m>
                  <m:oMath xmlns:m="http://schemas.openxmlformats.org/officeDocument/2006/math">
                    <m:r>
                      <a:rPr lang="en-US" sz="1300" i="1">
                        <a:latin typeface="Cambria Math" panose="02040503050406030204" pitchFamily="18" charset="0"/>
                        <a:ea typeface="Cambria Math" panose="02040503050406030204" pitchFamily="18" charset="0"/>
                      </a:rPr>
                      <m:t>𝐷</m:t>
                    </m:r>
                  </m:oMath>
                </a14:m>
                <a:r>
                  <a:rPr lang="en-US" sz="1300" dirty="0"/>
                  <a:t>)</a:t>
                </a:r>
              </a:p>
              <a:p>
                <a:pPr marL="171450" indent="-171450">
                  <a:buFont typeface="Arial" panose="020B0604020202020204" pitchFamily="34" charset="0"/>
                  <a:buChar char="•"/>
                </a:pPr>
                <a14:m>
                  <m:oMath xmlns:m="http://schemas.openxmlformats.org/officeDocument/2006/math">
                    <m:r>
                      <a:rPr lang="en-US" sz="1300" i="1">
                        <a:latin typeface="Cambria Math" panose="02040503050406030204" pitchFamily="18" charset="0"/>
                        <a:ea typeface="Cambria Math" panose="02040503050406030204" pitchFamily="18" charset="0"/>
                      </a:rPr>
                      <m:t>𝑃</m:t>
                    </m:r>
                    <m:d>
                      <m:dPr>
                        <m:ctrlPr>
                          <a:rPr lang="en-US" sz="1300" i="1">
                            <a:latin typeface="Cambria Math" panose="02040503050406030204" pitchFamily="18" charset="0"/>
                            <a:ea typeface="Cambria Math" panose="02040503050406030204" pitchFamily="18" charset="0"/>
                          </a:rPr>
                        </m:ctrlPr>
                      </m:dPr>
                      <m:e>
                        <m:r>
                          <a:rPr lang="en-US" sz="1300" i="1">
                            <a:latin typeface="Cambria Math" panose="02040503050406030204" pitchFamily="18" charset="0"/>
                            <a:ea typeface="Cambria Math" panose="02040503050406030204" pitchFamily="18" charset="0"/>
                          </a:rPr>
                          <m:t>𝐷</m:t>
                        </m:r>
                      </m:e>
                      <m:e>
                        <m:r>
                          <a:rPr lang="en-US" sz="1300" i="1">
                            <a:latin typeface="Cambria Math" panose="02040503050406030204" pitchFamily="18" charset="0"/>
                            <a:ea typeface="Cambria Math" panose="02040503050406030204" pitchFamily="18" charset="0"/>
                          </a:rPr>
                          <m:t>𝜃</m:t>
                        </m:r>
                      </m:e>
                    </m:d>
                    <m:r>
                      <a:rPr lang="en-US" sz="1300" b="0" i="0" smtClean="0">
                        <a:latin typeface="Cambria Math" panose="02040503050406030204" pitchFamily="18" charset="0"/>
                        <a:ea typeface="Cambria Math" panose="02040503050406030204" pitchFamily="18" charset="0"/>
                      </a:rPr>
                      <m:t>:</m:t>
                    </m:r>
                  </m:oMath>
                </a14:m>
                <a:r>
                  <a:rPr lang="en-US" sz="1300" dirty="0"/>
                  <a:t> the likelihood (probability of observing data </a:t>
                </a:r>
                <a14:m>
                  <m:oMath xmlns:m="http://schemas.openxmlformats.org/officeDocument/2006/math">
                    <m:r>
                      <a:rPr lang="en-US" sz="1300" i="1">
                        <a:latin typeface="Cambria Math" panose="02040503050406030204" pitchFamily="18" charset="0"/>
                        <a:ea typeface="Cambria Math" panose="02040503050406030204" pitchFamily="18" charset="0"/>
                      </a:rPr>
                      <m:t>𝐷</m:t>
                    </m:r>
                  </m:oMath>
                </a14:m>
                <a:r>
                  <a:rPr lang="en-US" sz="1300" dirty="0"/>
                  <a:t> given parameter </a:t>
                </a:r>
                <a14:m>
                  <m:oMath xmlns:m="http://schemas.openxmlformats.org/officeDocument/2006/math">
                    <m:r>
                      <a:rPr lang="en-US" sz="1300" i="1">
                        <a:latin typeface="Cambria Math" panose="02040503050406030204" pitchFamily="18" charset="0"/>
                        <a:ea typeface="Cambria Math" panose="02040503050406030204" pitchFamily="18" charset="0"/>
                      </a:rPr>
                      <m:t>𝜃</m:t>
                    </m:r>
                  </m:oMath>
                </a14:m>
                <a:r>
                  <a:rPr lang="en-US" sz="1300" dirty="0"/>
                  <a:t>)</a:t>
                </a:r>
              </a:p>
              <a:p>
                <a:pPr marL="171450" indent="-171450">
                  <a:buFont typeface="Arial" panose="020B0604020202020204" pitchFamily="34" charset="0"/>
                  <a:buChar char="•"/>
                </a:pPr>
                <a14:m>
                  <m:oMath xmlns:m="http://schemas.openxmlformats.org/officeDocument/2006/math">
                    <m:r>
                      <m:rPr>
                        <m:sty m:val="p"/>
                      </m:rPr>
                      <a:rPr lang="en-US" sz="1300" b="0" i="0" smtClean="0">
                        <a:latin typeface="Cambria Math" panose="02040503050406030204" pitchFamily="18" charset="0"/>
                        <a:ea typeface="Cambria Math" panose="02040503050406030204" pitchFamily="18" charset="0"/>
                      </a:rPr>
                      <m:t>P</m:t>
                    </m:r>
                    <m:d>
                      <m:dPr>
                        <m:ctrlPr>
                          <a:rPr lang="en-US" sz="1300" b="0" i="1" smtClean="0">
                            <a:latin typeface="Cambria Math" panose="02040503050406030204" pitchFamily="18" charset="0"/>
                            <a:ea typeface="Cambria Math" panose="02040503050406030204" pitchFamily="18" charset="0"/>
                          </a:rPr>
                        </m:ctrlPr>
                      </m:dPr>
                      <m:e>
                        <m:r>
                          <a:rPr lang="en-US" sz="1300" i="1">
                            <a:latin typeface="Cambria Math" panose="02040503050406030204" pitchFamily="18" charset="0"/>
                            <a:ea typeface="Cambria Math" panose="02040503050406030204" pitchFamily="18" charset="0"/>
                          </a:rPr>
                          <m:t>𝜃</m:t>
                        </m:r>
                      </m:e>
                    </m:d>
                    <m:r>
                      <a:rPr lang="en-US" sz="1300" b="0" i="0" smtClean="0">
                        <a:latin typeface="Cambria Math" panose="02040503050406030204" pitchFamily="18" charset="0"/>
                        <a:ea typeface="Cambria Math" panose="02040503050406030204" pitchFamily="18" charset="0"/>
                      </a:rPr>
                      <m:t>:</m:t>
                    </m:r>
                  </m:oMath>
                </a14:m>
                <a:r>
                  <a:rPr lang="en-US" sz="1300" dirty="0"/>
                  <a:t> the prior (initial belief about parameter </a:t>
                </a:r>
                <a14:m>
                  <m:oMath xmlns:m="http://schemas.openxmlformats.org/officeDocument/2006/math">
                    <m:r>
                      <a:rPr lang="en-US" sz="1300" i="1">
                        <a:latin typeface="Cambria Math" panose="02040503050406030204" pitchFamily="18" charset="0"/>
                        <a:ea typeface="Cambria Math" panose="02040503050406030204" pitchFamily="18" charset="0"/>
                      </a:rPr>
                      <m:t>𝜃</m:t>
                    </m:r>
                  </m:oMath>
                </a14:m>
                <a:r>
                  <a:rPr lang="en-US" sz="1300" dirty="0"/>
                  <a:t>)</a:t>
                </a:r>
              </a:p>
              <a:p>
                <a:pPr marL="171450" indent="-171450">
                  <a:buFont typeface="Arial" panose="020B0604020202020204" pitchFamily="34" charset="0"/>
                  <a:buChar char="•"/>
                </a:pPr>
                <a14:m>
                  <m:oMath xmlns:m="http://schemas.openxmlformats.org/officeDocument/2006/math">
                    <m:r>
                      <a:rPr lang="en-US" sz="1300" b="0" i="1" smtClean="0">
                        <a:latin typeface="Cambria Math" panose="02040503050406030204" pitchFamily="18" charset="0"/>
                        <a:ea typeface="Cambria Math" panose="02040503050406030204" pitchFamily="18" charset="0"/>
                      </a:rPr>
                      <m:t>𝑃</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𝐷</m:t>
                    </m:r>
                    <m:r>
                      <a:rPr lang="en-US" sz="1300" b="0" i="1" smtClean="0">
                        <a:latin typeface="Cambria Math" panose="02040503050406030204" pitchFamily="18" charset="0"/>
                        <a:ea typeface="Cambria Math" panose="02040503050406030204" pitchFamily="18" charset="0"/>
                      </a:rPr>
                      <m:t>)</m:t>
                    </m:r>
                  </m:oMath>
                </a14:m>
                <a:r>
                  <a:rPr lang="en-US" sz="1300" dirty="0"/>
                  <a:t>: the evidence/marginal likelihood (total probability of observing </a:t>
                </a:r>
                <a14:m>
                  <m:oMath xmlns:m="http://schemas.openxmlformats.org/officeDocument/2006/math">
                    <m:r>
                      <a:rPr lang="en-US" sz="1300" i="1">
                        <a:latin typeface="Cambria Math" panose="02040503050406030204" pitchFamily="18" charset="0"/>
                        <a:ea typeface="Cambria Math" panose="02040503050406030204" pitchFamily="18" charset="0"/>
                      </a:rPr>
                      <m:t>𝐷</m:t>
                    </m:r>
                  </m:oMath>
                </a14:m>
                <a:r>
                  <a:rPr lang="en-US" sz="1300" dirty="0"/>
                  <a:t>)</a:t>
                </a:r>
              </a:p>
              <a:p>
                <a:pPr marL="171450" indent="-171450">
                  <a:buFont typeface="Arial" panose="020B0604020202020204" pitchFamily="34" charset="0"/>
                  <a:buChar char="•"/>
                </a:pPr>
                <a:endParaRPr lang="en-US" sz="1300" b="0" i="1" dirty="0">
                  <a:solidFill>
                    <a:schemeClr val="tx1"/>
                  </a:solidFill>
                  <a:latin typeface="Cambria Math" panose="02040503050406030204" pitchFamily="18" charset="0"/>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EEBEA2EF-7A06-78C9-3DA7-E211CF204716}"/>
                  </a:ext>
                </a:extLst>
              </p:cNvPr>
              <p:cNvSpPr txBox="1">
                <a:spLocks noRot="1" noChangeAspect="1" noMove="1" noResize="1" noEditPoints="1" noAdjustHandles="1" noChangeArrowheads="1" noChangeShapeType="1" noTextEdit="1"/>
              </p:cNvSpPr>
              <p:nvPr/>
            </p:nvSpPr>
            <p:spPr>
              <a:xfrm>
                <a:off x="728237" y="3124303"/>
                <a:ext cx="5590157" cy="1509131"/>
              </a:xfrm>
              <a:prstGeom prst="rect">
                <a:avLst/>
              </a:prstGeom>
              <a:blipFill>
                <a:blip r:embed="rId3"/>
                <a:stretch>
                  <a:fillRect l="-22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139AC0E7-268C-71D2-FE0B-6B2D35C0A2AD}"/>
              </a:ext>
            </a:extLst>
          </p:cNvPr>
          <p:cNvSpPr txBox="1"/>
          <p:nvPr/>
        </p:nvSpPr>
        <p:spPr>
          <a:xfrm>
            <a:off x="659757" y="1103329"/>
            <a:ext cx="7915855" cy="1477328"/>
          </a:xfrm>
          <a:prstGeom prst="rect">
            <a:avLst/>
          </a:prstGeom>
          <a:noFill/>
        </p:spPr>
        <p:txBody>
          <a:bodyPr wrap="square">
            <a:spAutoFit/>
          </a:bodyPr>
          <a:lstStyle/>
          <a:p>
            <a:r>
              <a:rPr lang="en-US" dirty="0"/>
              <a:t>Bayes' rule arises when you want to make statements about an </a:t>
            </a:r>
            <a:r>
              <a:rPr lang="en-US" b="1" dirty="0"/>
              <a:t>unknown</a:t>
            </a:r>
            <a:r>
              <a:rPr lang="en-US" dirty="0"/>
              <a:t> quantity (e.g., a parameter, hypothesis, or event)</a:t>
            </a:r>
            <a:r>
              <a:rPr lang="en-US" b="1" dirty="0"/>
              <a:t> given everything you know</a:t>
            </a:r>
            <a:r>
              <a:rPr lang="en-US" dirty="0"/>
              <a:t> about a specific situation (data, and generative model for the data) so you can </a:t>
            </a:r>
            <a:r>
              <a:rPr lang="en-US" b="1" dirty="0"/>
              <a:t>condition on all the knowns and treat the unknown as distributions</a:t>
            </a:r>
            <a:r>
              <a:rPr lang="en-US" dirty="0"/>
              <a:t>, scaled by the overall likelihood of data to calibrate.</a:t>
            </a:r>
          </a:p>
        </p:txBody>
      </p:sp>
      <p:sp>
        <p:nvSpPr>
          <p:cNvPr id="18" name="TextBox 17">
            <a:extLst>
              <a:ext uri="{FF2B5EF4-FFF2-40B4-BE49-F238E27FC236}">
                <a16:creationId xmlns:a16="http://schemas.microsoft.com/office/drawing/2014/main" id="{813FD403-F313-3672-83C7-6E69F2438DC9}"/>
              </a:ext>
            </a:extLst>
          </p:cNvPr>
          <p:cNvSpPr txBox="1"/>
          <p:nvPr/>
        </p:nvSpPr>
        <p:spPr>
          <a:xfrm>
            <a:off x="1099190" y="563467"/>
            <a:ext cx="6945619" cy="276999"/>
          </a:xfrm>
          <a:prstGeom prst="rect">
            <a:avLst/>
          </a:prstGeom>
          <a:noFill/>
        </p:spPr>
        <p:txBody>
          <a:bodyPr wrap="none" rtlCol="0">
            <a:spAutoFit/>
          </a:bodyPr>
          <a:lstStyle/>
          <a:p>
            <a:r>
              <a:rPr lang="en-US" sz="1200" dirty="0"/>
              <a:t>Start with what you believe (prior), update it with what you see (likelihood), and get a new belief (posterior).</a:t>
            </a:r>
          </a:p>
        </p:txBody>
      </p:sp>
      <p:sp>
        <p:nvSpPr>
          <p:cNvPr id="19" name="Oval 18">
            <a:extLst>
              <a:ext uri="{FF2B5EF4-FFF2-40B4-BE49-F238E27FC236}">
                <a16:creationId xmlns:a16="http://schemas.microsoft.com/office/drawing/2014/main" id="{E8957D3C-9ABF-F64E-F3F3-EDA8EE693367}"/>
              </a:ext>
            </a:extLst>
          </p:cNvPr>
          <p:cNvSpPr/>
          <p:nvPr/>
        </p:nvSpPr>
        <p:spPr>
          <a:xfrm>
            <a:off x="6023146" y="3150165"/>
            <a:ext cx="998868" cy="535021"/>
          </a:xfrm>
          <a:prstGeom prst="ellipse">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Prior</a:t>
            </a:r>
          </a:p>
        </p:txBody>
      </p:sp>
      <p:sp>
        <p:nvSpPr>
          <p:cNvPr id="21" name="Oval 20">
            <a:extLst>
              <a:ext uri="{FF2B5EF4-FFF2-40B4-BE49-F238E27FC236}">
                <a16:creationId xmlns:a16="http://schemas.microsoft.com/office/drawing/2014/main" id="{D1D371C9-617A-5BB3-930F-0D371E6CEFD5}"/>
              </a:ext>
            </a:extLst>
          </p:cNvPr>
          <p:cNvSpPr/>
          <p:nvPr/>
        </p:nvSpPr>
        <p:spPr>
          <a:xfrm>
            <a:off x="7325270" y="3150164"/>
            <a:ext cx="998868" cy="535021"/>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C756CFF-5155-EACB-1EF8-F5CB882F2B10}"/>
                  </a:ext>
                </a:extLst>
              </p:cNvPr>
              <p:cNvSpPr txBox="1"/>
              <p:nvPr/>
            </p:nvSpPr>
            <p:spPr>
              <a:xfrm>
                <a:off x="7064638" y="3301904"/>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2" name="TextBox 21">
                <a:extLst>
                  <a:ext uri="{FF2B5EF4-FFF2-40B4-BE49-F238E27FC236}">
                    <a16:creationId xmlns:a16="http://schemas.microsoft.com/office/drawing/2014/main" id="{9C756CFF-5155-EACB-1EF8-F5CB882F2B10}"/>
                  </a:ext>
                </a:extLst>
              </p:cNvPr>
              <p:cNvSpPr txBox="1">
                <a:spLocks noRot="1" noChangeAspect="1" noMove="1" noResize="1" noEditPoints="1" noAdjustHandles="1" noChangeArrowheads="1" noChangeShapeType="1" noTextEdit="1"/>
              </p:cNvSpPr>
              <p:nvPr/>
            </p:nvSpPr>
            <p:spPr>
              <a:xfrm>
                <a:off x="7064638" y="3301904"/>
                <a:ext cx="218008" cy="276999"/>
              </a:xfrm>
              <a:prstGeom prst="rect">
                <a:avLst/>
              </a:prstGeom>
              <a:blipFill>
                <a:blip r:embed="rId4"/>
                <a:stretch>
                  <a:fillRect l="-22222" r="-16667"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0D2A4C0-C044-8DED-1DEA-EA20BA0308AC}"/>
                  </a:ext>
                </a:extLst>
              </p:cNvPr>
              <p:cNvSpPr txBox="1"/>
              <p:nvPr/>
            </p:nvSpPr>
            <p:spPr>
              <a:xfrm rot="16200000">
                <a:off x="6542671" y="3156854"/>
                <a:ext cx="1160147" cy="12003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7200" i="1" smtClean="0">
                              <a:latin typeface="Cambria Math" panose="02040503050406030204" pitchFamily="18" charset="0"/>
                              <a:ea typeface="Cambria Math" panose="02040503050406030204" pitchFamily="18" charset="0"/>
                            </a:rPr>
                          </m:ctrlPr>
                        </m:dPr>
                        <m:e>
                          <m:r>
                            <a:rPr lang="en-US" sz="7200" b="0" i="1" smtClean="0">
                              <a:latin typeface="Cambria Math" panose="02040503050406030204" pitchFamily="18" charset="0"/>
                              <a:ea typeface="Cambria Math" panose="02040503050406030204" pitchFamily="18" charset="0"/>
                            </a:rPr>
                            <m:t> </m:t>
                          </m:r>
                        </m:e>
                      </m:d>
                    </m:oMath>
                  </m:oMathPara>
                </a14:m>
                <a:endParaRPr lang="en-US" sz="7200" dirty="0"/>
              </a:p>
            </p:txBody>
          </p:sp>
        </mc:Choice>
        <mc:Fallback xmlns="">
          <p:sp>
            <p:nvSpPr>
              <p:cNvPr id="30" name="TextBox 29">
                <a:extLst>
                  <a:ext uri="{FF2B5EF4-FFF2-40B4-BE49-F238E27FC236}">
                    <a16:creationId xmlns:a16="http://schemas.microsoft.com/office/drawing/2014/main" id="{70D2A4C0-C044-8DED-1DEA-EA20BA0308AC}"/>
                  </a:ext>
                </a:extLst>
              </p:cNvPr>
              <p:cNvSpPr txBox="1">
                <a:spLocks noRot="1" noChangeAspect="1" noMove="1" noResize="1" noEditPoints="1" noAdjustHandles="1" noChangeArrowheads="1" noChangeShapeType="1" noTextEdit="1"/>
              </p:cNvSpPr>
              <p:nvPr/>
            </p:nvSpPr>
            <p:spPr>
              <a:xfrm rot="16200000">
                <a:off x="6542671" y="3156854"/>
                <a:ext cx="1160147" cy="1200329"/>
              </a:xfrm>
              <a:prstGeom prst="rect">
                <a:avLst/>
              </a:prstGeom>
              <a:blipFill>
                <a:blip r:embed="rId5"/>
                <a:stretch>
                  <a:fillRect l="-156250" t="-73913" r="-234375" b="-120652"/>
                </a:stretch>
              </a:blipFill>
            </p:spPr>
            <p:txBody>
              <a:bodyPr/>
              <a:lstStyle/>
              <a:p>
                <a:r>
                  <a:rPr lang="en-US">
                    <a:noFill/>
                  </a:rPr>
                  <a:t> </a:t>
                </a:r>
              </a:p>
            </p:txBody>
          </p:sp>
        </mc:Fallback>
      </mc:AlternateContent>
      <p:pic>
        <p:nvPicPr>
          <p:cNvPr id="33" name="Picture 32">
            <a:extLst>
              <a:ext uri="{FF2B5EF4-FFF2-40B4-BE49-F238E27FC236}">
                <a16:creationId xmlns:a16="http://schemas.microsoft.com/office/drawing/2014/main" id="{37952E4A-C72A-7FCC-31E1-5EA6D68CD148}"/>
              </a:ext>
            </a:extLst>
          </p:cNvPr>
          <p:cNvPicPr>
            <a:picLocks noChangeAspect="1"/>
          </p:cNvPicPr>
          <p:nvPr/>
        </p:nvPicPr>
        <p:blipFill>
          <a:blip r:embed="rId6"/>
          <a:srcRect/>
          <a:stretch/>
        </p:blipFill>
        <p:spPr>
          <a:xfrm>
            <a:off x="451415" y="5365838"/>
            <a:ext cx="5234891" cy="3140934"/>
          </a:xfrm>
          <a:prstGeom prst="rect">
            <a:avLst/>
          </a:prstGeom>
        </p:spPr>
      </p:pic>
      <p:sp>
        <p:nvSpPr>
          <p:cNvPr id="31" name="Oval 30">
            <a:extLst>
              <a:ext uri="{FF2B5EF4-FFF2-40B4-BE49-F238E27FC236}">
                <a16:creationId xmlns:a16="http://schemas.microsoft.com/office/drawing/2014/main" id="{9854FFF9-3496-B3A7-D7B4-A25EDBCFD517}"/>
              </a:ext>
            </a:extLst>
          </p:cNvPr>
          <p:cNvSpPr/>
          <p:nvPr/>
        </p:nvSpPr>
        <p:spPr>
          <a:xfrm>
            <a:off x="6361019" y="4038730"/>
            <a:ext cx="1625245" cy="535021"/>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Posterior</a:t>
            </a:r>
          </a:p>
        </p:txBody>
      </p:sp>
    </p:spTree>
    <p:extLst>
      <p:ext uri="{BB962C8B-B14F-4D97-AF65-F5344CB8AC3E}">
        <p14:creationId xmlns:p14="http://schemas.microsoft.com/office/powerpoint/2010/main" val="2098400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5ED04-32F4-8F62-FCE6-F4EA8E8C95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EDD877-C15D-492B-B1D6-6E0EA9EE0CC9}"/>
              </a:ext>
            </a:extLst>
          </p:cNvPr>
          <p:cNvSpPr txBox="1"/>
          <p:nvPr/>
        </p:nvSpPr>
        <p:spPr>
          <a:xfrm>
            <a:off x="2334006" y="139038"/>
            <a:ext cx="4475988" cy="400110"/>
          </a:xfrm>
          <a:prstGeom prst="rect">
            <a:avLst/>
          </a:prstGeom>
          <a:noFill/>
        </p:spPr>
        <p:txBody>
          <a:bodyPr wrap="square" rtlCol="0" anchor="ctr">
            <a:spAutoFit/>
          </a:bodyPr>
          <a:lstStyle/>
          <a:p>
            <a:pPr algn="ctr"/>
            <a:r>
              <a:rPr lang="en-US" sz="2000" b="1" dirty="0"/>
              <a:t>Bayes Factor</a:t>
            </a:r>
          </a:p>
        </p:txBody>
      </p:sp>
      <p:sp>
        <p:nvSpPr>
          <p:cNvPr id="4" name="Rounded Rectangle 3">
            <a:extLst>
              <a:ext uri="{FF2B5EF4-FFF2-40B4-BE49-F238E27FC236}">
                <a16:creationId xmlns:a16="http://schemas.microsoft.com/office/drawing/2014/main" id="{CEE293EA-9C4A-24A8-5681-4132342147CF}"/>
              </a:ext>
            </a:extLst>
          </p:cNvPr>
          <p:cNvSpPr/>
          <p:nvPr/>
        </p:nvSpPr>
        <p:spPr>
          <a:xfrm>
            <a:off x="451413" y="981519"/>
            <a:ext cx="8241174" cy="134571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 name="Rounded Rectangle 6">
            <a:extLst>
              <a:ext uri="{FF2B5EF4-FFF2-40B4-BE49-F238E27FC236}">
                <a16:creationId xmlns:a16="http://schemas.microsoft.com/office/drawing/2014/main" id="{ADAC4167-FCDE-9A9C-A334-C3FFDAFF2792}"/>
              </a:ext>
            </a:extLst>
          </p:cNvPr>
          <p:cNvSpPr/>
          <p:nvPr/>
        </p:nvSpPr>
        <p:spPr>
          <a:xfrm>
            <a:off x="451413" y="4373122"/>
            <a:ext cx="8241174" cy="447780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8" name="TextBox 7">
            <a:extLst>
              <a:ext uri="{FF2B5EF4-FFF2-40B4-BE49-F238E27FC236}">
                <a16:creationId xmlns:a16="http://schemas.microsoft.com/office/drawing/2014/main" id="{61D51E7E-40E8-FD7A-B547-FB33F8A87817}"/>
              </a:ext>
            </a:extLst>
          </p:cNvPr>
          <p:cNvSpPr txBox="1"/>
          <p:nvPr/>
        </p:nvSpPr>
        <p:spPr>
          <a:xfrm>
            <a:off x="1896578" y="4460736"/>
            <a:ext cx="5350845" cy="338554"/>
          </a:xfrm>
          <a:prstGeom prst="rect">
            <a:avLst/>
          </a:prstGeom>
          <a:noFill/>
        </p:spPr>
        <p:txBody>
          <a:bodyPr wrap="square" rtlCol="0" anchor="ctr">
            <a:spAutoFit/>
          </a:bodyPr>
          <a:lstStyle/>
          <a:p>
            <a:pPr algn="ctr"/>
            <a:r>
              <a:rPr lang="en-US" sz="1600" b="1" dirty="0"/>
              <a:t>Bayes Factor vs. Likelihood Ratio</a:t>
            </a:r>
            <a:endParaRPr lang="en-US" sz="1600" dirty="0"/>
          </a:p>
        </p:txBody>
      </p:sp>
      <p:sp>
        <p:nvSpPr>
          <p:cNvPr id="10" name="Rounded Rectangle 9">
            <a:extLst>
              <a:ext uri="{FF2B5EF4-FFF2-40B4-BE49-F238E27FC236}">
                <a16:creationId xmlns:a16="http://schemas.microsoft.com/office/drawing/2014/main" id="{C3AC4406-2ACA-B54A-E574-8E243A9DDE3D}"/>
              </a:ext>
            </a:extLst>
          </p:cNvPr>
          <p:cNvSpPr/>
          <p:nvPr/>
        </p:nvSpPr>
        <p:spPr>
          <a:xfrm>
            <a:off x="451413" y="2523592"/>
            <a:ext cx="8241174" cy="165317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82B4E076-5C0C-6691-4141-168BB61FC152}"/>
              </a:ext>
            </a:extLst>
          </p:cNvPr>
          <p:cNvSpPr txBox="1"/>
          <p:nvPr/>
        </p:nvSpPr>
        <p:spPr>
          <a:xfrm>
            <a:off x="2334006" y="2575873"/>
            <a:ext cx="4475988" cy="338554"/>
          </a:xfrm>
          <a:prstGeom prst="rect">
            <a:avLst/>
          </a:prstGeom>
          <a:noFill/>
        </p:spPr>
        <p:txBody>
          <a:bodyPr wrap="square" rtlCol="0" anchor="ctr">
            <a:spAutoFit/>
          </a:bodyPr>
          <a:lstStyle/>
          <a:p>
            <a:pPr algn="ctr"/>
            <a:r>
              <a:rPr lang="en-US" sz="1600" b="1" dirty="0"/>
              <a:t>Key Formula</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7CFF002-6614-BFF9-43D3-93BC6A188AA8}"/>
                  </a:ext>
                </a:extLst>
              </p:cNvPr>
              <p:cNvSpPr txBox="1"/>
              <p:nvPr/>
            </p:nvSpPr>
            <p:spPr>
              <a:xfrm>
                <a:off x="1029147" y="2858099"/>
                <a:ext cx="7085707" cy="12839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𝐵𝐹</m:t>
                          </m:r>
                        </m:e>
                        <m:sub>
                          <m:r>
                            <a:rPr lang="en-US" sz="1200" b="0" i="1" smtClean="0">
                              <a:latin typeface="Cambria Math" panose="02040503050406030204" pitchFamily="18" charset="0"/>
                              <a:ea typeface="Cambria Math" panose="02040503050406030204" pitchFamily="18" charset="0"/>
                            </a:rPr>
                            <m:t>12</m:t>
                          </m:r>
                        </m:sub>
                      </m:sSub>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𝐿</m:t>
                          </m:r>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r>
                            <a:rPr lang="en-US" sz="1200" b="0" i="1" smtClean="0">
                              <a:latin typeface="Cambria Math" panose="02040503050406030204" pitchFamily="18" charset="0"/>
                              <a:ea typeface="Cambria Math" panose="02040503050406030204" pitchFamily="18" charset="0"/>
                            </a:rPr>
                            <m:t>)</m:t>
                          </m:r>
                        </m:num>
                        <m:den>
                          <m:r>
                            <a:rPr lang="en-US" sz="1200" b="0" i="1" smtClean="0">
                              <a:latin typeface="Cambria Math" panose="02040503050406030204" pitchFamily="18" charset="0"/>
                              <a:ea typeface="Cambria Math" panose="02040503050406030204" pitchFamily="18" charset="0"/>
                            </a:rPr>
                            <m:t>𝐿</m:t>
                          </m:r>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𝑀</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r>
                            <a:rPr lang="en-US" sz="1200" b="0" i="1" smtClean="0">
                              <a:latin typeface="Cambria Math" panose="02040503050406030204" pitchFamily="18" charset="0"/>
                              <a:ea typeface="Cambria Math" panose="02040503050406030204" pitchFamily="18" charset="0"/>
                            </a:rPr>
                            <m:t>)</m:t>
                          </m:r>
                        </m:den>
                      </m:f>
                      <m:r>
                        <a:rPr lang="en-US" sz="1200" b="0" i="1" smtClean="0">
                          <a:latin typeface="Cambria Math" panose="02040503050406030204" pitchFamily="18" charset="0"/>
                          <a:ea typeface="Cambria Math" panose="02040503050406030204" pitchFamily="18" charset="0"/>
                        </a:rPr>
                        <m:t>=</m:t>
                      </m:r>
                      <m:f>
                        <m:fPr>
                          <m:ctrlPr>
                            <a:rPr lang="en-US" sz="1200" i="1">
                              <a:latin typeface="Cambria Math" panose="02040503050406030204" pitchFamily="18" charset="0"/>
                              <a:ea typeface="Cambria Math" panose="02040503050406030204" pitchFamily="18" charset="0"/>
                            </a:rPr>
                          </m:ctrlPr>
                        </m:fPr>
                        <m:num>
                          <m:nary>
                            <m:naryPr>
                              <m:limLoc m:val="undOvr"/>
                              <m:subHide m:val="on"/>
                              <m:supHide m:val="on"/>
                              <m:ctrlPr>
                                <a:rPr lang="en-US" sz="1200" i="1">
                                  <a:latin typeface="Cambria Math" panose="02040503050406030204" pitchFamily="18" charset="0"/>
                                  <a:ea typeface="Cambria Math" panose="02040503050406030204" pitchFamily="18" charset="0"/>
                                </a:rPr>
                              </m:ctrlPr>
                            </m:naryPr>
                            <m:sub/>
                            <m:sup/>
                            <m:e>
                              <m:func>
                                <m:funcPr>
                                  <m:ctrlPr>
                                    <a:rPr lang="en-US" sz="1200" i="1">
                                      <a:latin typeface="Cambria Math" panose="02040503050406030204" pitchFamily="18" charset="0"/>
                                      <a:ea typeface="Cambria Math" panose="02040503050406030204" pitchFamily="18" charset="0"/>
                                    </a:rPr>
                                  </m:ctrlPr>
                                </m:funcPr>
                                <m:fName>
                                  <m:r>
                                    <m:rPr>
                                      <m:sty m:val="p"/>
                                    </m:rPr>
                                    <a:rPr lang="en-US" sz="1200">
                                      <a:latin typeface="Cambria Math" panose="02040503050406030204" pitchFamily="18" charset="0"/>
                                      <a:ea typeface="Cambria Math" panose="02040503050406030204" pitchFamily="18" charset="0"/>
                                    </a:rPr>
                                    <m:t>P</m:t>
                                  </m:r>
                                </m:fName>
                                <m:e>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1</m:t>
                                          </m:r>
                                        </m:sub>
                                      </m:sSub>
                                    </m:e>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1</m:t>
                                          </m:r>
                                        </m:sub>
                                      </m:sSub>
                                    </m:e>
                                  </m:d>
                                </m:e>
                              </m:func>
                            </m:e>
                          </m:nary>
                          <m:r>
                            <m:rPr>
                              <m:sty m:val="p"/>
                            </m:rPr>
                            <a:rPr lang="en-US" sz="1200">
                              <a:latin typeface="Cambria Math" panose="02040503050406030204" pitchFamily="18" charset="0"/>
                              <a:ea typeface="Cambria Math" panose="02040503050406030204" pitchFamily="18" charset="0"/>
                            </a:rPr>
                            <m:t>P</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r>
                            <a:rPr lang="el-GR" sz="1200" i="1">
                              <a:latin typeface="Cambria Math" panose="02040503050406030204" pitchFamily="18" charset="0"/>
                              <a:ea typeface="Cambria Math" panose="02040503050406030204" pitchFamily="18" charset="0"/>
                            </a:rPr>
                            <m:t>ⅆ</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1</m:t>
                              </m:r>
                            </m:sub>
                          </m:sSub>
                        </m:num>
                        <m:den>
                          <m:nary>
                            <m:naryPr>
                              <m:limLoc m:val="undOvr"/>
                              <m:subHide m:val="on"/>
                              <m:supHide m:val="on"/>
                              <m:ctrlPr>
                                <a:rPr lang="en-US" sz="1200" i="1">
                                  <a:latin typeface="Cambria Math" panose="02040503050406030204" pitchFamily="18" charset="0"/>
                                  <a:ea typeface="Cambria Math" panose="02040503050406030204" pitchFamily="18" charset="0"/>
                                </a:rPr>
                              </m:ctrlPr>
                            </m:naryPr>
                            <m:sub/>
                            <m:sup/>
                            <m:e>
                              <m:func>
                                <m:funcPr>
                                  <m:ctrlPr>
                                    <a:rPr lang="en-US" sz="1200" i="1">
                                      <a:latin typeface="Cambria Math" panose="02040503050406030204" pitchFamily="18" charset="0"/>
                                      <a:ea typeface="Cambria Math" panose="02040503050406030204" pitchFamily="18" charset="0"/>
                                    </a:rPr>
                                  </m:ctrlPr>
                                </m:funcPr>
                                <m:fName>
                                  <m:r>
                                    <m:rPr>
                                      <m:sty m:val="p"/>
                                    </m:rPr>
                                    <a:rPr lang="en-US" sz="1200">
                                      <a:latin typeface="Cambria Math" panose="02040503050406030204" pitchFamily="18" charset="0"/>
                                      <a:ea typeface="Cambria Math" panose="02040503050406030204" pitchFamily="18" charset="0"/>
                                    </a:rPr>
                                    <m:t>P</m:t>
                                  </m:r>
                                </m:fName>
                                <m:e>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2</m:t>
                                          </m:r>
                                        </m:sub>
                                      </m:sSub>
                                    </m:e>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2</m:t>
                                          </m:r>
                                        </m:sub>
                                      </m:sSub>
                                    </m:e>
                                  </m:d>
                                </m:e>
                              </m:func>
                              <m:r>
                                <m:rPr>
                                  <m:sty m:val="p"/>
                                </m:rPr>
                                <a:rPr lang="en-US" sz="1200">
                                  <a:latin typeface="Cambria Math" panose="02040503050406030204" pitchFamily="18" charset="0"/>
                                  <a:ea typeface="Cambria Math" panose="02040503050406030204" pitchFamily="18" charset="0"/>
                                </a:rPr>
                                <m:t>P</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e>
                          </m:nary>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r>
                            <a:rPr lang="el-GR" sz="1200" i="1">
                              <a:latin typeface="Cambria Math" panose="02040503050406030204" pitchFamily="18" charset="0"/>
                              <a:ea typeface="Cambria Math" panose="02040503050406030204" pitchFamily="18" charset="0"/>
                            </a:rPr>
                            <m:t>ⅆ</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2</m:t>
                              </m:r>
                            </m:sub>
                          </m:sSub>
                        </m:den>
                      </m:f>
                    </m:oMath>
                  </m:oMathPara>
                </a14:m>
                <a:endParaRPr lang="en-US" sz="1200" b="0" i="1"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r>
                  <a:rPr lang="en-US" sz="1200" dirty="0">
                    <a:ea typeface="Cambria Math" panose="02040503050406030204" pitchFamily="18" charset="0"/>
                  </a:rPr>
                  <a:t>P</a:t>
                </a:r>
                <a14:m>
                  <m:oMath xmlns:m="http://schemas.openxmlformats.org/officeDocument/2006/math">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m:rPr>
                            <m:sty m:val="p"/>
                          </m:rPr>
                          <a:rPr lang="en-US" sz="1200" b="0" i="1" smtClean="0">
                            <a:latin typeface="Cambria Math" panose="02040503050406030204" pitchFamily="18" charset="0"/>
                            <a:ea typeface="Cambria Math" panose="02040503050406030204" pitchFamily="18" charset="0"/>
                          </a:rPr>
                          <m:t>i</m:t>
                        </m:r>
                      </m:sub>
                    </m:sSub>
                    <m:r>
                      <a:rPr lang="en-US" sz="1200" i="1">
                        <a:latin typeface="Cambria Math" panose="02040503050406030204" pitchFamily="18" charset="0"/>
                        <a:ea typeface="Cambria Math" panose="02040503050406030204" pitchFamily="18" charset="0"/>
                      </a:rPr>
                      <m:t>)</m:t>
                    </m:r>
                  </m:oMath>
                </a14:m>
                <a:r>
                  <a:rPr lang="en-US" sz="1200" dirty="0"/>
                  <a:t>: the marginal likelihood (evidence) for model family </a:t>
                </a:r>
                <a14:m>
                  <m:oMath xmlns:m="http://schemas.openxmlformats.org/officeDocument/2006/math">
                    <m:r>
                      <m:rPr>
                        <m:sty m:val="p"/>
                      </m:rPr>
                      <a:rPr lang="en-US" sz="1200" smtClean="0">
                        <a:latin typeface="Cambria Math" panose="02040503050406030204" pitchFamily="18" charset="0"/>
                        <a:ea typeface="Cambria Math" panose="02040503050406030204" pitchFamily="18" charset="0"/>
                      </a:rPr>
                      <m:t>i</m:t>
                    </m:r>
                  </m:oMath>
                </a14:m>
                <a:r>
                  <a:rPr lang="en-US" sz="1200" dirty="0"/>
                  <a:t> given data </a:t>
                </a:r>
                <a14:m>
                  <m:oMath xmlns:m="http://schemas.openxmlformats.org/officeDocument/2006/math">
                    <m:r>
                      <a:rPr lang="en-US" sz="1200" i="1">
                        <a:latin typeface="Cambria Math" panose="02040503050406030204" pitchFamily="18" charset="0"/>
                        <a:ea typeface="Cambria Math" panose="02040503050406030204" pitchFamily="18" charset="0"/>
                      </a:rPr>
                      <m:t>𝐷</m:t>
                    </m:r>
                  </m:oMath>
                </a14:m>
                <a:r>
                  <a:rPr lang="en-US" sz="1200" dirty="0"/>
                  <a:t> </a:t>
                </a:r>
              </a:p>
              <a:p>
                <a:pPr marL="171450" indent="-171450">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m:rPr>
                            <m:sty m:val="p"/>
                          </m:rPr>
                          <a:rPr lang="en-US" sz="1200" b="0" i="1" smtClean="0">
                            <a:latin typeface="Cambria Math" panose="02040503050406030204" pitchFamily="18" charset="0"/>
                            <a:ea typeface="Cambria Math" panose="02040503050406030204" pitchFamily="18" charset="0"/>
                          </a:rPr>
                          <m:t>i</m:t>
                        </m:r>
                      </m:sub>
                    </m:sSub>
                  </m:oMath>
                </a14:m>
                <a:r>
                  <a:rPr lang="en-US" sz="1200" dirty="0"/>
                  <a:t>: parameters under model family </a:t>
                </a:r>
                <a14:m>
                  <m:oMath xmlns:m="http://schemas.openxmlformats.org/officeDocument/2006/math">
                    <m:r>
                      <a:rPr lang="en-US" sz="1200" i="1" smtClean="0">
                        <a:latin typeface="Cambria Math" panose="02040503050406030204" pitchFamily="18" charset="0"/>
                        <a:ea typeface="Cambria Math" panose="02040503050406030204" pitchFamily="18" charset="0"/>
                      </a:rPr>
                      <m:t>𝑖</m:t>
                    </m:r>
                    <m:r>
                      <a:rPr lang="en-US" sz="1200" i="1">
                        <a:latin typeface="Cambria Math" panose="02040503050406030204" pitchFamily="18" charset="0"/>
                        <a:ea typeface="Cambria Math" panose="02040503050406030204" pitchFamily="18" charset="0"/>
                      </a:rPr>
                      <m:t> </m:t>
                    </m:r>
                  </m:oMath>
                </a14:m>
                <a:endParaRPr lang="en-US" sz="1200" i="1"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func>
                      <m:funcPr>
                        <m:ctrlPr>
                          <a:rPr lang="en-US" sz="1200" i="1">
                            <a:latin typeface="Cambria Math" panose="02040503050406030204" pitchFamily="18" charset="0"/>
                            <a:ea typeface="Cambria Math" panose="02040503050406030204" pitchFamily="18" charset="0"/>
                          </a:rPr>
                        </m:ctrlPr>
                      </m:funcPr>
                      <m:fName>
                        <m:r>
                          <m:rPr>
                            <m:sty m:val="p"/>
                          </m:rPr>
                          <a:rPr lang="en-US" sz="1200">
                            <a:latin typeface="Cambria Math" panose="02040503050406030204" pitchFamily="18" charset="0"/>
                            <a:ea typeface="Cambria Math" panose="02040503050406030204" pitchFamily="18" charset="0"/>
                          </a:rPr>
                          <m:t>P</m:t>
                        </m:r>
                      </m:fName>
                      <m:e>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m:rPr>
                                    <m:sty m:val="p"/>
                                  </m:rPr>
                                  <a:rPr lang="en-US" sz="1200" b="0" i="1" smtClean="0">
                                    <a:latin typeface="Cambria Math" panose="02040503050406030204" pitchFamily="18" charset="0"/>
                                    <a:ea typeface="Cambria Math" panose="02040503050406030204" pitchFamily="18" charset="0"/>
                                  </a:rPr>
                                  <m:t>i</m:t>
                                </m:r>
                              </m:sub>
                            </m:sSub>
                          </m:e>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m:rPr>
                                    <m:sty m:val="p"/>
                                  </m:rPr>
                                  <a:rPr lang="en-US" sz="1200" b="0" i="1" smtClean="0">
                                    <a:latin typeface="Cambria Math" panose="02040503050406030204" pitchFamily="18" charset="0"/>
                                    <a:ea typeface="Cambria Math" panose="02040503050406030204" pitchFamily="18" charset="0"/>
                                  </a:rPr>
                                  <m:t>i</m:t>
                                </m:r>
                              </m:sub>
                            </m:sSub>
                          </m:e>
                        </m:d>
                      </m:e>
                    </m:func>
                  </m:oMath>
                </a14:m>
                <a:r>
                  <a:rPr lang="en-US" sz="1200" dirty="0"/>
                  <a:t>: the prior distributions over parameters </a:t>
                </a: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m:rPr>
                            <m:sty m:val="p"/>
                          </m:rPr>
                          <a:rPr lang="en-US" sz="1200" i="1">
                            <a:latin typeface="Cambria Math" panose="02040503050406030204" pitchFamily="18" charset="0"/>
                            <a:ea typeface="Cambria Math" panose="02040503050406030204" pitchFamily="18" charset="0"/>
                          </a:rPr>
                          <m:t>i</m:t>
                        </m:r>
                      </m:sub>
                    </m:sSub>
                  </m:oMath>
                </a14:m>
                <a:r>
                  <a:rPr lang="en-US" sz="1200" dirty="0"/>
                  <a:t> under model family </a:t>
                </a:r>
                <a14:m>
                  <m:oMath xmlns:m="http://schemas.openxmlformats.org/officeDocument/2006/math">
                    <m:r>
                      <m:rPr>
                        <m:sty m:val="p"/>
                      </m:rPr>
                      <a:rPr lang="en-US" sz="1200" b="0" i="0" smtClean="0">
                        <a:latin typeface="Cambria Math" panose="02040503050406030204" pitchFamily="18" charset="0"/>
                        <a:ea typeface="Cambria Math" panose="02040503050406030204" pitchFamily="18" charset="0"/>
                      </a:rPr>
                      <m:t>i</m:t>
                    </m:r>
                  </m:oMath>
                </a14:m>
                <a:endParaRPr lang="en-US" sz="1200" i="1"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r>
                      <m:rPr>
                        <m:sty m:val="p"/>
                      </m:rPr>
                      <a:rPr lang="en-US" sz="1200">
                        <a:latin typeface="Cambria Math" panose="02040503050406030204" pitchFamily="18" charset="0"/>
                        <a:ea typeface="Cambria Math" panose="02040503050406030204" pitchFamily="18" charset="0"/>
                      </a:rPr>
                      <m:t>P</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m:rPr>
                            <m:sty m:val="p"/>
                          </m:rPr>
                          <a:rPr lang="en-US" sz="1200" b="0" i="1" smtClean="0">
                            <a:latin typeface="Cambria Math" panose="02040503050406030204" pitchFamily="18" charset="0"/>
                            <a:ea typeface="Cambria Math" panose="02040503050406030204" pitchFamily="18" charset="0"/>
                          </a:rPr>
                          <m:t>i</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m:rPr>
                            <m:sty m:val="p"/>
                          </m:rPr>
                          <a:rPr lang="en-US" sz="1200" b="0" i="1" smtClean="0">
                            <a:latin typeface="Cambria Math" panose="02040503050406030204" pitchFamily="18" charset="0"/>
                            <a:ea typeface="Cambria Math" panose="02040503050406030204" pitchFamily="18" charset="0"/>
                          </a:rPr>
                          <m:t>i</m:t>
                        </m:r>
                      </m:sub>
                    </m:sSub>
                    <m:r>
                      <a:rPr lang="en-US" sz="1200" i="1">
                        <a:latin typeface="Cambria Math" panose="02040503050406030204" pitchFamily="18" charset="0"/>
                        <a:ea typeface="Cambria Math" panose="02040503050406030204" pitchFamily="18" charset="0"/>
                      </a:rPr>
                      <m:t>)</m:t>
                    </m:r>
                  </m:oMath>
                </a14:m>
                <a:r>
                  <a:rPr lang="en-US"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m:rPr>
                        <m:sty m:val="p"/>
                      </m:rPr>
                      <a:rPr lang="en-US" sz="1200" b="0" i="0" smtClean="0">
                        <a:latin typeface="Cambria Math" panose="02040503050406030204" pitchFamily="18" charset="0"/>
                        <a:ea typeface="Cambria Math" panose="02040503050406030204" pitchFamily="18" charset="0"/>
                      </a:rPr>
                      <m:t>t</m:t>
                    </m:r>
                  </m:oMath>
                </a14:m>
                <a:r>
                  <a:rPr lang="en-US" sz="1200" dirty="0"/>
                  <a:t>he likelihood of data </a:t>
                </a:r>
                <a14:m>
                  <m:oMath xmlns:m="http://schemas.openxmlformats.org/officeDocument/2006/math">
                    <m:r>
                      <a:rPr lang="en-US" sz="1200" i="1">
                        <a:latin typeface="Cambria Math" panose="02040503050406030204" pitchFamily="18" charset="0"/>
                        <a:ea typeface="Cambria Math" panose="02040503050406030204" pitchFamily="18" charset="0"/>
                      </a:rPr>
                      <m:t>𝐷</m:t>
                    </m:r>
                  </m:oMath>
                </a14:m>
                <a:r>
                  <a:rPr lang="en-US" sz="1200" dirty="0"/>
                  <a:t> given parameters </a:t>
                </a: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m:rPr>
                            <m:sty m:val="p"/>
                          </m:rPr>
                          <a:rPr lang="en-US" sz="1200" i="1">
                            <a:latin typeface="Cambria Math" panose="02040503050406030204" pitchFamily="18" charset="0"/>
                            <a:ea typeface="Cambria Math" panose="02040503050406030204" pitchFamily="18" charset="0"/>
                          </a:rPr>
                          <m:t>i</m:t>
                        </m:r>
                      </m:sub>
                    </m:sSub>
                  </m:oMath>
                </a14:m>
                <a:r>
                  <a:rPr lang="en-US" sz="1200" dirty="0"/>
                  <a:t> under model family </a:t>
                </a:r>
                <a14:m>
                  <m:oMath xmlns:m="http://schemas.openxmlformats.org/officeDocument/2006/math">
                    <m:r>
                      <m:rPr>
                        <m:sty m:val="p"/>
                      </m:rPr>
                      <a:rPr lang="en-US" sz="1200">
                        <a:latin typeface="Cambria Math" panose="02040503050406030204" pitchFamily="18" charset="0"/>
                        <a:ea typeface="Cambria Math" panose="02040503050406030204" pitchFamily="18" charset="0"/>
                      </a:rPr>
                      <m:t>i</m:t>
                    </m:r>
                  </m:oMath>
                </a14:m>
                <a:endParaRPr lang="en-US" sz="1200" dirty="0"/>
              </a:p>
            </p:txBody>
          </p:sp>
        </mc:Choice>
        <mc:Fallback xmlns="">
          <p:sp>
            <p:nvSpPr>
              <p:cNvPr id="12" name="TextBox 11">
                <a:extLst>
                  <a:ext uri="{FF2B5EF4-FFF2-40B4-BE49-F238E27FC236}">
                    <a16:creationId xmlns:a16="http://schemas.microsoft.com/office/drawing/2014/main" id="{17CFF002-6614-BFF9-43D3-93BC6A188AA8}"/>
                  </a:ext>
                </a:extLst>
              </p:cNvPr>
              <p:cNvSpPr txBox="1">
                <a:spLocks noRot="1" noChangeAspect="1" noMove="1" noResize="1" noEditPoints="1" noAdjustHandles="1" noChangeArrowheads="1" noChangeShapeType="1" noTextEdit="1"/>
              </p:cNvSpPr>
              <p:nvPr/>
            </p:nvSpPr>
            <p:spPr>
              <a:xfrm>
                <a:off x="1029147" y="2858099"/>
                <a:ext cx="7085707" cy="1283941"/>
              </a:xfrm>
              <a:prstGeom prst="rect">
                <a:avLst/>
              </a:prstGeom>
              <a:blipFill>
                <a:blip r:embed="rId2"/>
                <a:stretch>
                  <a:fillRect t="-27723" b="-297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FEB6AB6-8A72-BF66-1566-AB68B5491FB9}"/>
              </a:ext>
            </a:extLst>
          </p:cNvPr>
          <p:cNvSpPr txBox="1"/>
          <p:nvPr/>
        </p:nvSpPr>
        <p:spPr>
          <a:xfrm>
            <a:off x="1129687" y="1380956"/>
            <a:ext cx="6884626" cy="738664"/>
          </a:xfrm>
          <a:prstGeom prst="rect">
            <a:avLst/>
          </a:prstGeom>
          <a:noFill/>
        </p:spPr>
        <p:txBody>
          <a:bodyPr wrap="square">
            <a:spAutoFit/>
          </a:bodyPr>
          <a:lstStyle/>
          <a:p>
            <a:pPr algn="just"/>
            <a:r>
              <a:rPr lang="en-US" sz="1400" dirty="0"/>
              <a:t>The Bayes factor compares the average evidence across one family of models (weighted by priors) to that of another family, while likelihood ratios compare the evidence for one specific model at specific parameter values to another.</a:t>
            </a:r>
          </a:p>
        </p:txBody>
      </p:sp>
      <p:sp>
        <p:nvSpPr>
          <p:cNvPr id="18" name="TextBox 17">
            <a:extLst>
              <a:ext uri="{FF2B5EF4-FFF2-40B4-BE49-F238E27FC236}">
                <a16:creationId xmlns:a16="http://schemas.microsoft.com/office/drawing/2014/main" id="{89FDEE9A-7DF2-10C9-5E02-A3E60910C9E6}"/>
              </a:ext>
            </a:extLst>
          </p:cNvPr>
          <p:cNvSpPr txBox="1"/>
          <p:nvPr/>
        </p:nvSpPr>
        <p:spPr>
          <a:xfrm>
            <a:off x="1244006" y="560617"/>
            <a:ext cx="6655989" cy="276999"/>
          </a:xfrm>
          <a:prstGeom prst="rect">
            <a:avLst/>
          </a:prstGeom>
          <a:noFill/>
        </p:spPr>
        <p:txBody>
          <a:bodyPr wrap="none" rtlCol="0">
            <a:spAutoFit/>
          </a:bodyPr>
          <a:lstStyle/>
          <a:p>
            <a:r>
              <a:rPr lang="en-US" sz="1200" dirty="0"/>
              <a:t>The ratio of two </a:t>
            </a:r>
            <a:r>
              <a:rPr lang="en-US" sz="1200" b="1" dirty="0"/>
              <a:t>marginal</a:t>
            </a:r>
            <a:r>
              <a:rPr lang="en-US" sz="1200" dirty="0"/>
              <a:t> likelihoods of model families, which generalizes the likelihood ratio by integral</a:t>
            </a:r>
          </a:p>
        </p:txBody>
      </p:sp>
      <p:sp>
        <p:nvSpPr>
          <p:cNvPr id="3" name="TextBox 2">
            <a:extLst>
              <a:ext uri="{FF2B5EF4-FFF2-40B4-BE49-F238E27FC236}">
                <a16:creationId xmlns:a16="http://schemas.microsoft.com/office/drawing/2014/main" id="{EB499267-FAFB-4A60-BF8A-59A76B29C1C5}"/>
              </a:ext>
            </a:extLst>
          </p:cNvPr>
          <p:cNvSpPr txBox="1"/>
          <p:nvPr/>
        </p:nvSpPr>
        <p:spPr>
          <a:xfrm>
            <a:off x="2334006" y="1044603"/>
            <a:ext cx="4475988" cy="338554"/>
          </a:xfrm>
          <a:prstGeom prst="rect">
            <a:avLst/>
          </a:prstGeom>
          <a:noFill/>
        </p:spPr>
        <p:txBody>
          <a:bodyPr wrap="square" rtlCol="0" anchor="ctr">
            <a:spAutoFit/>
          </a:bodyPr>
          <a:lstStyle/>
          <a:p>
            <a:pPr algn="ctr"/>
            <a:r>
              <a:rPr lang="en-US" sz="1600" b="1" dirty="0"/>
              <a:t>Definition</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59D6A3C9-38CB-D73E-B932-FAD2FCF270D2}"/>
                  </a:ext>
                </a:extLst>
              </p:cNvPr>
              <p:cNvGraphicFramePr>
                <a:graphicFrameLocks noGrp="1"/>
              </p:cNvGraphicFramePr>
              <p:nvPr>
                <p:extLst>
                  <p:ext uri="{D42A27DB-BD31-4B8C-83A1-F6EECF244321}">
                    <p14:modId xmlns:p14="http://schemas.microsoft.com/office/powerpoint/2010/main" val="2039513885"/>
                  </p:ext>
                </p:extLst>
              </p:nvPr>
            </p:nvGraphicFramePr>
            <p:xfrm>
              <a:off x="715107" y="4822440"/>
              <a:ext cx="7713786" cy="3737499"/>
            </p:xfrm>
            <a:graphic>
              <a:graphicData uri="http://schemas.openxmlformats.org/drawingml/2006/table">
                <a:tbl>
                  <a:tblPr firstRow="1" firstCol="1" bandRow="1">
                    <a:tableStyleId>{5C22544A-7EE6-4342-B048-85BDC9FD1C3A}</a:tableStyleId>
                  </a:tblPr>
                  <a:tblGrid>
                    <a:gridCol w="2571262">
                      <a:extLst>
                        <a:ext uri="{9D8B030D-6E8A-4147-A177-3AD203B41FA5}">
                          <a16:colId xmlns:a16="http://schemas.microsoft.com/office/drawing/2014/main" val="2680896557"/>
                        </a:ext>
                      </a:extLst>
                    </a:gridCol>
                    <a:gridCol w="2571262">
                      <a:extLst>
                        <a:ext uri="{9D8B030D-6E8A-4147-A177-3AD203B41FA5}">
                          <a16:colId xmlns:a16="http://schemas.microsoft.com/office/drawing/2014/main" val="295877872"/>
                        </a:ext>
                      </a:extLst>
                    </a:gridCol>
                    <a:gridCol w="2571262">
                      <a:extLst>
                        <a:ext uri="{9D8B030D-6E8A-4147-A177-3AD203B41FA5}">
                          <a16:colId xmlns:a16="http://schemas.microsoft.com/office/drawing/2014/main" val="1122726412"/>
                        </a:ext>
                      </a:extLst>
                    </a:gridCol>
                  </a:tblGrid>
                  <a:tr h="375654">
                    <a:tc>
                      <a:txBody>
                        <a:bodyPr/>
                        <a:lstStyle/>
                        <a:p>
                          <a:pPr algn="ctr"/>
                          <a:endParaRPr lang="en-US" sz="1200" dirty="0"/>
                        </a:p>
                      </a:txBody>
                      <a:tcPr anchor="ctr"/>
                    </a:tc>
                    <a:tc>
                      <a:txBody>
                        <a:bodyPr/>
                        <a:lstStyle/>
                        <a:p>
                          <a:pPr algn="ctr"/>
                          <a:r>
                            <a:rPr lang="en-US" sz="1400" dirty="0"/>
                            <a:t>Bayes Factor (BF)</a:t>
                          </a:r>
                        </a:p>
                      </a:txBody>
                      <a:tcPr anchor="ctr"/>
                    </a:tc>
                    <a:tc>
                      <a:txBody>
                        <a:bodyPr/>
                        <a:lstStyle/>
                        <a:p>
                          <a:pPr algn="ctr"/>
                          <a:r>
                            <a:rPr lang="en-US" sz="1400" dirty="0"/>
                            <a:t>Likelihood Ratio (LR)</a:t>
                          </a:r>
                        </a:p>
                      </a:txBody>
                      <a:tcPr anchor="ctr"/>
                    </a:tc>
                    <a:extLst>
                      <a:ext uri="{0D108BD9-81ED-4DB2-BD59-A6C34878D82A}">
                        <a16:rowId xmlns:a16="http://schemas.microsoft.com/office/drawing/2014/main" val="3295374290"/>
                      </a:ext>
                    </a:extLst>
                  </a:tr>
                  <a:tr h="463135">
                    <a:tc>
                      <a:txBody>
                        <a:bodyPr/>
                        <a:lstStyle/>
                        <a:p>
                          <a:pPr algn="ctr"/>
                          <a:r>
                            <a:rPr lang="en-US" sz="1400" dirty="0"/>
                            <a:t>Definition</a:t>
                          </a:r>
                        </a:p>
                      </a:txBody>
                      <a:tcPr anchor="ctr"/>
                    </a:tc>
                    <a:tc>
                      <a:txBody>
                        <a:bodyPr/>
                        <a:lstStyle/>
                        <a:p>
                          <a:pPr algn="ctr"/>
                          <a:r>
                            <a:rPr lang="en-US" sz="1200" dirty="0"/>
                            <a:t> Ratio of marginal likelihoods (integrated over priors)</a:t>
                          </a:r>
                        </a:p>
                      </a:txBody>
                      <a:tcPr anchor="ctr"/>
                    </a:tc>
                    <a:tc>
                      <a:txBody>
                        <a:bodyPr/>
                        <a:lstStyle/>
                        <a:p>
                          <a:pPr algn="ctr"/>
                          <a:r>
                            <a:rPr lang="en-US" sz="1200" dirty="0"/>
                            <a:t>Ratio of likelihoods at specific parameter values</a:t>
                          </a:r>
                        </a:p>
                      </a:txBody>
                      <a:tcPr anchor="ctr"/>
                    </a:tc>
                    <a:extLst>
                      <a:ext uri="{0D108BD9-81ED-4DB2-BD59-A6C34878D82A}">
                        <a16:rowId xmlns:a16="http://schemas.microsoft.com/office/drawing/2014/main" val="3322488351"/>
                      </a:ext>
                    </a:extLst>
                  </a:tr>
                  <a:tr h="547014">
                    <a:tc>
                      <a:txBody>
                        <a:bodyPr/>
                        <a:lstStyle/>
                        <a:p>
                          <a:pPr algn="ctr"/>
                          <a:r>
                            <a:rPr lang="en-US" sz="1400" dirty="0"/>
                            <a:t>Formula</a:t>
                          </a:r>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US" sz="1200" i="1" smtClean="0">
                                        <a:latin typeface="Cambria Math" panose="02040503050406030204" pitchFamily="18" charset="0"/>
                                        <a:ea typeface="Cambria Math" panose="02040503050406030204" pitchFamily="18" charset="0"/>
                                      </a:rPr>
                                    </m:ctrlPr>
                                  </m:fPr>
                                  <m:num>
                                    <m:nary>
                                      <m:naryPr>
                                        <m:limLoc m:val="undOvr"/>
                                        <m:subHide m:val="on"/>
                                        <m:supHide m:val="on"/>
                                        <m:ctrlPr>
                                          <a:rPr lang="en-US" sz="1200" i="1" smtClean="0">
                                            <a:latin typeface="Cambria Math" panose="02040503050406030204" pitchFamily="18" charset="0"/>
                                            <a:ea typeface="Cambria Math" panose="02040503050406030204" pitchFamily="18" charset="0"/>
                                          </a:rPr>
                                        </m:ctrlPr>
                                      </m:naryPr>
                                      <m:sub/>
                                      <m:sup/>
                                      <m:e>
                                        <m:func>
                                          <m:funcPr>
                                            <m:ctrlPr>
                                              <a:rPr lang="en-US" sz="1200" i="1">
                                                <a:latin typeface="Cambria Math" panose="02040503050406030204" pitchFamily="18" charset="0"/>
                                                <a:ea typeface="Cambria Math" panose="02040503050406030204" pitchFamily="18" charset="0"/>
                                              </a:rPr>
                                            </m:ctrlPr>
                                          </m:funcPr>
                                          <m:fName>
                                            <m:r>
                                              <m:rPr>
                                                <m:sty m:val="p"/>
                                              </m:rPr>
                                              <a:rPr lang="en-US" sz="1200">
                                                <a:latin typeface="Cambria Math" panose="02040503050406030204" pitchFamily="18" charset="0"/>
                                                <a:ea typeface="Cambria Math" panose="02040503050406030204" pitchFamily="18" charset="0"/>
                                              </a:rPr>
                                              <m:t>P</m:t>
                                            </m:r>
                                          </m:fName>
                                          <m:e>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1</m:t>
                                                    </m:r>
                                                  </m:sub>
                                                </m:sSub>
                                              </m:e>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1</m:t>
                                                    </m:r>
                                                  </m:sub>
                                                </m:sSub>
                                              </m:e>
                                            </m:d>
                                          </m:e>
                                        </m:func>
                                      </m:e>
                                    </m:nary>
                                    <m:r>
                                      <m:rPr>
                                        <m:sty m:val="p"/>
                                      </m:rPr>
                                      <a:rPr lang="en-US" sz="1200">
                                        <a:latin typeface="Cambria Math" panose="02040503050406030204" pitchFamily="18" charset="0"/>
                                        <a:ea typeface="Cambria Math" panose="02040503050406030204" pitchFamily="18" charset="0"/>
                                      </a:rPr>
                                      <m:t>P</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r>
                                      <a:rPr lang="el-GR" sz="1200" i="1">
                                        <a:latin typeface="Cambria Math" panose="02040503050406030204" pitchFamily="18" charset="0"/>
                                        <a:ea typeface="Cambria Math" panose="02040503050406030204" pitchFamily="18" charset="0"/>
                                      </a:rPr>
                                      <m:t>ⅆ</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1</m:t>
                                        </m:r>
                                      </m:sub>
                                    </m:sSub>
                                  </m:num>
                                  <m:den>
                                    <m:nary>
                                      <m:naryPr>
                                        <m:limLoc m:val="undOvr"/>
                                        <m:subHide m:val="on"/>
                                        <m:supHide m:val="on"/>
                                        <m:ctrlPr>
                                          <a:rPr lang="en-US" sz="1200" i="1" smtClean="0">
                                            <a:latin typeface="Cambria Math" panose="02040503050406030204" pitchFamily="18" charset="0"/>
                                            <a:ea typeface="Cambria Math" panose="02040503050406030204" pitchFamily="18" charset="0"/>
                                          </a:rPr>
                                        </m:ctrlPr>
                                      </m:naryPr>
                                      <m:sub/>
                                      <m:sup/>
                                      <m:e>
                                        <m:func>
                                          <m:funcPr>
                                            <m:ctrlPr>
                                              <a:rPr lang="en-US" sz="1200" i="1">
                                                <a:latin typeface="Cambria Math" panose="02040503050406030204" pitchFamily="18" charset="0"/>
                                                <a:ea typeface="Cambria Math" panose="02040503050406030204" pitchFamily="18" charset="0"/>
                                              </a:rPr>
                                            </m:ctrlPr>
                                          </m:funcPr>
                                          <m:fName>
                                            <m:r>
                                              <m:rPr>
                                                <m:sty m:val="p"/>
                                              </m:rPr>
                                              <a:rPr lang="en-US" sz="1200">
                                                <a:latin typeface="Cambria Math" panose="02040503050406030204" pitchFamily="18" charset="0"/>
                                                <a:ea typeface="Cambria Math" panose="02040503050406030204" pitchFamily="18" charset="0"/>
                                              </a:rPr>
                                              <m:t>P</m:t>
                                            </m:r>
                                          </m:fName>
                                          <m:e>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smtClean="0">
                                                        <a:latin typeface="Cambria Math" panose="02040503050406030204" pitchFamily="18" charset="0"/>
                                                        <a:ea typeface="Cambria Math" panose="02040503050406030204" pitchFamily="18" charset="0"/>
                                                      </a:rPr>
                                                      <m:t>2</m:t>
                                                    </m:r>
                                                  </m:sub>
                                                </m:sSub>
                                              </m:e>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2</m:t>
                                                    </m:r>
                                                  </m:sub>
                                                </m:sSub>
                                              </m:e>
                                            </m:d>
                                          </m:e>
                                        </m:func>
                                        <m:r>
                                          <m:rPr>
                                            <m:sty m:val="p"/>
                                          </m:rPr>
                                          <a:rPr lang="en-US" sz="1200">
                                            <a:latin typeface="Cambria Math" panose="02040503050406030204" pitchFamily="18" charset="0"/>
                                            <a:ea typeface="Cambria Math" panose="02040503050406030204" pitchFamily="18" charset="0"/>
                                          </a:rPr>
                                          <m:t>P</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𝐷</m:t>
                                        </m:r>
                                        <m:r>
                                          <a:rPr lang="en-US" sz="1200" i="1">
                                            <a:latin typeface="Cambria Math" panose="02040503050406030204" pitchFamily="18" charset="0"/>
                                            <a:ea typeface="Cambria Math" panose="02040503050406030204" pitchFamily="18" charset="0"/>
                                          </a:rPr>
                                          <m:t>|</m:t>
                                        </m:r>
                                      </m:e>
                                    </m:nary>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𝑀</m:t>
                                        </m:r>
                                      </m:e>
                                      <m:sub>
                                        <m:r>
                                          <a:rPr lang="en-US" sz="1200" i="1">
                                            <a:latin typeface="Cambria Math" panose="02040503050406030204" pitchFamily="18" charset="0"/>
                                            <a:ea typeface="Cambria Math" panose="02040503050406030204" pitchFamily="18" charset="0"/>
                                          </a:rPr>
                                          <m:t>2</m:t>
                                        </m:r>
                                      </m:sub>
                                    </m:sSub>
                                    <m:r>
                                      <a:rPr lang="en-US" sz="1200" i="1">
                                        <a:latin typeface="Cambria Math" panose="02040503050406030204" pitchFamily="18" charset="0"/>
                                        <a:ea typeface="Cambria Math" panose="02040503050406030204" pitchFamily="18" charset="0"/>
                                      </a:rPr>
                                      <m:t>)</m:t>
                                    </m:r>
                                    <m:r>
                                      <a:rPr lang="el-GR" sz="1200" i="1">
                                        <a:latin typeface="Cambria Math" panose="02040503050406030204" pitchFamily="18" charset="0"/>
                                        <a:ea typeface="Cambria Math" panose="02040503050406030204" pitchFamily="18" charset="0"/>
                                      </a:rPr>
                                      <m:t>ⅆ</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𝜃</m:t>
                                        </m:r>
                                      </m:e>
                                      <m:sub>
                                        <m:r>
                                          <a:rPr lang="en-US" sz="1200" i="1">
                                            <a:latin typeface="Cambria Math" panose="02040503050406030204" pitchFamily="18" charset="0"/>
                                            <a:ea typeface="Cambria Math" panose="02040503050406030204" pitchFamily="18" charset="0"/>
                                          </a:rPr>
                                          <m:t>2</m:t>
                                        </m:r>
                                      </m:sub>
                                    </m:sSub>
                                  </m:den>
                                </m:f>
                              </m:oMath>
                            </m:oMathPara>
                          </a14:m>
                          <a:endParaRPr lang="en-US" sz="1200" dirty="0"/>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US" sz="1200" b="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𝐿</m:t>
                                    </m:r>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𝜃</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r>
                                      <a:rPr lang="en-US" sz="1200" b="0" i="1" smtClean="0">
                                        <a:latin typeface="Cambria Math" panose="02040503050406030204" pitchFamily="18" charset="0"/>
                                        <a:ea typeface="Cambria Math" panose="02040503050406030204" pitchFamily="18" charset="0"/>
                                      </a:rPr>
                                      <m:t>)</m:t>
                                    </m:r>
                                  </m:num>
                                  <m:den>
                                    <m:r>
                                      <a:rPr lang="en-US" sz="1200" b="0" i="1" smtClean="0">
                                        <a:latin typeface="Cambria Math" panose="02040503050406030204" pitchFamily="18" charset="0"/>
                                        <a:ea typeface="Cambria Math" panose="02040503050406030204" pitchFamily="18" charset="0"/>
                                      </a:rPr>
                                      <m:t>𝐿</m:t>
                                    </m:r>
                                    <m:r>
                                      <a:rPr lang="en-US" sz="1200" b="0" i="1" smtClean="0">
                                        <a:latin typeface="Cambria Math" panose="02040503050406030204" pitchFamily="18" charset="0"/>
                                        <a:ea typeface="Cambria Math" panose="02040503050406030204" pitchFamily="18" charset="0"/>
                                      </a:rPr>
                                      <m:t>(</m:t>
                                    </m:r>
                                    <m:sSub>
                                      <m:sSubPr>
                                        <m:ctrlPr>
                                          <a:rPr lang="en-US" sz="1200" b="0" i="1" smtClean="0">
                                            <a:latin typeface="Cambria Math" panose="02040503050406030204" pitchFamily="18" charset="0"/>
                                            <a:ea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𝜃</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r>
                                      <a:rPr lang="en-US" sz="1200" b="0" i="1" smtClean="0">
                                        <a:latin typeface="Cambria Math" panose="02040503050406030204" pitchFamily="18" charset="0"/>
                                        <a:ea typeface="Cambria Math" panose="02040503050406030204" pitchFamily="18" charset="0"/>
                                      </a:rPr>
                                      <m:t>)</m:t>
                                    </m:r>
                                  </m:den>
                                </m:f>
                              </m:oMath>
                            </m:oMathPara>
                          </a14:m>
                          <a:endParaRPr lang="en-US" sz="1200" dirty="0"/>
                        </a:p>
                      </a:txBody>
                      <a:tcPr anchor="ctr"/>
                    </a:tc>
                    <a:extLst>
                      <a:ext uri="{0D108BD9-81ED-4DB2-BD59-A6C34878D82A}">
                        <a16:rowId xmlns:a16="http://schemas.microsoft.com/office/drawing/2014/main" val="1231067481"/>
                      </a:ext>
                    </a:extLst>
                  </a:tr>
                  <a:tr h="463135">
                    <a:tc>
                      <a:txBody>
                        <a:bodyPr/>
                        <a:lstStyle/>
                        <a:p>
                          <a:pPr algn="ctr"/>
                          <a:r>
                            <a:rPr lang="en-US" sz="1400" dirty="0"/>
                            <a:t>Treatment of Parameters</a:t>
                          </a:r>
                        </a:p>
                      </a:txBody>
                      <a:tcPr anchor="ctr"/>
                    </a:tc>
                    <a:tc>
                      <a:txBody>
                        <a:bodyPr/>
                        <a:lstStyle/>
                        <a:p>
                          <a:pPr algn="ctr"/>
                          <a:r>
                            <a:rPr lang="en-US" sz="1200" b="0" i="0" u="none" strike="noStrike" kern="1200" dirty="0">
                              <a:solidFill>
                                <a:schemeClr val="dk1"/>
                              </a:solidFill>
                              <a:effectLst/>
                              <a:latin typeface="+mn-lt"/>
                              <a:ea typeface="+mn-ea"/>
                              <a:cs typeface="+mn-cs"/>
                            </a:rPr>
                            <a:t>Integrates over parameter space </a:t>
                          </a:r>
                        </a:p>
                        <a:p>
                          <a:pPr algn="ctr"/>
                          <a:r>
                            <a:rPr lang="en-US" sz="1200" b="0" i="0" u="none" strike="noStrike" kern="1200" dirty="0">
                              <a:solidFill>
                                <a:schemeClr val="dk1"/>
                              </a:solidFill>
                              <a:effectLst/>
                              <a:latin typeface="+mn-lt"/>
                              <a:ea typeface="+mn-ea"/>
                              <a:cs typeface="+mn-cs"/>
                            </a:rPr>
                            <a:t>using prior </a:t>
                          </a:r>
                          <a14:m>
                            <m:oMath xmlns:m="http://schemas.openxmlformats.org/officeDocument/2006/math">
                              <m:func>
                                <m:funcPr>
                                  <m:ctrlPr>
                                    <a:rPr lang="en-US" sz="1200" i="1" smtClean="0">
                                      <a:latin typeface="Cambria Math" panose="02040503050406030204" pitchFamily="18" charset="0"/>
                                      <a:ea typeface="Cambria Math" panose="02040503050406030204" pitchFamily="18" charset="0"/>
                                    </a:rPr>
                                  </m:ctrlPr>
                                </m:funcPr>
                                <m:fName>
                                  <m:r>
                                    <m:rPr>
                                      <m:sty m:val="p"/>
                                    </m:rPr>
                                    <a:rPr lang="en-US" sz="1200">
                                      <a:latin typeface="Cambria Math" panose="02040503050406030204" pitchFamily="18" charset="0"/>
                                      <a:ea typeface="Cambria Math" panose="02040503050406030204" pitchFamily="18" charset="0"/>
                                    </a:rPr>
                                    <m:t>P</m:t>
                                  </m:r>
                                </m:fName>
                                <m:e>
                                  <m:d>
                                    <m:dPr>
                                      <m:ctrlPr>
                                        <a:rPr lang="en-US" sz="1200" i="1">
                                          <a:latin typeface="Cambria Math" panose="02040503050406030204" pitchFamily="18" charset="0"/>
                                          <a:ea typeface="Cambria Math" panose="02040503050406030204" pitchFamily="18" charset="0"/>
                                        </a:rPr>
                                      </m:ctrlPr>
                                    </m:dPr>
                                    <m:e>
                                      <m:r>
                                        <a:rPr lang="en-US" sz="1200" i="1" smtClean="0">
                                          <a:latin typeface="Cambria Math" panose="02040503050406030204" pitchFamily="18" charset="0"/>
                                          <a:ea typeface="Cambria Math" panose="02040503050406030204" pitchFamily="18" charset="0"/>
                                        </a:rPr>
                                        <m:t>𝜃</m:t>
                                      </m:r>
                                    </m:e>
                                    <m:e>
                                      <m:r>
                                        <a:rPr lang="en-US" sz="1200" b="0" i="1" smtClean="0">
                                          <a:latin typeface="Cambria Math" panose="02040503050406030204" pitchFamily="18" charset="0"/>
                                          <a:ea typeface="Cambria Math" panose="02040503050406030204" pitchFamily="18" charset="0"/>
                                        </a:rPr>
                                        <m:t>𝑀</m:t>
                                      </m:r>
                                    </m:e>
                                  </m:d>
                                </m:e>
                              </m:func>
                            </m:oMath>
                          </a14:m>
                          <a:endParaRPr lang="en-US" sz="1200" dirty="0"/>
                        </a:p>
                      </a:txBody>
                      <a:tcPr anchor="ctr"/>
                    </a:tc>
                    <a:tc>
                      <a:txBody>
                        <a:bodyPr/>
                        <a:lstStyle/>
                        <a:p>
                          <a:pPr algn="ctr"/>
                          <a:r>
                            <a:rPr lang="en-US" sz="1200" b="0" i="0" u="none" strike="noStrike" kern="1200" dirty="0">
                              <a:solidFill>
                                <a:schemeClr val="dk1"/>
                              </a:solidFill>
                              <a:effectLst/>
                              <a:latin typeface="+mn-lt"/>
                              <a:ea typeface="+mn-ea"/>
                              <a:cs typeface="+mn-cs"/>
                            </a:rPr>
                            <a:t>Uses specific parameter values </a:t>
                          </a:r>
                        </a:p>
                        <a:p>
                          <a:pPr algn="ctr"/>
                          <a:r>
                            <a:rPr lang="en-US" sz="1200" b="0" i="0" u="none" strike="noStrike" kern="1200" dirty="0">
                              <a:solidFill>
                                <a:schemeClr val="dk1"/>
                              </a:solidFill>
                              <a:effectLst/>
                              <a:latin typeface="+mn-lt"/>
                              <a:ea typeface="+mn-ea"/>
                              <a:cs typeface="+mn-cs"/>
                            </a:rPr>
                            <a:t>(often MLEs for LRT)</a:t>
                          </a:r>
                          <a:endParaRPr lang="en-US" sz="1200" dirty="0"/>
                        </a:p>
                      </a:txBody>
                      <a:tcPr anchor="ctr"/>
                    </a:tc>
                    <a:extLst>
                      <a:ext uri="{0D108BD9-81ED-4DB2-BD59-A6C34878D82A}">
                        <a16:rowId xmlns:a16="http://schemas.microsoft.com/office/drawing/2014/main" val="2835532243"/>
                      </a:ext>
                    </a:extLst>
                  </a:tr>
                  <a:tr h="524886">
                    <a:tc>
                      <a:txBody>
                        <a:bodyPr/>
                        <a:lstStyle/>
                        <a:p>
                          <a:pPr algn="ctr"/>
                          <a:r>
                            <a:rPr lang="en-US" sz="1400" dirty="0"/>
                            <a:t>Prior Information</a:t>
                          </a:r>
                        </a:p>
                      </a:txBody>
                      <a:tcPr anchor="ctr"/>
                    </a:tc>
                    <a:tc>
                      <a:txBody>
                        <a:bodyPr/>
                        <a:lstStyle/>
                        <a:p>
                          <a:pPr algn="ctr"/>
                          <a:r>
                            <a:rPr lang="en-US" sz="1200" dirty="0"/>
                            <a:t>Yes</a:t>
                          </a:r>
                        </a:p>
                        <a:p>
                          <a:pPr algn="ctr"/>
                          <a:r>
                            <a:rPr lang="en-US" sz="1200"/>
                            <a:t>(incorporates prior distributions)</a:t>
                          </a:r>
                          <a:endParaRPr lang="en-US" sz="1200" dirty="0"/>
                        </a:p>
                      </a:txBody>
                      <a:tcPr anchor="ctr"/>
                    </a:tc>
                    <a:tc>
                      <a:txBody>
                        <a:bodyPr/>
                        <a:lstStyle/>
                        <a:p>
                          <a:pPr algn="ctr"/>
                          <a:r>
                            <a:rPr lang="en-US" sz="1200" dirty="0"/>
                            <a:t>No</a:t>
                          </a:r>
                        </a:p>
                      </a:txBody>
                      <a:tcPr anchor="ctr"/>
                    </a:tc>
                    <a:extLst>
                      <a:ext uri="{0D108BD9-81ED-4DB2-BD59-A6C34878D82A}">
                        <a16:rowId xmlns:a16="http://schemas.microsoft.com/office/drawing/2014/main" val="2244288948"/>
                      </a:ext>
                    </a:extLst>
                  </a:tr>
                  <a:tr h="524886">
                    <a:tc>
                      <a:txBody>
                        <a:bodyPr/>
                        <a:lstStyle/>
                        <a:p>
                          <a:pPr algn="ctr"/>
                          <a:r>
                            <a:rPr lang="en-US" sz="1400" dirty="0"/>
                            <a:t>Model Complexity Penalty</a:t>
                          </a:r>
                        </a:p>
                      </a:txBody>
                      <a:tcPr anchor="ctr"/>
                    </a:tc>
                    <a:tc>
                      <a:txBody>
                        <a:bodyPr/>
                        <a:lstStyle/>
                        <a:p>
                          <a:pPr algn="ctr"/>
                          <a:r>
                            <a:rPr lang="en-US" sz="1200" dirty="0"/>
                            <a:t>Automatic </a:t>
                          </a:r>
                        </a:p>
                        <a:p>
                          <a:pPr algn="ctr"/>
                          <a:r>
                            <a:rPr lang="en-US" sz="1200" dirty="0"/>
                            <a:t>(via integration over parameter space)</a:t>
                          </a:r>
                        </a:p>
                      </a:txBody>
                      <a:tcPr anchor="ctr"/>
                    </a:tc>
                    <a:tc>
                      <a:txBody>
                        <a:bodyPr/>
                        <a:lstStyle/>
                        <a:p>
                          <a:pPr algn="ctr"/>
                          <a:r>
                            <a:rPr lang="en-US" sz="1200" dirty="0"/>
                            <a:t>None </a:t>
                          </a:r>
                        </a:p>
                        <a:p>
                          <a:pPr algn="ctr"/>
                          <a:r>
                            <a:rPr lang="en-US" sz="1200" dirty="0"/>
                            <a:t>(unless using penalized likelihood)</a:t>
                          </a:r>
                        </a:p>
                      </a:txBody>
                      <a:tcPr anchor="ctr"/>
                    </a:tc>
                    <a:extLst>
                      <a:ext uri="{0D108BD9-81ED-4DB2-BD59-A6C34878D82A}">
                        <a16:rowId xmlns:a16="http://schemas.microsoft.com/office/drawing/2014/main" val="2811234493"/>
                      </a:ext>
                    </a:extLst>
                  </a:tr>
                  <a:tr h="463135">
                    <a:tc>
                      <a:txBody>
                        <a:bodyPr/>
                        <a:lstStyle/>
                        <a:p>
                          <a:pPr algn="ctr"/>
                          <a:r>
                            <a:rPr lang="en-US" sz="1400" dirty="0"/>
                            <a:t>Interpretation</a:t>
                          </a:r>
                        </a:p>
                      </a:txBody>
                      <a:tcPr anchor="ctr"/>
                    </a:tc>
                    <a:tc>
                      <a:txBody>
                        <a:bodyPr/>
                        <a:lstStyle/>
                        <a:p>
                          <a:pPr algn="ctr"/>
                          <a:r>
                            <a:rPr lang="en-US" sz="1200" dirty="0"/>
                            <a:t>Strength of evidence for </a:t>
                          </a:r>
                        </a:p>
                        <a:p>
                          <a:pPr algn="ctr"/>
                          <a:r>
                            <a:rPr lang="en-US" sz="1200" dirty="0"/>
                            <a:t>one model family vs. another</a:t>
                          </a:r>
                        </a:p>
                      </a:txBody>
                      <a:tcPr anchor="ctr"/>
                    </a:tc>
                    <a:tc>
                      <a:txBody>
                        <a:bodyPr/>
                        <a:lstStyle/>
                        <a:p>
                          <a:pPr algn="ctr"/>
                          <a:r>
                            <a:rPr lang="en-US" sz="1200" dirty="0"/>
                            <a:t>Relative support </a:t>
                          </a:r>
                        </a:p>
                        <a:p>
                          <a:pPr algn="ctr"/>
                          <a:r>
                            <a:rPr lang="en-US" sz="1200" dirty="0"/>
                            <a:t>for models at given parameter values</a:t>
                          </a:r>
                        </a:p>
                      </a:txBody>
                      <a:tcPr anchor="ctr"/>
                    </a:tc>
                    <a:extLst>
                      <a:ext uri="{0D108BD9-81ED-4DB2-BD59-A6C34878D82A}">
                        <a16:rowId xmlns:a16="http://schemas.microsoft.com/office/drawing/2014/main" val="4274289524"/>
                      </a:ext>
                    </a:extLst>
                  </a:tr>
                  <a:tr h="375654">
                    <a:tc>
                      <a:txBody>
                        <a:bodyPr/>
                        <a:lstStyle/>
                        <a:p>
                          <a:pPr algn="ctr"/>
                          <a:r>
                            <a:rPr lang="en-US" sz="1400" dirty="0"/>
                            <a:t>Model Comparison Type</a:t>
                          </a:r>
                        </a:p>
                      </a:txBody>
                      <a:tcPr anchor="ctr"/>
                    </a:tc>
                    <a:tc>
                      <a:txBody>
                        <a:bodyPr/>
                        <a:lstStyle/>
                        <a:p>
                          <a:pPr algn="ctr"/>
                          <a:r>
                            <a:rPr lang="en-US" sz="1200" dirty="0"/>
                            <a:t>Bayesian</a:t>
                          </a:r>
                        </a:p>
                      </a:txBody>
                      <a:tcPr anchor="ctr"/>
                    </a:tc>
                    <a:tc>
                      <a:txBody>
                        <a:bodyPr/>
                        <a:lstStyle/>
                        <a:p>
                          <a:pPr algn="ctr"/>
                          <a:r>
                            <a:rPr lang="en-US" sz="1200" dirty="0"/>
                            <a:t>Frequentist</a:t>
                          </a:r>
                        </a:p>
                      </a:txBody>
                      <a:tcPr anchor="ctr"/>
                    </a:tc>
                    <a:extLst>
                      <a:ext uri="{0D108BD9-81ED-4DB2-BD59-A6C34878D82A}">
                        <a16:rowId xmlns:a16="http://schemas.microsoft.com/office/drawing/2014/main" val="1209122728"/>
                      </a:ext>
                    </a:extLst>
                  </a:tr>
                </a:tbl>
              </a:graphicData>
            </a:graphic>
          </p:graphicFrame>
        </mc:Choice>
        <mc:Fallback xmlns="">
          <p:graphicFrame>
            <p:nvGraphicFramePr>
              <p:cNvPr id="5" name="Table 4">
                <a:extLst>
                  <a:ext uri="{FF2B5EF4-FFF2-40B4-BE49-F238E27FC236}">
                    <a16:creationId xmlns:a16="http://schemas.microsoft.com/office/drawing/2014/main" id="{59D6A3C9-38CB-D73E-B932-FAD2FCF270D2}"/>
                  </a:ext>
                </a:extLst>
              </p:cNvPr>
              <p:cNvGraphicFramePr>
                <a:graphicFrameLocks noGrp="1"/>
              </p:cNvGraphicFramePr>
              <p:nvPr>
                <p:extLst>
                  <p:ext uri="{D42A27DB-BD31-4B8C-83A1-F6EECF244321}">
                    <p14:modId xmlns:p14="http://schemas.microsoft.com/office/powerpoint/2010/main" val="2039513885"/>
                  </p:ext>
                </p:extLst>
              </p:nvPr>
            </p:nvGraphicFramePr>
            <p:xfrm>
              <a:off x="715107" y="4822440"/>
              <a:ext cx="7713786" cy="3737499"/>
            </p:xfrm>
            <a:graphic>
              <a:graphicData uri="http://schemas.openxmlformats.org/drawingml/2006/table">
                <a:tbl>
                  <a:tblPr firstRow="1" firstCol="1" bandRow="1">
                    <a:tableStyleId>{5C22544A-7EE6-4342-B048-85BDC9FD1C3A}</a:tableStyleId>
                  </a:tblPr>
                  <a:tblGrid>
                    <a:gridCol w="2571262">
                      <a:extLst>
                        <a:ext uri="{9D8B030D-6E8A-4147-A177-3AD203B41FA5}">
                          <a16:colId xmlns:a16="http://schemas.microsoft.com/office/drawing/2014/main" val="2680896557"/>
                        </a:ext>
                      </a:extLst>
                    </a:gridCol>
                    <a:gridCol w="2571262">
                      <a:extLst>
                        <a:ext uri="{9D8B030D-6E8A-4147-A177-3AD203B41FA5}">
                          <a16:colId xmlns:a16="http://schemas.microsoft.com/office/drawing/2014/main" val="295877872"/>
                        </a:ext>
                      </a:extLst>
                    </a:gridCol>
                    <a:gridCol w="2571262">
                      <a:extLst>
                        <a:ext uri="{9D8B030D-6E8A-4147-A177-3AD203B41FA5}">
                          <a16:colId xmlns:a16="http://schemas.microsoft.com/office/drawing/2014/main" val="1122726412"/>
                        </a:ext>
                      </a:extLst>
                    </a:gridCol>
                  </a:tblGrid>
                  <a:tr h="375654">
                    <a:tc>
                      <a:txBody>
                        <a:bodyPr/>
                        <a:lstStyle/>
                        <a:p>
                          <a:pPr algn="ctr"/>
                          <a:endParaRPr lang="en-US" sz="1200" dirty="0"/>
                        </a:p>
                      </a:txBody>
                      <a:tcPr anchor="ctr"/>
                    </a:tc>
                    <a:tc>
                      <a:txBody>
                        <a:bodyPr/>
                        <a:lstStyle/>
                        <a:p>
                          <a:pPr algn="ctr"/>
                          <a:r>
                            <a:rPr lang="en-US" sz="1400" dirty="0"/>
                            <a:t>Bayes Factor (BF)</a:t>
                          </a:r>
                        </a:p>
                      </a:txBody>
                      <a:tcPr anchor="ctr"/>
                    </a:tc>
                    <a:tc>
                      <a:txBody>
                        <a:bodyPr/>
                        <a:lstStyle/>
                        <a:p>
                          <a:pPr algn="ctr"/>
                          <a:r>
                            <a:rPr lang="en-US" sz="1400" dirty="0"/>
                            <a:t>Likelihood Ratio (LR)</a:t>
                          </a:r>
                        </a:p>
                      </a:txBody>
                      <a:tcPr anchor="ctr"/>
                    </a:tc>
                    <a:extLst>
                      <a:ext uri="{0D108BD9-81ED-4DB2-BD59-A6C34878D82A}">
                        <a16:rowId xmlns:a16="http://schemas.microsoft.com/office/drawing/2014/main" val="3295374290"/>
                      </a:ext>
                    </a:extLst>
                  </a:tr>
                  <a:tr h="463135">
                    <a:tc>
                      <a:txBody>
                        <a:bodyPr/>
                        <a:lstStyle/>
                        <a:p>
                          <a:pPr algn="ctr"/>
                          <a:r>
                            <a:rPr lang="en-US" sz="1400" dirty="0"/>
                            <a:t>Definition</a:t>
                          </a:r>
                        </a:p>
                      </a:txBody>
                      <a:tcPr anchor="ctr"/>
                    </a:tc>
                    <a:tc>
                      <a:txBody>
                        <a:bodyPr/>
                        <a:lstStyle/>
                        <a:p>
                          <a:pPr algn="ctr"/>
                          <a:r>
                            <a:rPr lang="en-US" sz="1200" dirty="0"/>
                            <a:t> Ratio of marginal likelihoods (integrated over priors)</a:t>
                          </a:r>
                        </a:p>
                      </a:txBody>
                      <a:tcPr anchor="ctr"/>
                    </a:tc>
                    <a:tc>
                      <a:txBody>
                        <a:bodyPr/>
                        <a:lstStyle/>
                        <a:p>
                          <a:pPr algn="ctr"/>
                          <a:r>
                            <a:rPr lang="en-US" sz="1200" dirty="0"/>
                            <a:t>Ratio of likelihoods at specific parameter values</a:t>
                          </a:r>
                        </a:p>
                      </a:txBody>
                      <a:tcPr anchor="ctr"/>
                    </a:tc>
                    <a:extLst>
                      <a:ext uri="{0D108BD9-81ED-4DB2-BD59-A6C34878D82A}">
                        <a16:rowId xmlns:a16="http://schemas.microsoft.com/office/drawing/2014/main" val="3322488351"/>
                      </a:ext>
                    </a:extLst>
                  </a:tr>
                  <a:tr h="547014">
                    <a:tc>
                      <a:txBody>
                        <a:bodyPr/>
                        <a:lstStyle/>
                        <a:p>
                          <a:pPr algn="ctr"/>
                          <a:r>
                            <a:rPr lang="en-US" sz="1400" dirty="0"/>
                            <a:t>Formula</a:t>
                          </a:r>
                        </a:p>
                      </a:txBody>
                      <a:tcPr anchor="ctr"/>
                    </a:tc>
                    <a:tc>
                      <a:txBody>
                        <a:bodyPr/>
                        <a:lstStyle/>
                        <a:p>
                          <a:endParaRPr lang="en-US"/>
                        </a:p>
                      </a:txBody>
                      <a:tcPr anchor="ctr">
                        <a:blipFill>
                          <a:blip r:embed="rId3"/>
                          <a:stretch>
                            <a:fillRect l="-100990" t="-150000" r="-101485" b="-427273"/>
                          </a:stretch>
                        </a:blipFill>
                      </a:tcPr>
                    </a:tc>
                    <a:tc>
                      <a:txBody>
                        <a:bodyPr/>
                        <a:lstStyle/>
                        <a:p>
                          <a:endParaRPr lang="en-US"/>
                        </a:p>
                      </a:txBody>
                      <a:tcPr anchor="ctr">
                        <a:blipFill>
                          <a:blip r:embed="rId3"/>
                          <a:stretch>
                            <a:fillRect l="-200000" t="-150000" r="-985" b="-427273"/>
                          </a:stretch>
                        </a:blipFill>
                      </a:tcPr>
                    </a:tc>
                    <a:extLst>
                      <a:ext uri="{0D108BD9-81ED-4DB2-BD59-A6C34878D82A}">
                        <a16:rowId xmlns:a16="http://schemas.microsoft.com/office/drawing/2014/main" val="1231067481"/>
                      </a:ext>
                    </a:extLst>
                  </a:tr>
                  <a:tr h="463135">
                    <a:tc>
                      <a:txBody>
                        <a:bodyPr/>
                        <a:lstStyle/>
                        <a:p>
                          <a:pPr algn="ctr"/>
                          <a:r>
                            <a:rPr lang="en-US" sz="1400" dirty="0"/>
                            <a:t>Treatment of Parameters</a:t>
                          </a:r>
                        </a:p>
                      </a:txBody>
                      <a:tcPr anchor="ctr"/>
                    </a:tc>
                    <a:tc>
                      <a:txBody>
                        <a:bodyPr/>
                        <a:lstStyle/>
                        <a:p>
                          <a:endParaRPr lang="en-US"/>
                        </a:p>
                      </a:txBody>
                      <a:tcPr anchor="ctr">
                        <a:blipFill>
                          <a:blip r:embed="rId3"/>
                          <a:stretch>
                            <a:fillRect l="-100990" t="-305556" r="-101485" b="-422222"/>
                          </a:stretch>
                        </a:blipFill>
                      </a:tcPr>
                    </a:tc>
                    <a:tc>
                      <a:txBody>
                        <a:bodyPr/>
                        <a:lstStyle/>
                        <a:p>
                          <a:pPr algn="ctr"/>
                          <a:r>
                            <a:rPr lang="en-US" sz="1200" b="0" i="0" u="none" strike="noStrike" kern="1200" dirty="0">
                              <a:solidFill>
                                <a:schemeClr val="dk1"/>
                              </a:solidFill>
                              <a:effectLst/>
                              <a:latin typeface="+mn-lt"/>
                              <a:ea typeface="+mn-ea"/>
                              <a:cs typeface="+mn-cs"/>
                            </a:rPr>
                            <a:t>Uses specific parameter values </a:t>
                          </a:r>
                        </a:p>
                        <a:p>
                          <a:pPr algn="ctr"/>
                          <a:r>
                            <a:rPr lang="en-US" sz="1200" b="0" i="0" u="none" strike="noStrike" kern="1200" dirty="0">
                              <a:solidFill>
                                <a:schemeClr val="dk1"/>
                              </a:solidFill>
                              <a:effectLst/>
                              <a:latin typeface="+mn-lt"/>
                              <a:ea typeface="+mn-ea"/>
                              <a:cs typeface="+mn-cs"/>
                            </a:rPr>
                            <a:t>(often MLEs for LRT)</a:t>
                          </a:r>
                          <a:endParaRPr lang="en-US" sz="1200" dirty="0"/>
                        </a:p>
                      </a:txBody>
                      <a:tcPr anchor="ctr"/>
                    </a:tc>
                    <a:extLst>
                      <a:ext uri="{0D108BD9-81ED-4DB2-BD59-A6C34878D82A}">
                        <a16:rowId xmlns:a16="http://schemas.microsoft.com/office/drawing/2014/main" val="2835532243"/>
                      </a:ext>
                    </a:extLst>
                  </a:tr>
                  <a:tr h="524886">
                    <a:tc>
                      <a:txBody>
                        <a:bodyPr/>
                        <a:lstStyle/>
                        <a:p>
                          <a:pPr algn="ctr"/>
                          <a:r>
                            <a:rPr lang="en-US" sz="1400" dirty="0"/>
                            <a:t>Prior Information</a:t>
                          </a:r>
                        </a:p>
                      </a:txBody>
                      <a:tcPr anchor="ctr"/>
                    </a:tc>
                    <a:tc>
                      <a:txBody>
                        <a:bodyPr/>
                        <a:lstStyle/>
                        <a:p>
                          <a:pPr algn="ctr"/>
                          <a:r>
                            <a:rPr lang="en-US" sz="1200" dirty="0"/>
                            <a:t>Yes</a:t>
                          </a:r>
                        </a:p>
                        <a:p>
                          <a:pPr algn="ctr"/>
                          <a:r>
                            <a:rPr lang="en-US" sz="1200"/>
                            <a:t>(incorporates prior distributions)</a:t>
                          </a:r>
                          <a:endParaRPr lang="en-US" sz="1200" dirty="0"/>
                        </a:p>
                      </a:txBody>
                      <a:tcPr anchor="ctr"/>
                    </a:tc>
                    <a:tc>
                      <a:txBody>
                        <a:bodyPr/>
                        <a:lstStyle/>
                        <a:p>
                          <a:pPr algn="ctr"/>
                          <a:r>
                            <a:rPr lang="en-US" sz="1200" dirty="0"/>
                            <a:t>No</a:t>
                          </a:r>
                        </a:p>
                      </a:txBody>
                      <a:tcPr anchor="ctr"/>
                    </a:tc>
                    <a:extLst>
                      <a:ext uri="{0D108BD9-81ED-4DB2-BD59-A6C34878D82A}">
                        <a16:rowId xmlns:a16="http://schemas.microsoft.com/office/drawing/2014/main" val="2244288948"/>
                      </a:ext>
                    </a:extLst>
                  </a:tr>
                  <a:tr h="524886">
                    <a:tc>
                      <a:txBody>
                        <a:bodyPr/>
                        <a:lstStyle/>
                        <a:p>
                          <a:pPr algn="ctr"/>
                          <a:r>
                            <a:rPr lang="en-US" sz="1400" dirty="0"/>
                            <a:t>Model Complexity Penalty</a:t>
                          </a:r>
                        </a:p>
                      </a:txBody>
                      <a:tcPr anchor="ctr"/>
                    </a:tc>
                    <a:tc>
                      <a:txBody>
                        <a:bodyPr/>
                        <a:lstStyle/>
                        <a:p>
                          <a:pPr algn="ctr"/>
                          <a:r>
                            <a:rPr lang="en-US" sz="1200" dirty="0"/>
                            <a:t>Automatic </a:t>
                          </a:r>
                        </a:p>
                        <a:p>
                          <a:pPr algn="ctr"/>
                          <a:r>
                            <a:rPr lang="en-US" sz="1200" dirty="0"/>
                            <a:t>(via integration over parameter space)</a:t>
                          </a:r>
                        </a:p>
                      </a:txBody>
                      <a:tcPr anchor="ctr"/>
                    </a:tc>
                    <a:tc>
                      <a:txBody>
                        <a:bodyPr/>
                        <a:lstStyle/>
                        <a:p>
                          <a:pPr algn="ctr"/>
                          <a:r>
                            <a:rPr lang="en-US" sz="1200" dirty="0"/>
                            <a:t>None </a:t>
                          </a:r>
                        </a:p>
                        <a:p>
                          <a:pPr algn="ctr"/>
                          <a:r>
                            <a:rPr lang="en-US" sz="1200" dirty="0"/>
                            <a:t>(unless using penalized likelihood)</a:t>
                          </a:r>
                        </a:p>
                      </a:txBody>
                      <a:tcPr anchor="ctr"/>
                    </a:tc>
                    <a:extLst>
                      <a:ext uri="{0D108BD9-81ED-4DB2-BD59-A6C34878D82A}">
                        <a16:rowId xmlns:a16="http://schemas.microsoft.com/office/drawing/2014/main" val="2811234493"/>
                      </a:ext>
                    </a:extLst>
                  </a:tr>
                  <a:tr h="463135">
                    <a:tc>
                      <a:txBody>
                        <a:bodyPr/>
                        <a:lstStyle/>
                        <a:p>
                          <a:pPr algn="ctr"/>
                          <a:r>
                            <a:rPr lang="en-US" sz="1400" dirty="0"/>
                            <a:t>Interpretation</a:t>
                          </a:r>
                        </a:p>
                      </a:txBody>
                      <a:tcPr anchor="ctr"/>
                    </a:tc>
                    <a:tc>
                      <a:txBody>
                        <a:bodyPr/>
                        <a:lstStyle/>
                        <a:p>
                          <a:pPr algn="ctr"/>
                          <a:r>
                            <a:rPr lang="en-US" sz="1200" dirty="0"/>
                            <a:t>Strength of evidence for </a:t>
                          </a:r>
                        </a:p>
                        <a:p>
                          <a:pPr algn="ctr"/>
                          <a:r>
                            <a:rPr lang="en-US" sz="1200" dirty="0"/>
                            <a:t>one model family vs. another</a:t>
                          </a:r>
                        </a:p>
                      </a:txBody>
                      <a:tcPr anchor="ctr"/>
                    </a:tc>
                    <a:tc>
                      <a:txBody>
                        <a:bodyPr/>
                        <a:lstStyle/>
                        <a:p>
                          <a:pPr algn="ctr"/>
                          <a:r>
                            <a:rPr lang="en-US" sz="1200" dirty="0"/>
                            <a:t>Relative support </a:t>
                          </a:r>
                        </a:p>
                        <a:p>
                          <a:pPr algn="ctr"/>
                          <a:r>
                            <a:rPr lang="en-US" sz="1200" dirty="0"/>
                            <a:t>for models at given parameter values</a:t>
                          </a:r>
                        </a:p>
                      </a:txBody>
                      <a:tcPr anchor="ctr"/>
                    </a:tc>
                    <a:extLst>
                      <a:ext uri="{0D108BD9-81ED-4DB2-BD59-A6C34878D82A}">
                        <a16:rowId xmlns:a16="http://schemas.microsoft.com/office/drawing/2014/main" val="4274289524"/>
                      </a:ext>
                    </a:extLst>
                  </a:tr>
                  <a:tr h="375654">
                    <a:tc>
                      <a:txBody>
                        <a:bodyPr/>
                        <a:lstStyle/>
                        <a:p>
                          <a:pPr algn="ctr"/>
                          <a:r>
                            <a:rPr lang="en-US" sz="1400" dirty="0"/>
                            <a:t>Model Comparison Type</a:t>
                          </a:r>
                        </a:p>
                      </a:txBody>
                      <a:tcPr anchor="ctr"/>
                    </a:tc>
                    <a:tc>
                      <a:txBody>
                        <a:bodyPr/>
                        <a:lstStyle/>
                        <a:p>
                          <a:pPr algn="ctr"/>
                          <a:r>
                            <a:rPr lang="en-US" sz="1200" dirty="0"/>
                            <a:t>Bayesian</a:t>
                          </a:r>
                        </a:p>
                      </a:txBody>
                      <a:tcPr anchor="ctr"/>
                    </a:tc>
                    <a:tc>
                      <a:txBody>
                        <a:bodyPr/>
                        <a:lstStyle/>
                        <a:p>
                          <a:pPr algn="ctr"/>
                          <a:r>
                            <a:rPr lang="en-US" sz="1200" dirty="0"/>
                            <a:t>Frequentist</a:t>
                          </a:r>
                        </a:p>
                      </a:txBody>
                      <a:tcPr anchor="ctr"/>
                    </a:tc>
                    <a:extLst>
                      <a:ext uri="{0D108BD9-81ED-4DB2-BD59-A6C34878D82A}">
                        <a16:rowId xmlns:a16="http://schemas.microsoft.com/office/drawing/2014/main" val="1209122728"/>
                      </a:ext>
                    </a:extLst>
                  </a:tr>
                </a:tbl>
              </a:graphicData>
            </a:graphic>
          </p:graphicFrame>
        </mc:Fallback>
      </mc:AlternateContent>
    </p:spTree>
    <p:extLst>
      <p:ext uri="{BB962C8B-B14F-4D97-AF65-F5344CB8AC3E}">
        <p14:creationId xmlns:p14="http://schemas.microsoft.com/office/powerpoint/2010/main" val="921824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77D6B-8963-AEE9-54DD-718FE67C01A7}"/>
            </a:ext>
          </a:extLst>
        </p:cNvPr>
        <p:cNvGrpSpPr/>
        <p:nvPr/>
      </p:nvGrpSpPr>
      <p:grpSpPr>
        <a:xfrm>
          <a:off x="0" y="0"/>
          <a:ext cx="0" cy="0"/>
          <a:chOff x="0" y="0"/>
          <a:chExt cx="0" cy="0"/>
        </a:xfrm>
      </p:grpSpPr>
      <p:sp>
        <p:nvSpPr>
          <p:cNvPr id="43" name="Rounded Rectangle 42">
            <a:extLst>
              <a:ext uri="{FF2B5EF4-FFF2-40B4-BE49-F238E27FC236}">
                <a16:creationId xmlns:a16="http://schemas.microsoft.com/office/drawing/2014/main" id="{78738DEA-8F92-7A46-DC73-4E6AA2221033}"/>
              </a:ext>
            </a:extLst>
          </p:cNvPr>
          <p:cNvSpPr/>
          <p:nvPr/>
        </p:nvSpPr>
        <p:spPr>
          <a:xfrm>
            <a:off x="532786" y="2927096"/>
            <a:ext cx="8241174" cy="231345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A5BF8233-86E4-9D8D-4D69-DACB53B754F7}"/>
              </a:ext>
            </a:extLst>
          </p:cNvPr>
          <p:cNvSpPr txBox="1"/>
          <p:nvPr/>
        </p:nvSpPr>
        <p:spPr>
          <a:xfrm>
            <a:off x="2122369" y="138690"/>
            <a:ext cx="4911210" cy="400110"/>
          </a:xfrm>
          <a:prstGeom prst="rect">
            <a:avLst/>
          </a:prstGeom>
          <a:noFill/>
        </p:spPr>
        <p:txBody>
          <a:bodyPr wrap="square" rtlCol="0" anchor="ctr">
            <a:spAutoFit/>
          </a:bodyPr>
          <a:lstStyle/>
          <a:p>
            <a:pPr algn="ctr"/>
            <a:r>
              <a:rPr lang="en-US" sz="2000" b="1" i="1" dirty="0"/>
              <a:t>p</a:t>
            </a:r>
            <a:r>
              <a:rPr lang="en-US" sz="2000" b="1" dirty="0"/>
              <a:t>-value and Bayesian Hypothesis Testing</a:t>
            </a:r>
          </a:p>
        </p:txBody>
      </p:sp>
      <p:sp>
        <p:nvSpPr>
          <p:cNvPr id="10" name="Rounded Rectangle 9">
            <a:extLst>
              <a:ext uri="{FF2B5EF4-FFF2-40B4-BE49-F238E27FC236}">
                <a16:creationId xmlns:a16="http://schemas.microsoft.com/office/drawing/2014/main" id="{FA030D9F-A1E0-8BAE-1ABF-B7916FB53BC0}"/>
              </a:ext>
            </a:extLst>
          </p:cNvPr>
          <p:cNvSpPr/>
          <p:nvPr/>
        </p:nvSpPr>
        <p:spPr>
          <a:xfrm>
            <a:off x="532786" y="538800"/>
            <a:ext cx="8241174" cy="231345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0C4466B-3E13-9C1E-8998-F9D6EE5301DD}"/>
                  </a:ext>
                </a:extLst>
              </p:cNvPr>
              <p:cNvSpPr txBox="1"/>
              <p:nvPr/>
            </p:nvSpPr>
            <p:spPr>
              <a:xfrm>
                <a:off x="730303" y="618541"/>
                <a:ext cx="2846917" cy="1692771"/>
              </a:xfrm>
              <a:prstGeom prst="rect">
                <a:avLst/>
              </a:prstGeom>
              <a:noFill/>
            </p:spPr>
            <p:txBody>
              <a:bodyPr wrap="square">
                <a:spAutoFit/>
              </a:bodyPr>
              <a:lstStyle/>
              <a:p>
                <a:pPr algn="ctr" rtl="0">
                  <a:buNone/>
                </a:pPr>
                <a:r>
                  <a:rPr lang="en-US" sz="1800" b="1" i="0" u="none" strike="noStrike" dirty="0">
                    <a:solidFill>
                      <a:srgbClr val="000000"/>
                    </a:solidFill>
                    <a:effectLst/>
                  </a:rPr>
                  <a:t>Frequentist</a:t>
                </a:r>
              </a:p>
              <a:p>
                <a:r>
                  <a:rPr lang="en-US" i="1" dirty="0">
                    <a:solidFill>
                      <a:srgbClr val="000000"/>
                    </a:solidFill>
                  </a:rPr>
                  <a:t>p</a:t>
                </a:r>
                <a:r>
                  <a:rPr lang="en-US" sz="1800" b="0" i="0" u="none" strike="noStrike" dirty="0">
                    <a:solidFill>
                      <a:srgbClr val="000000"/>
                    </a:solidFill>
                    <a:effectLst/>
                  </a:rPr>
                  <a:t>-value is the probability of reject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𝐻</m:t>
                        </m:r>
                      </m:e>
                      <m:sub>
                        <m:r>
                          <a:rPr lang="en-US" i="1">
                            <a:solidFill>
                              <a:srgbClr val="000000"/>
                            </a:solidFill>
                            <a:latin typeface="Cambria Math" panose="02040503050406030204" pitchFamily="18" charset="0"/>
                          </a:rPr>
                          <m:t>0</m:t>
                        </m:r>
                      </m:sub>
                    </m:sSub>
                  </m:oMath>
                </a14:m>
                <a:r>
                  <a:rPr lang="en-US" sz="1800" b="0" i="0" u="none" strike="noStrike" dirty="0">
                    <a:solidFill>
                      <a:srgbClr val="000000"/>
                    </a:solidFill>
                    <a:effectLst/>
                  </a:rPr>
                  <a:t> given that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𝐻</m:t>
                        </m:r>
                      </m:e>
                      <m:sub>
                        <m:r>
                          <a:rPr lang="en-US" i="1">
                            <a:solidFill>
                              <a:srgbClr val="000000"/>
                            </a:solidFill>
                            <a:latin typeface="Cambria Math" panose="02040503050406030204" pitchFamily="18" charset="0"/>
                          </a:rPr>
                          <m:t>0</m:t>
                        </m:r>
                      </m:sub>
                    </m:sSub>
                  </m:oMath>
                </a14:m>
                <a:r>
                  <a:rPr lang="en-US" sz="1800" b="0" i="0" u="none" strike="noStrike" dirty="0">
                    <a:solidFill>
                      <a:srgbClr val="000000"/>
                    </a:solidFill>
                    <a:effectLst/>
                  </a:rPr>
                  <a:t> is correct</a:t>
                </a:r>
                <a:endParaRPr lang="en-US" dirty="0">
                  <a:solidFill>
                    <a:srgbClr val="000000"/>
                  </a:solidFill>
                </a:endParaRPr>
              </a:p>
              <a:p>
                <a:pPr marL="285750" indent="-285750" rtl="0">
                  <a:buFont typeface="Arial" panose="020B0604020202020204" pitchFamily="34" charset="0"/>
                  <a:buChar char="•"/>
                </a:pPr>
                <a14:m>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rPr>
                          <m:t>𝐻</m:t>
                        </m:r>
                      </m:e>
                      <m:sub>
                        <m:r>
                          <a:rPr lang="en-US" sz="1600" b="0" i="1" u="none" strike="noStrike" smtClean="0">
                            <a:solidFill>
                              <a:srgbClr val="000000"/>
                            </a:solidFill>
                            <a:effectLst/>
                            <a:latin typeface="Cambria Math" panose="02040503050406030204" pitchFamily="18" charset="0"/>
                          </a:rPr>
                          <m:t>0</m:t>
                        </m:r>
                      </m:sub>
                    </m:sSub>
                  </m:oMath>
                </a14:m>
                <a:r>
                  <a:rPr lang="en-US" sz="1600" b="0" i="0" u="none" strike="noStrike" dirty="0">
                    <a:solidFill>
                      <a:srgbClr val="000000"/>
                    </a:solidFill>
                    <a:effectLst/>
                  </a:rPr>
                  <a:t>: Null hypothesis</a:t>
                </a:r>
              </a:p>
              <a:p>
                <a:pPr marL="285750" indent="-285750">
                  <a:buFont typeface="Arial" panose="020B0604020202020204" pitchFamily="34" charset="0"/>
                  <a:buChar char="•"/>
                </a:pPr>
                <a14:m>
                  <m:oMath xmlns:m="http://schemas.openxmlformats.org/officeDocument/2006/math">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𝐻</m:t>
                        </m:r>
                      </m:e>
                      <m:sub>
                        <m:r>
                          <a:rPr lang="en-US" sz="1600" i="1">
                            <a:solidFill>
                              <a:srgbClr val="000000"/>
                            </a:solidFill>
                            <a:latin typeface="Cambria Math" panose="02040503050406030204" pitchFamily="18" charset="0"/>
                          </a:rPr>
                          <m:t>𝑎</m:t>
                        </m:r>
                      </m:sub>
                    </m:sSub>
                  </m:oMath>
                </a14:m>
                <a:r>
                  <a:rPr lang="en-US" sz="1600" b="0" i="0" u="none" strike="noStrike" dirty="0">
                    <a:solidFill>
                      <a:srgbClr val="000000"/>
                    </a:solidFill>
                    <a:effectLst/>
                  </a:rPr>
                  <a:t>: Alternate hypothesis</a:t>
                </a:r>
              </a:p>
            </p:txBody>
          </p:sp>
        </mc:Choice>
        <mc:Fallback xmlns="">
          <p:sp>
            <p:nvSpPr>
              <p:cNvPr id="15" name="TextBox 14">
                <a:extLst>
                  <a:ext uri="{FF2B5EF4-FFF2-40B4-BE49-F238E27FC236}">
                    <a16:creationId xmlns:a16="http://schemas.microsoft.com/office/drawing/2014/main" id="{B0C4466B-3E13-9C1E-8998-F9D6EE5301DD}"/>
                  </a:ext>
                </a:extLst>
              </p:cNvPr>
              <p:cNvSpPr txBox="1">
                <a:spLocks noRot="1" noChangeAspect="1" noMove="1" noResize="1" noEditPoints="1" noAdjustHandles="1" noChangeArrowheads="1" noChangeShapeType="1" noTextEdit="1"/>
              </p:cNvSpPr>
              <p:nvPr/>
            </p:nvSpPr>
            <p:spPr>
              <a:xfrm>
                <a:off x="730303" y="618541"/>
                <a:ext cx="2846917" cy="1692771"/>
              </a:xfrm>
              <a:prstGeom prst="rect">
                <a:avLst/>
              </a:prstGeom>
              <a:blipFill>
                <a:blip r:embed="rId2"/>
                <a:stretch>
                  <a:fillRect l="-1778" t="-1493" b="-44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ECB96A52-4515-3854-C8B7-88DC4AB552AB}"/>
                  </a:ext>
                </a:extLst>
              </p:cNvPr>
              <p:cNvGraphicFramePr>
                <a:graphicFrameLocks noGrp="1"/>
              </p:cNvGraphicFramePr>
              <p:nvPr>
                <p:extLst>
                  <p:ext uri="{D42A27DB-BD31-4B8C-83A1-F6EECF244321}">
                    <p14:modId xmlns:p14="http://schemas.microsoft.com/office/powerpoint/2010/main" val="2132989158"/>
                  </p:ext>
                </p:extLst>
              </p:nvPr>
            </p:nvGraphicFramePr>
            <p:xfrm>
              <a:off x="3774737" y="719485"/>
              <a:ext cx="4676638" cy="1241419"/>
            </p:xfrm>
            <a:graphic>
              <a:graphicData uri="http://schemas.openxmlformats.org/drawingml/2006/table">
                <a:tbl>
                  <a:tblPr firstRow="1"/>
                  <a:tblGrid>
                    <a:gridCol w="711988">
                      <a:extLst>
                        <a:ext uri="{9D8B030D-6E8A-4147-A177-3AD203B41FA5}">
                          <a16:colId xmlns:a16="http://schemas.microsoft.com/office/drawing/2014/main" val="98670622"/>
                        </a:ext>
                      </a:extLst>
                    </a:gridCol>
                    <a:gridCol w="816913">
                      <a:extLst>
                        <a:ext uri="{9D8B030D-6E8A-4147-A177-3AD203B41FA5}">
                          <a16:colId xmlns:a16="http://schemas.microsoft.com/office/drawing/2014/main" val="3779959194"/>
                        </a:ext>
                      </a:extLst>
                    </a:gridCol>
                    <a:gridCol w="1510666">
                      <a:extLst>
                        <a:ext uri="{9D8B030D-6E8A-4147-A177-3AD203B41FA5}">
                          <a16:colId xmlns:a16="http://schemas.microsoft.com/office/drawing/2014/main" val="3537561110"/>
                        </a:ext>
                      </a:extLst>
                    </a:gridCol>
                    <a:gridCol w="1637071">
                      <a:extLst>
                        <a:ext uri="{9D8B030D-6E8A-4147-A177-3AD203B41FA5}">
                          <a16:colId xmlns:a16="http://schemas.microsoft.com/office/drawing/2014/main" val="1558421461"/>
                        </a:ext>
                      </a:extLst>
                    </a:gridCol>
                  </a:tblGrid>
                  <a:tr h="234743">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en-US"/>
                        </a:p>
                      </a:txBody>
                      <a:tcPr/>
                    </a:tc>
                    <a:tc>
                      <a:txBody>
                        <a:bodyPr/>
                        <a:lstStyle/>
                        <a:p>
                          <a:pPr algn="ctr" rtl="0" fontAlgn="t">
                            <a:buNone/>
                          </a:pPr>
                          <a14:m>
                            <m:oMathPara xmlns:m="http://schemas.openxmlformats.org/officeDocument/2006/math">
                              <m:oMathParaPr>
                                <m:jc m:val="centerGroup"/>
                              </m:oMathParaPr>
                              <m:oMath xmlns:m="http://schemas.openxmlformats.org/officeDocument/2006/math">
                                <m:sSub>
                                  <m:sSubPr>
                                    <m:ctrlPr>
                                      <a:rPr lang="en-US" sz="1100" b="0" i="1" u="none" strike="noStrike" smtClean="0">
                                        <a:solidFill>
                                          <a:srgbClr val="000000"/>
                                        </a:solidFill>
                                        <a:effectLst/>
                                        <a:latin typeface="Cambria Math" panose="02040503050406030204" pitchFamily="18" charset="0"/>
                                      </a:rPr>
                                    </m:ctrlPr>
                                  </m:sSubPr>
                                  <m:e>
                                    <m:r>
                                      <a:rPr lang="en-US" sz="1100" b="0" i="1" u="none" strike="noStrike" smtClean="0">
                                        <a:solidFill>
                                          <a:srgbClr val="000000"/>
                                        </a:solidFill>
                                        <a:effectLst/>
                                        <a:latin typeface="Cambria Math" panose="02040503050406030204" pitchFamily="18" charset="0"/>
                                      </a:rPr>
                                      <m:t>𝐻</m:t>
                                    </m:r>
                                  </m:e>
                                  <m:sub>
                                    <m:r>
                                      <a:rPr lang="en-US" sz="1100" b="0" i="1" u="none" strike="noStrike" smtClean="0">
                                        <a:solidFill>
                                          <a:srgbClr val="000000"/>
                                        </a:solidFill>
                                        <a:effectLst/>
                                        <a:latin typeface="Cambria Math" panose="02040503050406030204" pitchFamily="18" charset="0"/>
                                      </a:rPr>
                                      <m:t>0</m:t>
                                    </m:r>
                                  </m:sub>
                                </m:sSub>
                              </m:oMath>
                            </m:oMathPara>
                          </a14:m>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rtl="0" fontAlgn="t">
                            <a:buNone/>
                          </a:pPr>
                          <a14:m>
                            <m:oMathPara xmlns:m="http://schemas.openxmlformats.org/officeDocument/2006/math">
                              <m:oMathParaPr>
                                <m:jc m:val="centerGroup"/>
                              </m:oMathParaPr>
                              <m:oMath xmlns:m="http://schemas.openxmlformats.org/officeDocument/2006/math">
                                <m:sSub>
                                  <m:sSubPr>
                                    <m:ctrlPr>
                                      <a:rPr lang="en-US" sz="1100" b="0" i="1" u="none" strike="noStrike" smtClean="0">
                                        <a:solidFill>
                                          <a:srgbClr val="000000"/>
                                        </a:solidFill>
                                        <a:effectLst/>
                                        <a:latin typeface="Cambria Math" panose="02040503050406030204" pitchFamily="18" charset="0"/>
                                      </a:rPr>
                                    </m:ctrlPr>
                                  </m:sSubPr>
                                  <m:e>
                                    <m:r>
                                      <a:rPr lang="en-US" sz="1100" b="0" i="1" u="none" strike="noStrike" smtClean="0">
                                        <a:solidFill>
                                          <a:srgbClr val="000000"/>
                                        </a:solidFill>
                                        <a:effectLst/>
                                        <a:latin typeface="Cambria Math" panose="02040503050406030204" pitchFamily="18" charset="0"/>
                                      </a:rPr>
                                      <m:t>𝐻</m:t>
                                    </m:r>
                                  </m:e>
                                  <m:sub>
                                    <m:r>
                                      <a:rPr lang="en-US" sz="1100" b="0" i="1" u="none" strike="noStrike" smtClean="0">
                                        <a:solidFill>
                                          <a:srgbClr val="000000"/>
                                        </a:solidFill>
                                        <a:effectLst/>
                                        <a:latin typeface="Cambria Math" panose="02040503050406030204" pitchFamily="18" charset="0"/>
                                      </a:rPr>
                                      <m:t>𝑎</m:t>
                                    </m:r>
                                  </m:sub>
                                </m:sSub>
                              </m:oMath>
                            </m:oMathPara>
                          </a14:m>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340481217"/>
                      </a:ext>
                    </a:extLst>
                  </a:tr>
                  <a:tr h="317049">
                    <a:tc rowSpan="2">
                      <a:txBody>
                        <a:bodyPr/>
                        <a:lstStyle/>
                        <a:p>
                          <a:pPr algn="ctr" rtl="0" fontAlgn="t">
                            <a:buNone/>
                          </a:pPr>
                          <a:r>
                            <a:rPr lang="en-US" sz="1200" b="0" i="0" u="none" strike="noStrike" dirty="0">
                              <a:solidFill>
                                <a:srgbClr val="000000"/>
                              </a:solidFill>
                              <a:effectLst/>
                              <a:latin typeface="Calibri" panose="020F0502020204030204" pitchFamily="34" charset="0"/>
                            </a:rPr>
                            <a:t>Action</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rtl="0" fontAlgn="t">
                            <a:buNone/>
                          </a:pPr>
                          <a:r>
                            <a:rPr lang="en-US" sz="1200" b="0" i="0" u="none" strike="noStrike" dirty="0">
                              <a:solidFill>
                                <a:srgbClr val="000000"/>
                              </a:solidFill>
                              <a:effectLst/>
                              <a:latin typeface="Calibri" panose="020F0502020204030204" pitchFamily="34" charset="0"/>
                            </a:rPr>
                            <a:t>Reject</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rtl="0" fontAlgn="t">
                            <a:buNone/>
                          </a:pPr>
                          <a:r>
                            <a:rPr lang="en-US" sz="1200" b="0" i="0" u="none" strike="noStrike" dirty="0">
                              <a:solidFill>
                                <a:srgbClr val="FF0000"/>
                              </a:solidFill>
                              <a:effectLst/>
                              <a:latin typeface="Calibri" panose="020F0502020204030204" pitchFamily="34" charset="0"/>
                            </a:rPr>
                            <a:t>Type I error (</a:t>
                          </a:r>
                          <a:r>
                            <a:rPr lang="en-US" sz="1200" b="0" i="1" u="none" strike="noStrike" dirty="0">
                              <a:solidFill>
                                <a:srgbClr val="FF0000"/>
                              </a:solidFill>
                              <a:effectLst/>
                              <a:latin typeface="Calibri" panose="020F0502020204030204" pitchFamily="34" charset="0"/>
                            </a:rPr>
                            <a:t>p</a:t>
                          </a:r>
                          <a:r>
                            <a:rPr lang="en-US" sz="1200" b="0" i="0" u="none" strike="noStrike" dirty="0">
                              <a:solidFill>
                                <a:srgbClr val="FF0000"/>
                              </a:solidFill>
                              <a:effectLst/>
                              <a:latin typeface="Calibri" panose="020F0502020204030204" pitchFamily="34" charset="0"/>
                            </a:rPr>
                            <a:t>-value)</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CF4"/>
                        </a:solidFill>
                      </a:tcPr>
                    </a:tc>
                    <a:tc>
                      <a:txBody>
                        <a:bodyPr/>
                        <a:lstStyle/>
                        <a:p>
                          <a:pPr algn="ctr" fontAlgn="t"/>
                          <a:r>
                            <a:rPr lang="en-US" sz="1100" dirty="0">
                              <a:effectLst/>
                            </a:rPr>
                            <a:t> </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CF4"/>
                        </a:solidFill>
                      </a:tcPr>
                    </a:tc>
                    <a:extLst>
                      <a:ext uri="{0D108BD9-81ED-4DB2-BD59-A6C34878D82A}">
                        <a16:rowId xmlns:a16="http://schemas.microsoft.com/office/drawing/2014/main" val="3589695524"/>
                      </a:ext>
                    </a:extLst>
                  </a:tr>
                  <a:tr h="558610">
                    <a:tc vMerge="1">
                      <a:txBody>
                        <a:bodyPr/>
                        <a:lstStyle/>
                        <a:p>
                          <a:endParaRPr lang="en-US"/>
                        </a:p>
                      </a:txBody>
                      <a:tcPr/>
                    </a:tc>
                    <a:tc>
                      <a:txBody>
                        <a:bodyPr/>
                        <a:lstStyle/>
                        <a:p>
                          <a:pPr algn="ctr" rtl="0" fontAlgn="t">
                            <a:buNone/>
                          </a:pPr>
                          <a:r>
                            <a:rPr lang="en-US" sz="1200" b="0" i="0" u="none" strike="noStrike" dirty="0">
                              <a:solidFill>
                                <a:srgbClr val="000000"/>
                              </a:solidFill>
                              <a:effectLst/>
                              <a:latin typeface="Calibri" panose="020F0502020204030204" pitchFamily="34" charset="0"/>
                            </a:rPr>
                            <a:t>Fail to reject</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fontAlgn="t"/>
                          <a:r>
                            <a:rPr lang="en-US" sz="1100" dirty="0">
                              <a:effectLst/>
                            </a:rPr>
                            <a:t> </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7E7"/>
                        </a:solidFill>
                      </a:tcPr>
                    </a:tc>
                    <a:tc>
                      <a:txBody>
                        <a:bodyPr/>
                        <a:lstStyle/>
                        <a:p>
                          <a:pPr algn="ctr" rtl="0" fontAlgn="t">
                            <a:buNone/>
                          </a:pPr>
                          <a:r>
                            <a:rPr lang="en-US" sz="1200" b="0" i="0" u="none" strike="noStrike" dirty="0">
                              <a:solidFill>
                                <a:srgbClr val="FF0000"/>
                              </a:solidFill>
                              <a:effectLst/>
                              <a:latin typeface="Calibri" panose="020F0502020204030204" pitchFamily="34" charset="0"/>
                            </a:rPr>
                            <a:t>Type II error (1-power)</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7E7"/>
                        </a:solidFill>
                      </a:tcPr>
                    </a:tc>
                    <a:extLst>
                      <a:ext uri="{0D108BD9-81ED-4DB2-BD59-A6C34878D82A}">
                        <a16:rowId xmlns:a16="http://schemas.microsoft.com/office/drawing/2014/main" val="2756849501"/>
                      </a:ext>
                    </a:extLst>
                  </a:tr>
                </a:tbl>
              </a:graphicData>
            </a:graphic>
          </p:graphicFrame>
        </mc:Choice>
        <mc:Fallback xmlns="">
          <p:graphicFrame>
            <p:nvGraphicFramePr>
              <p:cNvPr id="18" name="Table 17">
                <a:extLst>
                  <a:ext uri="{FF2B5EF4-FFF2-40B4-BE49-F238E27FC236}">
                    <a16:creationId xmlns:a16="http://schemas.microsoft.com/office/drawing/2014/main" id="{ECB96A52-4515-3854-C8B7-88DC4AB552AB}"/>
                  </a:ext>
                </a:extLst>
              </p:cNvPr>
              <p:cNvGraphicFramePr>
                <a:graphicFrameLocks noGrp="1"/>
              </p:cNvGraphicFramePr>
              <p:nvPr>
                <p:extLst>
                  <p:ext uri="{D42A27DB-BD31-4B8C-83A1-F6EECF244321}">
                    <p14:modId xmlns:p14="http://schemas.microsoft.com/office/powerpoint/2010/main" val="2132989158"/>
                  </p:ext>
                </p:extLst>
              </p:nvPr>
            </p:nvGraphicFramePr>
            <p:xfrm>
              <a:off x="3774737" y="719485"/>
              <a:ext cx="4676638" cy="1241419"/>
            </p:xfrm>
            <a:graphic>
              <a:graphicData uri="http://schemas.openxmlformats.org/drawingml/2006/table">
                <a:tbl>
                  <a:tblPr firstRow="1"/>
                  <a:tblGrid>
                    <a:gridCol w="711988">
                      <a:extLst>
                        <a:ext uri="{9D8B030D-6E8A-4147-A177-3AD203B41FA5}">
                          <a16:colId xmlns:a16="http://schemas.microsoft.com/office/drawing/2014/main" val="98670622"/>
                        </a:ext>
                      </a:extLst>
                    </a:gridCol>
                    <a:gridCol w="816913">
                      <a:extLst>
                        <a:ext uri="{9D8B030D-6E8A-4147-A177-3AD203B41FA5}">
                          <a16:colId xmlns:a16="http://schemas.microsoft.com/office/drawing/2014/main" val="3779959194"/>
                        </a:ext>
                      </a:extLst>
                    </a:gridCol>
                    <a:gridCol w="1510666">
                      <a:extLst>
                        <a:ext uri="{9D8B030D-6E8A-4147-A177-3AD203B41FA5}">
                          <a16:colId xmlns:a16="http://schemas.microsoft.com/office/drawing/2014/main" val="3537561110"/>
                        </a:ext>
                      </a:extLst>
                    </a:gridCol>
                    <a:gridCol w="1637071">
                      <a:extLst>
                        <a:ext uri="{9D8B030D-6E8A-4147-A177-3AD203B41FA5}">
                          <a16:colId xmlns:a16="http://schemas.microsoft.com/office/drawing/2014/main" val="1558421461"/>
                        </a:ext>
                      </a:extLst>
                    </a:gridCol>
                  </a:tblGrid>
                  <a:tr h="365760">
                    <a:tc gridSpan="2">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hMerge="1">
                      <a:txBody>
                        <a:bodyPr/>
                        <a:lstStyle/>
                        <a:p>
                          <a:endParaRPr lang="en-US"/>
                        </a:p>
                      </a:txBody>
                      <a:tcPr/>
                    </a:tc>
                    <a:tc>
                      <a:txBody>
                        <a:bodyPr/>
                        <a:lstStyle/>
                        <a:p>
                          <a:endParaRPr lang="en-US"/>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2521" t="-3448" r="-109244" b="-244828"/>
                          </a:stretch>
                        </a:blipFill>
                      </a:tcPr>
                    </a:tc>
                    <a:tc>
                      <a:txBody>
                        <a:bodyPr/>
                        <a:lstStyle/>
                        <a:p>
                          <a:endParaRPr lang="en-US"/>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86822" t="-3448" r="-775" b="-244828"/>
                          </a:stretch>
                        </a:blipFill>
                      </a:tcPr>
                    </a:tc>
                    <a:extLst>
                      <a:ext uri="{0D108BD9-81ED-4DB2-BD59-A6C34878D82A}">
                        <a16:rowId xmlns:a16="http://schemas.microsoft.com/office/drawing/2014/main" val="340481217"/>
                      </a:ext>
                    </a:extLst>
                  </a:tr>
                  <a:tr h="317049">
                    <a:tc rowSpan="2">
                      <a:txBody>
                        <a:bodyPr/>
                        <a:lstStyle/>
                        <a:p>
                          <a:pPr algn="ctr" rtl="0" fontAlgn="t">
                            <a:buNone/>
                          </a:pPr>
                          <a:r>
                            <a:rPr lang="en-US" sz="1200" b="0" i="0" u="none" strike="noStrike" dirty="0">
                              <a:solidFill>
                                <a:srgbClr val="000000"/>
                              </a:solidFill>
                              <a:effectLst/>
                              <a:latin typeface="Calibri" panose="020F0502020204030204" pitchFamily="34" charset="0"/>
                            </a:rPr>
                            <a:t>Action</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rtl="0" fontAlgn="t">
                            <a:buNone/>
                          </a:pPr>
                          <a:r>
                            <a:rPr lang="en-US" sz="1200" b="0" i="0" u="none" strike="noStrike" dirty="0">
                              <a:solidFill>
                                <a:srgbClr val="000000"/>
                              </a:solidFill>
                              <a:effectLst/>
                              <a:latin typeface="Calibri" panose="020F0502020204030204" pitchFamily="34" charset="0"/>
                            </a:rPr>
                            <a:t>Reject</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rtl="0" fontAlgn="t">
                            <a:buNone/>
                          </a:pPr>
                          <a:r>
                            <a:rPr lang="en-US" sz="1200" b="0" i="0" u="none" strike="noStrike" dirty="0">
                              <a:solidFill>
                                <a:srgbClr val="FF0000"/>
                              </a:solidFill>
                              <a:effectLst/>
                              <a:latin typeface="Calibri" panose="020F0502020204030204" pitchFamily="34" charset="0"/>
                            </a:rPr>
                            <a:t>Type I error (</a:t>
                          </a:r>
                          <a:r>
                            <a:rPr lang="en-US" sz="1200" b="0" i="1" u="none" strike="noStrike" dirty="0">
                              <a:solidFill>
                                <a:srgbClr val="FF0000"/>
                              </a:solidFill>
                              <a:effectLst/>
                              <a:latin typeface="Calibri" panose="020F0502020204030204" pitchFamily="34" charset="0"/>
                            </a:rPr>
                            <a:t>p</a:t>
                          </a:r>
                          <a:r>
                            <a:rPr lang="en-US" sz="1200" b="0" i="0" u="none" strike="noStrike" dirty="0">
                              <a:solidFill>
                                <a:srgbClr val="FF0000"/>
                              </a:solidFill>
                              <a:effectLst/>
                              <a:latin typeface="Calibri" panose="020F0502020204030204" pitchFamily="34" charset="0"/>
                            </a:rPr>
                            <a:t>-value)</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CF4"/>
                        </a:solidFill>
                      </a:tcPr>
                    </a:tc>
                    <a:tc>
                      <a:txBody>
                        <a:bodyPr/>
                        <a:lstStyle/>
                        <a:p>
                          <a:pPr algn="ctr" fontAlgn="t"/>
                          <a:r>
                            <a:rPr lang="en-US" sz="1100" dirty="0">
                              <a:effectLst/>
                            </a:rPr>
                            <a:t> </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ECF4"/>
                        </a:solidFill>
                      </a:tcPr>
                    </a:tc>
                    <a:extLst>
                      <a:ext uri="{0D108BD9-81ED-4DB2-BD59-A6C34878D82A}">
                        <a16:rowId xmlns:a16="http://schemas.microsoft.com/office/drawing/2014/main" val="3589695524"/>
                      </a:ext>
                    </a:extLst>
                  </a:tr>
                  <a:tr h="558610">
                    <a:tc vMerge="1">
                      <a:txBody>
                        <a:bodyPr/>
                        <a:lstStyle/>
                        <a:p>
                          <a:endParaRPr lang="en-US"/>
                        </a:p>
                      </a:txBody>
                      <a:tcPr/>
                    </a:tc>
                    <a:tc>
                      <a:txBody>
                        <a:bodyPr/>
                        <a:lstStyle/>
                        <a:p>
                          <a:pPr algn="ctr" rtl="0" fontAlgn="t">
                            <a:buNone/>
                          </a:pPr>
                          <a:r>
                            <a:rPr lang="en-US" sz="1200" b="0" i="0" u="none" strike="noStrike" dirty="0">
                              <a:solidFill>
                                <a:srgbClr val="000000"/>
                              </a:solidFill>
                              <a:effectLst/>
                              <a:latin typeface="Calibri" panose="020F0502020204030204" pitchFamily="34" charset="0"/>
                            </a:rPr>
                            <a:t>Fail to reject</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fontAlgn="t"/>
                          <a:r>
                            <a:rPr lang="en-US" sz="1100" dirty="0">
                              <a:effectLst/>
                            </a:rPr>
                            <a:t> </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7E7"/>
                        </a:solidFill>
                      </a:tcPr>
                    </a:tc>
                    <a:tc>
                      <a:txBody>
                        <a:bodyPr/>
                        <a:lstStyle/>
                        <a:p>
                          <a:pPr algn="ctr" rtl="0" fontAlgn="t">
                            <a:buNone/>
                          </a:pPr>
                          <a:r>
                            <a:rPr lang="en-US" sz="1200" b="0" i="0" u="none" strike="noStrike" dirty="0">
                              <a:solidFill>
                                <a:srgbClr val="FF0000"/>
                              </a:solidFill>
                              <a:effectLst/>
                              <a:latin typeface="Calibri" panose="020F0502020204030204" pitchFamily="34" charset="0"/>
                            </a:rPr>
                            <a:t>Type II error (1-power)</a:t>
                          </a:r>
                          <a:endParaRPr lang="en-US" sz="1100" dirty="0">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7E7"/>
                        </a:solidFill>
                      </a:tcPr>
                    </a:tc>
                    <a:extLst>
                      <a:ext uri="{0D108BD9-81ED-4DB2-BD59-A6C34878D82A}">
                        <a16:rowId xmlns:a16="http://schemas.microsoft.com/office/drawing/2014/main" val="2756849501"/>
                      </a:ext>
                    </a:extLst>
                  </a:tr>
                </a:tbl>
              </a:graphicData>
            </a:graphic>
          </p:graphicFrame>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94BDFCA-9610-A92D-7C47-832EF9F25478}"/>
                  </a:ext>
                </a:extLst>
              </p:cNvPr>
              <p:cNvSpPr txBox="1"/>
              <p:nvPr/>
            </p:nvSpPr>
            <p:spPr>
              <a:xfrm>
                <a:off x="3991519" y="2018924"/>
                <a:ext cx="5196740" cy="584775"/>
              </a:xfrm>
              <a:prstGeom prst="rect">
                <a:avLst/>
              </a:prstGeom>
              <a:noFill/>
            </p:spPr>
            <p:txBody>
              <a:bodyPr wrap="square" rtlCol="0">
                <a:spAutoFit/>
              </a:bodyPr>
              <a:lstStyle/>
              <a:p>
                <a:r>
                  <a:rPr lang="en-US" sz="1600" dirty="0">
                    <a:solidFill>
                      <a:srgbClr val="000000"/>
                    </a:solidFill>
                  </a:rPr>
                  <a:t>Type I error  = </a:t>
                </a:r>
                <a:r>
                  <a:rPr lang="en-US" sz="1600" dirty="0" err="1">
                    <a:solidFill>
                      <a:srgbClr val="000000"/>
                    </a:solidFill>
                  </a:rPr>
                  <a:t>Pr</a:t>
                </a:r>
                <a:r>
                  <a:rPr lang="en-US" sz="1600" dirty="0">
                    <a:solidFill>
                      <a:srgbClr val="000000"/>
                    </a:solidFill>
                  </a:rPr>
                  <a:t>(</a:t>
                </a:r>
                <a14:m>
                  <m:oMath xmlns:m="http://schemas.openxmlformats.org/officeDocument/2006/math">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𝐻</m:t>
                        </m:r>
                      </m:e>
                      <m:sub>
                        <m:r>
                          <a:rPr lang="en-US" sz="1600" b="0" i="1" smtClean="0">
                            <a:solidFill>
                              <a:srgbClr val="000000"/>
                            </a:solidFill>
                            <a:latin typeface="Cambria Math" panose="02040503050406030204" pitchFamily="18" charset="0"/>
                          </a:rPr>
                          <m:t>0</m:t>
                        </m:r>
                      </m:sub>
                    </m:sSub>
                  </m:oMath>
                </a14:m>
                <a:r>
                  <a:rPr lang="en-US" sz="1600" dirty="0">
                    <a:solidFill>
                      <a:srgbClr val="000000"/>
                    </a:solidFill>
                  </a:rPr>
                  <a:t> is rejected| </a:t>
                </a:r>
                <a14:m>
                  <m:oMath xmlns:m="http://schemas.openxmlformats.org/officeDocument/2006/math">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𝐻</m:t>
                        </m:r>
                      </m:e>
                      <m:sub>
                        <m:r>
                          <a:rPr lang="en-US" sz="1600" b="0" i="1" smtClean="0">
                            <a:solidFill>
                              <a:srgbClr val="000000"/>
                            </a:solidFill>
                            <a:latin typeface="Cambria Math" panose="02040503050406030204" pitchFamily="18" charset="0"/>
                          </a:rPr>
                          <m:t>0</m:t>
                        </m:r>
                      </m:sub>
                    </m:sSub>
                  </m:oMath>
                </a14:m>
                <a:r>
                  <a:rPr lang="en-US" sz="1600" dirty="0">
                    <a:solidFill>
                      <a:srgbClr val="000000"/>
                    </a:solidFill>
                  </a:rPr>
                  <a:t>)</a:t>
                </a:r>
              </a:p>
              <a:p>
                <a:r>
                  <a:rPr lang="en-US" sz="1600" dirty="0">
                    <a:solidFill>
                      <a:srgbClr val="000000"/>
                    </a:solidFill>
                  </a:rPr>
                  <a:t>Type II error = </a:t>
                </a:r>
                <a:r>
                  <a:rPr lang="en-US" sz="1600" dirty="0" err="1">
                    <a:solidFill>
                      <a:srgbClr val="000000"/>
                    </a:solidFill>
                  </a:rPr>
                  <a:t>Pr</a:t>
                </a:r>
                <a:r>
                  <a:rPr lang="en-US" sz="1600" dirty="0">
                    <a:solidFill>
                      <a:srgbClr val="000000"/>
                    </a:solidFill>
                  </a:rPr>
                  <a:t>(</a:t>
                </a:r>
                <a14:m>
                  <m:oMath xmlns:m="http://schemas.openxmlformats.org/officeDocument/2006/math">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𝐻</m:t>
                        </m:r>
                      </m:e>
                      <m:sub>
                        <m:r>
                          <a:rPr lang="en-US" sz="1600" i="1">
                            <a:solidFill>
                              <a:srgbClr val="000000"/>
                            </a:solidFill>
                            <a:latin typeface="Cambria Math" panose="02040503050406030204" pitchFamily="18" charset="0"/>
                          </a:rPr>
                          <m:t>0</m:t>
                        </m:r>
                      </m:sub>
                    </m:sSub>
                  </m:oMath>
                </a14:m>
                <a:r>
                  <a:rPr lang="en-US" sz="1600" dirty="0">
                    <a:solidFill>
                      <a:srgbClr val="000000"/>
                    </a:solidFill>
                  </a:rPr>
                  <a:t> is failed to be rejected| </a:t>
                </a:r>
                <a14:m>
                  <m:oMath xmlns:m="http://schemas.openxmlformats.org/officeDocument/2006/math">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𝐻</m:t>
                        </m:r>
                      </m:e>
                      <m:sub>
                        <m:r>
                          <a:rPr lang="en-US" sz="1600" i="1">
                            <a:solidFill>
                              <a:srgbClr val="000000"/>
                            </a:solidFill>
                            <a:latin typeface="Cambria Math" panose="02040503050406030204" pitchFamily="18" charset="0"/>
                          </a:rPr>
                          <m:t>𝑎</m:t>
                        </m:r>
                      </m:sub>
                    </m:sSub>
                  </m:oMath>
                </a14:m>
                <a:r>
                  <a:rPr lang="en-US" sz="1600" dirty="0">
                    <a:solidFill>
                      <a:srgbClr val="000000"/>
                    </a:solidFill>
                  </a:rPr>
                  <a:t>)</a:t>
                </a:r>
              </a:p>
            </p:txBody>
          </p:sp>
        </mc:Choice>
        <mc:Fallback xmlns="">
          <p:sp>
            <p:nvSpPr>
              <p:cNvPr id="21" name="TextBox 20">
                <a:extLst>
                  <a:ext uri="{FF2B5EF4-FFF2-40B4-BE49-F238E27FC236}">
                    <a16:creationId xmlns:a16="http://schemas.microsoft.com/office/drawing/2014/main" id="{794BDFCA-9610-A92D-7C47-832EF9F25478}"/>
                  </a:ext>
                </a:extLst>
              </p:cNvPr>
              <p:cNvSpPr txBox="1">
                <a:spLocks noRot="1" noChangeAspect="1" noMove="1" noResize="1" noEditPoints="1" noAdjustHandles="1" noChangeArrowheads="1" noChangeShapeType="1" noTextEdit="1"/>
              </p:cNvSpPr>
              <p:nvPr/>
            </p:nvSpPr>
            <p:spPr>
              <a:xfrm>
                <a:off x="3991519" y="2018924"/>
                <a:ext cx="5196740" cy="584775"/>
              </a:xfrm>
              <a:prstGeom prst="rect">
                <a:avLst/>
              </a:prstGeom>
              <a:blipFill>
                <a:blip r:embed="rId4"/>
                <a:stretch>
                  <a:fillRect l="-732" t="-2128" b="-1276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6401CA19-3A2D-5CED-4045-4EE0363DB2DD}"/>
              </a:ext>
            </a:extLst>
          </p:cNvPr>
          <p:cNvSpPr txBox="1"/>
          <p:nvPr/>
        </p:nvSpPr>
        <p:spPr>
          <a:xfrm>
            <a:off x="702087" y="2450978"/>
            <a:ext cx="3220049" cy="276999"/>
          </a:xfrm>
          <a:prstGeom prst="rect">
            <a:avLst/>
          </a:prstGeom>
          <a:noFill/>
        </p:spPr>
        <p:txBody>
          <a:bodyPr wrap="none" rtlCol="0">
            <a:spAutoFit/>
          </a:bodyPr>
          <a:lstStyle/>
          <a:p>
            <a:r>
              <a:rPr lang="en-US" sz="1200" i="1" dirty="0">
                <a:solidFill>
                  <a:srgbClr val="000000"/>
                </a:solidFill>
              </a:rPr>
              <a:t>Permutation test can generate empirical p-value.</a:t>
            </a:r>
          </a:p>
        </p:txBody>
      </p:sp>
      <p:sp>
        <p:nvSpPr>
          <p:cNvPr id="24" name="TextBox 23">
            <a:extLst>
              <a:ext uri="{FF2B5EF4-FFF2-40B4-BE49-F238E27FC236}">
                <a16:creationId xmlns:a16="http://schemas.microsoft.com/office/drawing/2014/main" id="{DF81EE4C-F27A-F879-9EF8-793779C90D76}"/>
              </a:ext>
            </a:extLst>
          </p:cNvPr>
          <p:cNvSpPr txBox="1"/>
          <p:nvPr/>
        </p:nvSpPr>
        <p:spPr>
          <a:xfrm>
            <a:off x="7070658" y="4998579"/>
            <a:ext cx="744114" cy="246221"/>
          </a:xfrm>
          <a:prstGeom prst="rect">
            <a:avLst/>
          </a:prstGeom>
          <a:noFill/>
        </p:spPr>
        <p:txBody>
          <a:bodyPr wrap="none" rtlCol="0">
            <a:spAutoFit/>
          </a:bodyPr>
          <a:lstStyle/>
          <a:p>
            <a:pPr algn="ctr"/>
            <a:r>
              <a:rPr lang="en-US" sz="1000" dirty="0">
                <a:solidFill>
                  <a:srgbClr val="00BFC4"/>
                </a:solidFill>
              </a:rPr>
              <a:t>Choose H2</a:t>
            </a:r>
          </a:p>
        </p:txBody>
      </p:sp>
      <p:sp>
        <p:nvSpPr>
          <p:cNvPr id="25" name="TextBox 24">
            <a:extLst>
              <a:ext uri="{FF2B5EF4-FFF2-40B4-BE49-F238E27FC236}">
                <a16:creationId xmlns:a16="http://schemas.microsoft.com/office/drawing/2014/main" id="{16B65243-F1EE-887A-13EC-D8AC60295CA7}"/>
              </a:ext>
            </a:extLst>
          </p:cNvPr>
          <p:cNvSpPr txBox="1"/>
          <p:nvPr/>
        </p:nvSpPr>
        <p:spPr>
          <a:xfrm>
            <a:off x="5484194" y="4998579"/>
            <a:ext cx="1080746" cy="246221"/>
          </a:xfrm>
          <a:prstGeom prst="rect">
            <a:avLst/>
          </a:prstGeom>
          <a:noFill/>
        </p:spPr>
        <p:txBody>
          <a:bodyPr wrap="square" rtlCol="0">
            <a:spAutoFit/>
          </a:bodyPr>
          <a:lstStyle/>
          <a:p>
            <a:pPr algn="ctr"/>
            <a:r>
              <a:rPr lang="en-US" sz="1000" dirty="0">
                <a:solidFill>
                  <a:srgbClr val="F8766C"/>
                </a:solidFill>
              </a:rPr>
              <a:t>Choose H1</a:t>
            </a:r>
          </a:p>
        </p:txBody>
      </p:sp>
      <p:pic>
        <p:nvPicPr>
          <p:cNvPr id="42" name="Picture 41">
            <a:extLst>
              <a:ext uri="{FF2B5EF4-FFF2-40B4-BE49-F238E27FC236}">
                <a16:creationId xmlns:a16="http://schemas.microsoft.com/office/drawing/2014/main" id="{B745AE78-F26F-2C72-3806-0607CDC57C47}"/>
              </a:ext>
            </a:extLst>
          </p:cNvPr>
          <p:cNvPicPr>
            <a:picLocks noChangeAspect="1"/>
          </p:cNvPicPr>
          <p:nvPr/>
        </p:nvPicPr>
        <p:blipFill>
          <a:blip r:embed="rId5"/>
          <a:srcRect/>
          <a:stretch/>
        </p:blipFill>
        <p:spPr>
          <a:xfrm>
            <a:off x="602359" y="3032939"/>
            <a:ext cx="4068516" cy="2034258"/>
          </a:xfrm>
          <a:prstGeom prst="rect">
            <a:avLst/>
          </a:prstGeom>
        </p:spPr>
      </p:pic>
      <p:cxnSp>
        <p:nvCxnSpPr>
          <p:cNvPr id="45" name="Curved Connector 44">
            <a:extLst>
              <a:ext uri="{FF2B5EF4-FFF2-40B4-BE49-F238E27FC236}">
                <a16:creationId xmlns:a16="http://schemas.microsoft.com/office/drawing/2014/main" id="{D4E72E34-4A8A-64FA-10EE-A173FA6BF9EB}"/>
              </a:ext>
            </a:extLst>
          </p:cNvPr>
          <p:cNvCxnSpPr>
            <a:cxnSpLocks/>
          </p:cNvCxnSpPr>
          <p:nvPr/>
        </p:nvCxnSpPr>
        <p:spPr>
          <a:xfrm rot="5400000" flipH="1" flipV="1">
            <a:off x="3551106" y="4538007"/>
            <a:ext cx="447261" cy="223275"/>
          </a:xfrm>
          <a:prstGeom prst="curvedConnector3">
            <a:avLst>
              <a:gd name="adj1" fmla="val 50000"/>
            </a:avLst>
          </a:prstGeom>
          <a:ln w="19050">
            <a:solidFill>
              <a:srgbClr val="00BFC4"/>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9134332-BE40-CE6B-763E-046FDBA4FAB2}"/>
              </a:ext>
            </a:extLst>
          </p:cNvPr>
          <p:cNvSpPr txBox="1"/>
          <p:nvPr/>
        </p:nvSpPr>
        <p:spPr>
          <a:xfrm>
            <a:off x="3719070" y="4218395"/>
            <a:ext cx="618207" cy="261610"/>
          </a:xfrm>
          <a:prstGeom prst="rect">
            <a:avLst/>
          </a:prstGeom>
          <a:noFill/>
        </p:spPr>
        <p:txBody>
          <a:bodyPr wrap="square" rtlCol="0">
            <a:spAutoFit/>
          </a:bodyPr>
          <a:lstStyle/>
          <a:p>
            <a:r>
              <a:rPr lang="en-US" sz="1100" i="1" dirty="0">
                <a:solidFill>
                  <a:srgbClr val="00BFC4"/>
                </a:solidFill>
              </a:rPr>
              <a:t>p</a:t>
            </a:r>
            <a:r>
              <a:rPr lang="en-US" sz="1100" dirty="0">
                <a:solidFill>
                  <a:srgbClr val="00BFC4"/>
                </a:solidFill>
              </a:rPr>
              <a:t>-value</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5827470-7E3E-D658-1140-6FAB690B8606}"/>
                  </a:ext>
                </a:extLst>
              </p:cNvPr>
              <p:cNvSpPr txBox="1"/>
              <p:nvPr/>
            </p:nvSpPr>
            <p:spPr>
              <a:xfrm>
                <a:off x="3702920" y="4998579"/>
                <a:ext cx="684226" cy="246221"/>
              </a:xfrm>
              <a:prstGeom prst="rect">
                <a:avLst/>
              </a:prstGeom>
              <a:noFill/>
            </p:spPr>
            <p:txBody>
              <a:bodyPr wrap="none" rtlCol="0">
                <a:spAutoFit/>
              </a:bodyPr>
              <a:lstStyle/>
              <a:p>
                <a:pPr algn="ctr"/>
                <a:r>
                  <a:rPr lang="en-US" sz="1000" dirty="0">
                    <a:solidFill>
                      <a:schemeClr val="tx1"/>
                    </a:solidFill>
                  </a:rPr>
                  <a:t>Reject </a:t>
                </a:r>
                <a14:m>
                  <m:oMath xmlns:m="http://schemas.openxmlformats.org/officeDocument/2006/math">
                    <m:sSub>
                      <m:sSubPr>
                        <m:ctrlPr>
                          <a:rPr lang="en-US" sz="1000" i="1">
                            <a:solidFill>
                              <a:schemeClr val="tx1"/>
                            </a:solidFill>
                            <a:latin typeface="Cambria Math" panose="02040503050406030204" pitchFamily="18" charset="0"/>
                          </a:rPr>
                        </m:ctrlPr>
                      </m:sSubPr>
                      <m:e>
                        <m:r>
                          <a:rPr lang="en-US" sz="1000" i="1">
                            <a:solidFill>
                              <a:schemeClr val="tx1"/>
                            </a:solidFill>
                            <a:latin typeface="Cambria Math" panose="02040503050406030204" pitchFamily="18" charset="0"/>
                          </a:rPr>
                          <m:t>𝐻</m:t>
                        </m:r>
                      </m:e>
                      <m:sub>
                        <m:r>
                          <a:rPr lang="en-US" sz="1000" b="0" i="1" smtClean="0">
                            <a:solidFill>
                              <a:schemeClr val="tx1"/>
                            </a:solidFill>
                            <a:latin typeface="Cambria Math" panose="02040503050406030204" pitchFamily="18" charset="0"/>
                          </a:rPr>
                          <m:t>0</m:t>
                        </m:r>
                      </m:sub>
                    </m:sSub>
                  </m:oMath>
                </a14:m>
                <a:endParaRPr lang="en-US" sz="1000" dirty="0">
                  <a:solidFill>
                    <a:schemeClr val="tx1"/>
                  </a:solidFill>
                </a:endParaRPr>
              </a:p>
            </p:txBody>
          </p:sp>
        </mc:Choice>
        <mc:Fallback xmlns="">
          <p:sp>
            <p:nvSpPr>
              <p:cNvPr id="51" name="TextBox 50">
                <a:extLst>
                  <a:ext uri="{FF2B5EF4-FFF2-40B4-BE49-F238E27FC236}">
                    <a16:creationId xmlns:a16="http://schemas.microsoft.com/office/drawing/2014/main" id="{E5827470-7E3E-D658-1140-6FAB690B8606}"/>
                  </a:ext>
                </a:extLst>
              </p:cNvPr>
              <p:cNvSpPr txBox="1">
                <a:spLocks noRot="1" noChangeAspect="1" noMove="1" noResize="1" noEditPoints="1" noAdjustHandles="1" noChangeArrowheads="1" noChangeShapeType="1" noTextEdit="1"/>
              </p:cNvSpPr>
              <p:nvPr/>
            </p:nvSpPr>
            <p:spPr>
              <a:xfrm>
                <a:off x="3702920" y="4998579"/>
                <a:ext cx="684226" cy="246221"/>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15AF8C7-4959-34F2-50DE-DBBADA92DFC1}"/>
                  </a:ext>
                </a:extLst>
              </p:cNvPr>
              <p:cNvSpPr txBox="1"/>
              <p:nvPr/>
            </p:nvSpPr>
            <p:spPr>
              <a:xfrm>
                <a:off x="2293323" y="4998579"/>
                <a:ext cx="1080746" cy="246221"/>
              </a:xfrm>
              <a:prstGeom prst="rect">
                <a:avLst/>
              </a:prstGeom>
              <a:noFill/>
            </p:spPr>
            <p:txBody>
              <a:bodyPr wrap="square" rtlCol="0">
                <a:spAutoFit/>
              </a:bodyPr>
              <a:lstStyle/>
              <a:p>
                <a:pPr algn="ctr"/>
                <a:r>
                  <a:rPr lang="en-US" sz="1000" dirty="0">
                    <a:solidFill>
                      <a:schemeClr val="tx1"/>
                    </a:solidFill>
                  </a:rPr>
                  <a:t>Fail to reject </a:t>
                </a:r>
                <a14:m>
                  <m:oMath xmlns:m="http://schemas.openxmlformats.org/officeDocument/2006/math">
                    <m:sSub>
                      <m:sSubPr>
                        <m:ctrlPr>
                          <a:rPr lang="en-US" sz="1000" i="1">
                            <a:solidFill>
                              <a:schemeClr val="tx1"/>
                            </a:solidFill>
                            <a:latin typeface="Cambria Math" panose="02040503050406030204" pitchFamily="18" charset="0"/>
                          </a:rPr>
                        </m:ctrlPr>
                      </m:sSubPr>
                      <m:e>
                        <m:r>
                          <a:rPr lang="en-US" sz="1000" i="1">
                            <a:solidFill>
                              <a:schemeClr val="tx1"/>
                            </a:solidFill>
                            <a:latin typeface="Cambria Math" panose="02040503050406030204" pitchFamily="18" charset="0"/>
                          </a:rPr>
                          <m:t>𝐻</m:t>
                        </m:r>
                      </m:e>
                      <m:sub>
                        <m:r>
                          <a:rPr lang="en-US" sz="1000" i="1">
                            <a:solidFill>
                              <a:schemeClr val="tx1"/>
                            </a:solidFill>
                            <a:latin typeface="Cambria Math" panose="02040503050406030204" pitchFamily="18" charset="0"/>
                          </a:rPr>
                          <m:t>0</m:t>
                        </m:r>
                      </m:sub>
                    </m:sSub>
                  </m:oMath>
                </a14:m>
                <a:endParaRPr lang="en-US" sz="1000" dirty="0">
                  <a:solidFill>
                    <a:schemeClr val="tx1"/>
                  </a:solidFill>
                </a:endParaRPr>
              </a:p>
            </p:txBody>
          </p:sp>
        </mc:Choice>
        <mc:Fallback xmlns="">
          <p:sp>
            <p:nvSpPr>
              <p:cNvPr id="52" name="TextBox 51">
                <a:extLst>
                  <a:ext uri="{FF2B5EF4-FFF2-40B4-BE49-F238E27FC236}">
                    <a16:creationId xmlns:a16="http://schemas.microsoft.com/office/drawing/2014/main" id="{715AF8C7-4959-34F2-50DE-DBBADA92DFC1}"/>
                  </a:ext>
                </a:extLst>
              </p:cNvPr>
              <p:cNvSpPr txBox="1">
                <a:spLocks noRot="1" noChangeAspect="1" noMove="1" noResize="1" noEditPoints="1" noAdjustHandles="1" noChangeArrowheads="1" noChangeShapeType="1" noTextEdit="1"/>
              </p:cNvSpPr>
              <p:nvPr/>
            </p:nvSpPr>
            <p:spPr>
              <a:xfrm>
                <a:off x="2293323" y="4998579"/>
                <a:ext cx="1080746" cy="246221"/>
              </a:xfrm>
              <a:prstGeom prst="rect">
                <a:avLst/>
              </a:prstGeom>
              <a:blipFill>
                <a:blip r:embed="rId7"/>
                <a:stretch>
                  <a:fillRect b="-15000"/>
                </a:stretch>
              </a:blipFill>
            </p:spPr>
            <p:txBody>
              <a:bodyPr/>
              <a:lstStyle/>
              <a:p>
                <a:r>
                  <a:rPr lang="en-US">
                    <a:noFill/>
                  </a:rPr>
                  <a:t> </a:t>
                </a:r>
              </a:p>
            </p:txBody>
          </p:sp>
        </mc:Fallback>
      </mc:AlternateContent>
      <p:sp>
        <p:nvSpPr>
          <p:cNvPr id="53" name="Oval 52">
            <a:extLst>
              <a:ext uri="{FF2B5EF4-FFF2-40B4-BE49-F238E27FC236}">
                <a16:creationId xmlns:a16="http://schemas.microsoft.com/office/drawing/2014/main" id="{7D550B4A-4B19-77BC-9A11-419A70314769}"/>
              </a:ext>
            </a:extLst>
          </p:cNvPr>
          <p:cNvSpPr/>
          <p:nvPr/>
        </p:nvSpPr>
        <p:spPr>
          <a:xfrm>
            <a:off x="3536575" y="4927097"/>
            <a:ext cx="45719" cy="45720"/>
          </a:xfrm>
          <a:prstGeom prst="ellipse">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1479244F-B696-50DB-20D6-D1B0F5C50C40}"/>
              </a:ext>
            </a:extLst>
          </p:cNvPr>
          <p:cNvSpPr txBox="1"/>
          <p:nvPr/>
        </p:nvSpPr>
        <p:spPr>
          <a:xfrm>
            <a:off x="2686348" y="4521145"/>
            <a:ext cx="736100" cy="400110"/>
          </a:xfrm>
          <a:prstGeom prst="rect">
            <a:avLst/>
          </a:prstGeom>
          <a:noFill/>
        </p:spPr>
        <p:txBody>
          <a:bodyPr wrap="none" rtlCol="0">
            <a:spAutoFit/>
          </a:bodyPr>
          <a:lstStyle/>
          <a:p>
            <a:pPr algn="ctr"/>
            <a:r>
              <a:rPr lang="en-US" sz="1000" b="1" dirty="0">
                <a:solidFill>
                  <a:schemeClr val="accent6">
                    <a:lumMod val="50000"/>
                  </a:schemeClr>
                </a:solidFill>
              </a:rPr>
              <a:t>Observed </a:t>
            </a:r>
          </a:p>
          <a:p>
            <a:pPr algn="ctr"/>
            <a:r>
              <a:rPr lang="en-US" sz="1000" b="1" dirty="0">
                <a:solidFill>
                  <a:schemeClr val="accent6">
                    <a:lumMod val="50000"/>
                  </a:schemeClr>
                </a:solidFill>
              </a:rPr>
              <a:t>data point</a:t>
            </a:r>
          </a:p>
        </p:txBody>
      </p:sp>
      <p:cxnSp>
        <p:nvCxnSpPr>
          <p:cNvPr id="56" name="Straight Arrow Connector 55">
            <a:extLst>
              <a:ext uri="{FF2B5EF4-FFF2-40B4-BE49-F238E27FC236}">
                <a16:creationId xmlns:a16="http://schemas.microsoft.com/office/drawing/2014/main" id="{2FE5FD96-4541-6BDE-C95F-A6C46617936F}"/>
              </a:ext>
            </a:extLst>
          </p:cNvPr>
          <p:cNvCxnSpPr>
            <a:cxnSpLocks/>
          </p:cNvCxnSpPr>
          <p:nvPr/>
        </p:nvCxnSpPr>
        <p:spPr>
          <a:xfrm flipH="1" flipV="1">
            <a:off x="3356751" y="4854708"/>
            <a:ext cx="161242" cy="72389"/>
          </a:xfrm>
          <a:prstGeom prst="straightConnector1">
            <a:avLst/>
          </a:prstGeom>
          <a:ln w="127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Rounded Rectangle 61">
            <a:extLst>
              <a:ext uri="{FF2B5EF4-FFF2-40B4-BE49-F238E27FC236}">
                <a16:creationId xmlns:a16="http://schemas.microsoft.com/office/drawing/2014/main" id="{BECA3675-6AE6-0B0B-9A08-4D30B6B931BB}"/>
              </a:ext>
            </a:extLst>
          </p:cNvPr>
          <p:cNvSpPr/>
          <p:nvPr/>
        </p:nvSpPr>
        <p:spPr>
          <a:xfrm>
            <a:off x="550288" y="5319347"/>
            <a:ext cx="8241174" cy="338554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63" name="TextBox 62">
            <a:extLst>
              <a:ext uri="{FF2B5EF4-FFF2-40B4-BE49-F238E27FC236}">
                <a16:creationId xmlns:a16="http://schemas.microsoft.com/office/drawing/2014/main" id="{D309B125-EDBE-8C97-FE2D-15298F726EE9}"/>
              </a:ext>
            </a:extLst>
          </p:cNvPr>
          <p:cNvSpPr txBox="1"/>
          <p:nvPr/>
        </p:nvSpPr>
        <p:spPr>
          <a:xfrm>
            <a:off x="6175042" y="5475955"/>
            <a:ext cx="1717073" cy="369332"/>
          </a:xfrm>
          <a:prstGeom prst="rect">
            <a:avLst/>
          </a:prstGeom>
          <a:noFill/>
        </p:spPr>
        <p:txBody>
          <a:bodyPr wrap="none" rtlCol="0">
            <a:spAutoFit/>
          </a:bodyPr>
          <a:lstStyle/>
          <a:p>
            <a:r>
              <a:rPr lang="en-US" b="1" dirty="0"/>
              <a:t>Multiple Testing</a:t>
            </a:r>
          </a:p>
        </p:txBody>
      </p:sp>
      <p:grpSp>
        <p:nvGrpSpPr>
          <p:cNvPr id="1187" name="Group 1186">
            <a:extLst>
              <a:ext uri="{FF2B5EF4-FFF2-40B4-BE49-F238E27FC236}">
                <a16:creationId xmlns:a16="http://schemas.microsoft.com/office/drawing/2014/main" id="{B69C38F9-4FE9-FA15-F18B-86A1C9FDD5BA}"/>
              </a:ext>
            </a:extLst>
          </p:cNvPr>
          <p:cNvGrpSpPr/>
          <p:nvPr/>
        </p:nvGrpSpPr>
        <p:grpSpPr>
          <a:xfrm>
            <a:off x="793646" y="5491391"/>
            <a:ext cx="630585" cy="396763"/>
            <a:chOff x="4132042" y="5818488"/>
            <a:chExt cx="630585" cy="396763"/>
          </a:xfrm>
        </p:grpSpPr>
        <p:sp>
          <p:nvSpPr>
            <p:cNvPr id="1025" name="Oval 1024">
              <a:extLst>
                <a:ext uri="{FF2B5EF4-FFF2-40B4-BE49-F238E27FC236}">
                  <a16:creationId xmlns:a16="http://schemas.microsoft.com/office/drawing/2014/main" id="{A487C1C9-B4EF-7778-1EB9-F14BD0E89C64}"/>
                </a:ext>
              </a:extLst>
            </p:cNvPr>
            <p:cNvSpPr/>
            <p:nvPr/>
          </p:nvSpPr>
          <p:spPr>
            <a:xfrm>
              <a:off x="413204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Oval 1026">
              <a:extLst>
                <a:ext uri="{FF2B5EF4-FFF2-40B4-BE49-F238E27FC236}">
                  <a16:creationId xmlns:a16="http://schemas.microsoft.com/office/drawing/2014/main" id="{30A99229-2364-2B5C-F90C-CCBD3324CA33}"/>
                </a:ext>
              </a:extLst>
            </p:cNvPr>
            <p:cNvSpPr/>
            <p:nvPr/>
          </p:nvSpPr>
          <p:spPr>
            <a:xfrm>
              <a:off x="419703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Oval 1027">
              <a:extLst>
                <a:ext uri="{FF2B5EF4-FFF2-40B4-BE49-F238E27FC236}">
                  <a16:creationId xmlns:a16="http://schemas.microsoft.com/office/drawing/2014/main" id="{785EF13A-48EB-D43D-7BC4-4CDD53214961}"/>
                </a:ext>
              </a:extLst>
            </p:cNvPr>
            <p:cNvSpPr/>
            <p:nvPr/>
          </p:nvSpPr>
          <p:spPr>
            <a:xfrm>
              <a:off x="426201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Oval 1028">
              <a:extLst>
                <a:ext uri="{FF2B5EF4-FFF2-40B4-BE49-F238E27FC236}">
                  <a16:creationId xmlns:a16="http://schemas.microsoft.com/office/drawing/2014/main" id="{4C70B5D6-488B-D876-5CFC-585C71A238E7}"/>
                </a:ext>
              </a:extLst>
            </p:cNvPr>
            <p:cNvSpPr/>
            <p:nvPr/>
          </p:nvSpPr>
          <p:spPr>
            <a:xfrm>
              <a:off x="432700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Oval 1029">
              <a:extLst>
                <a:ext uri="{FF2B5EF4-FFF2-40B4-BE49-F238E27FC236}">
                  <a16:creationId xmlns:a16="http://schemas.microsoft.com/office/drawing/2014/main" id="{7B5EF50F-92D2-34D1-5F52-48CF4DD3F331}"/>
                </a:ext>
              </a:extLst>
            </p:cNvPr>
            <p:cNvSpPr/>
            <p:nvPr/>
          </p:nvSpPr>
          <p:spPr>
            <a:xfrm>
              <a:off x="439198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Oval 1030">
              <a:extLst>
                <a:ext uri="{FF2B5EF4-FFF2-40B4-BE49-F238E27FC236}">
                  <a16:creationId xmlns:a16="http://schemas.microsoft.com/office/drawing/2014/main" id="{68DD1909-685F-A55F-A1C6-464748B6BE04}"/>
                </a:ext>
              </a:extLst>
            </p:cNvPr>
            <p:cNvSpPr/>
            <p:nvPr/>
          </p:nvSpPr>
          <p:spPr>
            <a:xfrm>
              <a:off x="445697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Oval 1031">
              <a:extLst>
                <a:ext uri="{FF2B5EF4-FFF2-40B4-BE49-F238E27FC236}">
                  <a16:creationId xmlns:a16="http://schemas.microsoft.com/office/drawing/2014/main" id="{772D3963-5B42-8FF2-F4A7-1DE03CFB8FE5}"/>
                </a:ext>
              </a:extLst>
            </p:cNvPr>
            <p:cNvSpPr/>
            <p:nvPr/>
          </p:nvSpPr>
          <p:spPr>
            <a:xfrm>
              <a:off x="452195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Oval 1032">
              <a:extLst>
                <a:ext uri="{FF2B5EF4-FFF2-40B4-BE49-F238E27FC236}">
                  <a16:creationId xmlns:a16="http://schemas.microsoft.com/office/drawing/2014/main" id="{BAAFAD31-3485-ABAD-F1C1-F127C4EEE54F}"/>
                </a:ext>
              </a:extLst>
            </p:cNvPr>
            <p:cNvSpPr/>
            <p:nvPr/>
          </p:nvSpPr>
          <p:spPr>
            <a:xfrm>
              <a:off x="458694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Oval 1033">
              <a:extLst>
                <a:ext uri="{FF2B5EF4-FFF2-40B4-BE49-F238E27FC236}">
                  <a16:creationId xmlns:a16="http://schemas.microsoft.com/office/drawing/2014/main" id="{0171FAFF-FABF-30C4-AA04-ED625A13F77A}"/>
                </a:ext>
              </a:extLst>
            </p:cNvPr>
            <p:cNvSpPr/>
            <p:nvPr/>
          </p:nvSpPr>
          <p:spPr>
            <a:xfrm>
              <a:off x="465192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Oval 1034">
              <a:extLst>
                <a:ext uri="{FF2B5EF4-FFF2-40B4-BE49-F238E27FC236}">
                  <a16:creationId xmlns:a16="http://schemas.microsoft.com/office/drawing/2014/main" id="{D15938EF-8693-DFED-4F0E-951AE17E7A36}"/>
                </a:ext>
              </a:extLst>
            </p:cNvPr>
            <p:cNvSpPr/>
            <p:nvPr/>
          </p:nvSpPr>
          <p:spPr>
            <a:xfrm>
              <a:off x="4716907"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Oval 1045">
              <a:extLst>
                <a:ext uri="{FF2B5EF4-FFF2-40B4-BE49-F238E27FC236}">
                  <a16:creationId xmlns:a16="http://schemas.microsoft.com/office/drawing/2014/main" id="{7C69DF0A-AFA1-20E5-72D4-C918104AEB0B}"/>
                </a:ext>
              </a:extLst>
            </p:cNvPr>
            <p:cNvSpPr/>
            <p:nvPr/>
          </p:nvSpPr>
          <p:spPr>
            <a:xfrm>
              <a:off x="413204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Oval 1046">
              <a:extLst>
                <a:ext uri="{FF2B5EF4-FFF2-40B4-BE49-F238E27FC236}">
                  <a16:creationId xmlns:a16="http://schemas.microsoft.com/office/drawing/2014/main" id="{EFB430D5-15E5-3F0B-ED78-16C84B07224B}"/>
                </a:ext>
              </a:extLst>
            </p:cNvPr>
            <p:cNvSpPr/>
            <p:nvPr/>
          </p:nvSpPr>
          <p:spPr>
            <a:xfrm>
              <a:off x="419702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Oval 1047">
              <a:extLst>
                <a:ext uri="{FF2B5EF4-FFF2-40B4-BE49-F238E27FC236}">
                  <a16:creationId xmlns:a16="http://schemas.microsoft.com/office/drawing/2014/main" id="{AFD961D3-9368-2B0E-E29C-76617C326BFA}"/>
                </a:ext>
              </a:extLst>
            </p:cNvPr>
            <p:cNvSpPr/>
            <p:nvPr/>
          </p:nvSpPr>
          <p:spPr>
            <a:xfrm>
              <a:off x="426201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Oval 1048">
              <a:extLst>
                <a:ext uri="{FF2B5EF4-FFF2-40B4-BE49-F238E27FC236}">
                  <a16:creationId xmlns:a16="http://schemas.microsoft.com/office/drawing/2014/main" id="{AA16FE03-FB11-E8F9-2E60-7F6B2C940939}"/>
                </a:ext>
              </a:extLst>
            </p:cNvPr>
            <p:cNvSpPr/>
            <p:nvPr/>
          </p:nvSpPr>
          <p:spPr>
            <a:xfrm>
              <a:off x="432699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Oval 1049">
              <a:extLst>
                <a:ext uri="{FF2B5EF4-FFF2-40B4-BE49-F238E27FC236}">
                  <a16:creationId xmlns:a16="http://schemas.microsoft.com/office/drawing/2014/main" id="{48948093-11F9-174E-246A-A59170F845FE}"/>
                </a:ext>
              </a:extLst>
            </p:cNvPr>
            <p:cNvSpPr/>
            <p:nvPr/>
          </p:nvSpPr>
          <p:spPr>
            <a:xfrm>
              <a:off x="439198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Oval 1050">
              <a:extLst>
                <a:ext uri="{FF2B5EF4-FFF2-40B4-BE49-F238E27FC236}">
                  <a16:creationId xmlns:a16="http://schemas.microsoft.com/office/drawing/2014/main" id="{60425FF6-613F-3F38-FE03-B7E1A2EC9732}"/>
                </a:ext>
              </a:extLst>
            </p:cNvPr>
            <p:cNvSpPr/>
            <p:nvPr/>
          </p:nvSpPr>
          <p:spPr>
            <a:xfrm>
              <a:off x="445696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Oval 1051">
              <a:extLst>
                <a:ext uri="{FF2B5EF4-FFF2-40B4-BE49-F238E27FC236}">
                  <a16:creationId xmlns:a16="http://schemas.microsoft.com/office/drawing/2014/main" id="{6CFFAE4B-34DD-DCDC-1CE2-12B04EB75B66}"/>
                </a:ext>
              </a:extLst>
            </p:cNvPr>
            <p:cNvSpPr/>
            <p:nvPr/>
          </p:nvSpPr>
          <p:spPr>
            <a:xfrm>
              <a:off x="452195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Oval 1052">
              <a:extLst>
                <a:ext uri="{FF2B5EF4-FFF2-40B4-BE49-F238E27FC236}">
                  <a16:creationId xmlns:a16="http://schemas.microsoft.com/office/drawing/2014/main" id="{2B56A9AD-4837-F744-01CA-FC9756C70D02}"/>
                </a:ext>
              </a:extLst>
            </p:cNvPr>
            <p:cNvSpPr/>
            <p:nvPr/>
          </p:nvSpPr>
          <p:spPr>
            <a:xfrm>
              <a:off x="458693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Oval 1053">
              <a:extLst>
                <a:ext uri="{FF2B5EF4-FFF2-40B4-BE49-F238E27FC236}">
                  <a16:creationId xmlns:a16="http://schemas.microsoft.com/office/drawing/2014/main" id="{F4819F9D-F5B4-F4C4-4743-4A365C2D01DE}"/>
                </a:ext>
              </a:extLst>
            </p:cNvPr>
            <p:cNvSpPr/>
            <p:nvPr/>
          </p:nvSpPr>
          <p:spPr>
            <a:xfrm>
              <a:off x="465192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Oval 1054">
              <a:extLst>
                <a:ext uri="{FF2B5EF4-FFF2-40B4-BE49-F238E27FC236}">
                  <a16:creationId xmlns:a16="http://schemas.microsoft.com/office/drawing/2014/main" id="{F82CF158-AD48-CB5D-032D-2BDC820306B8}"/>
                </a:ext>
              </a:extLst>
            </p:cNvPr>
            <p:cNvSpPr/>
            <p:nvPr/>
          </p:nvSpPr>
          <p:spPr>
            <a:xfrm>
              <a:off x="4716904"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TextBox 1080">
              <a:extLst>
                <a:ext uri="{FF2B5EF4-FFF2-40B4-BE49-F238E27FC236}">
                  <a16:creationId xmlns:a16="http://schemas.microsoft.com/office/drawing/2014/main" id="{56399DC3-D618-9422-8BB4-967A972B5153}"/>
                </a:ext>
              </a:extLst>
            </p:cNvPr>
            <p:cNvSpPr txBox="1"/>
            <p:nvPr/>
          </p:nvSpPr>
          <p:spPr>
            <a:xfrm>
              <a:off x="4132042" y="5818488"/>
              <a:ext cx="630582" cy="230832"/>
            </a:xfrm>
            <a:prstGeom prst="rect">
              <a:avLst/>
            </a:prstGeom>
            <a:noFill/>
          </p:spPr>
          <p:txBody>
            <a:bodyPr wrap="square" rtlCol="0">
              <a:spAutoFit/>
            </a:bodyPr>
            <a:lstStyle/>
            <a:p>
              <a:pPr algn="ctr"/>
              <a:r>
                <a:rPr lang="en-US" sz="900" i="1" dirty="0"/>
                <a:t>p</a:t>
              </a:r>
              <a:r>
                <a:rPr lang="en-US" sz="900" dirty="0"/>
                <a:t>=0.002</a:t>
              </a:r>
            </a:p>
          </p:txBody>
        </p:sp>
      </p:grpSp>
      <p:grpSp>
        <p:nvGrpSpPr>
          <p:cNvPr id="1188" name="Group 1187">
            <a:extLst>
              <a:ext uri="{FF2B5EF4-FFF2-40B4-BE49-F238E27FC236}">
                <a16:creationId xmlns:a16="http://schemas.microsoft.com/office/drawing/2014/main" id="{1D9B18E6-2B4F-95D9-6284-AF1A06991FC9}"/>
              </a:ext>
            </a:extLst>
          </p:cNvPr>
          <p:cNvGrpSpPr/>
          <p:nvPr/>
        </p:nvGrpSpPr>
        <p:grpSpPr>
          <a:xfrm>
            <a:off x="1547890" y="5491391"/>
            <a:ext cx="630585" cy="396763"/>
            <a:chOff x="4888747" y="5818488"/>
            <a:chExt cx="630585" cy="396763"/>
          </a:xfrm>
        </p:grpSpPr>
        <p:sp>
          <p:nvSpPr>
            <p:cNvPr id="1082" name="Oval 1081">
              <a:extLst>
                <a:ext uri="{FF2B5EF4-FFF2-40B4-BE49-F238E27FC236}">
                  <a16:creationId xmlns:a16="http://schemas.microsoft.com/office/drawing/2014/main" id="{6F0C676D-C5DA-7665-5F21-F225A121BF29}"/>
                </a:ext>
              </a:extLst>
            </p:cNvPr>
            <p:cNvSpPr/>
            <p:nvPr/>
          </p:nvSpPr>
          <p:spPr>
            <a:xfrm>
              <a:off x="488875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Oval 1082">
              <a:extLst>
                <a:ext uri="{FF2B5EF4-FFF2-40B4-BE49-F238E27FC236}">
                  <a16:creationId xmlns:a16="http://schemas.microsoft.com/office/drawing/2014/main" id="{E52F9242-BD4A-F285-52C1-92D1786EBC65}"/>
                </a:ext>
              </a:extLst>
            </p:cNvPr>
            <p:cNvSpPr/>
            <p:nvPr/>
          </p:nvSpPr>
          <p:spPr>
            <a:xfrm>
              <a:off x="495373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Oval 1083">
              <a:extLst>
                <a:ext uri="{FF2B5EF4-FFF2-40B4-BE49-F238E27FC236}">
                  <a16:creationId xmlns:a16="http://schemas.microsoft.com/office/drawing/2014/main" id="{6BA125DC-9A07-0294-9E10-6E1BD1E05DAF}"/>
                </a:ext>
              </a:extLst>
            </p:cNvPr>
            <p:cNvSpPr/>
            <p:nvPr/>
          </p:nvSpPr>
          <p:spPr>
            <a:xfrm>
              <a:off x="501872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Oval 1084">
              <a:extLst>
                <a:ext uri="{FF2B5EF4-FFF2-40B4-BE49-F238E27FC236}">
                  <a16:creationId xmlns:a16="http://schemas.microsoft.com/office/drawing/2014/main" id="{CC20B4A1-8247-38D7-C69A-13AA8834F91A}"/>
                </a:ext>
              </a:extLst>
            </p:cNvPr>
            <p:cNvSpPr/>
            <p:nvPr/>
          </p:nvSpPr>
          <p:spPr>
            <a:xfrm>
              <a:off x="508370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Oval 1085">
              <a:extLst>
                <a:ext uri="{FF2B5EF4-FFF2-40B4-BE49-F238E27FC236}">
                  <a16:creationId xmlns:a16="http://schemas.microsoft.com/office/drawing/2014/main" id="{E7A63612-FC65-BEA1-520F-8A9F08D1282F}"/>
                </a:ext>
              </a:extLst>
            </p:cNvPr>
            <p:cNvSpPr/>
            <p:nvPr/>
          </p:nvSpPr>
          <p:spPr>
            <a:xfrm>
              <a:off x="514869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Oval 1086">
              <a:extLst>
                <a:ext uri="{FF2B5EF4-FFF2-40B4-BE49-F238E27FC236}">
                  <a16:creationId xmlns:a16="http://schemas.microsoft.com/office/drawing/2014/main" id="{33CD7F60-7655-140E-0420-B19C5AB8A3FE}"/>
                </a:ext>
              </a:extLst>
            </p:cNvPr>
            <p:cNvSpPr/>
            <p:nvPr/>
          </p:nvSpPr>
          <p:spPr>
            <a:xfrm>
              <a:off x="521367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Oval 1087">
              <a:extLst>
                <a:ext uri="{FF2B5EF4-FFF2-40B4-BE49-F238E27FC236}">
                  <a16:creationId xmlns:a16="http://schemas.microsoft.com/office/drawing/2014/main" id="{3C8185E8-F504-79C6-9AFF-07384F9C2770}"/>
                </a:ext>
              </a:extLst>
            </p:cNvPr>
            <p:cNvSpPr/>
            <p:nvPr/>
          </p:nvSpPr>
          <p:spPr>
            <a:xfrm>
              <a:off x="527866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Oval 1088">
              <a:extLst>
                <a:ext uri="{FF2B5EF4-FFF2-40B4-BE49-F238E27FC236}">
                  <a16:creationId xmlns:a16="http://schemas.microsoft.com/office/drawing/2014/main" id="{A2B55026-5F06-9177-652A-41CF36403A16}"/>
                </a:ext>
              </a:extLst>
            </p:cNvPr>
            <p:cNvSpPr/>
            <p:nvPr/>
          </p:nvSpPr>
          <p:spPr>
            <a:xfrm>
              <a:off x="534364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Oval 1089">
              <a:extLst>
                <a:ext uri="{FF2B5EF4-FFF2-40B4-BE49-F238E27FC236}">
                  <a16:creationId xmlns:a16="http://schemas.microsoft.com/office/drawing/2014/main" id="{93A6AE4E-EF4C-4803-EB42-35D7E951648A}"/>
                </a:ext>
              </a:extLst>
            </p:cNvPr>
            <p:cNvSpPr/>
            <p:nvPr/>
          </p:nvSpPr>
          <p:spPr>
            <a:xfrm>
              <a:off x="540863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Oval 1090">
              <a:extLst>
                <a:ext uri="{FF2B5EF4-FFF2-40B4-BE49-F238E27FC236}">
                  <a16:creationId xmlns:a16="http://schemas.microsoft.com/office/drawing/2014/main" id="{ECD91E48-248A-F88D-1398-24944EA2B905}"/>
                </a:ext>
              </a:extLst>
            </p:cNvPr>
            <p:cNvSpPr/>
            <p:nvPr/>
          </p:nvSpPr>
          <p:spPr>
            <a:xfrm>
              <a:off x="5473612"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Oval 1091">
              <a:extLst>
                <a:ext uri="{FF2B5EF4-FFF2-40B4-BE49-F238E27FC236}">
                  <a16:creationId xmlns:a16="http://schemas.microsoft.com/office/drawing/2014/main" id="{B05B7F34-0631-FC3B-CEE1-8D82FD7501CA}"/>
                </a:ext>
              </a:extLst>
            </p:cNvPr>
            <p:cNvSpPr/>
            <p:nvPr/>
          </p:nvSpPr>
          <p:spPr>
            <a:xfrm>
              <a:off x="4888747"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Oval 1092">
              <a:extLst>
                <a:ext uri="{FF2B5EF4-FFF2-40B4-BE49-F238E27FC236}">
                  <a16:creationId xmlns:a16="http://schemas.microsoft.com/office/drawing/2014/main" id="{898F7106-FB04-1F12-4807-6D673A222DF9}"/>
                </a:ext>
              </a:extLst>
            </p:cNvPr>
            <p:cNvSpPr/>
            <p:nvPr/>
          </p:nvSpPr>
          <p:spPr>
            <a:xfrm>
              <a:off x="495373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Oval 1093">
              <a:extLst>
                <a:ext uri="{FF2B5EF4-FFF2-40B4-BE49-F238E27FC236}">
                  <a16:creationId xmlns:a16="http://schemas.microsoft.com/office/drawing/2014/main" id="{77CEB557-4EBE-1E10-6173-F66946E347CC}"/>
                </a:ext>
              </a:extLst>
            </p:cNvPr>
            <p:cNvSpPr/>
            <p:nvPr/>
          </p:nvSpPr>
          <p:spPr>
            <a:xfrm>
              <a:off x="501871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Oval 1094">
              <a:extLst>
                <a:ext uri="{FF2B5EF4-FFF2-40B4-BE49-F238E27FC236}">
                  <a16:creationId xmlns:a16="http://schemas.microsoft.com/office/drawing/2014/main" id="{B0AC63C9-6BF8-133F-B95F-BAE2C0B3BE9F}"/>
                </a:ext>
              </a:extLst>
            </p:cNvPr>
            <p:cNvSpPr/>
            <p:nvPr/>
          </p:nvSpPr>
          <p:spPr>
            <a:xfrm>
              <a:off x="508370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Oval 1095">
              <a:extLst>
                <a:ext uri="{FF2B5EF4-FFF2-40B4-BE49-F238E27FC236}">
                  <a16:creationId xmlns:a16="http://schemas.microsoft.com/office/drawing/2014/main" id="{7E6A2C3C-302C-41C3-CFAA-EFA2092ED502}"/>
                </a:ext>
              </a:extLst>
            </p:cNvPr>
            <p:cNvSpPr/>
            <p:nvPr/>
          </p:nvSpPr>
          <p:spPr>
            <a:xfrm>
              <a:off x="514868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Oval 1096">
              <a:extLst>
                <a:ext uri="{FF2B5EF4-FFF2-40B4-BE49-F238E27FC236}">
                  <a16:creationId xmlns:a16="http://schemas.microsoft.com/office/drawing/2014/main" id="{27E9F0D1-8DC5-EAAD-8F1B-EAAA955C8A7E}"/>
                </a:ext>
              </a:extLst>
            </p:cNvPr>
            <p:cNvSpPr/>
            <p:nvPr/>
          </p:nvSpPr>
          <p:spPr>
            <a:xfrm>
              <a:off x="521367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Oval 1097">
              <a:extLst>
                <a:ext uri="{FF2B5EF4-FFF2-40B4-BE49-F238E27FC236}">
                  <a16:creationId xmlns:a16="http://schemas.microsoft.com/office/drawing/2014/main" id="{BD0189F7-5072-5287-D36F-637FF980F0F5}"/>
                </a:ext>
              </a:extLst>
            </p:cNvPr>
            <p:cNvSpPr/>
            <p:nvPr/>
          </p:nvSpPr>
          <p:spPr>
            <a:xfrm>
              <a:off x="527865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Oval 1098">
              <a:extLst>
                <a:ext uri="{FF2B5EF4-FFF2-40B4-BE49-F238E27FC236}">
                  <a16:creationId xmlns:a16="http://schemas.microsoft.com/office/drawing/2014/main" id="{9F8B797A-8CE6-A2CB-C874-DCA0C0A17043}"/>
                </a:ext>
              </a:extLst>
            </p:cNvPr>
            <p:cNvSpPr/>
            <p:nvPr/>
          </p:nvSpPr>
          <p:spPr>
            <a:xfrm>
              <a:off x="534364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Oval 1099">
              <a:extLst>
                <a:ext uri="{FF2B5EF4-FFF2-40B4-BE49-F238E27FC236}">
                  <a16:creationId xmlns:a16="http://schemas.microsoft.com/office/drawing/2014/main" id="{73412D2C-5DBB-81F2-2913-554FA6860BE9}"/>
                </a:ext>
              </a:extLst>
            </p:cNvPr>
            <p:cNvSpPr/>
            <p:nvPr/>
          </p:nvSpPr>
          <p:spPr>
            <a:xfrm>
              <a:off x="540862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Oval 1100">
              <a:extLst>
                <a:ext uri="{FF2B5EF4-FFF2-40B4-BE49-F238E27FC236}">
                  <a16:creationId xmlns:a16="http://schemas.microsoft.com/office/drawing/2014/main" id="{307C8E4F-ACD4-3212-5D21-2810F7FA3115}"/>
                </a:ext>
              </a:extLst>
            </p:cNvPr>
            <p:cNvSpPr/>
            <p:nvPr/>
          </p:nvSpPr>
          <p:spPr>
            <a:xfrm>
              <a:off x="5473609"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TextBox 1101">
              <a:extLst>
                <a:ext uri="{FF2B5EF4-FFF2-40B4-BE49-F238E27FC236}">
                  <a16:creationId xmlns:a16="http://schemas.microsoft.com/office/drawing/2014/main" id="{315AFEE6-724F-CF3C-A0A0-CF2B4B8F3EF4}"/>
                </a:ext>
              </a:extLst>
            </p:cNvPr>
            <p:cNvSpPr txBox="1"/>
            <p:nvPr/>
          </p:nvSpPr>
          <p:spPr>
            <a:xfrm>
              <a:off x="4888747" y="5818488"/>
              <a:ext cx="630582" cy="230832"/>
            </a:xfrm>
            <a:prstGeom prst="rect">
              <a:avLst/>
            </a:prstGeom>
            <a:noFill/>
          </p:spPr>
          <p:txBody>
            <a:bodyPr wrap="square" rtlCol="0">
              <a:spAutoFit/>
            </a:bodyPr>
            <a:lstStyle/>
            <a:p>
              <a:pPr algn="ctr"/>
              <a:r>
                <a:rPr lang="en-US" sz="900" i="1" dirty="0"/>
                <a:t>p</a:t>
              </a:r>
              <a:r>
                <a:rPr lang="en-US" sz="900" dirty="0"/>
                <a:t>=0.0215</a:t>
              </a:r>
            </a:p>
          </p:txBody>
        </p:sp>
      </p:grpSp>
      <p:grpSp>
        <p:nvGrpSpPr>
          <p:cNvPr id="1190" name="Group 1189">
            <a:extLst>
              <a:ext uri="{FF2B5EF4-FFF2-40B4-BE49-F238E27FC236}">
                <a16:creationId xmlns:a16="http://schemas.microsoft.com/office/drawing/2014/main" id="{CF7B2DAA-962A-8B53-3D62-8CDB64A4E1CD}"/>
              </a:ext>
            </a:extLst>
          </p:cNvPr>
          <p:cNvGrpSpPr/>
          <p:nvPr/>
        </p:nvGrpSpPr>
        <p:grpSpPr>
          <a:xfrm>
            <a:off x="2302134" y="5491391"/>
            <a:ext cx="630585" cy="396763"/>
            <a:chOff x="5645452" y="5818488"/>
            <a:chExt cx="630585" cy="396763"/>
          </a:xfrm>
        </p:grpSpPr>
        <p:sp>
          <p:nvSpPr>
            <p:cNvPr id="1103" name="Oval 1102">
              <a:extLst>
                <a:ext uri="{FF2B5EF4-FFF2-40B4-BE49-F238E27FC236}">
                  <a16:creationId xmlns:a16="http://schemas.microsoft.com/office/drawing/2014/main" id="{C9EBBAE3-116A-22E1-4F91-3BC6C506FFA5}"/>
                </a:ext>
              </a:extLst>
            </p:cNvPr>
            <p:cNvSpPr/>
            <p:nvPr/>
          </p:nvSpPr>
          <p:spPr>
            <a:xfrm>
              <a:off x="564545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Oval 1103">
              <a:extLst>
                <a:ext uri="{FF2B5EF4-FFF2-40B4-BE49-F238E27FC236}">
                  <a16:creationId xmlns:a16="http://schemas.microsoft.com/office/drawing/2014/main" id="{B8F7DD8E-5599-FC0B-B132-18BEDF7A8E33}"/>
                </a:ext>
              </a:extLst>
            </p:cNvPr>
            <p:cNvSpPr/>
            <p:nvPr/>
          </p:nvSpPr>
          <p:spPr>
            <a:xfrm>
              <a:off x="571044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Oval 1104">
              <a:extLst>
                <a:ext uri="{FF2B5EF4-FFF2-40B4-BE49-F238E27FC236}">
                  <a16:creationId xmlns:a16="http://schemas.microsoft.com/office/drawing/2014/main" id="{8694789D-0A22-2E38-3C46-989F4A37BB90}"/>
                </a:ext>
              </a:extLst>
            </p:cNvPr>
            <p:cNvSpPr/>
            <p:nvPr/>
          </p:nvSpPr>
          <p:spPr>
            <a:xfrm>
              <a:off x="577542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Oval 1105">
              <a:extLst>
                <a:ext uri="{FF2B5EF4-FFF2-40B4-BE49-F238E27FC236}">
                  <a16:creationId xmlns:a16="http://schemas.microsoft.com/office/drawing/2014/main" id="{10A46ED9-9572-82C7-682C-1113D131D57F}"/>
                </a:ext>
              </a:extLst>
            </p:cNvPr>
            <p:cNvSpPr/>
            <p:nvPr/>
          </p:nvSpPr>
          <p:spPr>
            <a:xfrm>
              <a:off x="584041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Oval 1106">
              <a:extLst>
                <a:ext uri="{FF2B5EF4-FFF2-40B4-BE49-F238E27FC236}">
                  <a16:creationId xmlns:a16="http://schemas.microsoft.com/office/drawing/2014/main" id="{AE895D7A-D355-B156-1CB1-C469415566B2}"/>
                </a:ext>
              </a:extLst>
            </p:cNvPr>
            <p:cNvSpPr/>
            <p:nvPr/>
          </p:nvSpPr>
          <p:spPr>
            <a:xfrm>
              <a:off x="590539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Oval 1107">
              <a:extLst>
                <a:ext uri="{FF2B5EF4-FFF2-40B4-BE49-F238E27FC236}">
                  <a16:creationId xmlns:a16="http://schemas.microsoft.com/office/drawing/2014/main" id="{BD21E367-0387-A135-94FB-71AE3FF9B700}"/>
                </a:ext>
              </a:extLst>
            </p:cNvPr>
            <p:cNvSpPr/>
            <p:nvPr/>
          </p:nvSpPr>
          <p:spPr>
            <a:xfrm>
              <a:off x="597038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9" name="Oval 1108">
              <a:extLst>
                <a:ext uri="{FF2B5EF4-FFF2-40B4-BE49-F238E27FC236}">
                  <a16:creationId xmlns:a16="http://schemas.microsoft.com/office/drawing/2014/main" id="{862DA838-08AE-F1EF-BCB4-04A5CAE31475}"/>
                </a:ext>
              </a:extLst>
            </p:cNvPr>
            <p:cNvSpPr/>
            <p:nvPr/>
          </p:nvSpPr>
          <p:spPr>
            <a:xfrm>
              <a:off x="603536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Oval 1109">
              <a:extLst>
                <a:ext uri="{FF2B5EF4-FFF2-40B4-BE49-F238E27FC236}">
                  <a16:creationId xmlns:a16="http://schemas.microsoft.com/office/drawing/2014/main" id="{7C032695-99F4-39BB-5ECB-86FE2EE761A6}"/>
                </a:ext>
              </a:extLst>
            </p:cNvPr>
            <p:cNvSpPr/>
            <p:nvPr/>
          </p:nvSpPr>
          <p:spPr>
            <a:xfrm>
              <a:off x="610035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Oval 1110">
              <a:extLst>
                <a:ext uri="{FF2B5EF4-FFF2-40B4-BE49-F238E27FC236}">
                  <a16:creationId xmlns:a16="http://schemas.microsoft.com/office/drawing/2014/main" id="{29862E6E-D937-09C8-BB9B-B7FE20C15F67}"/>
                </a:ext>
              </a:extLst>
            </p:cNvPr>
            <p:cNvSpPr/>
            <p:nvPr/>
          </p:nvSpPr>
          <p:spPr>
            <a:xfrm>
              <a:off x="6165335"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Oval 1111">
              <a:extLst>
                <a:ext uri="{FF2B5EF4-FFF2-40B4-BE49-F238E27FC236}">
                  <a16:creationId xmlns:a16="http://schemas.microsoft.com/office/drawing/2014/main" id="{0D9E5D66-8E6F-F7B0-8383-55BF3C1E04CE}"/>
                </a:ext>
              </a:extLst>
            </p:cNvPr>
            <p:cNvSpPr/>
            <p:nvPr/>
          </p:nvSpPr>
          <p:spPr>
            <a:xfrm>
              <a:off x="6230317"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Oval 1112">
              <a:extLst>
                <a:ext uri="{FF2B5EF4-FFF2-40B4-BE49-F238E27FC236}">
                  <a16:creationId xmlns:a16="http://schemas.microsoft.com/office/drawing/2014/main" id="{8D86598A-33B7-9C08-C269-C29031981F97}"/>
                </a:ext>
              </a:extLst>
            </p:cNvPr>
            <p:cNvSpPr/>
            <p:nvPr/>
          </p:nvSpPr>
          <p:spPr>
            <a:xfrm>
              <a:off x="5645452"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Oval 1113">
              <a:extLst>
                <a:ext uri="{FF2B5EF4-FFF2-40B4-BE49-F238E27FC236}">
                  <a16:creationId xmlns:a16="http://schemas.microsoft.com/office/drawing/2014/main" id="{A68EA722-8112-9D87-62AD-4D28420B48B0}"/>
                </a:ext>
              </a:extLst>
            </p:cNvPr>
            <p:cNvSpPr/>
            <p:nvPr/>
          </p:nvSpPr>
          <p:spPr>
            <a:xfrm>
              <a:off x="5710437"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5" name="Oval 1114">
              <a:extLst>
                <a:ext uri="{FF2B5EF4-FFF2-40B4-BE49-F238E27FC236}">
                  <a16:creationId xmlns:a16="http://schemas.microsoft.com/office/drawing/2014/main" id="{51839B38-CFF7-E2C3-DCB2-CC435802C0E0}"/>
                </a:ext>
              </a:extLst>
            </p:cNvPr>
            <p:cNvSpPr/>
            <p:nvPr/>
          </p:nvSpPr>
          <p:spPr>
            <a:xfrm>
              <a:off x="577542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Oval 1115">
              <a:extLst>
                <a:ext uri="{FF2B5EF4-FFF2-40B4-BE49-F238E27FC236}">
                  <a16:creationId xmlns:a16="http://schemas.microsoft.com/office/drawing/2014/main" id="{A4C19A25-1C84-D09C-8037-B09582373ADA}"/>
                </a:ext>
              </a:extLst>
            </p:cNvPr>
            <p:cNvSpPr/>
            <p:nvPr/>
          </p:nvSpPr>
          <p:spPr>
            <a:xfrm>
              <a:off x="584040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Oval 1116">
              <a:extLst>
                <a:ext uri="{FF2B5EF4-FFF2-40B4-BE49-F238E27FC236}">
                  <a16:creationId xmlns:a16="http://schemas.microsoft.com/office/drawing/2014/main" id="{59BD40DF-8550-95F0-9C0A-106581241F58}"/>
                </a:ext>
              </a:extLst>
            </p:cNvPr>
            <p:cNvSpPr/>
            <p:nvPr/>
          </p:nvSpPr>
          <p:spPr>
            <a:xfrm>
              <a:off x="590539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Oval 1117">
              <a:extLst>
                <a:ext uri="{FF2B5EF4-FFF2-40B4-BE49-F238E27FC236}">
                  <a16:creationId xmlns:a16="http://schemas.microsoft.com/office/drawing/2014/main" id="{F59F62C6-DC3F-9A8C-0A1E-85F98C7B58D6}"/>
                </a:ext>
              </a:extLst>
            </p:cNvPr>
            <p:cNvSpPr/>
            <p:nvPr/>
          </p:nvSpPr>
          <p:spPr>
            <a:xfrm>
              <a:off x="597037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Oval 1118">
              <a:extLst>
                <a:ext uri="{FF2B5EF4-FFF2-40B4-BE49-F238E27FC236}">
                  <a16:creationId xmlns:a16="http://schemas.microsoft.com/office/drawing/2014/main" id="{544F835A-E3AF-0EF3-D361-6F70C185C5EA}"/>
                </a:ext>
              </a:extLst>
            </p:cNvPr>
            <p:cNvSpPr/>
            <p:nvPr/>
          </p:nvSpPr>
          <p:spPr>
            <a:xfrm>
              <a:off x="603536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Oval 1119">
              <a:extLst>
                <a:ext uri="{FF2B5EF4-FFF2-40B4-BE49-F238E27FC236}">
                  <a16:creationId xmlns:a16="http://schemas.microsoft.com/office/drawing/2014/main" id="{04512ACB-C6C2-E73B-8D4E-CF615C153114}"/>
                </a:ext>
              </a:extLst>
            </p:cNvPr>
            <p:cNvSpPr/>
            <p:nvPr/>
          </p:nvSpPr>
          <p:spPr>
            <a:xfrm>
              <a:off x="610034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Oval 1120">
              <a:extLst>
                <a:ext uri="{FF2B5EF4-FFF2-40B4-BE49-F238E27FC236}">
                  <a16:creationId xmlns:a16="http://schemas.microsoft.com/office/drawing/2014/main" id="{884CECB4-A419-CA2C-A158-EAF4187840E9}"/>
                </a:ext>
              </a:extLst>
            </p:cNvPr>
            <p:cNvSpPr/>
            <p:nvPr/>
          </p:nvSpPr>
          <p:spPr>
            <a:xfrm>
              <a:off x="616533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Oval 1121">
              <a:extLst>
                <a:ext uri="{FF2B5EF4-FFF2-40B4-BE49-F238E27FC236}">
                  <a16:creationId xmlns:a16="http://schemas.microsoft.com/office/drawing/2014/main" id="{61CE48D8-DBC8-F3EA-54AD-24872E0D72ED}"/>
                </a:ext>
              </a:extLst>
            </p:cNvPr>
            <p:cNvSpPr/>
            <p:nvPr/>
          </p:nvSpPr>
          <p:spPr>
            <a:xfrm>
              <a:off x="6230314"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TextBox 1122">
              <a:extLst>
                <a:ext uri="{FF2B5EF4-FFF2-40B4-BE49-F238E27FC236}">
                  <a16:creationId xmlns:a16="http://schemas.microsoft.com/office/drawing/2014/main" id="{BA9AC731-51EE-23AB-96A1-5D636C361E70}"/>
                </a:ext>
              </a:extLst>
            </p:cNvPr>
            <p:cNvSpPr txBox="1"/>
            <p:nvPr/>
          </p:nvSpPr>
          <p:spPr>
            <a:xfrm>
              <a:off x="5645452" y="5818488"/>
              <a:ext cx="630582" cy="230832"/>
            </a:xfrm>
            <a:prstGeom prst="rect">
              <a:avLst/>
            </a:prstGeom>
            <a:noFill/>
          </p:spPr>
          <p:txBody>
            <a:bodyPr wrap="square" rtlCol="0">
              <a:spAutoFit/>
            </a:bodyPr>
            <a:lstStyle/>
            <a:p>
              <a:pPr algn="ctr"/>
              <a:r>
                <a:rPr lang="en-US" sz="900" i="1" dirty="0"/>
                <a:t>p</a:t>
              </a:r>
              <a:r>
                <a:rPr lang="en-US" sz="900" dirty="0"/>
                <a:t>=0.1094</a:t>
              </a:r>
            </a:p>
          </p:txBody>
        </p:sp>
      </p:grpSp>
      <p:grpSp>
        <p:nvGrpSpPr>
          <p:cNvPr id="1191" name="Group 1190">
            <a:extLst>
              <a:ext uri="{FF2B5EF4-FFF2-40B4-BE49-F238E27FC236}">
                <a16:creationId xmlns:a16="http://schemas.microsoft.com/office/drawing/2014/main" id="{526C1435-7D77-9509-984C-3683C2D92B24}"/>
              </a:ext>
            </a:extLst>
          </p:cNvPr>
          <p:cNvGrpSpPr/>
          <p:nvPr/>
        </p:nvGrpSpPr>
        <p:grpSpPr>
          <a:xfrm>
            <a:off x="3056378" y="5491391"/>
            <a:ext cx="630585" cy="396763"/>
            <a:chOff x="6402997" y="5818488"/>
            <a:chExt cx="630585" cy="396763"/>
          </a:xfrm>
        </p:grpSpPr>
        <p:sp>
          <p:nvSpPr>
            <p:cNvPr id="1125" name="Oval 1124">
              <a:extLst>
                <a:ext uri="{FF2B5EF4-FFF2-40B4-BE49-F238E27FC236}">
                  <a16:creationId xmlns:a16="http://schemas.microsoft.com/office/drawing/2014/main" id="{C6332F57-1D6C-64D7-9ABC-D3C02260E509}"/>
                </a:ext>
              </a:extLst>
            </p:cNvPr>
            <p:cNvSpPr/>
            <p:nvPr/>
          </p:nvSpPr>
          <p:spPr>
            <a:xfrm>
              <a:off x="646798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Oval 1125">
              <a:extLst>
                <a:ext uri="{FF2B5EF4-FFF2-40B4-BE49-F238E27FC236}">
                  <a16:creationId xmlns:a16="http://schemas.microsoft.com/office/drawing/2014/main" id="{0F3B5C57-E073-1AEB-B99C-D96D1611884D}"/>
                </a:ext>
              </a:extLst>
            </p:cNvPr>
            <p:cNvSpPr/>
            <p:nvPr/>
          </p:nvSpPr>
          <p:spPr>
            <a:xfrm>
              <a:off x="653297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Oval 1126">
              <a:extLst>
                <a:ext uri="{FF2B5EF4-FFF2-40B4-BE49-F238E27FC236}">
                  <a16:creationId xmlns:a16="http://schemas.microsoft.com/office/drawing/2014/main" id="{C06D7C66-0918-D525-EA79-5D30DD8AEE80}"/>
                </a:ext>
              </a:extLst>
            </p:cNvPr>
            <p:cNvSpPr/>
            <p:nvPr/>
          </p:nvSpPr>
          <p:spPr>
            <a:xfrm>
              <a:off x="659795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Oval 1127">
              <a:extLst>
                <a:ext uri="{FF2B5EF4-FFF2-40B4-BE49-F238E27FC236}">
                  <a16:creationId xmlns:a16="http://schemas.microsoft.com/office/drawing/2014/main" id="{F9956A7B-3A50-60E5-0D7C-C242BB570B75}"/>
                </a:ext>
              </a:extLst>
            </p:cNvPr>
            <p:cNvSpPr/>
            <p:nvPr/>
          </p:nvSpPr>
          <p:spPr>
            <a:xfrm>
              <a:off x="666294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Oval 1128">
              <a:extLst>
                <a:ext uri="{FF2B5EF4-FFF2-40B4-BE49-F238E27FC236}">
                  <a16:creationId xmlns:a16="http://schemas.microsoft.com/office/drawing/2014/main" id="{3B2CDE7F-ED09-A1F8-2FF0-4E1B90BD54C2}"/>
                </a:ext>
              </a:extLst>
            </p:cNvPr>
            <p:cNvSpPr/>
            <p:nvPr/>
          </p:nvSpPr>
          <p:spPr>
            <a:xfrm>
              <a:off x="672792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Oval 1129">
              <a:extLst>
                <a:ext uri="{FF2B5EF4-FFF2-40B4-BE49-F238E27FC236}">
                  <a16:creationId xmlns:a16="http://schemas.microsoft.com/office/drawing/2014/main" id="{F6C542B0-D6AE-A7FA-1207-4DCDFA6E6B3E}"/>
                </a:ext>
              </a:extLst>
            </p:cNvPr>
            <p:cNvSpPr/>
            <p:nvPr/>
          </p:nvSpPr>
          <p:spPr>
            <a:xfrm>
              <a:off x="679291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Oval 1130">
              <a:extLst>
                <a:ext uri="{FF2B5EF4-FFF2-40B4-BE49-F238E27FC236}">
                  <a16:creationId xmlns:a16="http://schemas.microsoft.com/office/drawing/2014/main" id="{37EB22BB-C510-DF4F-43AA-AAE706F29356}"/>
                </a:ext>
              </a:extLst>
            </p:cNvPr>
            <p:cNvSpPr/>
            <p:nvPr/>
          </p:nvSpPr>
          <p:spPr>
            <a:xfrm>
              <a:off x="6857895"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Oval 1131">
              <a:extLst>
                <a:ext uri="{FF2B5EF4-FFF2-40B4-BE49-F238E27FC236}">
                  <a16:creationId xmlns:a16="http://schemas.microsoft.com/office/drawing/2014/main" id="{F593E6C1-15DF-26EA-D270-A1432BFEBD98}"/>
                </a:ext>
              </a:extLst>
            </p:cNvPr>
            <p:cNvSpPr/>
            <p:nvPr/>
          </p:nvSpPr>
          <p:spPr>
            <a:xfrm>
              <a:off x="6922880"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Oval 1132">
              <a:extLst>
                <a:ext uri="{FF2B5EF4-FFF2-40B4-BE49-F238E27FC236}">
                  <a16:creationId xmlns:a16="http://schemas.microsoft.com/office/drawing/2014/main" id="{99C29B85-6214-CC23-4F38-ACFEB9AAF115}"/>
                </a:ext>
              </a:extLst>
            </p:cNvPr>
            <p:cNvSpPr/>
            <p:nvPr/>
          </p:nvSpPr>
          <p:spPr>
            <a:xfrm>
              <a:off x="6987862"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Oval 1123">
              <a:extLst>
                <a:ext uri="{FF2B5EF4-FFF2-40B4-BE49-F238E27FC236}">
                  <a16:creationId xmlns:a16="http://schemas.microsoft.com/office/drawing/2014/main" id="{E8DE7831-6A35-D02E-9593-D556C5EC5576}"/>
                </a:ext>
              </a:extLst>
            </p:cNvPr>
            <p:cNvSpPr/>
            <p:nvPr/>
          </p:nvSpPr>
          <p:spPr>
            <a:xfrm>
              <a:off x="640300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Oval 1133">
              <a:extLst>
                <a:ext uri="{FF2B5EF4-FFF2-40B4-BE49-F238E27FC236}">
                  <a16:creationId xmlns:a16="http://schemas.microsoft.com/office/drawing/2014/main" id="{A0C45E78-E067-DD85-AE13-82D5A65463CF}"/>
                </a:ext>
              </a:extLst>
            </p:cNvPr>
            <p:cNvSpPr/>
            <p:nvPr/>
          </p:nvSpPr>
          <p:spPr>
            <a:xfrm>
              <a:off x="6402997"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Oval 1134">
              <a:extLst>
                <a:ext uri="{FF2B5EF4-FFF2-40B4-BE49-F238E27FC236}">
                  <a16:creationId xmlns:a16="http://schemas.microsoft.com/office/drawing/2014/main" id="{A94DC90B-DF7E-B5BE-5046-B111B333C049}"/>
                </a:ext>
              </a:extLst>
            </p:cNvPr>
            <p:cNvSpPr/>
            <p:nvPr/>
          </p:nvSpPr>
          <p:spPr>
            <a:xfrm>
              <a:off x="6467982"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Oval 1135">
              <a:extLst>
                <a:ext uri="{FF2B5EF4-FFF2-40B4-BE49-F238E27FC236}">
                  <a16:creationId xmlns:a16="http://schemas.microsoft.com/office/drawing/2014/main" id="{D23665B1-64F5-6E55-5100-6DE87B42DAA4}"/>
                </a:ext>
              </a:extLst>
            </p:cNvPr>
            <p:cNvSpPr/>
            <p:nvPr/>
          </p:nvSpPr>
          <p:spPr>
            <a:xfrm>
              <a:off x="6532967"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Oval 1136">
              <a:extLst>
                <a:ext uri="{FF2B5EF4-FFF2-40B4-BE49-F238E27FC236}">
                  <a16:creationId xmlns:a16="http://schemas.microsoft.com/office/drawing/2014/main" id="{7D5CD94B-9D71-EC0D-FE96-7FB2A9A234B9}"/>
                </a:ext>
              </a:extLst>
            </p:cNvPr>
            <p:cNvSpPr/>
            <p:nvPr/>
          </p:nvSpPr>
          <p:spPr>
            <a:xfrm>
              <a:off x="659795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Oval 1137">
              <a:extLst>
                <a:ext uri="{FF2B5EF4-FFF2-40B4-BE49-F238E27FC236}">
                  <a16:creationId xmlns:a16="http://schemas.microsoft.com/office/drawing/2014/main" id="{C6713CF2-7A46-1FE4-3E03-FD806E125618}"/>
                </a:ext>
              </a:extLst>
            </p:cNvPr>
            <p:cNvSpPr/>
            <p:nvPr/>
          </p:nvSpPr>
          <p:spPr>
            <a:xfrm>
              <a:off x="666293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Oval 1138">
              <a:extLst>
                <a:ext uri="{FF2B5EF4-FFF2-40B4-BE49-F238E27FC236}">
                  <a16:creationId xmlns:a16="http://schemas.microsoft.com/office/drawing/2014/main" id="{503EAADC-DA77-2BD0-7BC6-9EAFFD5A47EC}"/>
                </a:ext>
              </a:extLst>
            </p:cNvPr>
            <p:cNvSpPr/>
            <p:nvPr/>
          </p:nvSpPr>
          <p:spPr>
            <a:xfrm>
              <a:off x="672792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Oval 1139">
              <a:extLst>
                <a:ext uri="{FF2B5EF4-FFF2-40B4-BE49-F238E27FC236}">
                  <a16:creationId xmlns:a16="http://schemas.microsoft.com/office/drawing/2014/main" id="{C926F945-5A0D-D9DA-CE59-63D5ED2ACAD1}"/>
                </a:ext>
              </a:extLst>
            </p:cNvPr>
            <p:cNvSpPr/>
            <p:nvPr/>
          </p:nvSpPr>
          <p:spPr>
            <a:xfrm>
              <a:off x="679290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Oval 1140">
              <a:extLst>
                <a:ext uri="{FF2B5EF4-FFF2-40B4-BE49-F238E27FC236}">
                  <a16:creationId xmlns:a16="http://schemas.microsoft.com/office/drawing/2014/main" id="{D6C7E693-087E-FF3D-47E0-76B885FCDEC2}"/>
                </a:ext>
              </a:extLst>
            </p:cNvPr>
            <p:cNvSpPr/>
            <p:nvPr/>
          </p:nvSpPr>
          <p:spPr>
            <a:xfrm>
              <a:off x="685789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Oval 1141">
              <a:extLst>
                <a:ext uri="{FF2B5EF4-FFF2-40B4-BE49-F238E27FC236}">
                  <a16:creationId xmlns:a16="http://schemas.microsoft.com/office/drawing/2014/main" id="{32CFB8A2-4640-8005-D892-2780A47FF2F4}"/>
                </a:ext>
              </a:extLst>
            </p:cNvPr>
            <p:cNvSpPr/>
            <p:nvPr/>
          </p:nvSpPr>
          <p:spPr>
            <a:xfrm>
              <a:off x="692287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Oval 1142">
              <a:extLst>
                <a:ext uri="{FF2B5EF4-FFF2-40B4-BE49-F238E27FC236}">
                  <a16:creationId xmlns:a16="http://schemas.microsoft.com/office/drawing/2014/main" id="{B5140791-75E5-234A-7EEA-D3911F157625}"/>
                </a:ext>
              </a:extLst>
            </p:cNvPr>
            <p:cNvSpPr/>
            <p:nvPr/>
          </p:nvSpPr>
          <p:spPr>
            <a:xfrm>
              <a:off x="6987859"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TextBox 1143">
              <a:extLst>
                <a:ext uri="{FF2B5EF4-FFF2-40B4-BE49-F238E27FC236}">
                  <a16:creationId xmlns:a16="http://schemas.microsoft.com/office/drawing/2014/main" id="{37EB05FC-0AF3-990A-9CD6-ACFA4F5C3E99}"/>
                </a:ext>
              </a:extLst>
            </p:cNvPr>
            <p:cNvSpPr txBox="1"/>
            <p:nvPr/>
          </p:nvSpPr>
          <p:spPr>
            <a:xfrm>
              <a:off x="6402997" y="5818488"/>
              <a:ext cx="630582" cy="230832"/>
            </a:xfrm>
            <a:prstGeom prst="rect">
              <a:avLst/>
            </a:prstGeom>
            <a:noFill/>
          </p:spPr>
          <p:txBody>
            <a:bodyPr wrap="square" rtlCol="0">
              <a:spAutoFit/>
            </a:bodyPr>
            <a:lstStyle/>
            <a:p>
              <a:pPr algn="ctr"/>
              <a:r>
                <a:rPr lang="en-US" sz="900" i="1" dirty="0"/>
                <a:t>p</a:t>
              </a:r>
              <a:r>
                <a:rPr lang="en-US" sz="900" dirty="0"/>
                <a:t>=0.3438</a:t>
              </a:r>
            </a:p>
          </p:txBody>
        </p:sp>
      </p:grpSp>
      <p:grpSp>
        <p:nvGrpSpPr>
          <p:cNvPr id="1193" name="Group 1192">
            <a:extLst>
              <a:ext uri="{FF2B5EF4-FFF2-40B4-BE49-F238E27FC236}">
                <a16:creationId xmlns:a16="http://schemas.microsoft.com/office/drawing/2014/main" id="{EBBE96B0-70E6-A2E6-E1ED-C593201A84B1}"/>
              </a:ext>
            </a:extLst>
          </p:cNvPr>
          <p:cNvGrpSpPr/>
          <p:nvPr/>
        </p:nvGrpSpPr>
        <p:grpSpPr>
          <a:xfrm>
            <a:off x="3810622" y="5491391"/>
            <a:ext cx="630585" cy="396763"/>
            <a:chOff x="7159147" y="5818488"/>
            <a:chExt cx="630585" cy="396763"/>
          </a:xfrm>
        </p:grpSpPr>
        <p:sp>
          <p:nvSpPr>
            <p:cNvPr id="1145" name="Oval 1144">
              <a:extLst>
                <a:ext uri="{FF2B5EF4-FFF2-40B4-BE49-F238E27FC236}">
                  <a16:creationId xmlns:a16="http://schemas.microsoft.com/office/drawing/2014/main" id="{1E4C967E-BA0C-9DCF-610A-6C1AEFCE65D1}"/>
                </a:ext>
              </a:extLst>
            </p:cNvPr>
            <p:cNvSpPr/>
            <p:nvPr/>
          </p:nvSpPr>
          <p:spPr>
            <a:xfrm>
              <a:off x="715915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Oval 1145">
              <a:extLst>
                <a:ext uri="{FF2B5EF4-FFF2-40B4-BE49-F238E27FC236}">
                  <a16:creationId xmlns:a16="http://schemas.microsoft.com/office/drawing/2014/main" id="{8EFB395C-105A-896C-73F9-C94E8D911333}"/>
                </a:ext>
              </a:extLst>
            </p:cNvPr>
            <p:cNvSpPr/>
            <p:nvPr/>
          </p:nvSpPr>
          <p:spPr>
            <a:xfrm>
              <a:off x="722413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Oval 1146">
              <a:extLst>
                <a:ext uri="{FF2B5EF4-FFF2-40B4-BE49-F238E27FC236}">
                  <a16:creationId xmlns:a16="http://schemas.microsoft.com/office/drawing/2014/main" id="{E1295926-7055-21D4-927C-7D2DA48B59C8}"/>
                </a:ext>
              </a:extLst>
            </p:cNvPr>
            <p:cNvSpPr/>
            <p:nvPr/>
          </p:nvSpPr>
          <p:spPr>
            <a:xfrm>
              <a:off x="728912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Oval 1147">
              <a:extLst>
                <a:ext uri="{FF2B5EF4-FFF2-40B4-BE49-F238E27FC236}">
                  <a16:creationId xmlns:a16="http://schemas.microsoft.com/office/drawing/2014/main" id="{EDF65367-38B0-6774-D081-6B2BB36FC06B}"/>
                </a:ext>
              </a:extLst>
            </p:cNvPr>
            <p:cNvSpPr/>
            <p:nvPr/>
          </p:nvSpPr>
          <p:spPr>
            <a:xfrm>
              <a:off x="735410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9" name="Oval 1148">
              <a:extLst>
                <a:ext uri="{FF2B5EF4-FFF2-40B4-BE49-F238E27FC236}">
                  <a16:creationId xmlns:a16="http://schemas.microsoft.com/office/drawing/2014/main" id="{B951FE01-EAE4-154E-B345-818033000916}"/>
                </a:ext>
              </a:extLst>
            </p:cNvPr>
            <p:cNvSpPr/>
            <p:nvPr/>
          </p:nvSpPr>
          <p:spPr>
            <a:xfrm>
              <a:off x="7419090"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0" name="Oval 1149">
              <a:extLst>
                <a:ext uri="{FF2B5EF4-FFF2-40B4-BE49-F238E27FC236}">
                  <a16:creationId xmlns:a16="http://schemas.microsoft.com/office/drawing/2014/main" id="{CBA5BB46-2C01-0CE5-91CC-63CB4FE3DB6A}"/>
                </a:ext>
              </a:extLst>
            </p:cNvPr>
            <p:cNvSpPr/>
            <p:nvPr/>
          </p:nvSpPr>
          <p:spPr>
            <a:xfrm>
              <a:off x="7484075"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1" name="Oval 1150">
              <a:extLst>
                <a:ext uri="{FF2B5EF4-FFF2-40B4-BE49-F238E27FC236}">
                  <a16:creationId xmlns:a16="http://schemas.microsoft.com/office/drawing/2014/main" id="{3361F877-3EB4-55FA-8593-572158BD0D96}"/>
                </a:ext>
              </a:extLst>
            </p:cNvPr>
            <p:cNvSpPr/>
            <p:nvPr/>
          </p:nvSpPr>
          <p:spPr>
            <a:xfrm>
              <a:off x="7549060"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Oval 1151">
              <a:extLst>
                <a:ext uri="{FF2B5EF4-FFF2-40B4-BE49-F238E27FC236}">
                  <a16:creationId xmlns:a16="http://schemas.microsoft.com/office/drawing/2014/main" id="{1097C10D-5942-17F4-B789-8F168251B4BC}"/>
                </a:ext>
              </a:extLst>
            </p:cNvPr>
            <p:cNvSpPr/>
            <p:nvPr/>
          </p:nvSpPr>
          <p:spPr>
            <a:xfrm>
              <a:off x="7614045"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3" name="Oval 1152">
              <a:extLst>
                <a:ext uri="{FF2B5EF4-FFF2-40B4-BE49-F238E27FC236}">
                  <a16:creationId xmlns:a16="http://schemas.microsoft.com/office/drawing/2014/main" id="{15E11869-20C8-D1AD-C7AE-223B76F9F4AD}"/>
                </a:ext>
              </a:extLst>
            </p:cNvPr>
            <p:cNvSpPr/>
            <p:nvPr/>
          </p:nvSpPr>
          <p:spPr>
            <a:xfrm>
              <a:off x="7679030"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4" name="Oval 1153">
              <a:extLst>
                <a:ext uri="{FF2B5EF4-FFF2-40B4-BE49-F238E27FC236}">
                  <a16:creationId xmlns:a16="http://schemas.microsoft.com/office/drawing/2014/main" id="{84C38EB1-D1F7-BC27-1D96-89294904DEB5}"/>
                </a:ext>
              </a:extLst>
            </p:cNvPr>
            <p:cNvSpPr/>
            <p:nvPr/>
          </p:nvSpPr>
          <p:spPr>
            <a:xfrm>
              <a:off x="7744012"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Oval 1154">
              <a:extLst>
                <a:ext uri="{FF2B5EF4-FFF2-40B4-BE49-F238E27FC236}">
                  <a16:creationId xmlns:a16="http://schemas.microsoft.com/office/drawing/2014/main" id="{34C16518-87B5-D608-7144-4F17DD7FE737}"/>
                </a:ext>
              </a:extLst>
            </p:cNvPr>
            <p:cNvSpPr/>
            <p:nvPr/>
          </p:nvSpPr>
          <p:spPr>
            <a:xfrm>
              <a:off x="7159147"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Oval 1155">
              <a:extLst>
                <a:ext uri="{FF2B5EF4-FFF2-40B4-BE49-F238E27FC236}">
                  <a16:creationId xmlns:a16="http://schemas.microsoft.com/office/drawing/2014/main" id="{523C4F72-B919-8AAF-F02C-7FDA2403ECE2}"/>
                </a:ext>
              </a:extLst>
            </p:cNvPr>
            <p:cNvSpPr/>
            <p:nvPr/>
          </p:nvSpPr>
          <p:spPr>
            <a:xfrm>
              <a:off x="7224132"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Oval 1156">
              <a:extLst>
                <a:ext uri="{FF2B5EF4-FFF2-40B4-BE49-F238E27FC236}">
                  <a16:creationId xmlns:a16="http://schemas.microsoft.com/office/drawing/2014/main" id="{2C50E0AA-46B4-E217-9D16-F763CAD31459}"/>
                </a:ext>
              </a:extLst>
            </p:cNvPr>
            <p:cNvSpPr/>
            <p:nvPr/>
          </p:nvSpPr>
          <p:spPr>
            <a:xfrm>
              <a:off x="7289117"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Oval 1157">
              <a:extLst>
                <a:ext uri="{FF2B5EF4-FFF2-40B4-BE49-F238E27FC236}">
                  <a16:creationId xmlns:a16="http://schemas.microsoft.com/office/drawing/2014/main" id="{DC03B1D4-16CF-40E1-F337-CE8715A8E738}"/>
                </a:ext>
              </a:extLst>
            </p:cNvPr>
            <p:cNvSpPr/>
            <p:nvPr/>
          </p:nvSpPr>
          <p:spPr>
            <a:xfrm>
              <a:off x="7354102"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Oval 1158">
              <a:extLst>
                <a:ext uri="{FF2B5EF4-FFF2-40B4-BE49-F238E27FC236}">
                  <a16:creationId xmlns:a16="http://schemas.microsoft.com/office/drawing/2014/main" id="{5A927EFC-26E5-5293-E2F0-38FE4B692347}"/>
                </a:ext>
              </a:extLst>
            </p:cNvPr>
            <p:cNvSpPr/>
            <p:nvPr/>
          </p:nvSpPr>
          <p:spPr>
            <a:xfrm>
              <a:off x="741908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Oval 1159">
              <a:extLst>
                <a:ext uri="{FF2B5EF4-FFF2-40B4-BE49-F238E27FC236}">
                  <a16:creationId xmlns:a16="http://schemas.microsoft.com/office/drawing/2014/main" id="{04BBE682-064F-FB9C-6509-53271EB11C2E}"/>
                </a:ext>
              </a:extLst>
            </p:cNvPr>
            <p:cNvSpPr/>
            <p:nvPr/>
          </p:nvSpPr>
          <p:spPr>
            <a:xfrm>
              <a:off x="748407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Oval 1160">
              <a:extLst>
                <a:ext uri="{FF2B5EF4-FFF2-40B4-BE49-F238E27FC236}">
                  <a16:creationId xmlns:a16="http://schemas.microsoft.com/office/drawing/2014/main" id="{D60C0BF8-0C8C-2A3F-03B3-9304D80657BC}"/>
                </a:ext>
              </a:extLst>
            </p:cNvPr>
            <p:cNvSpPr/>
            <p:nvPr/>
          </p:nvSpPr>
          <p:spPr>
            <a:xfrm>
              <a:off x="754905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Oval 1161">
              <a:extLst>
                <a:ext uri="{FF2B5EF4-FFF2-40B4-BE49-F238E27FC236}">
                  <a16:creationId xmlns:a16="http://schemas.microsoft.com/office/drawing/2014/main" id="{8CE1DDFF-8CBC-6230-BB58-3CDD3CF89517}"/>
                </a:ext>
              </a:extLst>
            </p:cNvPr>
            <p:cNvSpPr/>
            <p:nvPr/>
          </p:nvSpPr>
          <p:spPr>
            <a:xfrm>
              <a:off x="7614042"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Oval 1162">
              <a:extLst>
                <a:ext uri="{FF2B5EF4-FFF2-40B4-BE49-F238E27FC236}">
                  <a16:creationId xmlns:a16="http://schemas.microsoft.com/office/drawing/2014/main" id="{91554B7B-411C-552D-AFC8-FC71FCE2B8CF}"/>
                </a:ext>
              </a:extLst>
            </p:cNvPr>
            <p:cNvSpPr/>
            <p:nvPr/>
          </p:nvSpPr>
          <p:spPr>
            <a:xfrm>
              <a:off x="7679027"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Oval 1163">
              <a:extLst>
                <a:ext uri="{FF2B5EF4-FFF2-40B4-BE49-F238E27FC236}">
                  <a16:creationId xmlns:a16="http://schemas.microsoft.com/office/drawing/2014/main" id="{DE1DF9C6-AE66-10EB-470B-34C8EB5CB65E}"/>
                </a:ext>
              </a:extLst>
            </p:cNvPr>
            <p:cNvSpPr/>
            <p:nvPr/>
          </p:nvSpPr>
          <p:spPr>
            <a:xfrm>
              <a:off x="7744009"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TextBox 1164">
              <a:extLst>
                <a:ext uri="{FF2B5EF4-FFF2-40B4-BE49-F238E27FC236}">
                  <a16:creationId xmlns:a16="http://schemas.microsoft.com/office/drawing/2014/main" id="{657916D7-AB72-B1D5-B222-0F4768B61233}"/>
                </a:ext>
              </a:extLst>
            </p:cNvPr>
            <p:cNvSpPr txBox="1"/>
            <p:nvPr/>
          </p:nvSpPr>
          <p:spPr>
            <a:xfrm>
              <a:off x="7159147" y="5818488"/>
              <a:ext cx="630582" cy="230832"/>
            </a:xfrm>
            <a:prstGeom prst="rect">
              <a:avLst/>
            </a:prstGeom>
            <a:noFill/>
          </p:spPr>
          <p:txBody>
            <a:bodyPr wrap="square" rtlCol="0">
              <a:spAutoFit/>
            </a:bodyPr>
            <a:lstStyle/>
            <a:p>
              <a:pPr algn="ctr"/>
              <a:r>
                <a:rPr lang="en-US" sz="900" i="1" dirty="0"/>
                <a:t>p</a:t>
              </a:r>
              <a:r>
                <a:rPr lang="en-US" sz="900" dirty="0"/>
                <a:t>=0.7539</a:t>
              </a:r>
            </a:p>
          </p:txBody>
        </p:sp>
      </p:grpSp>
      <p:grpSp>
        <p:nvGrpSpPr>
          <p:cNvPr id="1194" name="Group 1193">
            <a:extLst>
              <a:ext uri="{FF2B5EF4-FFF2-40B4-BE49-F238E27FC236}">
                <a16:creationId xmlns:a16="http://schemas.microsoft.com/office/drawing/2014/main" id="{8173268F-D1A8-F561-F154-F8BC5AB1BD9F}"/>
              </a:ext>
            </a:extLst>
          </p:cNvPr>
          <p:cNvGrpSpPr/>
          <p:nvPr/>
        </p:nvGrpSpPr>
        <p:grpSpPr>
          <a:xfrm>
            <a:off x="4564865" y="5491391"/>
            <a:ext cx="630585" cy="396763"/>
            <a:chOff x="7903261" y="5818488"/>
            <a:chExt cx="630585" cy="396763"/>
          </a:xfrm>
        </p:grpSpPr>
        <p:sp>
          <p:nvSpPr>
            <p:cNvPr id="1166" name="Oval 1165">
              <a:extLst>
                <a:ext uri="{FF2B5EF4-FFF2-40B4-BE49-F238E27FC236}">
                  <a16:creationId xmlns:a16="http://schemas.microsoft.com/office/drawing/2014/main" id="{BF893CB2-0EF3-88A0-443F-2EE92A8E7A2B}"/>
                </a:ext>
              </a:extLst>
            </p:cNvPr>
            <p:cNvSpPr/>
            <p:nvPr/>
          </p:nvSpPr>
          <p:spPr>
            <a:xfrm>
              <a:off x="7903264"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7" name="Oval 1166">
              <a:extLst>
                <a:ext uri="{FF2B5EF4-FFF2-40B4-BE49-F238E27FC236}">
                  <a16:creationId xmlns:a16="http://schemas.microsoft.com/office/drawing/2014/main" id="{DE24E941-AC0B-AE8D-6DF6-EDA446F60162}"/>
                </a:ext>
              </a:extLst>
            </p:cNvPr>
            <p:cNvSpPr/>
            <p:nvPr/>
          </p:nvSpPr>
          <p:spPr>
            <a:xfrm>
              <a:off x="7968249"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8" name="Oval 1167">
              <a:extLst>
                <a:ext uri="{FF2B5EF4-FFF2-40B4-BE49-F238E27FC236}">
                  <a16:creationId xmlns:a16="http://schemas.microsoft.com/office/drawing/2014/main" id="{3EECEB31-8F2B-F380-4EA9-56DE3B771EE1}"/>
                </a:ext>
              </a:extLst>
            </p:cNvPr>
            <p:cNvSpPr/>
            <p:nvPr/>
          </p:nvSpPr>
          <p:spPr>
            <a:xfrm>
              <a:off x="8033234"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Oval 1168">
              <a:extLst>
                <a:ext uri="{FF2B5EF4-FFF2-40B4-BE49-F238E27FC236}">
                  <a16:creationId xmlns:a16="http://schemas.microsoft.com/office/drawing/2014/main" id="{4D7C0199-DE6F-F8F1-83EF-FE35765109F2}"/>
                </a:ext>
              </a:extLst>
            </p:cNvPr>
            <p:cNvSpPr/>
            <p:nvPr/>
          </p:nvSpPr>
          <p:spPr>
            <a:xfrm>
              <a:off x="8098219"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Oval 1169">
              <a:extLst>
                <a:ext uri="{FF2B5EF4-FFF2-40B4-BE49-F238E27FC236}">
                  <a16:creationId xmlns:a16="http://schemas.microsoft.com/office/drawing/2014/main" id="{6E09ED18-0247-DB1B-481A-7ADA4EE5E7C3}"/>
                </a:ext>
              </a:extLst>
            </p:cNvPr>
            <p:cNvSpPr/>
            <p:nvPr/>
          </p:nvSpPr>
          <p:spPr>
            <a:xfrm>
              <a:off x="8163204" y="6169531"/>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Oval 1170">
              <a:extLst>
                <a:ext uri="{FF2B5EF4-FFF2-40B4-BE49-F238E27FC236}">
                  <a16:creationId xmlns:a16="http://schemas.microsoft.com/office/drawing/2014/main" id="{17641B04-8730-93FA-2A0E-40C1411F107A}"/>
                </a:ext>
              </a:extLst>
            </p:cNvPr>
            <p:cNvSpPr/>
            <p:nvPr/>
          </p:nvSpPr>
          <p:spPr>
            <a:xfrm>
              <a:off x="8228189"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Oval 1171">
              <a:extLst>
                <a:ext uri="{FF2B5EF4-FFF2-40B4-BE49-F238E27FC236}">
                  <a16:creationId xmlns:a16="http://schemas.microsoft.com/office/drawing/2014/main" id="{325490F5-96FC-9925-1893-038E15CFC4DF}"/>
                </a:ext>
              </a:extLst>
            </p:cNvPr>
            <p:cNvSpPr/>
            <p:nvPr/>
          </p:nvSpPr>
          <p:spPr>
            <a:xfrm>
              <a:off x="8293174"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3" name="Oval 1172">
              <a:extLst>
                <a:ext uri="{FF2B5EF4-FFF2-40B4-BE49-F238E27FC236}">
                  <a16:creationId xmlns:a16="http://schemas.microsoft.com/office/drawing/2014/main" id="{908A3A15-6F7C-5B24-5BB1-BE00D89AC3B7}"/>
                </a:ext>
              </a:extLst>
            </p:cNvPr>
            <p:cNvSpPr/>
            <p:nvPr/>
          </p:nvSpPr>
          <p:spPr>
            <a:xfrm>
              <a:off x="8358159"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Oval 1173">
              <a:extLst>
                <a:ext uri="{FF2B5EF4-FFF2-40B4-BE49-F238E27FC236}">
                  <a16:creationId xmlns:a16="http://schemas.microsoft.com/office/drawing/2014/main" id="{768D2D16-6D53-7781-7A9C-78F08F9FD6D7}"/>
                </a:ext>
              </a:extLst>
            </p:cNvPr>
            <p:cNvSpPr/>
            <p:nvPr/>
          </p:nvSpPr>
          <p:spPr>
            <a:xfrm>
              <a:off x="8423144"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Oval 1174">
              <a:extLst>
                <a:ext uri="{FF2B5EF4-FFF2-40B4-BE49-F238E27FC236}">
                  <a16:creationId xmlns:a16="http://schemas.microsoft.com/office/drawing/2014/main" id="{95CBB1D4-C0DF-9188-8C2E-623A82DFD51E}"/>
                </a:ext>
              </a:extLst>
            </p:cNvPr>
            <p:cNvSpPr/>
            <p:nvPr/>
          </p:nvSpPr>
          <p:spPr>
            <a:xfrm>
              <a:off x="8488126" y="6169531"/>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6" name="Oval 1175">
              <a:extLst>
                <a:ext uri="{FF2B5EF4-FFF2-40B4-BE49-F238E27FC236}">
                  <a16:creationId xmlns:a16="http://schemas.microsoft.com/office/drawing/2014/main" id="{C0FC34A5-E649-C8C6-3124-EEB0D286959E}"/>
                </a:ext>
              </a:extLst>
            </p:cNvPr>
            <p:cNvSpPr/>
            <p:nvPr/>
          </p:nvSpPr>
          <p:spPr>
            <a:xfrm>
              <a:off x="7903261"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7" name="Oval 1176">
              <a:extLst>
                <a:ext uri="{FF2B5EF4-FFF2-40B4-BE49-F238E27FC236}">
                  <a16:creationId xmlns:a16="http://schemas.microsoft.com/office/drawing/2014/main" id="{3FB88D89-EF9F-DE2F-9D4A-6B915939556F}"/>
                </a:ext>
              </a:extLst>
            </p:cNvPr>
            <p:cNvSpPr/>
            <p:nvPr/>
          </p:nvSpPr>
          <p:spPr>
            <a:xfrm>
              <a:off x="7968246"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Oval 1177">
              <a:extLst>
                <a:ext uri="{FF2B5EF4-FFF2-40B4-BE49-F238E27FC236}">
                  <a16:creationId xmlns:a16="http://schemas.microsoft.com/office/drawing/2014/main" id="{77C0402C-C784-4BA3-279A-A88C38F9C6AD}"/>
                </a:ext>
              </a:extLst>
            </p:cNvPr>
            <p:cNvSpPr/>
            <p:nvPr/>
          </p:nvSpPr>
          <p:spPr>
            <a:xfrm>
              <a:off x="8033231"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Oval 1178">
              <a:extLst>
                <a:ext uri="{FF2B5EF4-FFF2-40B4-BE49-F238E27FC236}">
                  <a16:creationId xmlns:a16="http://schemas.microsoft.com/office/drawing/2014/main" id="{3BB6865B-0D58-2DD5-9CFC-58AC0E756C36}"/>
                </a:ext>
              </a:extLst>
            </p:cNvPr>
            <p:cNvSpPr/>
            <p:nvPr/>
          </p:nvSpPr>
          <p:spPr>
            <a:xfrm>
              <a:off x="8098216"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Oval 1179">
              <a:extLst>
                <a:ext uri="{FF2B5EF4-FFF2-40B4-BE49-F238E27FC236}">
                  <a16:creationId xmlns:a16="http://schemas.microsoft.com/office/drawing/2014/main" id="{73392D61-EE97-7B1F-7567-7F6C606C7A34}"/>
                </a:ext>
              </a:extLst>
            </p:cNvPr>
            <p:cNvSpPr/>
            <p:nvPr/>
          </p:nvSpPr>
          <p:spPr>
            <a:xfrm>
              <a:off x="8163201" y="6064709"/>
              <a:ext cx="45720" cy="45720"/>
            </a:xfrm>
            <a:prstGeom prst="ellipse">
              <a:avLst/>
            </a:prstGeom>
            <a:solidFill>
              <a:srgbClr val="00BFC4"/>
            </a:solidFill>
            <a:ln>
              <a:solidFill>
                <a:srgbClr val="00BF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Oval 1180">
              <a:extLst>
                <a:ext uri="{FF2B5EF4-FFF2-40B4-BE49-F238E27FC236}">
                  <a16:creationId xmlns:a16="http://schemas.microsoft.com/office/drawing/2014/main" id="{678D8567-6A6A-47FC-115F-247FF60550F8}"/>
                </a:ext>
              </a:extLst>
            </p:cNvPr>
            <p:cNvSpPr/>
            <p:nvPr/>
          </p:nvSpPr>
          <p:spPr>
            <a:xfrm>
              <a:off x="8228186"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Oval 1181">
              <a:extLst>
                <a:ext uri="{FF2B5EF4-FFF2-40B4-BE49-F238E27FC236}">
                  <a16:creationId xmlns:a16="http://schemas.microsoft.com/office/drawing/2014/main" id="{7E9F0518-5C34-30AF-864E-7011D5758DF5}"/>
                </a:ext>
              </a:extLst>
            </p:cNvPr>
            <p:cNvSpPr/>
            <p:nvPr/>
          </p:nvSpPr>
          <p:spPr>
            <a:xfrm>
              <a:off x="8293171"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3" name="Oval 1182">
              <a:extLst>
                <a:ext uri="{FF2B5EF4-FFF2-40B4-BE49-F238E27FC236}">
                  <a16:creationId xmlns:a16="http://schemas.microsoft.com/office/drawing/2014/main" id="{F13803B9-692A-1E91-C77E-7CC60DB55565}"/>
                </a:ext>
              </a:extLst>
            </p:cNvPr>
            <p:cNvSpPr/>
            <p:nvPr/>
          </p:nvSpPr>
          <p:spPr>
            <a:xfrm>
              <a:off x="8358156"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Oval 1183">
              <a:extLst>
                <a:ext uri="{FF2B5EF4-FFF2-40B4-BE49-F238E27FC236}">
                  <a16:creationId xmlns:a16="http://schemas.microsoft.com/office/drawing/2014/main" id="{2B930C0E-88C6-B574-BB16-CF771B9D9DDB}"/>
                </a:ext>
              </a:extLst>
            </p:cNvPr>
            <p:cNvSpPr/>
            <p:nvPr/>
          </p:nvSpPr>
          <p:spPr>
            <a:xfrm>
              <a:off x="8423141"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Oval 1184">
              <a:extLst>
                <a:ext uri="{FF2B5EF4-FFF2-40B4-BE49-F238E27FC236}">
                  <a16:creationId xmlns:a16="http://schemas.microsoft.com/office/drawing/2014/main" id="{46B01995-34F3-C076-9412-CA5FE8D2B34F}"/>
                </a:ext>
              </a:extLst>
            </p:cNvPr>
            <p:cNvSpPr/>
            <p:nvPr/>
          </p:nvSpPr>
          <p:spPr>
            <a:xfrm>
              <a:off x="8488123" y="6064709"/>
              <a:ext cx="45720" cy="45720"/>
            </a:xfrm>
            <a:prstGeom prst="ellipse">
              <a:avLst/>
            </a:prstGeom>
            <a:solidFill>
              <a:srgbClr val="F8766C"/>
            </a:solidFill>
            <a:ln>
              <a:solidFill>
                <a:srgbClr val="F876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6" name="TextBox 1185">
              <a:extLst>
                <a:ext uri="{FF2B5EF4-FFF2-40B4-BE49-F238E27FC236}">
                  <a16:creationId xmlns:a16="http://schemas.microsoft.com/office/drawing/2014/main" id="{B501D421-381B-A24A-683F-AF4F7DD2580C}"/>
                </a:ext>
              </a:extLst>
            </p:cNvPr>
            <p:cNvSpPr txBox="1"/>
            <p:nvPr/>
          </p:nvSpPr>
          <p:spPr>
            <a:xfrm>
              <a:off x="7903261" y="5818488"/>
              <a:ext cx="630582" cy="230832"/>
            </a:xfrm>
            <a:prstGeom prst="rect">
              <a:avLst/>
            </a:prstGeom>
            <a:noFill/>
          </p:spPr>
          <p:txBody>
            <a:bodyPr wrap="square" rtlCol="0">
              <a:spAutoFit/>
            </a:bodyPr>
            <a:lstStyle/>
            <a:p>
              <a:pPr algn="ctr"/>
              <a:r>
                <a:rPr lang="en-US" sz="900" i="1" dirty="0"/>
                <a:t>p</a:t>
              </a:r>
              <a:r>
                <a:rPr lang="en-US" sz="900" dirty="0"/>
                <a:t>=1</a:t>
              </a:r>
            </a:p>
          </p:txBody>
        </p:sp>
      </p:grpSp>
      <mc:AlternateContent xmlns:mc="http://schemas.openxmlformats.org/markup-compatibility/2006" xmlns:a14="http://schemas.microsoft.com/office/drawing/2010/main">
        <mc:Choice Requires="a14">
          <p:sp>
            <p:nvSpPr>
              <p:cNvPr id="1199" name="TextBox 1198">
                <a:extLst>
                  <a:ext uri="{FF2B5EF4-FFF2-40B4-BE49-F238E27FC236}">
                    <a16:creationId xmlns:a16="http://schemas.microsoft.com/office/drawing/2014/main" id="{0E958BF6-EC21-E173-4BEA-6169C256DED3}"/>
                  </a:ext>
                </a:extLst>
              </p:cNvPr>
              <p:cNvSpPr txBox="1"/>
              <p:nvPr/>
            </p:nvSpPr>
            <p:spPr>
              <a:xfrm>
                <a:off x="5561758" y="5865113"/>
                <a:ext cx="3031954" cy="2862322"/>
              </a:xfrm>
              <a:prstGeom prst="rect">
                <a:avLst/>
              </a:prstGeom>
              <a:noFill/>
            </p:spPr>
            <p:txBody>
              <a:bodyPr wrap="square" rtlCol="0">
                <a:spAutoFit/>
              </a:bodyPr>
              <a:lstStyle/>
              <a:p>
                <a:pPr algn="just"/>
                <a:r>
                  <a:rPr lang="en-US" sz="1200" dirty="0"/>
                  <a:t>All 30 samples generated under the null hypothesis (a point being red/blue with equal probability of 0.5). </a:t>
                </a:r>
              </a:p>
              <a:p>
                <a:pPr algn="just"/>
                <a:r>
                  <a:rPr lang="en-US" sz="1200" dirty="0"/>
                  <a:t>Testing at </a:t>
                </a:r>
                <a14:m>
                  <m:oMath xmlns:m="http://schemas.openxmlformats.org/officeDocument/2006/math">
                    <m:r>
                      <a:rPr lang="en-US" sz="1200" i="1" smtClean="0">
                        <a:latin typeface="Cambria Math" panose="02040503050406030204" pitchFamily="18" charset="0"/>
                        <a:ea typeface="Cambria Math" panose="02040503050406030204" pitchFamily="18" charset="0"/>
                      </a:rPr>
                      <m:t>𝛼</m:t>
                    </m:r>
                    <m:r>
                      <a:rPr lang="en-US" sz="1200" b="0" i="1" smtClean="0">
                        <a:latin typeface="Cambria Math" panose="02040503050406030204" pitchFamily="18" charset="0"/>
                        <a:ea typeface="Cambria Math" panose="02040503050406030204" pitchFamily="18" charset="0"/>
                      </a:rPr>
                      <m:t>=0.05</m:t>
                    </m:r>
                  </m:oMath>
                </a14:m>
                <a:r>
                  <a:rPr lang="el-GR" sz="1200" dirty="0"/>
                  <a:t>, </a:t>
                </a:r>
                <a:r>
                  <a:rPr lang="en-US" sz="1200" dirty="0"/>
                  <a:t>we should expect 5% false positives (≈1-2 significant results by chance), as the purple box shows.</a:t>
                </a:r>
              </a:p>
              <a:p>
                <a:pPr algn="just"/>
                <a:endParaRPr lang="en-US" sz="1200" dirty="0"/>
              </a:p>
              <a:p>
                <a:pPr algn="just"/>
                <a:r>
                  <a:rPr lang="en-US" sz="1200" dirty="0"/>
                  <a:t>This illustrates </a:t>
                </a:r>
                <a:r>
                  <a:rPr lang="en-US" sz="1200" b="1" dirty="0"/>
                  <a:t>the multiple testing problem</a:t>
                </a:r>
                <a:r>
                  <a:rPr lang="en-US" sz="1200" dirty="0"/>
                  <a:t>.</a:t>
                </a:r>
              </a:p>
              <a:p>
                <a:pPr algn="just"/>
                <a:endParaRPr lang="en-US" sz="1200" dirty="0"/>
              </a:p>
              <a:p>
                <a:pPr algn="just"/>
                <a:r>
                  <a:rPr lang="en-US" sz="1200" b="1" dirty="0"/>
                  <a:t>Solution</a:t>
                </a:r>
                <a:r>
                  <a:rPr lang="en-US" sz="1200" dirty="0"/>
                  <a:t>: Apply correction methods to control error rates:</a:t>
                </a:r>
              </a:p>
              <a:p>
                <a:pPr marL="171450" indent="-171450" algn="just">
                  <a:buFont typeface="Arial" panose="020B0604020202020204" pitchFamily="34" charset="0"/>
                  <a:buChar char="•"/>
                </a:pPr>
                <a:r>
                  <a:rPr lang="en-US" sz="1200" dirty="0"/>
                  <a:t>Family-wise error rate (FWER): e.g., Bonferroni correction (more stringent)</a:t>
                </a:r>
              </a:p>
              <a:p>
                <a:pPr marL="171450" indent="-171450" algn="just">
                  <a:buFont typeface="Arial" panose="020B0604020202020204" pitchFamily="34" charset="0"/>
                  <a:buChar char="•"/>
                </a:pPr>
                <a:r>
                  <a:rPr lang="en-US" sz="1200" dirty="0"/>
                  <a:t>False discovery rate (FDR): Benjamini-Hochberg procedure (more powerful)</a:t>
                </a:r>
              </a:p>
            </p:txBody>
          </p:sp>
        </mc:Choice>
        <mc:Fallback xmlns="">
          <p:sp>
            <p:nvSpPr>
              <p:cNvPr id="1199" name="TextBox 1198">
                <a:extLst>
                  <a:ext uri="{FF2B5EF4-FFF2-40B4-BE49-F238E27FC236}">
                    <a16:creationId xmlns:a16="http://schemas.microsoft.com/office/drawing/2014/main" id="{0E958BF6-EC21-E173-4BEA-6169C256DED3}"/>
                  </a:ext>
                </a:extLst>
              </p:cNvPr>
              <p:cNvSpPr txBox="1">
                <a:spLocks noRot="1" noChangeAspect="1" noMove="1" noResize="1" noEditPoints="1" noAdjustHandles="1" noChangeArrowheads="1" noChangeShapeType="1" noTextEdit="1"/>
              </p:cNvSpPr>
              <p:nvPr/>
            </p:nvSpPr>
            <p:spPr>
              <a:xfrm>
                <a:off x="5561758" y="5865113"/>
                <a:ext cx="3031954" cy="2862322"/>
              </a:xfrm>
              <a:prstGeom prst="rect">
                <a:avLst/>
              </a:prstGeom>
              <a:blipFill>
                <a:blip r:embed="rId8"/>
                <a:stretch>
                  <a:fillRect b="-441"/>
                </a:stretch>
              </a:blipFill>
            </p:spPr>
            <p:txBody>
              <a:bodyPr/>
              <a:lstStyle/>
              <a:p>
                <a:r>
                  <a:rPr lang="en-US">
                    <a:noFill/>
                  </a:rPr>
                  <a:t> </a:t>
                </a:r>
              </a:p>
            </p:txBody>
          </p:sp>
        </mc:Fallback>
      </mc:AlternateContent>
      <p:pic>
        <p:nvPicPr>
          <p:cNvPr id="1201" name="Picture 1200">
            <a:extLst>
              <a:ext uri="{FF2B5EF4-FFF2-40B4-BE49-F238E27FC236}">
                <a16:creationId xmlns:a16="http://schemas.microsoft.com/office/drawing/2014/main" id="{04339FFD-0CB8-0C81-E1F6-47E9FA285693}"/>
              </a:ext>
            </a:extLst>
          </p:cNvPr>
          <p:cNvPicPr>
            <a:picLocks noChangeAspect="1"/>
          </p:cNvPicPr>
          <p:nvPr/>
        </p:nvPicPr>
        <p:blipFill>
          <a:blip r:embed="rId9"/>
          <a:srcRect/>
          <a:stretch/>
        </p:blipFill>
        <p:spPr>
          <a:xfrm>
            <a:off x="621968" y="5984915"/>
            <a:ext cx="4716513" cy="2620285"/>
          </a:xfrm>
          <a:prstGeom prst="rect">
            <a:avLst/>
          </a:prstGeom>
        </p:spPr>
      </p:pic>
      <p:pic>
        <p:nvPicPr>
          <p:cNvPr id="1203" name="Picture 1202">
            <a:extLst>
              <a:ext uri="{FF2B5EF4-FFF2-40B4-BE49-F238E27FC236}">
                <a16:creationId xmlns:a16="http://schemas.microsoft.com/office/drawing/2014/main" id="{B2E05CAE-A099-67C1-7E2B-1FFCCA44A5A6}"/>
              </a:ext>
            </a:extLst>
          </p:cNvPr>
          <p:cNvPicPr>
            <a:picLocks noChangeAspect="1"/>
          </p:cNvPicPr>
          <p:nvPr/>
        </p:nvPicPr>
        <p:blipFill>
          <a:blip r:embed="rId10"/>
          <a:srcRect/>
          <a:stretch/>
        </p:blipFill>
        <p:spPr>
          <a:xfrm>
            <a:off x="4689457" y="3002294"/>
            <a:ext cx="4068516" cy="2034258"/>
          </a:xfrm>
          <a:prstGeom prst="rect">
            <a:avLst/>
          </a:prstGeom>
        </p:spPr>
      </p:pic>
    </p:spTree>
    <p:extLst>
      <p:ext uri="{BB962C8B-B14F-4D97-AF65-F5344CB8AC3E}">
        <p14:creationId xmlns:p14="http://schemas.microsoft.com/office/powerpoint/2010/main" val="1606814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C81F6-F1E1-6A3B-D620-C5108B202A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F6A4C8-D221-7EE0-FB96-E5A6B5AAA1EB}"/>
              </a:ext>
            </a:extLst>
          </p:cNvPr>
          <p:cNvSpPr txBox="1"/>
          <p:nvPr/>
        </p:nvSpPr>
        <p:spPr>
          <a:xfrm>
            <a:off x="2334006" y="139038"/>
            <a:ext cx="4475988" cy="400110"/>
          </a:xfrm>
          <a:prstGeom prst="rect">
            <a:avLst/>
          </a:prstGeom>
          <a:noFill/>
        </p:spPr>
        <p:txBody>
          <a:bodyPr wrap="square" rtlCol="0" anchor="ctr">
            <a:spAutoFit/>
          </a:bodyPr>
          <a:lstStyle/>
          <a:p>
            <a:pPr algn="ctr"/>
            <a:r>
              <a:rPr lang="en-US" sz="2000" b="1" dirty="0"/>
              <a:t>Bayesian Normal Mean Model</a:t>
            </a:r>
          </a:p>
        </p:txBody>
      </p:sp>
      <p:sp>
        <p:nvSpPr>
          <p:cNvPr id="4" name="Rounded Rectangle 3">
            <a:extLst>
              <a:ext uri="{FF2B5EF4-FFF2-40B4-BE49-F238E27FC236}">
                <a16:creationId xmlns:a16="http://schemas.microsoft.com/office/drawing/2014/main" id="{2ECAD962-65D5-6B92-6ED6-2F2DD05AA36F}"/>
              </a:ext>
            </a:extLst>
          </p:cNvPr>
          <p:cNvSpPr/>
          <p:nvPr/>
        </p:nvSpPr>
        <p:spPr>
          <a:xfrm>
            <a:off x="420172" y="835300"/>
            <a:ext cx="8305799" cy="141048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 name="Rounded Rectangle 6">
            <a:extLst>
              <a:ext uri="{FF2B5EF4-FFF2-40B4-BE49-F238E27FC236}">
                <a16:creationId xmlns:a16="http://schemas.microsoft.com/office/drawing/2014/main" id="{46631B45-8A2B-93A0-5B08-6204C1527500}"/>
              </a:ext>
            </a:extLst>
          </p:cNvPr>
          <p:cNvSpPr/>
          <p:nvPr/>
        </p:nvSpPr>
        <p:spPr>
          <a:xfrm>
            <a:off x="419101" y="4676187"/>
            <a:ext cx="8305798" cy="409742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8" name="TextBox 7">
            <a:extLst>
              <a:ext uri="{FF2B5EF4-FFF2-40B4-BE49-F238E27FC236}">
                <a16:creationId xmlns:a16="http://schemas.microsoft.com/office/drawing/2014/main" id="{DEED8C53-EDF2-BD35-CA57-B427829C2648}"/>
              </a:ext>
            </a:extLst>
          </p:cNvPr>
          <p:cNvSpPr txBox="1"/>
          <p:nvPr/>
        </p:nvSpPr>
        <p:spPr>
          <a:xfrm>
            <a:off x="1785409" y="4727482"/>
            <a:ext cx="5350845" cy="338554"/>
          </a:xfrm>
          <a:prstGeom prst="rect">
            <a:avLst/>
          </a:prstGeom>
          <a:noFill/>
        </p:spPr>
        <p:txBody>
          <a:bodyPr wrap="square" rtlCol="0" anchor="ctr">
            <a:spAutoFit/>
          </a:bodyPr>
          <a:lstStyle/>
          <a:p>
            <a:pPr algn="ctr"/>
            <a:r>
              <a:rPr lang="en-US" sz="1600" b="1" dirty="0"/>
              <a:t>Prior, Likelihood and Posterior</a:t>
            </a:r>
            <a:endParaRPr lang="en-US" sz="1600" dirty="0"/>
          </a:p>
        </p:txBody>
      </p:sp>
      <p:sp>
        <p:nvSpPr>
          <p:cNvPr id="10" name="Rounded Rectangle 9">
            <a:extLst>
              <a:ext uri="{FF2B5EF4-FFF2-40B4-BE49-F238E27FC236}">
                <a16:creationId xmlns:a16="http://schemas.microsoft.com/office/drawing/2014/main" id="{B6666E24-8002-9CB8-2FEC-9C80CDB88D66}"/>
              </a:ext>
            </a:extLst>
          </p:cNvPr>
          <p:cNvSpPr/>
          <p:nvPr/>
        </p:nvSpPr>
        <p:spPr>
          <a:xfrm>
            <a:off x="419101" y="2395068"/>
            <a:ext cx="8305798" cy="210293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78DE42D0-6B14-1ED8-BD33-3D0B16C044D4}"/>
              </a:ext>
            </a:extLst>
          </p:cNvPr>
          <p:cNvSpPr txBox="1"/>
          <p:nvPr/>
        </p:nvSpPr>
        <p:spPr>
          <a:xfrm>
            <a:off x="2291382" y="2447350"/>
            <a:ext cx="4475988" cy="338554"/>
          </a:xfrm>
          <a:prstGeom prst="rect">
            <a:avLst/>
          </a:prstGeom>
          <a:noFill/>
        </p:spPr>
        <p:txBody>
          <a:bodyPr wrap="square" rtlCol="0" anchor="ctr">
            <a:spAutoFit/>
          </a:bodyPr>
          <a:lstStyle/>
          <a:p>
            <a:pPr algn="ctr"/>
            <a:r>
              <a:rPr lang="en-US" sz="1600" b="1" dirty="0"/>
              <a:t>Model Setting</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15A63B48-BAF2-153F-A26E-F2A08AD3A897}"/>
                  </a:ext>
                </a:extLst>
              </p:cNvPr>
              <p:cNvSpPr txBox="1"/>
              <p:nvPr/>
            </p:nvSpPr>
            <p:spPr>
              <a:xfrm>
                <a:off x="949021" y="2764301"/>
                <a:ext cx="7085707" cy="10620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ea typeface="Cambria Math" panose="02040503050406030204" pitchFamily="18" charset="0"/>
                        </a:rPr>
                        <m:t>𝒀</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𝑿</m:t>
                      </m:r>
                      <m:r>
                        <a:rPr lang="en-US" b="1"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b="0" i="1"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r>
                      <a:rPr lang="en-US" sz="1200" b="1" i="1" smtClean="0">
                        <a:latin typeface="Cambria Math" panose="02040503050406030204" pitchFamily="18" charset="0"/>
                        <a:ea typeface="Cambria Math" panose="02040503050406030204" pitchFamily="18" charset="0"/>
                      </a:rPr>
                      <m:t>𝒀</m:t>
                    </m:r>
                  </m:oMath>
                </a14:m>
                <a:r>
                  <a:rPr lang="en-US" sz="1200" dirty="0"/>
                  <a:t>: phenotype vector (i.e., height)</a:t>
                </a:r>
              </a:p>
              <a:p>
                <a:pPr marL="171450" indent="-171450">
                  <a:buFont typeface="Arial" panose="020B0604020202020204" pitchFamily="34" charset="0"/>
                  <a:buChar char="•"/>
                </a:pPr>
                <a14:m>
                  <m:oMath xmlns:m="http://schemas.openxmlformats.org/officeDocument/2006/math">
                    <m:r>
                      <a:rPr lang="en-US" sz="1200" b="1" i="1" smtClean="0">
                        <a:latin typeface="Cambria Math" panose="02040503050406030204" pitchFamily="18" charset="0"/>
                      </a:rPr>
                      <m:t>𝑿</m:t>
                    </m:r>
                  </m:oMath>
                </a14:m>
                <a:r>
                  <a:rPr lang="en-US" sz="1200" dirty="0"/>
                  <a:t>: genotype vector (considered as just a coefficient of </a:t>
                </a:r>
                <a14:m>
                  <m:oMath xmlns:m="http://schemas.openxmlformats.org/officeDocument/2006/math">
                    <m:r>
                      <a:rPr lang="en-US" sz="1200" b="1" i="1">
                        <a:latin typeface="Cambria Math" panose="02040503050406030204" pitchFamily="18" charset="0"/>
                        <a:ea typeface="Cambria Math" panose="02040503050406030204" pitchFamily="18" charset="0"/>
                      </a:rPr>
                      <m:t>𝛽</m:t>
                    </m:r>
                  </m:oMath>
                </a14:m>
                <a:r>
                  <a:rPr lang="en-US" sz="1200" dirty="0"/>
                  <a:t> because for each individual it is fixed)</a:t>
                </a:r>
                <a:endParaRPr lang="en-US" sz="1200" b="0" i="1"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r>
                      <a:rPr lang="en-US" sz="1200" i="1" smtClean="0">
                        <a:latin typeface="Cambria Math" panose="02040503050406030204" pitchFamily="18" charset="0"/>
                        <a:ea typeface="Cambria Math" panose="02040503050406030204" pitchFamily="18" charset="0"/>
                      </a:rPr>
                      <m:t>𝛽</m:t>
                    </m:r>
                  </m:oMath>
                </a14:m>
                <a:r>
                  <a:rPr lang="en-US" sz="1200" dirty="0"/>
                  <a:t>: genetic effect size (unknown, to be estimated) and the prior distribution is </a:t>
                </a:r>
                <a14:m>
                  <m:oMath xmlns:m="http://schemas.openxmlformats.org/officeDocument/2006/math">
                    <m:r>
                      <a:rPr lang="en-US" sz="1200" i="1">
                        <a:latin typeface="Cambria Math" panose="02040503050406030204" pitchFamily="18" charset="0"/>
                        <a:ea typeface="Cambria Math" panose="02040503050406030204" pitchFamily="18" charset="0"/>
                      </a:rPr>
                      <m:t>𝛽</m:t>
                    </m:r>
                    <m:r>
                      <a:rPr lang="en-US" sz="1200" b="0" i="1" smtClean="0">
                        <a:latin typeface="Cambria Math" panose="02040503050406030204" pitchFamily="18" charset="0"/>
                        <a:ea typeface="Cambria Math" panose="02040503050406030204" pitchFamily="18" charset="0"/>
                      </a:rPr>
                      <m:t> ~ </m:t>
                    </m:r>
                    <m:r>
                      <a:rPr lang="en-US" sz="1200" b="0" i="1" smtClean="0">
                        <a:latin typeface="Cambria Math" panose="02040503050406030204" pitchFamily="18" charset="0"/>
                        <a:ea typeface="Cambria Math" panose="02040503050406030204" pitchFamily="18" charset="0"/>
                      </a:rPr>
                      <m:t>𝒩</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b="0" i="1" smtClean="0">
                                <a:latin typeface="Cambria Math" panose="02040503050406030204" pitchFamily="18" charset="0"/>
                                <a:ea typeface="Cambria Math" panose="02040503050406030204" pitchFamily="18" charset="0"/>
                              </a:rPr>
                              <m:t>0</m:t>
                            </m:r>
                          </m:sub>
                        </m:sSub>
                        <m:r>
                          <a:rPr lang="en-US" sz="1200" b="0" i="1" smtClean="0">
                            <a:latin typeface="Cambria Math" panose="02040503050406030204" pitchFamily="18" charset="0"/>
                            <a:ea typeface="Cambria Math" panose="02040503050406030204" pitchFamily="18" charset="0"/>
                          </a:rPr>
                          <m:t>,</m:t>
                        </m:r>
                        <m:sSubSup>
                          <m:sSubSupPr>
                            <m:ctrlPr>
                              <a:rPr lang="en-US" sz="1200" b="0" i="1" smtClean="0">
                                <a:latin typeface="Cambria Math" panose="02040503050406030204" pitchFamily="18" charset="0"/>
                                <a:ea typeface="Cambria Math" panose="02040503050406030204" pitchFamily="18" charset="0"/>
                              </a:rPr>
                            </m:ctrlPr>
                          </m:sSubSupPr>
                          <m:e>
                            <m:r>
                              <a:rPr lang="en-US" sz="1200" b="0" i="1" smtClean="0">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0</m:t>
                            </m:r>
                          </m:sub>
                          <m:sup>
                            <m:r>
                              <a:rPr lang="en-US" sz="1200" b="0" i="1" smtClean="0">
                                <a:latin typeface="Cambria Math" panose="02040503050406030204" pitchFamily="18" charset="0"/>
                                <a:ea typeface="Cambria Math" panose="02040503050406030204" pitchFamily="18" charset="0"/>
                              </a:rPr>
                              <m:t>2</m:t>
                            </m:r>
                          </m:sup>
                        </m:sSubSup>
                      </m:e>
                    </m:d>
                  </m:oMath>
                </a14:m>
                <a:r>
                  <a:rPr lang="en-US" sz="1200" dirty="0"/>
                  <a:t> and </a:t>
                </a: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𝜏</m:t>
                        </m:r>
                      </m:e>
                      <m:sub>
                        <m:r>
                          <a:rPr lang="en-US" sz="1200" i="1">
                            <a:latin typeface="Cambria Math" panose="02040503050406030204" pitchFamily="18" charset="0"/>
                            <a:ea typeface="Cambria Math" panose="02040503050406030204" pitchFamily="18" charset="0"/>
                          </a:rPr>
                          <m:t>0</m:t>
                        </m:r>
                      </m:sub>
                    </m:sSub>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1</m:t>
                        </m:r>
                      </m:num>
                      <m:den>
                        <m:sSubSup>
                          <m:sSubSupPr>
                            <m:ctrlPr>
                              <a:rPr lang="en-US" sz="1200" b="0" i="1" smtClean="0">
                                <a:latin typeface="Cambria Math" panose="02040503050406030204" pitchFamily="18" charset="0"/>
                                <a:ea typeface="Cambria Math" panose="02040503050406030204" pitchFamily="18" charset="0"/>
                              </a:rPr>
                            </m:ctrlPr>
                          </m:sSubSupPr>
                          <m:e>
                            <m:r>
                              <a:rPr lang="en-US" sz="1200" b="0" i="1" smtClean="0">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0</m:t>
                            </m:r>
                          </m:sub>
                          <m:sup>
                            <m:r>
                              <a:rPr lang="en-US" sz="1200" b="0" i="1" smtClean="0">
                                <a:latin typeface="Cambria Math" panose="02040503050406030204" pitchFamily="18" charset="0"/>
                                <a:ea typeface="Cambria Math" panose="02040503050406030204" pitchFamily="18" charset="0"/>
                              </a:rPr>
                              <m:t>2</m:t>
                            </m:r>
                          </m:sup>
                        </m:sSubSup>
                      </m:den>
                    </m:f>
                  </m:oMath>
                </a14:m>
                <a:endParaRPr lang="en-US" sz="1200" dirty="0"/>
              </a:p>
            </p:txBody>
          </p:sp>
        </mc:Choice>
        <mc:Fallback>
          <p:sp>
            <p:nvSpPr>
              <p:cNvPr id="12" name="TextBox 11">
                <a:extLst>
                  <a:ext uri="{FF2B5EF4-FFF2-40B4-BE49-F238E27FC236}">
                    <a16:creationId xmlns:a16="http://schemas.microsoft.com/office/drawing/2014/main" id="{15A63B48-BAF2-153F-A26E-F2A08AD3A897}"/>
                  </a:ext>
                </a:extLst>
              </p:cNvPr>
              <p:cNvSpPr txBox="1">
                <a:spLocks noRot="1" noChangeAspect="1" noMove="1" noResize="1" noEditPoints="1" noAdjustHandles="1" noChangeArrowheads="1" noChangeShapeType="1" noTextEdit="1"/>
              </p:cNvSpPr>
              <p:nvPr/>
            </p:nvSpPr>
            <p:spPr>
              <a:xfrm>
                <a:off x="949021" y="2764301"/>
                <a:ext cx="7085707" cy="1062022"/>
              </a:xfrm>
              <a:prstGeom prst="rect">
                <a:avLst/>
              </a:prstGeom>
              <a:blipFill>
                <a:blip r:embed="rId2"/>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3196FC8-222F-D377-1624-F3F4040E9B79}"/>
              </a:ext>
            </a:extLst>
          </p:cNvPr>
          <p:cNvSpPr txBox="1"/>
          <p:nvPr/>
        </p:nvSpPr>
        <p:spPr>
          <a:xfrm>
            <a:off x="568106" y="1008545"/>
            <a:ext cx="7986532" cy="1077218"/>
          </a:xfrm>
          <a:prstGeom prst="rect">
            <a:avLst/>
          </a:prstGeom>
          <a:noFill/>
        </p:spPr>
        <p:txBody>
          <a:bodyPr wrap="square">
            <a:spAutoFit/>
          </a:bodyPr>
          <a:lstStyle/>
          <a:p>
            <a:pPr algn="just"/>
            <a:r>
              <a:rPr lang="en-US" sz="1600" dirty="0"/>
              <a:t>The Bayesian normal mean model treats the unknown mean parameter as a normally distributed random variable reflecting our uncertainty, then updates this normal distribution by conditioning on observed data to yield a posterior normal distribution with reduced uncertainty.</a:t>
            </a:r>
            <a:endParaRPr lang="en-US" sz="1100" dirty="0"/>
          </a:p>
        </p:txBody>
      </p:sp>
      <p:sp>
        <p:nvSpPr>
          <p:cNvPr id="9" name="TextBox 8">
            <a:extLst>
              <a:ext uri="{FF2B5EF4-FFF2-40B4-BE49-F238E27FC236}">
                <a16:creationId xmlns:a16="http://schemas.microsoft.com/office/drawing/2014/main" id="{1DFC23B5-74EB-5791-95C8-C0E917997B6B}"/>
              </a:ext>
            </a:extLst>
          </p:cNvPr>
          <p:cNvSpPr txBox="1"/>
          <p:nvPr/>
        </p:nvSpPr>
        <p:spPr>
          <a:xfrm>
            <a:off x="1898784" y="497220"/>
            <a:ext cx="5173339" cy="461665"/>
          </a:xfrm>
          <a:prstGeom prst="rect">
            <a:avLst/>
          </a:prstGeom>
          <a:noFill/>
        </p:spPr>
        <p:txBody>
          <a:bodyPr wrap="none" rtlCol="0">
            <a:spAutoFit/>
          </a:bodyPr>
          <a:lstStyle/>
          <a:p>
            <a:r>
              <a:rPr lang="en-US" sz="1200" b="1" dirty="0"/>
              <a:t>Posterior = our prior belief</a:t>
            </a:r>
            <a:r>
              <a:rPr lang="en-US" sz="1200" dirty="0"/>
              <a:t> about a normal distribution's mean + </a:t>
            </a:r>
            <a:r>
              <a:rPr lang="en-US" sz="1200" b="1" dirty="0"/>
              <a:t>observed data</a:t>
            </a:r>
            <a:endParaRPr lang="en-US" sz="1200" dirty="0"/>
          </a:p>
          <a:p>
            <a:endParaRPr lang="en-US" sz="1200" dirty="0"/>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3D74ED0-4D17-4994-D6A3-67DDA9428B03}"/>
                  </a:ext>
                </a:extLst>
              </p:cNvPr>
              <p:cNvSpPr txBox="1"/>
              <p:nvPr/>
            </p:nvSpPr>
            <p:spPr>
              <a:xfrm>
                <a:off x="1018519" y="3828185"/>
                <a:ext cx="7805992" cy="447174"/>
              </a:xfrm>
              <a:prstGeom prst="rect">
                <a:avLst/>
              </a:prstGeom>
              <a:noFill/>
            </p:spPr>
            <p:txBody>
              <a:bodyPr wrap="square">
                <a:spAutoFit/>
              </a:bodyPr>
              <a:lstStyle/>
              <a:p>
                <a:r>
                  <a:rPr lang="en-US" sz="1400" i="1" dirty="0">
                    <a:ea typeface="Cambria Math" panose="02040503050406030204" pitchFamily="18" charset="0"/>
                  </a:rPr>
                  <a:t>The posterior distribution is </a:t>
                </a:r>
                <a14:m>
                  <m:oMath xmlns:m="http://schemas.openxmlformats.org/officeDocument/2006/math">
                    <m:r>
                      <a:rPr lang="en-US" sz="1400" b="0" i="1">
                        <a:latin typeface="Cambria Math" panose="02040503050406030204" pitchFamily="18" charset="0"/>
                        <a:ea typeface="Cambria Math" panose="02040503050406030204" pitchFamily="18" charset="0"/>
                      </a:rPr>
                      <m:t>𝛽</m:t>
                    </m:r>
                    <m:r>
                      <a:rPr lang="en-US" sz="1400" b="0" i="1">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𝒀</m:t>
                    </m:r>
                    <m:r>
                      <a:rPr lang="en-US" sz="1400" b="1" i="1">
                        <a:latin typeface="Cambria Math" panose="02040503050406030204" pitchFamily="18" charset="0"/>
                        <a:ea typeface="Cambria Math" panose="02040503050406030204" pitchFamily="18" charset="0"/>
                      </a:rPr>
                      <m:t> </m:t>
                    </m:r>
                    <m:r>
                      <a:rPr lang="en-US" sz="1400" b="0" i="1">
                        <a:latin typeface="Cambria Math" panose="02040503050406030204" pitchFamily="18" charset="0"/>
                        <a:ea typeface="Cambria Math" panose="02040503050406030204" pitchFamily="18" charset="0"/>
                      </a:rPr>
                      <m:t>~ </m:t>
                    </m:r>
                    <m:r>
                      <a:rPr lang="en-US" sz="1400" b="0" i="1">
                        <a:latin typeface="Cambria Math" panose="02040503050406030204" pitchFamily="18" charset="0"/>
                        <a:ea typeface="Cambria Math" panose="02040503050406030204" pitchFamily="18" charset="0"/>
                      </a:rPr>
                      <m:t>𝒩</m:t>
                    </m:r>
                    <m:r>
                      <a:rPr lang="en-US" sz="1400" b="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ea typeface="Cambria Math" panose="02040503050406030204" pitchFamily="18" charset="0"/>
                          </a:rPr>
                        </m:ctrlPr>
                      </m:sSubPr>
                      <m:e>
                        <m:r>
                          <a:rPr lang="en-US" sz="1400" b="0" i="1">
                            <a:latin typeface="Cambria Math" panose="02040503050406030204" pitchFamily="18" charset="0"/>
                            <a:ea typeface="Cambria Math" panose="02040503050406030204" pitchFamily="18" charset="0"/>
                          </a:rPr>
                          <m:t>𝛽</m:t>
                        </m:r>
                      </m:e>
                      <m:sub>
                        <m:r>
                          <a:rPr lang="en-US" sz="1400" b="0" i="1" smtClean="0">
                            <a:latin typeface="Cambria Math" panose="02040503050406030204" pitchFamily="18" charset="0"/>
                            <a:ea typeface="Cambria Math" panose="02040503050406030204" pitchFamily="18" charset="0"/>
                          </a:rPr>
                          <m:t>1</m:t>
                        </m:r>
                      </m:sub>
                    </m:sSub>
                    <m:r>
                      <a:rPr lang="en-US" sz="1400" b="0" i="1">
                        <a:latin typeface="Cambria Math" panose="02040503050406030204" pitchFamily="18" charset="0"/>
                        <a:ea typeface="Cambria Math" panose="02040503050406030204" pitchFamily="18" charset="0"/>
                      </a:rPr>
                      <m:t>,</m:t>
                    </m:r>
                    <m:sSubSup>
                      <m:sSubSupPr>
                        <m:ctrlPr>
                          <a:rPr lang="en-US" sz="1400" i="1">
                            <a:latin typeface="Cambria Math" panose="02040503050406030204" pitchFamily="18" charset="0"/>
                            <a:ea typeface="Cambria Math" panose="02040503050406030204" pitchFamily="18" charset="0"/>
                          </a:rPr>
                        </m:ctrlPr>
                      </m:sSubSupPr>
                      <m:e>
                        <m:r>
                          <a:rPr lang="en-US" sz="1400" b="0" i="1">
                            <a:latin typeface="Cambria Math" panose="02040503050406030204" pitchFamily="18" charset="0"/>
                            <a:ea typeface="Cambria Math" panose="02040503050406030204" pitchFamily="18" charset="0"/>
                          </a:rPr>
                          <m:t>𝜎</m:t>
                        </m:r>
                      </m:e>
                      <m:sub>
                        <m:r>
                          <a:rPr lang="en-US" sz="1400" b="0" i="1" smtClean="0">
                            <a:latin typeface="Cambria Math" panose="02040503050406030204" pitchFamily="18" charset="0"/>
                            <a:ea typeface="Cambria Math" panose="02040503050406030204" pitchFamily="18" charset="0"/>
                          </a:rPr>
                          <m:t>1</m:t>
                        </m:r>
                      </m:sub>
                      <m:sup>
                        <m:r>
                          <a:rPr lang="en-US" sz="1400" b="0" i="1">
                            <a:latin typeface="Cambria Math" panose="02040503050406030204" pitchFamily="18" charset="0"/>
                            <a:ea typeface="Cambria Math" panose="02040503050406030204" pitchFamily="18" charset="0"/>
                          </a:rPr>
                          <m:t>2</m:t>
                        </m:r>
                      </m:sup>
                    </m:sSubSup>
                    <m:r>
                      <a:rPr lang="en-US" sz="1400" b="0" i="1">
                        <a:latin typeface="Cambria Math" panose="02040503050406030204" pitchFamily="18" charset="0"/>
                        <a:ea typeface="Cambria Math" panose="02040503050406030204" pitchFamily="18" charset="0"/>
                      </a:rPr>
                      <m:t>)</m:t>
                    </m:r>
                  </m:oMath>
                </a14:m>
                <a:r>
                  <a:rPr lang="en-US" sz="1400" b="1" dirty="0">
                    <a:ea typeface="Cambria Math" panose="02040503050406030204" pitchFamily="18" charset="0"/>
                  </a:rPr>
                  <a:t> </a:t>
                </a:r>
                <a:r>
                  <a:rPr lang="en-US" sz="1400" dirty="0">
                    <a:ea typeface="Cambria Math" panose="02040503050406030204" pitchFamily="18" charset="0"/>
                  </a:rPr>
                  <a:t>where</a:t>
                </a:r>
                <a:r>
                  <a:rPr lang="en-US" sz="1400" b="1" dirty="0">
                    <a:ea typeface="Cambria Math" panose="02040503050406030204" pitchFamily="18" charset="0"/>
                  </a:rPr>
                  <a:t> </a:t>
                </a:r>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b="0" i="1">
                            <a:latin typeface="Cambria Math" panose="02040503050406030204" pitchFamily="18" charset="0"/>
                            <a:ea typeface="Cambria Math" panose="02040503050406030204" pitchFamily="18" charset="0"/>
                          </a:rPr>
                          <m:t>𝛽</m:t>
                        </m:r>
                      </m:e>
                      <m:sub>
                        <m:r>
                          <a:rPr lang="en-US" sz="1400" b="0" i="1">
                            <a:latin typeface="Cambria Math" panose="02040503050406030204" pitchFamily="18" charset="0"/>
                            <a:ea typeface="Cambria Math" panose="02040503050406030204" pitchFamily="18" charset="0"/>
                          </a:rPr>
                          <m:t>1</m:t>
                        </m:r>
                      </m:sub>
                    </m:sSub>
                    <m:r>
                      <a:rPr lang="en-US" sz="1400" b="0" i="1" smtClean="0">
                        <a:latin typeface="Cambria Math" panose="02040503050406030204" pitchFamily="18" charset="0"/>
                        <a:ea typeface="Cambria Math" panose="02040503050406030204" pitchFamily="18" charset="0"/>
                      </a:rPr>
                      <m:t>=</m:t>
                    </m:r>
                    <m:sSubSup>
                      <m:sSubSupPr>
                        <m:ctrlPr>
                          <a:rPr lang="en-US" sz="1400" i="1">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a:rPr lang="en-US" sz="1400" i="1">
                            <a:latin typeface="Cambria Math" panose="02040503050406030204" pitchFamily="18" charset="0"/>
                            <a:ea typeface="Cambria Math" panose="02040503050406030204" pitchFamily="18" charset="0"/>
                          </a:rPr>
                          <m:t>1</m:t>
                        </m:r>
                      </m:sub>
                      <m:sup>
                        <m:r>
                          <a:rPr lang="en-US" sz="1400" i="1">
                            <a:latin typeface="Cambria Math" panose="02040503050406030204" pitchFamily="18" charset="0"/>
                            <a:ea typeface="Cambria Math" panose="02040503050406030204" pitchFamily="18" charset="0"/>
                          </a:rPr>
                          <m:t>2</m:t>
                        </m:r>
                      </m:sup>
                    </m:sSubSup>
                    <m:r>
                      <a:rPr lang="en-US" sz="1400" b="0" i="1" smtClean="0">
                        <a:latin typeface="Cambria Math" panose="02040503050406030204" pitchFamily="18" charset="0"/>
                        <a:ea typeface="Cambria Math" panose="02040503050406030204" pitchFamily="18" charset="0"/>
                      </a:rPr>
                      <m:t>(</m:t>
                    </m:r>
                    <m:f>
                      <m:fPr>
                        <m:ctrlPr>
                          <a:rPr lang="en-US" sz="1400" i="1">
                            <a:latin typeface="Cambria Math" panose="02040503050406030204" pitchFamily="18" charset="0"/>
                            <a:ea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1</m:t>
                        </m:r>
                      </m:num>
                      <m:den>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𝜎</m:t>
                            </m:r>
                          </m:e>
                          <m:sup>
                            <m:r>
                              <a:rPr lang="en-US" sz="1400" i="1">
                                <a:latin typeface="Cambria Math" panose="02040503050406030204" pitchFamily="18" charset="0"/>
                                <a:ea typeface="Cambria Math" panose="02040503050406030204" pitchFamily="18" charset="0"/>
                              </a:rPr>
                              <m:t>2</m:t>
                            </m:r>
                          </m:sup>
                        </m:sSup>
                      </m:den>
                    </m:f>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𝑋</m:t>
                        </m:r>
                      </m:e>
                      <m:sup>
                        <m:r>
                          <a:rPr lang="en-US" sz="1400" i="1">
                            <a:latin typeface="Cambria Math" panose="02040503050406030204" pitchFamily="18" charset="0"/>
                            <a:ea typeface="Cambria Math" panose="02040503050406030204" pitchFamily="18" charset="0"/>
                          </a:rPr>
                          <m:t>𝑇</m:t>
                        </m:r>
                      </m:sup>
                    </m:sSup>
                    <m:r>
                      <a:rPr lang="en-US" sz="1400" i="1">
                        <a:latin typeface="Cambria Math" panose="02040503050406030204" pitchFamily="18" charset="0"/>
                        <a:ea typeface="Cambria Math" panose="02040503050406030204" pitchFamily="18" charset="0"/>
                      </a:rPr>
                      <m:t>𝑌</m:t>
                    </m:r>
                    <m:r>
                      <a:rPr lang="en-US" sz="1400" i="1">
                        <a:latin typeface="Cambria Math" panose="02040503050406030204" pitchFamily="18" charset="0"/>
                        <a:ea typeface="Cambria Math" panose="02040503050406030204" pitchFamily="18" charset="0"/>
                      </a:rPr>
                      <m:t>+</m:t>
                    </m:r>
                    <m:f>
                      <m:fPr>
                        <m:ctrlPr>
                          <a:rPr lang="en-US" sz="1400" i="1">
                            <a:latin typeface="Cambria Math" panose="02040503050406030204" pitchFamily="18" charset="0"/>
                            <a:ea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1</m:t>
                        </m:r>
                      </m:num>
                      <m:den>
                        <m:sSubSup>
                          <m:sSubSupPr>
                            <m:ctrlPr>
                              <a:rPr lang="en-US" sz="1400" i="1">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a:rPr lang="en-US" sz="1400" i="1">
                                <a:latin typeface="Cambria Math" panose="02040503050406030204" pitchFamily="18" charset="0"/>
                                <a:ea typeface="Cambria Math" panose="02040503050406030204" pitchFamily="18" charset="0"/>
                              </a:rPr>
                              <m:t>0</m:t>
                            </m:r>
                          </m:sub>
                          <m:sup>
                            <m:r>
                              <a:rPr lang="en-US" sz="1400" i="1">
                                <a:latin typeface="Cambria Math" panose="02040503050406030204" pitchFamily="18" charset="0"/>
                                <a:ea typeface="Cambria Math" panose="02040503050406030204" pitchFamily="18" charset="0"/>
                              </a:rPr>
                              <m:t>2</m:t>
                            </m:r>
                          </m:sup>
                        </m:sSubSup>
                      </m:den>
                    </m:f>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𝛽</m:t>
                        </m:r>
                      </m:e>
                      <m:sub>
                        <m:r>
                          <a:rPr lang="en-US" sz="1400" i="1">
                            <a:latin typeface="Cambria Math" panose="02040503050406030204" pitchFamily="18" charset="0"/>
                            <a:ea typeface="Cambria Math" panose="02040503050406030204" pitchFamily="18" charset="0"/>
                          </a:rPr>
                          <m:t>0</m:t>
                        </m:r>
                      </m:sub>
                    </m:sSub>
                    <m:r>
                      <a:rPr lang="en-US" sz="1400" b="0" i="1" smtClean="0">
                        <a:latin typeface="Cambria Math" panose="02040503050406030204" pitchFamily="18" charset="0"/>
                        <a:ea typeface="Cambria Math" panose="02040503050406030204" pitchFamily="18" charset="0"/>
                      </a:rPr>
                      <m:t>)</m:t>
                    </m:r>
                  </m:oMath>
                </a14:m>
                <a:r>
                  <a:rPr lang="en-US" sz="1400" dirty="0">
                    <a:ea typeface="Cambria Math" panose="02040503050406030204" pitchFamily="18" charset="0"/>
                  </a:rPr>
                  <a:t>, </a:t>
                </a:r>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US" sz="1400" b="0" i="1">
                            <a:latin typeface="Cambria Math" panose="02040503050406030204" pitchFamily="18" charset="0"/>
                            <a:ea typeface="Cambria Math" panose="02040503050406030204" pitchFamily="18" charset="0"/>
                          </a:rPr>
                          <m:t>𝜎</m:t>
                        </m:r>
                      </m:e>
                      <m:sub>
                        <m:r>
                          <a:rPr lang="en-US" sz="1400" b="0" i="1" smtClean="0">
                            <a:latin typeface="Cambria Math" panose="02040503050406030204" pitchFamily="18" charset="0"/>
                            <a:ea typeface="Cambria Math" panose="02040503050406030204" pitchFamily="18" charset="0"/>
                          </a:rPr>
                          <m:t>1</m:t>
                        </m:r>
                      </m:sub>
                      <m:sup>
                        <m:r>
                          <a:rPr lang="en-US" sz="1400" b="0" i="1" smtClean="0">
                            <a:latin typeface="Cambria Math" panose="02040503050406030204" pitchFamily="18" charset="0"/>
                            <a:ea typeface="Cambria Math" panose="02040503050406030204" pitchFamily="18" charset="0"/>
                          </a:rPr>
                          <m:t>2</m:t>
                        </m:r>
                      </m:sup>
                    </m:sSubSup>
                    <m:r>
                      <a:rPr lang="en-US" sz="1400" b="0" i="1">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m:t>
                        </m:r>
                        <m:f>
                          <m:fPr>
                            <m:ctrlPr>
                              <a:rPr lang="en-US" sz="1400" i="1">
                                <a:latin typeface="Cambria Math" panose="02040503050406030204" pitchFamily="18" charset="0"/>
                                <a:ea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1</m:t>
                            </m:r>
                          </m:num>
                          <m:den>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𝜎</m:t>
                                </m:r>
                              </m:e>
                              <m:sup>
                                <m:r>
                                  <a:rPr lang="en-US" sz="1400" i="1">
                                    <a:latin typeface="Cambria Math" panose="02040503050406030204" pitchFamily="18" charset="0"/>
                                    <a:ea typeface="Cambria Math" panose="02040503050406030204" pitchFamily="18" charset="0"/>
                                  </a:rPr>
                                  <m:t>2</m:t>
                                </m:r>
                              </m:sup>
                            </m:sSup>
                          </m:den>
                        </m:f>
                        <m:sSup>
                          <m:sSupPr>
                            <m:ctrlPr>
                              <a:rPr lang="en-US" sz="140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𝑋</m:t>
                            </m:r>
                          </m:e>
                          <m:sup>
                            <m:r>
                              <a:rPr lang="en-US" sz="1400" b="0" i="1" smtClean="0">
                                <a:latin typeface="Cambria Math" panose="02040503050406030204" pitchFamily="18" charset="0"/>
                                <a:ea typeface="Cambria Math" panose="02040503050406030204" pitchFamily="18" charset="0"/>
                              </a:rPr>
                              <m:t>𝑇</m:t>
                            </m:r>
                          </m:sup>
                        </m:sSup>
                        <m:r>
                          <a:rPr lang="en-US" sz="1400" b="0" i="1" smtClean="0">
                            <a:latin typeface="Cambria Math" panose="02040503050406030204" pitchFamily="18" charset="0"/>
                            <a:ea typeface="Cambria Math" panose="02040503050406030204" pitchFamily="18" charset="0"/>
                          </a:rPr>
                          <m:t>𝑋</m:t>
                        </m:r>
                        <m:r>
                          <a:rPr lang="en-US" sz="1400" i="1">
                            <a:latin typeface="Cambria Math" panose="02040503050406030204" pitchFamily="18" charset="0"/>
                            <a:ea typeface="Cambria Math" panose="02040503050406030204" pitchFamily="18" charset="0"/>
                          </a:rPr>
                          <m:t>+</m:t>
                        </m:r>
                        <m:f>
                          <m:fPr>
                            <m:ctrlPr>
                              <a:rPr lang="en-US" sz="1400" i="1">
                                <a:latin typeface="Cambria Math" panose="02040503050406030204" pitchFamily="18" charset="0"/>
                                <a:ea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1</m:t>
                            </m:r>
                          </m:num>
                          <m:den>
                            <m:sSubSup>
                              <m:sSubSupPr>
                                <m:ctrlPr>
                                  <a:rPr lang="en-US" sz="1400" i="1">
                                    <a:latin typeface="Cambria Math" panose="02040503050406030204" pitchFamily="18" charset="0"/>
                                    <a:ea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a:rPr lang="en-US" sz="1400" i="1">
                                    <a:latin typeface="Cambria Math" panose="02040503050406030204" pitchFamily="18" charset="0"/>
                                    <a:ea typeface="Cambria Math" panose="02040503050406030204" pitchFamily="18" charset="0"/>
                                  </a:rPr>
                                  <m:t>0</m:t>
                                </m:r>
                              </m:sub>
                              <m:sup>
                                <m:r>
                                  <a:rPr lang="en-US" sz="1400" i="1">
                                    <a:latin typeface="Cambria Math" panose="02040503050406030204" pitchFamily="18" charset="0"/>
                                    <a:ea typeface="Cambria Math" panose="02040503050406030204" pitchFamily="18" charset="0"/>
                                  </a:rPr>
                                  <m:t>2</m:t>
                                </m:r>
                              </m:sup>
                            </m:sSubSup>
                          </m:den>
                        </m:f>
                        <m:r>
                          <a:rPr lang="en-US" sz="1400" b="0" i="1" smtClean="0">
                            <a:latin typeface="Cambria Math" panose="02040503050406030204" pitchFamily="18" charset="0"/>
                            <a:ea typeface="Cambria Math" panose="02040503050406030204" pitchFamily="18" charset="0"/>
                          </a:rPr>
                          <m:t>)</m:t>
                        </m:r>
                      </m:e>
                      <m:sup>
                        <m:r>
                          <a:rPr lang="en-US" sz="1400" b="0" i="1" smtClean="0">
                            <a:latin typeface="Cambria Math" panose="02040503050406030204" pitchFamily="18" charset="0"/>
                            <a:ea typeface="Cambria Math" panose="02040503050406030204" pitchFamily="18" charset="0"/>
                          </a:rPr>
                          <m:t>−1</m:t>
                        </m:r>
                      </m:sup>
                    </m:sSup>
                  </m:oMath>
                </a14:m>
                <a:endParaRPr lang="en-US" sz="1400" dirty="0">
                  <a:ea typeface="Cambria Math" panose="02040503050406030204" pitchFamily="18" charset="0"/>
                </a:endParaRPr>
              </a:p>
            </p:txBody>
          </p:sp>
        </mc:Choice>
        <mc:Fallback>
          <p:sp>
            <p:nvSpPr>
              <p:cNvPr id="13" name="TextBox 12">
                <a:extLst>
                  <a:ext uri="{FF2B5EF4-FFF2-40B4-BE49-F238E27FC236}">
                    <a16:creationId xmlns:a16="http://schemas.microsoft.com/office/drawing/2014/main" id="{93D74ED0-4D17-4994-D6A3-67DDA9428B03}"/>
                  </a:ext>
                </a:extLst>
              </p:cNvPr>
              <p:cNvSpPr txBox="1">
                <a:spLocks noRot="1" noChangeAspect="1" noMove="1" noResize="1" noEditPoints="1" noAdjustHandles="1" noChangeArrowheads="1" noChangeShapeType="1" noTextEdit="1"/>
              </p:cNvSpPr>
              <p:nvPr/>
            </p:nvSpPr>
            <p:spPr>
              <a:xfrm>
                <a:off x="1018519" y="3828185"/>
                <a:ext cx="7805992" cy="447174"/>
              </a:xfrm>
              <a:prstGeom prst="rect">
                <a:avLst/>
              </a:prstGeom>
              <a:blipFill>
                <a:blip r:embed="rId3"/>
                <a:stretch>
                  <a:fillRect l="-325"/>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B0C80BC6-6F45-6E40-4CE5-8A5777B9B5C0}"/>
              </a:ext>
            </a:extLst>
          </p:cNvPr>
          <p:cNvPicPr>
            <a:picLocks noChangeAspect="1"/>
          </p:cNvPicPr>
          <p:nvPr/>
        </p:nvPicPr>
        <p:blipFill>
          <a:blip r:embed="rId4"/>
          <a:srcRect/>
          <a:stretch/>
        </p:blipFill>
        <p:spPr>
          <a:xfrm>
            <a:off x="1370970" y="5115696"/>
            <a:ext cx="6273476" cy="3764086"/>
          </a:xfrm>
          <a:prstGeom prst="rect">
            <a:avLst/>
          </a:prstGeom>
        </p:spPr>
      </p:pic>
    </p:spTree>
    <p:extLst>
      <p:ext uri="{BB962C8B-B14F-4D97-AF65-F5344CB8AC3E}">
        <p14:creationId xmlns:p14="http://schemas.microsoft.com/office/powerpoint/2010/main" val="2179192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320B-12B5-69D6-7AF8-29F7578442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3B0F4C-9A46-7283-9FF5-D20572316730}"/>
              </a:ext>
            </a:extLst>
          </p:cNvPr>
          <p:cNvSpPr txBox="1"/>
          <p:nvPr/>
        </p:nvSpPr>
        <p:spPr>
          <a:xfrm>
            <a:off x="2122369" y="138690"/>
            <a:ext cx="4911210" cy="400110"/>
          </a:xfrm>
          <a:prstGeom prst="rect">
            <a:avLst/>
          </a:prstGeom>
          <a:noFill/>
        </p:spPr>
        <p:txBody>
          <a:bodyPr wrap="square" rtlCol="0" anchor="ctr">
            <a:spAutoFit/>
          </a:bodyPr>
          <a:lstStyle/>
          <a:p>
            <a:pPr algn="ctr"/>
            <a:r>
              <a:rPr lang="en-US" sz="2000" b="1" dirty="0"/>
              <a:t>Bayesian Multivariate Normal Mean Model</a:t>
            </a:r>
          </a:p>
        </p:txBody>
      </p:sp>
      <p:sp>
        <p:nvSpPr>
          <p:cNvPr id="4" name="Rounded Rectangle 3">
            <a:extLst>
              <a:ext uri="{FF2B5EF4-FFF2-40B4-BE49-F238E27FC236}">
                <a16:creationId xmlns:a16="http://schemas.microsoft.com/office/drawing/2014/main" id="{6A1372C7-36E4-2DA7-CAF9-6DBF95AE456D}"/>
              </a:ext>
            </a:extLst>
          </p:cNvPr>
          <p:cNvSpPr/>
          <p:nvPr/>
        </p:nvSpPr>
        <p:spPr>
          <a:xfrm>
            <a:off x="451413" y="981518"/>
            <a:ext cx="8241174" cy="150340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The Bayesian multivariate normal mean model </a:t>
            </a:r>
            <a:r>
              <a:rPr lang="en-US" sz="1600" b="1" dirty="0">
                <a:solidFill>
                  <a:schemeClr val="tx1"/>
                </a:solidFill>
              </a:rPr>
              <a:t>extends the univariate case</a:t>
            </a:r>
            <a:r>
              <a:rPr lang="en-US" sz="1600" dirty="0">
                <a:solidFill>
                  <a:schemeClr val="tx1"/>
                </a:solidFill>
              </a:rPr>
              <a:t> by treating multiple unknown mean parameters as </a:t>
            </a:r>
            <a:r>
              <a:rPr lang="en-US" sz="1600" b="1" dirty="0">
                <a:solidFill>
                  <a:schemeClr val="tx1"/>
                </a:solidFill>
              </a:rPr>
              <a:t>jointly</a:t>
            </a:r>
            <a:r>
              <a:rPr lang="en-US" sz="1600" dirty="0">
                <a:solidFill>
                  <a:schemeClr val="tx1"/>
                </a:solidFill>
              </a:rPr>
              <a:t> </a:t>
            </a:r>
            <a:r>
              <a:rPr lang="en-US" sz="1600" b="1" dirty="0">
                <a:solidFill>
                  <a:schemeClr val="tx1"/>
                </a:solidFill>
              </a:rPr>
              <a:t>uncertain</a:t>
            </a:r>
            <a:r>
              <a:rPr lang="en-US" sz="1600" dirty="0">
                <a:solidFill>
                  <a:schemeClr val="tx1"/>
                </a:solidFill>
              </a:rPr>
              <a:t> through a multivariate normal distribution, then </a:t>
            </a:r>
            <a:r>
              <a:rPr lang="en-US" sz="1600" b="1" dirty="0">
                <a:solidFill>
                  <a:schemeClr val="tx1"/>
                </a:solidFill>
              </a:rPr>
              <a:t>conditioning on observed data</a:t>
            </a:r>
            <a:r>
              <a:rPr lang="en-US" sz="1600" dirty="0">
                <a:solidFill>
                  <a:schemeClr val="tx1"/>
                </a:solidFill>
              </a:rPr>
              <a:t> while accounting for correlations between parameters, which allows uncertainty about one parameter to inform and reduce uncertainty about others in ways that independent analyses cannot achieve.</a:t>
            </a:r>
          </a:p>
        </p:txBody>
      </p:sp>
      <p:sp>
        <p:nvSpPr>
          <p:cNvPr id="7" name="Rounded Rectangle 6">
            <a:extLst>
              <a:ext uri="{FF2B5EF4-FFF2-40B4-BE49-F238E27FC236}">
                <a16:creationId xmlns:a16="http://schemas.microsoft.com/office/drawing/2014/main" id="{AF1FC65D-171C-4E74-0248-9892D374B577}"/>
              </a:ext>
            </a:extLst>
          </p:cNvPr>
          <p:cNvSpPr/>
          <p:nvPr/>
        </p:nvSpPr>
        <p:spPr>
          <a:xfrm>
            <a:off x="451413" y="4590412"/>
            <a:ext cx="8241174" cy="421311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Rounded Rectangle 9">
            <a:extLst>
              <a:ext uri="{FF2B5EF4-FFF2-40B4-BE49-F238E27FC236}">
                <a16:creationId xmlns:a16="http://schemas.microsoft.com/office/drawing/2014/main" id="{CC18FDD9-7B9C-075D-1C18-12521AD57F96}"/>
              </a:ext>
            </a:extLst>
          </p:cNvPr>
          <p:cNvSpPr/>
          <p:nvPr/>
        </p:nvSpPr>
        <p:spPr>
          <a:xfrm>
            <a:off x="451413" y="2644907"/>
            <a:ext cx="8241174" cy="178551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D0A9FC84-5AB2-692C-73D4-FDA83136EEAA}"/>
              </a:ext>
            </a:extLst>
          </p:cNvPr>
          <p:cNvSpPr txBox="1"/>
          <p:nvPr/>
        </p:nvSpPr>
        <p:spPr>
          <a:xfrm>
            <a:off x="2253879" y="2705496"/>
            <a:ext cx="4475988" cy="338554"/>
          </a:xfrm>
          <a:prstGeom prst="rect">
            <a:avLst/>
          </a:prstGeom>
          <a:noFill/>
        </p:spPr>
        <p:txBody>
          <a:bodyPr wrap="square" rtlCol="0" anchor="ctr">
            <a:spAutoFit/>
          </a:bodyPr>
          <a:lstStyle/>
          <a:p>
            <a:pPr algn="ctr"/>
            <a:r>
              <a:rPr lang="en-US" sz="1600" b="1" dirty="0"/>
              <a:t>Key Formula</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DE4E96-B49F-C9A1-5F19-A83862B41CEF}"/>
                  </a:ext>
                </a:extLst>
              </p:cNvPr>
              <p:cNvSpPr txBox="1"/>
              <p:nvPr/>
            </p:nvSpPr>
            <p:spPr>
              <a:xfrm>
                <a:off x="949020" y="3014141"/>
                <a:ext cx="7085707" cy="1416285"/>
              </a:xfrm>
              <a:prstGeom prst="rect">
                <a:avLst/>
              </a:prstGeom>
              <a:noFill/>
            </p:spPr>
            <p:txBody>
              <a:bodyPr wrap="square">
                <a:spAutoFit/>
              </a:bodyPr>
              <a:lstStyle/>
              <a:p>
                <a:r>
                  <a:rPr lang="en-US" sz="1200" dirty="0"/>
                  <a:t>In the bivariate normal mean model, if the prior is</a:t>
                </a:r>
              </a:p>
              <a:p>
                <a:pPr/>
                <a14:m>
                  <m:oMathPara xmlns:m="http://schemas.openxmlformats.org/officeDocument/2006/math">
                    <m:oMathParaPr>
                      <m:jc m:val="centerGroup"/>
                    </m:oMathParaPr>
                    <m:oMath xmlns:m="http://schemas.openxmlformats.org/officeDocument/2006/math">
                      <m:r>
                        <a:rPr lang="en-US" sz="1200" b="1" i="1">
                          <a:latin typeface="Cambria Math" panose="02040503050406030204" pitchFamily="18" charset="0"/>
                          <a:ea typeface="Cambria Math" panose="02040503050406030204" pitchFamily="18" charset="0"/>
                        </a:rPr>
                        <m:t>𝜷</m:t>
                      </m:r>
                      <m:r>
                        <a:rPr lang="en-US" sz="1200" b="1" i="1">
                          <a:latin typeface="Cambria Math" panose="02040503050406030204" pitchFamily="18" charset="0"/>
                          <a:ea typeface="Cambria Math" panose="02040503050406030204" pitchFamily="18" charset="0"/>
                        </a:rPr>
                        <m:t>=</m:t>
                      </m:r>
                      <m:d>
                        <m:dPr>
                          <m:ctrlPr>
                            <a:rPr lang="en-US" sz="1200" b="1" i="1">
                              <a:latin typeface="Cambria Math" panose="02040503050406030204" pitchFamily="18" charset="0"/>
                              <a:ea typeface="Cambria Math" panose="02040503050406030204" pitchFamily="18" charset="0"/>
                            </a:rPr>
                          </m:ctrlPr>
                        </m:dPr>
                        <m:e>
                          <m:f>
                            <m:fPr>
                              <m:type m:val="noBar"/>
                              <m:ctrlPr>
                                <a:rPr lang="en-US" sz="1200" i="1">
                                  <a:latin typeface="Cambria Math" panose="02040503050406030204" pitchFamily="18" charset="0"/>
                                  <a:ea typeface="Cambria Math" panose="02040503050406030204" pitchFamily="18" charset="0"/>
                                </a:rPr>
                              </m:ctrlPr>
                            </m:fPr>
                            <m:num>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ea typeface="Cambria Math" panose="02040503050406030204" pitchFamily="18" charset="0"/>
                                    </a:rPr>
                                    <m:t>𝑎</m:t>
                                  </m:r>
                                </m:sub>
                              </m:sSub>
                            </m:num>
                            <m:den>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ea typeface="Cambria Math" panose="02040503050406030204" pitchFamily="18" charset="0"/>
                                    </a:rPr>
                                    <m:t>𝑏</m:t>
                                  </m:r>
                                </m:sub>
                              </m:sSub>
                            </m:den>
                          </m:f>
                        </m:e>
                      </m:d>
                      <m:r>
                        <a:rPr lang="en-US" sz="1200" b="1"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a:latin typeface="Cambria Math" panose="02040503050406030204" pitchFamily="18" charset="0"/>
                              <a:ea typeface="Cambria Math" panose="02040503050406030204" pitchFamily="18" charset="0"/>
                            </a:rPr>
                          </m:ctrlPr>
                        </m:dPr>
                        <m:e>
                          <m:d>
                            <m:dPr>
                              <m:ctrlPr>
                                <a:rPr lang="en-US" sz="1200" b="1" i="1">
                                  <a:latin typeface="Cambria Math" panose="02040503050406030204" pitchFamily="18" charset="0"/>
                                  <a:ea typeface="Cambria Math" panose="02040503050406030204" pitchFamily="18" charset="0"/>
                                </a:rPr>
                              </m:ctrlPr>
                            </m:dPr>
                            <m:e>
                              <m:f>
                                <m:fPr>
                                  <m:type m:val="noBar"/>
                                  <m:ctrlPr>
                                    <a:rPr lang="en-US" sz="1200" i="1">
                                      <a:latin typeface="Cambria Math" panose="02040503050406030204" pitchFamily="18" charset="0"/>
                                      <a:ea typeface="Cambria Math" panose="02040503050406030204" pitchFamily="18" charset="0"/>
                                    </a:rPr>
                                  </m:ctrlPr>
                                </m:fPr>
                                <m:num>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ea typeface="Cambria Math" panose="02040503050406030204" pitchFamily="18" charset="0"/>
                                        </a:rPr>
                                        <m:t>𝑎</m:t>
                                      </m:r>
                                      <m:r>
                                        <a:rPr lang="en-US" sz="1200" i="1">
                                          <a:latin typeface="Cambria Math" panose="02040503050406030204" pitchFamily="18" charset="0"/>
                                          <a:ea typeface="Cambria Math" panose="02040503050406030204" pitchFamily="18" charset="0"/>
                                        </a:rPr>
                                        <m:t>,0</m:t>
                                      </m:r>
                                    </m:sub>
                                  </m:sSub>
                                </m:num>
                                <m:den>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ea typeface="Cambria Math" panose="02040503050406030204" pitchFamily="18" charset="0"/>
                                        </a:rPr>
                                        <m:t>𝑏</m:t>
                                      </m:r>
                                      <m:r>
                                        <a:rPr lang="en-US" sz="1200" i="1">
                                          <a:latin typeface="Cambria Math" panose="02040503050406030204" pitchFamily="18" charset="0"/>
                                          <a:ea typeface="Cambria Math" panose="02040503050406030204" pitchFamily="18" charset="0"/>
                                        </a:rPr>
                                        <m:t>,0</m:t>
                                      </m:r>
                                    </m:sub>
                                  </m:sSub>
                                </m:den>
                              </m:f>
                            </m:e>
                          </m:d>
                          <m:r>
                            <a:rPr lang="en-US" sz="1200" b="1" i="1">
                              <a:latin typeface="Cambria Math" panose="02040503050406030204" pitchFamily="18" charset="0"/>
                              <a:ea typeface="Cambria Math" panose="02040503050406030204" pitchFamily="18" charset="0"/>
                            </a:rPr>
                            <m:t>, </m:t>
                          </m:r>
                          <m:d>
                            <m:dPr>
                              <m:ctrlPr>
                                <a:rPr lang="en-US" sz="1200" i="1">
                                  <a:latin typeface="Cambria Math" panose="02040503050406030204" pitchFamily="18" charset="0"/>
                                  <a:ea typeface="Cambria Math" panose="02040503050406030204" pitchFamily="18" charset="0"/>
                                </a:rPr>
                              </m:ctrlPr>
                            </m:dPr>
                            <m:e>
                              <m:m>
                                <m:mPr>
                                  <m:mcs>
                                    <m:mc>
                                      <m:mcPr>
                                        <m:count m:val="2"/>
                                        <m:mcJc m:val="center"/>
                                      </m:mcPr>
                                    </m:mc>
                                  </m:mcs>
                                  <m:ctrlPr>
                                    <a:rPr lang="en-US" sz="1200" i="1">
                                      <a:latin typeface="Cambria Math" panose="02040503050406030204" pitchFamily="18" charset="0"/>
                                      <a:ea typeface="Cambria Math" panose="02040503050406030204" pitchFamily="18" charset="0"/>
                                    </a:rPr>
                                  </m:ctrlPr>
                                </m:mPr>
                                <m:mr>
                                  <m:e>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𝑎</m:t>
                                        </m:r>
                                        <m:r>
                                          <a:rPr lang="en-US" sz="1200" i="1">
                                            <a:latin typeface="Cambria Math" panose="02040503050406030204" pitchFamily="18" charset="0"/>
                                            <a:ea typeface="Cambria Math" panose="02040503050406030204" pitchFamily="18" charset="0"/>
                                          </a:rPr>
                                          <m:t>,0</m:t>
                                        </m:r>
                                      </m:sub>
                                      <m:sup>
                                        <m:r>
                                          <a:rPr lang="en-US" sz="1200" i="1">
                                            <a:latin typeface="Cambria Math" panose="02040503050406030204" pitchFamily="18" charset="0"/>
                                            <a:ea typeface="Cambria Math" panose="02040503050406030204" pitchFamily="18" charset="0"/>
                                          </a:rPr>
                                          <m:t>2</m:t>
                                        </m:r>
                                      </m:sup>
                                    </m:sSubSup>
                                  </m:e>
                                  <m:e>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b="0" i="1" smtClean="0">
                                            <a:latin typeface="Cambria Math" panose="02040503050406030204" pitchFamily="18" charset="0"/>
                                            <a:ea typeface="Cambria Math" panose="02040503050406030204" pitchFamily="18" charset="0"/>
                                          </a:rPr>
                                          <m:t>0</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𝑎</m:t>
                                        </m:r>
                                        <m:r>
                                          <a:rPr lang="en-US" sz="1200" i="1">
                                            <a:latin typeface="Cambria Math" panose="02040503050406030204" pitchFamily="18" charset="0"/>
                                            <a:ea typeface="Cambria Math" panose="02040503050406030204" pitchFamily="18" charset="0"/>
                                          </a:rPr>
                                          <m:t>,0</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𝑏</m:t>
                                        </m:r>
                                        <m:r>
                                          <a:rPr lang="en-US" sz="1200" i="1">
                                            <a:latin typeface="Cambria Math" panose="02040503050406030204" pitchFamily="18" charset="0"/>
                                            <a:ea typeface="Cambria Math" panose="02040503050406030204" pitchFamily="18" charset="0"/>
                                          </a:rPr>
                                          <m:t>,0</m:t>
                                        </m:r>
                                      </m:sub>
                                    </m:sSub>
                                  </m:e>
                                </m:mr>
                                <m:m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i="1">
                                            <a:latin typeface="Cambria Math" panose="02040503050406030204" pitchFamily="18" charset="0"/>
                                            <a:ea typeface="Cambria Math" panose="02040503050406030204" pitchFamily="18" charset="0"/>
                                          </a:rPr>
                                          <m:t>0</m:t>
                                        </m:r>
                                      </m:sub>
                                    </m:sSub>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𝑎</m:t>
                                        </m:r>
                                        <m:r>
                                          <a:rPr lang="en-US" sz="1200" i="1">
                                            <a:latin typeface="Cambria Math" panose="02040503050406030204" pitchFamily="18" charset="0"/>
                                            <a:ea typeface="Cambria Math" panose="02040503050406030204" pitchFamily="18" charset="0"/>
                                          </a:rPr>
                                          <m:t>,0</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𝑏</m:t>
                                        </m:r>
                                        <m:r>
                                          <a:rPr lang="en-US" sz="1200" i="1">
                                            <a:latin typeface="Cambria Math" panose="02040503050406030204" pitchFamily="18" charset="0"/>
                                            <a:ea typeface="Cambria Math" panose="02040503050406030204" pitchFamily="18" charset="0"/>
                                          </a:rPr>
                                          <m:t>,0</m:t>
                                        </m:r>
                                      </m:sub>
                                    </m:sSub>
                                  </m:e>
                                  <m:e>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i="1">
                                            <a:latin typeface="Cambria Math" panose="02040503050406030204" pitchFamily="18" charset="0"/>
                                            <a:ea typeface="Cambria Math" panose="02040503050406030204" pitchFamily="18" charset="0"/>
                                          </a:rPr>
                                          <m:t>𝑏</m:t>
                                        </m:r>
                                        <m:r>
                                          <a:rPr lang="en-US" sz="1200" i="1">
                                            <a:latin typeface="Cambria Math" panose="02040503050406030204" pitchFamily="18" charset="0"/>
                                            <a:ea typeface="Cambria Math" panose="02040503050406030204" pitchFamily="18" charset="0"/>
                                          </a:rPr>
                                          <m:t>,0</m:t>
                                        </m:r>
                                      </m:sub>
                                      <m:sup>
                                        <m:r>
                                          <a:rPr lang="en-US" sz="1200" i="1">
                                            <a:latin typeface="Cambria Math" panose="02040503050406030204" pitchFamily="18" charset="0"/>
                                            <a:ea typeface="Cambria Math" panose="02040503050406030204" pitchFamily="18" charset="0"/>
                                          </a:rPr>
                                          <m:t>2</m:t>
                                        </m:r>
                                      </m:sup>
                                    </m:sSubSup>
                                  </m:e>
                                </m:mr>
                              </m:m>
                            </m:e>
                          </m:d>
                        </m:e>
                      </m:d>
                    </m:oMath>
                  </m:oMathPara>
                </a14:m>
                <a:endParaRPr lang="en-US" sz="1200" dirty="0"/>
              </a:p>
              <a:p>
                <a:r>
                  <a:rPr lang="en-US" sz="1200" dirty="0"/>
                  <a:t>With observed data </a:t>
                </a:r>
                <a14:m>
                  <m:oMath xmlns:m="http://schemas.openxmlformats.org/officeDocument/2006/math">
                    <m:r>
                      <a:rPr lang="en-US" sz="1200" i="1">
                        <a:latin typeface="Cambria Math" panose="02040503050406030204" pitchFamily="18" charset="0"/>
                        <a:ea typeface="Cambria Math" panose="02040503050406030204" pitchFamily="18" charset="0"/>
                      </a:rPr>
                      <m:t>𝐷</m:t>
                    </m:r>
                  </m:oMath>
                </a14:m>
                <a:r>
                  <a:rPr lang="en-US" sz="1200" dirty="0"/>
                  <a:t>, the posterior is:</a:t>
                </a:r>
                <a:endParaRPr lang="en-US" sz="1200" b="1"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ea typeface="Cambria Math" panose="02040503050406030204" pitchFamily="18" charset="0"/>
                        </a:rPr>
                        <m:t>𝜷</m:t>
                      </m:r>
                      <m:r>
                        <a:rPr lang="en-US" sz="1200" b="1"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r>
                        <a:rPr lang="en-US" sz="1200" b="1" i="1" smtClean="0">
                          <a:latin typeface="Cambria Math" panose="02040503050406030204" pitchFamily="18" charset="0"/>
                          <a:ea typeface="Cambria Math" panose="02040503050406030204" pitchFamily="18" charset="0"/>
                        </a:rPr>
                        <m:t>=</m:t>
                      </m:r>
                      <m:d>
                        <m:dPr>
                          <m:ctrlPr>
                            <a:rPr lang="en-US" sz="1200" b="1" i="1" smtClean="0">
                              <a:latin typeface="Cambria Math" panose="02040503050406030204" pitchFamily="18" charset="0"/>
                              <a:ea typeface="Cambria Math" panose="02040503050406030204" pitchFamily="18" charset="0"/>
                            </a:rPr>
                          </m:ctrlPr>
                        </m:dPr>
                        <m:e>
                          <m:f>
                            <m:fPr>
                              <m:type m:val="noBar"/>
                              <m:ctrlPr>
                                <a:rPr lang="en-US" sz="120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𝛽</m:t>
                                  </m:r>
                                </m:e>
                                <m:sub>
                                  <m:r>
                                    <a:rPr lang="en-US" sz="1200" b="0" i="1" smtClean="0">
                                      <a:latin typeface="Cambria Math" panose="02040503050406030204" pitchFamily="18" charset="0"/>
                                      <a:ea typeface="Cambria Math" panose="02040503050406030204" pitchFamily="18" charset="0"/>
                                    </a:rPr>
                                    <m:t>𝑎</m:t>
                                  </m:r>
                                </m:sub>
                              </m:sSub>
                            </m:num>
                            <m:den>
                              <m:sSub>
                                <m:sSubPr>
                                  <m:ctrlPr>
                                    <a:rPr lang="en-US" sz="1200" i="1">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𝛽</m:t>
                                  </m:r>
                                </m:e>
                                <m:sub>
                                  <m:r>
                                    <a:rPr lang="en-US" sz="1200" b="0" i="1" smtClean="0">
                                      <a:latin typeface="Cambria Math" panose="02040503050406030204" pitchFamily="18" charset="0"/>
                                      <a:ea typeface="Cambria Math" panose="02040503050406030204" pitchFamily="18" charset="0"/>
                                    </a:rPr>
                                    <m:t>𝑏</m:t>
                                  </m:r>
                                </m:sub>
                              </m:sSub>
                            </m:den>
                          </m:f>
                        </m:e>
                      </m:d>
                      <m:r>
                        <a:rPr lang="en-US" sz="1200" b="1"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𝐷</m:t>
                      </m:r>
                      <m:r>
                        <a:rPr lang="en-US" sz="1200" b="1"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𝒩</m:t>
                      </m:r>
                      <m:d>
                        <m:dPr>
                          <m:ctrlPr>
                            <a:rPr lang="en-US" sz="1200" i="1" smtClean="0">
                              <a:latin typeface="Cambria Math" panose="02040503050406030204" pitchFamily="18" charset="0"/>
                              <a:ea typeface="Cambria Math" panose="02040503050406030204" pitchFamily="18" charset="0"/>
                            </a:rPr>
                          </m:ctrlPr>
                        </m:dPr>
                        <m:e>
                          <m:d>
                            <m:dPr>
                              <m:ctrlPr>
                                <a:rPr lang="en-US" sz="1200" b="1" i="1">
                                  <a:latin typeface="Cambria Math" panose="02040503050406030204" pitchFamily="18" charset="0"/>
                                  <a:ea typeface="Cambria Math" panose="02040503050406030204" pitchFamily="18" charset="0"/>
                                </a:rPr>
                              </m:ctrlPr>
                            </m:dPr>
                            <m:e>
                              <m:f>
                                <m:fPr>
                                  <m:type m:val="noBar"/>
                                  <m:ctrlPr>
                                    <a:rPr lang="en-US" sz="1200" i="1">
                                      <a:latin typeface="Cambria Math" panose="02040503050406030204" pitchFamily="18" charset="0"/>
                                      <a:ea typeface="Cambria Math" panose="02040503050406030204" pitchFamily="18" charset="0"/>
                                    </a:rPr>
                                  </m:ctrlPr>
                                </m:fPr>
                                <m:num>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i="1">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,1</m:t>
                                      </m:r>
                                    </m:sub>
                                  </m:sSub>
                                </m:num>
                                <m:den>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𝛽</m:t>
                                      </m:r>
                                    </m:e>
                                    <m:sub>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,1</m:t>
                                      </m:r>
                                    </m:sub>
                                  </m:sSub>
                                </m:den>
                              </m:f>
                            </m:e>
                          </m:d>
                          <m:r>
                            <a:rPr lang="en-US" sz="1200" b="1" i="1">
                              <a:latin typeface="Cambria Math" panose="02040503050406030204" pitchFamily="18" charset="0"/>
                              <a:ea typeface="Cambria Math" panose="02040503050406030204" pitchFamily="18" charset="0"/>
                            </a:rPr>
                            <m:t>, </m:t>
                          </m:r>
                          <m:d>
                            <m:dPr>
                              <m:ctrlPr>
                                <a:rPr lang="en-US" sz="1200" i="1">
                                  <a:latin typeface="Cambria Math" panose="02040503050406030204" pitchFamily="18" charset="0"/>
                                  <a:ea typeface="Cambria Math" panose="02040503050406030204" pitchFamily="18" charset="0"/>
                                </a:rPr>
                              </m:ctrlPr>
                            </m:dPr>
                            <m:e>
                              <m:m>
                                <m:mPr>
                                  <m:mcs>
                                    <m:mc>
                                      <m:mcPr>
                                        <m:count m:val="2"/>
                                        <m:mcJc m:val="center"/>
                                      </m:mcPr>
                                    </m:mc>
                                  </m:mcs>
                                  <m:ctrlPr>
                                    <a:rPr lang="en-US" sz="1200" i="1">
                                      <a:latin typeface="Cambria Math" panose="02040503050406030204" pitchFamily="18" charset="0"/>
                                      <a:ea typeface="Cambria Math" panose="02040503050406030204" pitchFamily="18" charset="0"/>
                                    </a:rPr>
                                  </m:ctrlPr>
                                </m:mPr>
                                <m:mr>
                                  <m:e>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,1</m:t>
                                        </m:r>
                                      </m:sub>
                                      <m:sup>
                                        <m:r>
                                          <a:rPr lang="en-US" sz="1200" i="1">
                                            <a:latin typeface="Cambria Math" panose="02040503050406030204" pitchFamily="18" charset="0"/>
                                            <a:ea typeface="Cambria Math" panose="02040503050406030204" pitchFamily="18" charset="0"/>
                                          </a:rPr>
                                          <m:t>2</m:t>
                                        </m:r>
                                      </m:sup>
                                    </m:sSubSup>
                                  </m:e>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b="0" i="1" smtClean="0">
                                            <a:latin typeface="Cambria Math" panose="02040503050406030204" pitchFamily="18" charset="0"/>
                                            <a:ea typeface="Cambria Math" panose="02040503050406030204" pitchFamily="18" charset="0"/>
                                          </a:rPr>
                                          <m:t>1</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,1</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,1</m:t>
                                        </m:r>
                                      </m:sub>
                                    </m:sSub>
                                  </m:e>
                                </m:mr>
                                <m:m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𝜌</m:t>
                                        </m:r>
                                      </m:e>
                                      <m:sub>
                                        <m:r>
                                          <a:rPr lang="en-US" sz="1200" b="0" i="1" smtClean="0">
                                            <a:latin typeface="Cambria Math" panose="02040503050406030204" pitchFamily="18" charset="0"/>
                                            <a:ea typeface="Cambria Math" panose="02040503050406030204" pitchFamily="18" charset="0"/>
                                          </a:rPr>
                                          <m:t>1</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,1</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,1</m:t>
                                        </m:r>
                                      </m:sub>
                                    </m:sSub>
                                  </m:e>
                                  <m:e>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𝜎</m:t>
                                        </m:r>
                                      </m:e>
                                      <m:sub>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,1</m:t>
                                        </m:r>
                                      </m:sub>
                                      <m:sup>
                                        <m:r>
                                          <a:rPr lang="en-US" sz="1200" i="1">
                                            <a:latin typeface="Cambria Math" panose="02040503050406030204" pitchFamily="18" charset="0"/>
                                            <a:ea typeface="Cambria Math" panose="02040503050406030204" pitchFamily="18" charset="0"/>
                                          </a:rPr>
                                          <m:t>2</m:t>
                                        </m:r>
                                      </m:sup>
                                    </m:sSubSup>
                                  </m:e>
                                </m:mr>
                              </m:m>
                            </m:e>
                          </m:d>
                        </m:e>
                      </m:d>
                    </m:oMath>
                  </m:oMathPara>
                </a14:m>
                <a:endParaRPr lang="en-US" sz="1200" i="1" dirty="0">
                  <a:latin typeface="Cambria Math" panose="02040503050406030204" pitchFamily="18" charset="0"/>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25DE4E96-B49F-C9A1-5F19-A83862B41CEF}"/>
                  </a:ext>
                </a:extLst>
              </p:cNvPr>
              <p:cNvSpPr txBox="1">
                <a:spLocks noRot="1" noChangeAspect="1" noMove="1" noResize="1" noEditPoints="1" noAdjustHandles="1" noChangeArrowheads="1" noChangeShapeType="1" noTextEdit="1"/>
              </p:cNvSpPr>
              <p:nvPr/>
            </p:nvSpPr>
            <p:spPr>
              <a:xfrm>
                <a:off x="949020" y="3014141"/>
                <a:ext cx="7085707" cy="1416285"/>
              </a:xfrm>
              <a:prstGeom prst="rect">
                <a:avLst/>
              </a:prstGeom>
              <a:blipFill>
                <a:blip r:embed="rId2"/>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EDE5AC1-646A-4E95-692D-D24C9BD79BD2}"/>
              </a:ext>
            </a:extLst>
          </p:cNvPr>
          <p:cNvSpPr txBox="1"/>
          <p:nvPr/>
        </p:nvSpPr>
        <p:spPr>
          <a:xfrm>
            <a:off x="695617" y="473736"/>
            <a:ext cx="7752763" cy="276999"/>
          </a:xfrm>
          <a:prstGeom prst="rect">
            <a:avLst/>
          </a:prstGeom>
          <a:noFill/>
        </p:spPr>
        <p:txBody>
          <a:bodyPr wrap="none" rtlCol="0">
            <a:spAutoFit/>
          </a:bodyPr>
          <a:lstStyle/>
          <a:p>
            <a:pPr algn="ctr"/>
            <a:r>
              <a:rPr lang="en-US" sz="1200" dirty="0"/>
              <a:t>Correlated variables share information - observing one informs our beliefs about others through the covariance structure</a:t>
            </a:r>
          </a:p>
        </p:txBody>
      </p:sp>
      <p:pic>
        <p:nvPicPr>
          <p:cNvPr id="15" name="Picture 14">
            <a:extLst>
              <a:ext uri="{FF2B5EF4-FFF2-40B4-BE49-F238E27FC236}">
                <a16:creationId xmlns:a16="http://schemas.microsoft.com/office/drawing/2014/main" id="{EB34B2D8-9697-755F-E342-60243A37FE3E}"/>
              </a:ext>
            </a:extLst>
          </p:cNvPr>
          <p:cNvPicPr>
            <a:picLocks noChangeAspect="1"/>
          </p:cNvPicPr>
          <p:nvPr/>
        </p:nvPicPr>
        <p:blipFill>
          <a:blip r:embed="rId3"/>
          <a:srcRect/>
          <a:stretch/>
        </p:blipFill>
        <p:spPr>
          <a:xfrm>
            <a:off x="945387" y="4799659"/>
            <a:ext cx="3951797" cy="3951797"/>
          </a:xfrm>
          <a:prstGeom prst="rect">
            <a:avLst/>
          </a:prstGeom>
        </p:spPr>
      </p:pic>
      <p:sp>
        <p:nvSpPr>
          <p:cNvPr id="3" name="TextBox 2">
            <a:extLst>
              <a:ext uri="{FF2B5EF4-FFF2-40B4-BE49-F238E27FC236}">
                <a16:creationId xmlns:a16="http://schemas.microsoft.com/office/drawing/2014/main" id="{422B2FB3-A74C-67BA-375B-25FFFFEACCDB}"/>
              </a:ext>
            </a:extLst>
          </p:cNvPr>
          <p:cNvSpPr txBox="1"/>
          <p:nvPr/>
        </p:nvSpPr>
        <p:spPr>
          <a:xfrm>
            <a:off x="4782269" y="5367770"/>
            <a:ext cx="3872013" cy="2554545"/>
          </a:xfrm>
          <a:prstGeom prst="rect">
            <a:avLst/>
          </a:prstGeom>
          <a:noFill/>
        </p:spPr>
        <p:txBody>
          <a:bodyPr wrap="square" rtlCol="0">
            <a:spAutoFit/>
          </a:bodyPr>
          <a:lstStyle/>
          <a:p>
            <a:r>
              <a:rPr lang="en-US" sz="1600" dirty="0"/>
              <a:t>• </a:t>
            </a:r>
            <a:r>
              <a:rPr lang="en-US" sz="1600" b="1" dirty="0"/>
              <a:t>Bayesian learning</a:t>
            </a:r>
            <a:r>
              <a:rPr lang="en-US" sz="1600" dirty="0"/>
              <a:t>: </a:t>
            </a:r>
            <a:r>
              <a:rPr lang="en-US" sz="1600" dirty="0">
                <a:solidFill>
                  <a:srgbClr val="FF6346"/>
                </a:solidFill>
              </a:rPr>
              <a:t>Prior beliefs </a:t>
            </a:r>
            <a:r>
              <a:rPr lang="en-US" sz="1600" dirty="0"/>
              <a:t>update to </a:t>
            </a:r>
            <a:r>
              <a:rPr lang="en-US" sz="1600" dirty="0">
                <a:solidFill>
                  <a:srgbClr val="006400"/>
                </a:solidFill>
              </a:rPr>
              <a:t>posterior </a:t>
            </a:r>
            <a:r>
              <a:rPr lang="en-US" sz="1600" dirty="0"/>
              <a:t>after observing data</a:t>
            </a:r>
          </a:p>
          <a:p>
            <a:r>
              <a:rPr lang="en-US" sz="1600" dirty="0"/>
              <a:t>• </a:t>
            </a:r>
            <a:r>
              <a:rPr lang="en-US" sz="1600" b="1" dirty="0"/>
              <a:t>Uncertainty reduction</a:t>
            </a:r>
            <a:r>
              <a:rPr lang="en-US" sz="1600" dirty="0"/>
              <a:t>: Posterior contours are tighter, showing less uncertainty</a:t>
            </a:r>
          </a:p>
          <a:p>
            <a:r>
              <a:rPr lang="en-US" sz="1600" dirty="0"/>
              <a:t>• </a:t>
            </a:r>
            <a:r>
              <a:rPr lang="en-US" sz="1600" b="1" dirty="0"/>
              <a:t>Balanced compromise</a:t>
            </a:r>
            <a:r>
              <a:rPr lang="en-US" sz="1600" dirty="0"/>
              <a:t>: Posterior mean balances prior beliefs with data evidence</a:t>
            </a:r>
          </a:p>
          <a:p>
            <a:r>
              <a:rPr lang="en-US" sz="1600" dirty="0"/>
              <a:t>• </a:t>
            </a:r>
            <a:r>
              <a:rPr lang="en-US" sz="1600" b="1" dirty="0"/>
              <a:t>Correlation structure</a:t>
            </a:r>
            <a:r>
              <a:rPr lang="en-US" sz="1600" dirty="0"/>
              <a:t>: Elliptical shape captures parameter relationships</a:t>
            </a:r>
          </a:p>
          <a:p>
            <a:r>
              <a:rPr lang="en-US" sz="1600" dirty="0"/>
              <a:t>• </a:t>
            </a:r>
            <a:r>
              <a:rPr lang="en-US" sz="1600" b="1" dirty="0"/>
              <a:t>Learning from data</a:t>
            </a:r>
            <a:r>
              <a:rPr lang="en-US" sz="1600" dirty="0"/>
              <a:t>: Posterior moves closer to </a:t>
            </a:r>
            <a:r>
              <a:rPr lang="en-US" sz="1600" dirty="0">
                <a:solidFill>
                  <a:srgbClr val="1C0FFF"/>
                </a:solidFill>
              </a:rPr>
              <a:t>true effects</a:t>
            </a:r>
          </a:p>
        </p:txBody>
      </p:sp>
      <p:sp>
        <p:nvSpPr>
          <p:cNvPr id="5" name="TextBox 4">
            <a:extLst>
              <a:ext uri="{FF2B5EF4-FFF2-40B4-BE49-F238E27FC236}">
                <a16:creationId xmlns:a16="http://schemas.microsoft.com/office/drawing/2014/main" id="{E71F4F11-16E8-2AA4-10FC-62508B2A8EED}"/>
              </a:ext>
            </a:extLst>
          </p:cNvPr>
          <p:cNvSpPr txBox="1"/>
          <p:nvPr/>
        </p:nvSpPr>
        <p:spPr>
          <a:xfrm>
            <a:off x="2334005" y="4630382"/>
            <a:ext cx="4475988" cy="338554"/>
          </a:xfrm>
          <a:prstGeom prst="rect">
            <a:avLst/>
          </a:prstGeom>
          <a:noFill/>
        </p:spPr>
        <p:txBody>
          <a:bodyPr wrap="square" rtlCol="0" anchor="ctr">
            <a:spAutoFit/>
          </a:bodyPr>
          <a:lstStyle/>
          <a:p>
            <a:pPr algn="ctr"/>
            <a:r>
              <a:rPr lang="en-US" sz="1600" b="1" dirty="0"/>
              <a:t>Example</a:t>
            </a:r>
          </a:p>
        </p:txBody>
      </p:sp>
    </p:spTree>
    <p:extLst>
      <p:ext uri="{BB962C8B-B14F-4D97-AF65-F5344CB8AC3E}">
        <p14:creationId xmlns:p14="http://schemas.microsoft.com/office/powerpoint/2010/main" val="2379464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6CC2D-21C3-82FC-7B07-12D51751B5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1B17F9-32B7-13AC-B950-F1F4F11857B8}"/>
              </a:ext>
            </a:extLst>
          </p:cNvPr>
          <p:cNvSpPr txBox="1"/>
          <p:nvPr/>
        </p:nvSpPr>
        <p:spPr>
          <a:xfrm>
            <a:off x="2095083" y="103220"/>
            <a:ext cx="4911210" cy="400110"/>
          </a:xfrm>
          <a:prstGeom prst="rect">
            <a:avLst/>
          </a:prstGeom>
          <a:noFill/>
        </p:spPr>
        <p:txBody>
          <a:bodyPr wrap="square" rtlCol="0" anchor="ctr">
            <a:spAutoFit/>
          </a:bodyPr>
          <a:lstStyle/>
          <a:p>
            <a:pPr algn="ctr"/>
            <a:r>
              <a:rPr lang="en-US" sz="2000" b="1" dirty="0"/>
              <a:t>Bayesian Model Comparison</a:t>
            </a:r>
          </a:p>
        </p:txBody>
      </p:sp>
      <p:sp>
        <p:nvSpPr>
          <p:cNvPr id="4" name="Rounded Rectangle 3">
            <a:extLst>
              <a:ext uri="{FF2B5EF4-FFF2-40B4-BE49-F238E27FC236}">
                <a16:creationId xmlns:a16="http://schemas.microsoft.com/office/drawing/2014/main" id="{C8471445-B0DE-495E-B9C4-8E71C3ED1582}"/>
              </a:ext>
            </a:extLst>
          </p:cNvPr>
          <p:cNvSpPr/>
          <p:nvPr/>
        </p:nvSpPr>
        <p:spPr>
          <a:xfrm>
            <a:off x="430101" y="872077"/>
            <a:ext cx="8241174" cy="135038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 name="Rounded Rectangle 6">
            <a:extLst>
              <a:ext uri="{FF2B5EF4-FFF2-40B4-BE49-F238E27FC236}">
                <a16:creationId xmlns:a16="http://schemas.microsoft.com/office/drawing/2014/main" id="{4B9E0EB7-6DB0-EBF3-E715-08DB885B9BEC}"/>
              </a:ext>
            </a:extLst>
          </p:cNvPr>
          <p:cNvSpPr/>
          <p:nvPr/>
        </p:nvSpPr>
        <p:spPr>
          <a:xfrm>
            <a:off x="430101" y="4517487"/>
            <a:ext cx="8241174" cy="433485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Rounded Rectangle 9">
            <a:extLst>
              <a:ext uri="{FF2B5EF4-FFF2-40B4-BE49-F238E27FC236}">
                <a16:creationId xmlns:a16="http://schemas.microsoft.com/office/drawing/2014/main" id="{FC9F822D-9896-EB77-B526-6FA2104DAA49}"/>
              </a:ext>
            </a:extLst>
          </p:cNvPr>
          <p:cNvSpPr/>
          <p:nvPr/>
        </p:nvSpPr>
        <p:spPr>
          <a:xfrm>
            <a:off x="430101" y="2348204"/>
            <a:ext cx="8241174" cy="200931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95C2CB35-3A72-CD8E-ECA8-808A5AC005B4}"/>
              </a:ext>
            </a:extLst>
          </p:cNvPr>
          <p:cNvSpPr txBox="1"/>
          <p:nvPr/>
        </p:nvSpPr>
        <p:spPr>
          <a:xfrm>
            <a:off x="2312694" y="2432517"/>
            <a:ext cx="4475988" cy="338554"/>
          </a:xfrm>
          <a:prstGeom prst="rect">
            <a:avLst/>
          </a:prstGeom>
          <a:noFill/>
        </p:spPr>
        <p:txBody>
          <a:bodyPr wrap="square" rtlCol="0" anchor="ctr">
            <a:spAutoFit/>
          </a:bodyPr>
          <a:lstStyle/>
          <a:p>
            <a:pPr algn="ctr"/>
            <a:r>
              <a:rPr lang="en-US" sz="1600" b="1" dirty="0"/>
              <a:t>Workflow</a:t>
            </a:r>
          </a:p>
        </p:txBody>
      </p:sp>
      <p:sp>
        <p:nvSpPr>
          <p:cNvPr id="6" name="TextBox 5">
            <a:extLst>
              <a:ext uri="{FF2B5EF4-FFF2-40B4-BE49-F238E27FC236}">
                <a16:creationId xmlns:a16="http://schemas.microsoft.com/office/drawing/2014/main" id="{1C8D5C9C-2278-DA13-BC7B-F9B3DA409B4D}"/>
              </a:ext>
            </a:extLst>
          </p:cNvPr>
          <p:cNvSpPr txBox="1"/>
          <p:nvPr/>
        </p:nvSpPr>
        <p:spPr>
          <a:xfrm>
            <a:off x="746852" y="1124811"/>
            <a:ext cx="7607673" cy="954107"/>
          </a:xfrm>
          <a:prstGeom prst="rect">
            <a:avLst/>
          </a:prstGeom>
          <a:noFill/>
        </p:spPr>
        <p:txBody>
          <a:bodyPr wrap="square">
            <a:spAutoFit/>
          </a:bodyPr>
          <a:lstStyle/>
          <a:p>
            <a:pPr algn="just"/>
            <a:r>
              <a:rPr lang="en-US" sz="1400" dirty="0"/>
              <a:t>Bayesian model comparison quantifies uncertainty about which model generated our data by computing marginal likelihoods for each competing model, where each marginal likelihood measures how well the model predicts the observed data after integrating over all possible parameter values weighted by their prior probabilities.</a:t>
            </a:r>
            <a:endParaRPr lang="en-US" sz="1100" dirty="0"/>
          </a:p>
        </p:txBody>
      </p:sp>
      <p:sp>
        <p:nvSpPr>
          <p:cNvPr id="3" name="Oval 2">
            <a:extLst>
              <a:ext uri="{FF2B5EF4-FFF2-40B4-BE49-F238E27FC236}">
                <a16:creationId xmlns:a16="http://schemas.microsoft.com/office/drawing/2014/main" id="{B70D14BE-03B0-E100-B497-12018AC07E26}"/>
              </a:ext>
            </a:extLst>
          </p:cNvPr>
          <p:cNvSpPr/>
          <p:nvPr/>
        </p:nvSpPr>
        <p:spPr>
          <a:xfrm>
            <a:off x="836644" y="2951202"/>
            <a:ext cx="1097280" cy="1097280"/>
          </a:xfrm>
          <a:prstGeom prst="ellipse">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Prior</a:t>
            </a:r>
          </a:p>
        </p:txBody>
      </p:sp>
      <p:sp>
        <p:nvSpPr>
          <p:cNvPr id="5" name="Oval 4">
            <a:extLst>
              <a:ext uri="{FF2B5EF4-FFF2-40B4-BE49-F238E27FC236}">
                <a16:creationId xmlns:a16="http://schemas.microsoft.com/office/drawing/2014/main" id="{7CA3252B-7C36-0A4C-80CD-E103A0F0E661}"/>
              </a:ext>
            </a:extLst>
          </p:cNvPr>
          <p:cNvSpPr/>
          <p:nvPr/>
        </p:nvSpPr>
        <p:spPr>
          <a:xfrm>
            <a:off x="2192811" y="2964088"/>
            <a:ext cx="1097280" cy="1097280"/>
          </a:xfrm>
          <a:prstGeom prst="ellipse">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Data</a:t>
            </a:r>
          </a:p>
        </p:txBody>
      </p:sp>
      <p:sp>
        <p:nvSpPr>
          <p:cNvPr id="8" name="TextBox 7">
            <a:extLst>
              <a:ext uri="{FF2B5EF4-FFF2-40B4-BE49-F238E27FC236}">
                <a16:creationId xmlns:a16="http://schemas.microsoft.com/office/drawing/2014/main" id="{7F315271-1A0A-246C-8040-24943139CF90}"/>
              </a:ext>
            </a:extLst>
          </p:cNvPr>
          <p:cNvSpPr txBox="1"/>
          <p:nvPr/>
        </p:nvSpPr>
        <p:spPr>
          <a:xfrm>
            <a:off x="1913327" y="3315176"/>
            <a:ext cx="300082" cy="369332"/>
          </a:xfrm>
          <a:prstGeom prst="rect">
            <a:avLst/>
          </a:prstGeom>
          <a:noFill/>
        </p:spPr>
        <p:txBody>
          <a:bodyPr wrap="none" rtlCol="0">
            <a:spAutoFit/>
          </a:bodyPr>
          <a:lstStyle/>
          <a:p>
            <a:r>
              <a:rPr lang="en-US" dirty="0"/>
              <a:t>+</a:t>
            </a:r>
          </a:p>
        </p:txBody>
      </p:sp>
      <p:sp>
        <p:nvSpPr>
          <p:cNvPr id="9" name="Right Arrow 8">
            <a:extLst>
              <a:ext uri="{FF2B5EF4-FFF2-40B4-BE49-F238E27FC236}">
                <a16:creationId xmlns:a16="http://schemas.microsoft.com/office/drawing/2014/main" id="{4CE26AFE-9C4B-8D96-E0A5-094432F91299}"/>
              </a:ext>
            </a:extLst>
          </p:cNvPr>
          <p:cNvSpPr/>
          <p:nvPr/>
        </p:nvSpPr>
        <p:spPr>
          <a:xfrm>
            <a:off x="3548978" y="3425603"/>
            <a:ext cx="752354" cy="17424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210B48C-4DDC-CF67-FEA4-320EB04D4735}"/>
              </a:ext>
            </a:extLst>
          </p:cNvPr>
          <p:cNvSpPr>
            <a:spLocks noChangeAspect="1"/>
          </p:cNvSpPr>
          <p:nvPr/>
        </p:nvSpPr>
        <p:spPr>
          <a:xfrm>
            <a:off x="4401235" y="2781207"/>
            <a:ext cx="1463040" cy="1463040"/>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Posterior</a:t>
            </a:r>
          </a:p>
        </p:txBody>
      </p:sp>
      <p:sp>
        <p:nvSpPr>
          <p:cNvPr id="16" name="Right Arrow 15">
            <a:extLst>
              <a:ext uri="{FF2B5EF4-FFF2-40B4-BE49-F238E27FC236}">
                <a16:creationId xmlns:a16="http://schemas.microsoft.com/office/drawing/2014/main" id="{C4FB0B48-AAAB-35CE-DE76-3825E862A388}"/>
              </a:ext>
            </a:extLst>
          </p:cNvPr>
          <p:cNvSpPr/>
          <p:nvPr/>
        </p:nvSpPr>
        <p:spPr>
          <a:xfrm>
            <a:off x="5919238" y="3395820"/>
            <a:ext cx="752354" cy="17424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8D9DEC0-0EA2-D976-9771-67EB8722CC49}"/>
              </a:ext>
            </a:extLst>
          </p:cNvPr>
          <p:cNvSpPr/>
          <p:nvPr/>
        </p:nvSpPr>
        <p:spPr>
          <a:xfrm>
            <a:off x="6746485" y="2768322"/>
            <a:ext cx="1463040" cy="1463040"/>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Model</a:t>
            </a:r>
          </a:p>
          <a:p>
            <a:pPr algn="ctr"/>
            <a:r>
              <a:rPr lang="en-US" sz="1200" dirty="0"/>
              <a:t>Comparison</a:t>
            </a:r>
          </a:p>
        </p:txBody>
      </p:sp>
      <p:pic>
        <p:nvPicPr>
          <p:cNvPr id="19" name="Picture 18">
            <a:extLst>
              <a:ext uri="{FF2B5EF4-FFF2-40B4-BE49-F238E27FC236}">
                <a16:creationId xmlns:a16="http://schemas.microsoft.com/office/drawing/2014/main" id="{947BB0B2-3548-900B-913D-2BBD8A3C412B}"/>
              </a:ext>
            </a:extLst>
          </p:cNvPr>
          <p:cNvPicPr>
            <a:picLocks noChangeAspect="1"/>
          </p:cNvPicPr>
          <p:nvPr/>
        </p:nvPicPr>
        <p:blipFill>
          <a:blip r:embed="rId2"/>
          <a:srcRect/>
          <a:stretch/>
        </p:blipFill>
        <p:spPr>
          <a:xfrm>
            <a:off x="1890079" y="4547001"/>
            <a:ext cx="5321219" cy="3547480"/>
          </a:xfrm>
          <a:prstGeom prst="rect">
            <a:avLst/>
          </a:prstGeom>
        </p:spPr>
      </p:pic>
      <p:sp>
        <p:nvSpPr>
          <p:cNvPr id="12" name="TextBox 11">
            <a:extLst>
              <a:ext uri="{FF2B5EF4-FFF2-40B4-BE49-F238E27FC236}">
                <a16:creationId xmlns:a16="http://schemas.microsoft.com/office/drawing/2014/main" id="{15BB7FFD-738F-F64B-6B63-48C129F0CE49}"/>
              </a:ext>
            </a:extLst>
          </p:cNvPr>
          <p:cNvSpPr txBox="1"/>
          <p:nvPr/>
        </p:nvSpPr>
        <p:spPr>
          <a:xfrm>
            <a:off x="843680" y="7989647"/>
            <a:ext cx="7414017" cy="1015663"/>
          </a:xfrm>
          <a:prstGeom prst="rect">
            <a:avLst/>
          </a:prstGeom>
          <a:noFill/>
        </p:spPr>
        <p:txBody>
          <a:bodyPr wrap="none" rtlCol="0">
            <a:spAutoFit/>
          </a:bodyPr>
          <a:lstStyle/>
          <a:p>
            <a:r>
              <a:rPr lang="en-US" sz="1200" dirty="0"/>
              <a:t>• </a:t>
            </a:r>
            <a:r>
              <a:rPr lang="en-US" sz="1200" b="1" dirty="0"/>
              <a:t>Model Selection</a:t>
            </a:r>
            <a:r>
              <a:rPr lang="en-US" sz="1200" dirty="0"/>
              <a:t>: Posterior odds = Bayes Factor × Prior odds. With equal priors, BF directly gives model preference</a:t>
            </a:r>
          </a:p>
          <a:p>
            <a:r>
              <a:rPr lang="en-US" sz="1200" dirty="0"/>
              <a:t>• </a:t>
            </a:r>
            <a:r>
              <a:rPr lang="en-US" sz="1200" b="1" dirty="0"/>
              <a:t>Conjugate Case</a:t>
            </a:r>
            <a:r>
              <a:rPr lang="en-US" sz="1200" dirty="0"/>
              <a:t>: When prior and likelihood are conjugate, marginal likelihood has closed-form solution</a:t>
            </a:r>
          </a:p>
          <a:p>
            <a:r>
              <a:rPr lang="en-US" sz="1200" dirty="0"/>
              <a:t>• </a:t>
            </a:r>
            <a:r>
              <a:rPr lang="en-US" sz="1200" b="1" dirty="0"/>
              <a:t>Non-conjugate Case</a:t>
            </a:r>
            <a:r>
              <a:rPr lang="en-US" sz="1200" dirty="0"/>
              <a:t>: Requires numerical integration (grid methods, MCMC, variational Bayes, etc.)</a:t>
            </a:r>
          </a:p>
          <a:p>
            <a:r>
              <a:rPr lang="en-US" sz="1200" dirty="0"/>
              <a:t>• </a:t>
            </a:r>
            <a:r>
              <a:rPr lang="en-US" sz="1200" b="1" dirty="0"/>
              <a:t>Computational Challenge</a:t>
            </a:r>
            <a:r>
              <a:rPr lang="en-US" sz="1200" dirty="0"/>
              <a:t>: Real GWAS with millions of variants needs efficient approximation methods</a:t>
            </a:r>
          </a:p>
          <a:p>
            <a:endParaRPr lang="en-US" sz="1200" dirty="0"/>
          </a:p>
        </p:txBody>
      </p:sp>
      <p:sp>
        <p:nvSpPr>
          <p:cNvPr id="13" name="TextBox 12">
            <a:extLst>
              <a:ext uri="{FF2B5EF4-FFF2-40B4-BE49-F238E27FC236}">
                <a16:creationId xmlns:a16="http://schemas.microsoft.com/office/drawing/2014/main" id="{CB503DCF-DCA1-AB13-06A7-5D053B19DE73}"/>
              </a:ext>
            </a:extLst>
          </p:cNvPr>
          <p:cNvSpPr txBox="1"/>
          <p:nvPr/>
        </p:nvSpPr>
        <p:spPr>
          <a:xfrm>
            <a:off x="1118787" y="500094"/>
            <a:ext cx="6863802" cy="276999"/>
          </a:xfrm>
          <a:prstGeom prst="rect">
            <a:avLst/>
          </a:prstGeom>
          <a:noFill/>
        </p:spPr>
        <p:txBody>
          <a:bodyPr wrap="none" rtlCol="0">
            <a:spAutoFit/>
          </a:bodyPr>
          <a:lstStyle/>
          <a:p>
            <a:r>
              <a:rPr lang="en-US" sz="1200" dirty="0"/>
              <a:t>quantifies uncertainty about competing explanations by computing how well each model predicts the data</a:t>
            </a:r>
          </a:p>
        </p:txBody>
      </p:sp>
    </p:spTree>
    <p:extLst>
      <p:ext uri="{BB962C8B-B14F-4D97-AF65-F5344CB8AC3E}">
        <p14:creationId xmlns:p14="http://schemas.microsoft.com/office/powerpoint/2010/main" val="2606049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D8EBF-0138-9C7C-F603-50FFB309AB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201820-FA4A-1AE4-29F1-AC391332A681}"/>
              </a:ext>
            </a:extLst>
          </p:cNvPr>
          <p:cNvSpPr txBox="1"/>
          <p:nvPr/>
        </p:nvSpPr>
        <p:spPr>
          <a:xfrm>
            <a:off x="2116395" y="138690"/>
            <a:ext cx="4911210" cy="400110"/>
          </a:xfrm>
          <a:prstGeom prst="rect">
            <a:avLst/>
          </a:prstGeom>
          <a:noFill/>
        </p:spPr>
        <p:txBody>
          <a:bodyPr wrap="square" rtlCol="0" anchor="ctr">
            <a:spAutoFit/>
          </a:bodyPr>
          <a:lstStyle/>
          <a:p>
            <a:pPr algn="ctr"/>
            <a:r>
              <a:rPr lang="en-US" sz="2000" b="1" dirty="0"/>
              <a:t>Bayesian Mixture Model</a:t>
            </a:r>
          </a:p>
        </p:txBody>
      </p:sp>
      <p:sp>
        <p:nvSpPr>
          <p:cNvPr id="4" name="Rounded Rectangle 3">
            <a:extLst>
              <a:ext uri="{FF2B5EF4-FFF2-40B4-BE49-F238E27FC236}">
                <a16:creationId xmlns:a16="http://schemas.microsoft.com/office/drawing/2014/main" id="{B4E4CB0B-73BD-1F1A-EEED-F9968A651A62}"/>
              </a:ext>
            </a:extLst>
          </p:cNvPr>
          <p:cNvSpPr/>
          <p:nvPr/>
        </p:nvSpPr>
        <p:spPr>
          <a:xfrm>
            <a:off x="451413" y="981519"/>
            <a:ext cx="8241174" cy="117340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 name="Rounded Rectangle 6">
            <a:extLst>
              <a:ext uri="{FF2B5EF4-FFF2-40B4-BE49-F238E27FC236}">
                <a16:creationId xmlns:a16="http://schemas.microsoft.com/office/drawing/2014/main" id="{4050B966-1A46-3434-0E8A-EB45A9FA9CBB}"/>
              </a:ext>
            </a:extLst>
          </p:cNvPr>
          <p:cNvSpPr/>
          <p:nvPr/>
        </p:nvSpPr>
        <p:spPr>
          <a:xfrm>
            <a:off x="451413" y="4572000"/>
            <a:ext cx="8241174" cy="427105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Rounded Rectangle 9">
            <a:extLst>
              <a:ext uri="{FF2B5EF4-FFF2-40B4-BE49-F238E27FC236}">
                <a16:creationId xmlns:a16="http://schemas.microsoft.com/office/drawing/2014/main" id="{58012DA0-8286-2BA8-825A-D0E405126AA2}"/>
              </a:ext>
            </a:extLst>
          </p:cNvPr>
          <p:cNvSpPr/>
          <p:nvPr/>
        </p:nvSpPr>
        <p:spPr>
          <a:xfrm>
            <a:off x="451413" y="2294079"/>
            <a:ext cx="8241174" cy="210841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0F71A3F9-5944-FEDB-16A0-B7B6C52982DF}"/>
              </a:ext>
            </a:extLst>
          </p:cNvPr>
          <p:cNvSpPr txBox="1"/>
          <p:nvPr/>
        </p:nvSpPr>
        <p:spPr>
          <a:xfrm>
            <a:off x="2334006" y="2367529"/>
            <a:ext cx="4475988" cy="338554"/>
          </a:xfrm>
          <a:prstGeom prst="rect">
            <a:avLst/>
          </a:prstGeom>
          <a:noFill/>
        </p:spPr>
        <p:txBody>
          <a:bodyPr wrap="square" rtlCol="0" anchor="ctr">
            <a:spAutoFit/>
          </a:bodyPr>
          <a:lstStyle/>
          <a:p>
            <a:pPr algn="ctr"/>
            <a:r>
              <a:rPr lang="en-US" sz="1600" b="1" dirty="0"/>
              <a:t>Key Formula</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7760014-3BE4-94C2-B46F-3A431448C5C9}"/>
                  </a:ext>
                </a:extLst>
              </p:cNvPr>
              <p:cNvSpPr txBox="1"/>
              <p:nvPr/>
            </p:nvSpPr>
            <p:spPr>
              <a:xfrm>
                <a:off x="1029147" y="2690341"/>
                <a:ext cx="7085707" cy="7846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ea typeface="Cambria Math" panose="02040503050406030204" pitchFamily="18" charset="0"/>
                        </a:rPr>
                        <m:t>𝑝</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𝛽</m:t>
                          </m:r>
                        </m:e>
                      </m:d>
                      <m:r>
                        <a:rPr lang="en-US" sz="1600" b="1" i="1" smtClean="0">
                          <a:latin typeface="Cambria Math" panose="02040503050406030204" pitchFamily="18" charset="0"/>
                          <a:ea typeface="Cambria Math" panose="02040503050406030204" pitchFamily="18" charset="0"/>
                        </a:rPr>
                        <m:t>=</m:t>
                      </m:r>
                      <m:nary>
                        <m:naryPr>
                          <m:chr m:val="∑"/>
                          <m:ctrlPr>
                            <a:rPr lang="en-US" sz="1600" i="1" smtClean="0">
                              <a:latin typeface="Cambria Math" panose="02040503050406030204" pitchFamily="18" charset="0"/>
                              <a:ea typeface="Cambria Math" panose="02040503050406030204" pitchFamily="18" charset="0"/>
                            </a:rPr>
                          </m:ctrlPr>
                        </m:naryPr>
                        <m:sub>
                          <m:r>
                            <a:rPr lang="en-US" sz="1600" b="0" i="1" smtClean="0">
                              <a:latin typeface="Cambria Math" panose="02040503050406030204" pitchFamily="18" charset="0"/>
                              <a:ea typeface="Cambria Math" panose="02040503050406030204" pitchFamily="18" charset="0"/>
                            </a:rPr>
                            <m:t>𝑐</m:t>
                          </m:r>
                          <m:r>
                            <a:rPr lang="en-US" sz="1600" b="0" i="1" smtClean="0">
                              <a:latin typeface="Cambria Math" panose="02040503050406030204" pitchFamily="18" charset="0"/>
                              <a:ea typeface="Cambria Math" panose="02040503050406030204" pitchFamily="18" charset="0"/>
                            </a:rPr>
                            <m:t>=1</m:t>
                          </m:r>
                        </m:sub>
                        <m:sup>
                          <m:r>
                            <a:rPr lang="en-US" sz="1600" b="0" i="1" smtClean="0">
                              <a:latin typeface="Cambria Math" panose="02040503050406030204" pitchFamily="18" charset="0"/>
                              <a:ea typeface="Cambria Math" panose="02040503050406030204" pitchFamily="18" charset="0"/>
                            </a:rPr>
                            <m:t>𝐶</m:t>
                          </m:r>
                        </m:sup>
                        <m:e>
                          <m:sSub>
                            <m:sSubPr>
                              <m:ctrlPr>
                                <a:rPr lang="en-US" sz="160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𝜋</m:t>
                              </m:r>
                            </m:e>
                            <m:sub>
                              <m:r>
                                <a:rPr lang="en-US" sz="1600" b="0" i="1" smtClean="0">
                                  <a:latin typeface="Cambria Math" panose="02040503050406030204" pitchFamily="18" charset="0"/>
                                  <a:ea typeface="Cambria Math" panose="02040503050406030204" pitchFamily="18" charset="0"/>
                                </a:rPr>
                                <m:t>𝑐</m:t>
                              </m:r>
                            </m:sub>
                          </m:sSub>
                          <m:sSub>
                            <m:sSubPr>
                              <m:ctrlPr>
                                <a:rPr lang="en-US" sz="160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𝑝</m:t>
                              </m:r>
                            </m:e>
                            <m:sub>
                              <m:r>
                                <a:rPr lang="en-US" sz="1600" b="0" i="1" smtClean="0">
                                  <a:latin typeface="Cambria Math" panose="02040503050406030204" pitchFamily="18" charset="0"/>
                                  <a:ea typeface="Cambria Math" panose="02040503050406030204" pitchFamily="18" charset="0"/>
                                </a:rPr>
                                <m:t>𝑐</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e>
                      </m:nary>
                    </m:oMath>
                  </m:oMathPara>
                </a14:m>
                <a:endParaRPr lang="en-US" sz="1600" i="1" dirty="0">
                  <a:latin typeface="Cambria Math" panose="02040503050406030204" pitchFamily="18" charset="0"/>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67760014-3BE4-94C2-B46F-3A431448C5C9}"/>
                  </a:ext>
                </a:extLst>
              </p:cNvPr>
              <p:cNvSpPr txBox="1">
                <a:spLocks noRot="1" noChangeAspect="1" noMove="1" noResize="1" noEditPoints="1" noAdjustHandles="1" noChangeArrowheads="1" noChangeShapeType="1" noTextEdit="1"/>
              </p:cNvSpPr>
              <p:nvPr/>
            </p:nvSpPr>
            <p:spPr>
              <a:xfrm>
                <a:off x="1029147" y="2690341"/>
                <a:ext cx="7085707" cy="784638"/>
              </a:xfrm>
              <a:prstGeom prst="rect">
                <a:avLst/>
              </a:prstGeom>
              <a:blipFill>
                <a:blip r:embed="rId2"/>
                <a:stretch>
                  <a:fillRect t="-93651" b="-1523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A7A22FF-F5D6-687A-DD19-EFD3433394F2}"/>
              </a:ext>
            </a:extLst>
          </p:cNvPr>
          <p:cNvSpPr txBox="1"/>
          <p:nvPr/>
        </p:nvSpPr>
        <p:spPr>
          <a:xfrm>
            <a:off x="625007" y="1066290"/>
            <a:ext cx="7893987" cy="738664"/>
          </a:xfrm>
          <a:prstGeom prst="rect">
            <a:avLst/>
          </a:prstGeom>
          <a:noFill/>
        </p:spPr>
        <p:txBody>
          <a:bodyPr wrap="square">
            <a:spAutoFit/>
          </a:bodyPr>
          <a:lstStyle/>
          <a:p>
            <a:pPr algn="just"/>
            <a:r>
              <a:rPr lang="en-US" sz="1400" dirty="0"/>
              <a:t>A Bayesian mixture model arises when we cannot condition on which component generated the data, so we treat component memberships as latent random variables and quantify uncertainty about the underlying heterogeneous structure through joint inference over both memberships and parameters.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944841D-DEAE-193C-F795-759FCBF07B3D}"/>
                  </a:ext>
                </a:extLst>
              </p:cNvPr>
              <p:cNvSpPr txBox="1"/>
              <p:nvPr/>
            </p:nvSpPr>
            <p:spPr>
              <a:xfrm>
                <a:off x="1029147" y="3540315"/>
                <a:ext cx="7085707" cy="836576"/>
              </a:xfrm>
              <a:prstGeom prst="rect">
                <a:avLst/>
              </a:prstGeom>
              <a:noFill/>
            </p:spPr>
            <p:txBody>
              <a:bodyPr wrap="square">
                <a:spAutoFit/>
              </a:bodyPr>
              <a:lstStyle/>
              <a:p>
                <a:pPr marL="171450" indent="-171450">
                  <a:buFont typeface="Arial" panose="020B0604020202020204" pitchFamily="34" charset="0"/>
                  <a:buChar char="•"/>
                </a:pPr>
                <a14:m>
                  <m:oMath xmlns:m="http://schemas.openxmlformats.org/officeDocument/2006/math">
                    <m:r>
                      <a:rPr lang="en-US" sz="1200" i="1" smtClean="0">
                        <a:latin typeface="Cambria Math" panose="02040503050406030204" pitchFamily="18" charset="0"/>
                        <a:ea typeface="Cambria Math" panose="02040503050406030204" pitchFamily="18" charset="0"/>
                      </a:rPr>
                      <m:t>𝛽</m:t>
                    </m:r>
                  </m:oMath>
                </a14:m>
                <a:r>
                  <a:rPr lang="en-US" sz="1200" i="1" dirty="0">
                    <a:latin typeface="Cambria Math" panose="02040503050406030204" pitchFamily="18" charset="0"/>
                    <a:ea typeface="Cambria Math" panose="02040503050406030204" pitchFamily="18" charset="0"/>
                  </a:rPr>
                  <a:t> </a:t>
                </a:r>
                <a:r>
                  <a:rPr lang="en-US" sz="1200" dirty="0">
                    <a:ea typeface="Cambria Math" panose="02040503050406030204" pitchFamily="18" charset="0"/>
                  </a:rPr>
                  <a:t>comes from a weighted sum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𝐶</m:t>
                    </m:r>
                  </m:oMath>
                </a14:m>
                <a:r>
                  <a:rPr lang="en-US" sz="1200" i="1" dirty="0">
                    <a:latin typeface="Cambria Math" panose="02040503050406030204" pitchFamily="18" charset="0"/>
                    <a:ea typeface="Cambria Math" panose="02040503050406030204" pitchFamily="18" charset="0"/>
                  </a:rPr>
                  <a:t> </a:t>
                </a:r>
                <a:r>
                  <a:rPr lang="en-US" sz="1200" dirty="0">
                    <a:ea typeface="Cambria Math" panose="02040503050406030204" pitchFamily="18" charset="0"/>
                  </a:rPr>
                  <a:t>different distributions (components), each with weight </a:t>
                </a: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𝜋</m:t>
                        </m:r>
                      </m:e>
                      <m:sub>
                        <m:r>
                          <a:rPr lang="en-US" sz="1200" b="0" i="1" smtClean="0">
                            <a:latin typeface="Cambria Math" panose="02040503050406030204" pitchFamily="18" charset="0"/>
                            <a:ea typeface="Cambria Math" panose="02040503050406030204" pitchFamily="18" charset="0"/>
                          </a:rPr>
                          <m:t>𝑐</m:t>
                        </m:r>
                      </m:sub>
                    </m:sSub>
                  </m:oMath>
                </a14:m>
                <a:endParaRPr lang="en-US" sz="1200" dirty="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𝜋</m:t>
                        </m:r>
                      </m:e>
                      <m:sub>
                        <m:r>
                          <a:rPr lang="en-US" sz="1200" b="0" i="1" smtClean="0">
                            <a:latin typeface="Cambria Math" panose="02040503050406030204" pitchFamily="18" charset="0"/>
                            <a:ea typeface="Cambria Math" panose="02040503050406030204" pitchFamily="18" charset="0"/>
                          </a:rPr>
                          <m:t>𝑐</m:t>
                        </m:r>
                      </m:sub>
                    </m:sSub>
                  </m:oMath>
                </a14:m>
                <a:r>
                  <a:rPr lang="en-US" sz="1200" dirty="0">
                    <a:ea typeface="Cambria Math" panose="02040503050406030204" pitchFamily="18" charset="0"/>
                  </a:rPr>
                  <a:t>: mixture weight for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𝑐</m:t>
                    </m:r>
                  </m:oMath>
                </a14:m>
                <a:r>
                  <a:rPr lang="en-US" sz="1200" dirty="0">
                    <a:ea typeface="Cambria Math" panose="02040503050406030204" pitchFamily="18" charset="0"/>
                  </a:rPr>
                  <a:t>-</a:t>
                </a:r>
                <a:r>
                  <a:rPr lang="en-US" sz="1200" dirty="0" err="1">
                    <a:ea typeface="Cambria Math" panose="02040503050406030204" pitchFamily="18" charset="0"/>
                  </a:rPr>
                  <a:t>th</a:t>
                </a:r>
                <a:r>
                  <a:rPr lang="en-US" sz="1200" dirty="0">
                    <a:ea typeface="Cambria Math" panose="02040503050406030204" pitchFamily="18" charset="0"/>
                  </a:rPr>
                  <a:t> component, </a:t>
                </a:r>
                <a14:m>
                  <m:oMath xmlns:m="http://schemas.openxmlformats.org/officeDocument/2006/math">
                    <m:nary>
                      <m:naryPr>
                        <m:chr m:val="∑"/>
                        <m:ctrlPr>
                          <a:rPr lang="en-US" sz="1200" i="1" smtClean="0">
                            <a:latin typeface="Cambria Math" panose="02040503050406030204" pitchFamily="18" charset="0"/>
                            <a:ea typeface="Cambria Math" panose="02040503050406030204" pitchFamily="18" charset="0"/>
                          </a:rPr>
                        </m:ctrlPr>
                      </m:naryPr>
                      <m:sub>
                        <m:r>
                          <a:rPr lang="en-US" sz="1200" b="0" i="1" smtClean="0">
                            <a:latin typeface="Cambria Math" panose="02040503050406030204" pitchFamily="18" charset="0"/>
                            <a:ea typeface="Cambria Math" panose="02040503050406030204" pitchFamily="18" charset="0"/>
                          </a:rPr>
                          <m:t>𝑐</m:t>
                        </m:r>
                        <m:r>
                          <a:rPr lang="en-US" sz="1200" i="1">
                            <a:latin typeface="Cambria Math" panose="02040503050406030204" pitchFamily="18" charset="0"/>
                            <a:ea typeface="Cambria Math" panose="02040503050406030204" pitchFamily="18" charset="0"/>
                          </a:rPr>
                          <m:t>=1</m:t>
                        </m:r>
                      </m:sub>
                      <m:sup>
                        <m:r>
                          <a:rPr lang="en-US" sz="1200" b="0" i="1" smtClean="0">
                            <a:latin typeface="Cambria Math" panose="02040503050406030204" pitchFamily="18" charset="0"/>
                            <a:ea typeface="Cambria Math" panose="02040503050406030204" pitchFamily="18" charset="0"/>
                          </a:rPr>
                          <m:t>𝐶</m:t>
                        </m:r>
                      </m:sup>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𝜋</m:t>
                            </m:r>
                          </m:e>
                          <m:sub>
                            <m:r>
                              <a:rPr lang="en-US" sz="1200" b="0" i="1" smtClean="0">
                                <a:latin typeface="Cambria Math" panose="02040503050406030204" pitchFamily="18" charset="0"/>
                                <a:ea typeface="Cambria Math" panose="02040503050406030204" pitchFamily="18" charset="0"/>
                              </a:rPr>
                              <m:t>𝑐</m:t>
                            </m:r>
                          </m:sub>
                        </m:sSub>
                      </m:e>
                    </m:nary>
                    <m:r>
                      <a:rPr lang="en-US" sz="1200" b="0" i="1" smtClean="0">
                        <a:latin typeface="Cambria Math" panose="02040503050406030204" pitchFamily="18" charset="0"/>
                        <a:ea typeface="Cambria Math" panose="02040503050406030204" pitchFamily="18" charset="0"/>
                      </a:rPr>
                      <m:t>=1</m:t>
                    </m:r>
                  </m:oMath>
                </a14:m>
                <a:endParaRPr lang="en-US" sz="1200" i="1" dirty="0">
                  <a:latin typeface="Cambria Math" panose="02040503050406030204" pitchFamily="18" charset="0"/>
                  <a:ea typeface="Cambria Math" panose="02040503050406030204" pitchFamily="18" charset="0"/>
                </a:endParaRPr>
              </a:p>
              <a:p>
                <a:pPr marL="171450" indent="-171450">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b="0" i="1" smtClean="0">
                            <a:latin typeface="Cambria Math" panose="02040503050406030204" pitchFamily="18" charset="0"/>
                            <a:ea typeface="Cambria Math" panose="02040503050406030204" pitchFamily="18" charset="0"/>
                          </a:rPr>
                          <m:t>𝑐</m:t>
                        </m:r>
                      </m:sub>
                    </m:sSub>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𝛽</m:t>
                        </m:r>
                      </m:e>
                    </m:d>
                  </m:oMath>
                </a14:m>
                <a:r>
                  <a:rPr lang="en-US" sz="1200" dirty="0">
                    <a:ea typeface="Cambria Math" panose="02040503050406030204" pitchFamily="18" charset="0"/>
                  </a:rPr>
                  <a:t>: probability density function of the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𝑐</m:t>
                    </m:r>
                  </m:oMath>
                </a14:m>
                <a:r>
                  <a:rPr lang="en-US" sz="1200" dirty="0">
                    <a:ea typeface="Cambria Math" panose="02040503050406030204" pitchFamily="18" charset="0"/>
                  </a:rPr>
                  <a:t>-</a:t>
                </a:r>
                <a:r>
                  <a:rPr lang="en-US" sz="1200" dirty="0" err="1">
                    <a:ea typeface="Cambria Math" panose="02040503050406030204" pitchFamily="18" charset="0"/>
                  </a:rPr>
                  <a:t>th</a:t>
                </a:r>
                <a:r>
                  <a:rPr lang="en-US" sz="1200" dirty="0">
                    <a:ea typeface="Cambria Math" panose="02040503050406030204" pitchFamily="18" charset="0"/>
                  </a:rPr>
                  <a:t> component</a:t>
                </a:r>
              </a:p>
              <a:p>
                <a:pPr marL="171450" indent="-171450">
                  <a:buFont typeface="Arial" panose="020B0604020202020204" pitchFamily="34" charset="0"/>
                  <a:buChar char="•"/>
                </a:pPr>
                <a:r>
                  <a:rPr lang="en-US" sz="1200" dirty="0">
                    <a:ea typeface="Cambria Math" panose="02040503050406030204" pitchFamily="18" charset="0"/>
                  </a:rPr>
                  <a:t>Why important? </a:t>
                </a:r>
                <a:r>
                  <a:rPr lang="en-US" sz="1200" b="1" dirty="0">
                    <a:ea typeface="Cambria Math" panose="02040503050406030204" pitchFamily="18" charset="0"/>
                  </a:rPr>
                  <a:t>Genetic architectures naturally have multiple classes of effects.</a:t>
                </a:r>
              </a:p>
            </p:txBody>
          </p:sp>
        </mc:Choice>
        <mc:Fallback xmlns="">
          <p:sp>
            <p:nvSpPr>
              <p:cNvPr id="13" name="TextBox 12">
                <a:extLst>
                  <a:ext uri="{FF2B5EF4-FFF2-40B4-BE49-F238E27FC236}">
                    <a16:creationId xmlns:a16="http://schemas.microsoft.com/office/drawing/2014/main" id="{9944841D-DEAE-193C-F795-759FCBF07B3D}"/>
                  </a:ext>
                </a:extLst>
              </p:cNvPr>
              <p:cNvSpPr txBox="1">
                <a:spLocks noRot="1" noChangeAspect="1" noMove="1" noResize="1" noEditPoints="1" noAdjustHandles="1" noChangeArrowheads="1" noChangeShapeType="1" noTextEdit="1"/>
              </p:cNvSpPr>
              <p:nvPr/>
            </p:nvSpPr>
            <p:spPr>
              <a:xfrm>
                <a:off x="1029147" y="3540315"/>
                <a:ext cx="7085707" cy="836576"/>
              </a:xfrm>
              <a:prstGeom prst="rect">
                <a:avLst/>
              </a:prstGeom>
              <a:blipFill>
                <a:blip r:embed="rId3"/>
                <a:stretch>
                  <a:fillRect t="-8955" b="-7463"/>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A800AE15-2B31-4D36-74CD-4B4C0119A24C}"/>
              </a:ext>
            </a:extLst>
          </p:cNvPr>
          <p:cNvPicPr>
            <a:picLocks noChangeAspect="1"/>
          </p:cNvPicPr>
          <p:nvPr/>
        </p:nvPicPr>
        <p:blipFill>
          <a:blip r:embed="rId4"/>
          <a:srcRect/>
          <a:stretch/>
        </p:blipFill>
        <p:spPr>
          <a:xfrm>
            <a:off x="1361527" y="4968936"/>
            <a:ext cx="6420946" cy="3852567"/>
          </a:xfrm>
          <a:prstGeom prst="rect">
            <a:avLst/>
          </a:prstGeom>
        </p:spPr>
      </p:pic>
      <p:sp>
        <p:nvSpPr>
          <p:cNvPr id="5" name="TextBox 4">
            <a:extLst>
              <a:ext uri="{FF2B5EF4-FFF2-40B4-BE49-F238E27FC236}">
                <a16:creationId xmlns:a16="http://schemas.microsoft.com/office/drawing/2014/main" id="{E84659BE-930D-39C8-F136-DB60FBD05B66}"/>
              </a:ext>
            </a:extLst>
          </p:cNvPr>
          <p:cNvSpPr txBox="1"/>
          <p:nvPr/>
        </p:nvSpPr>
        <p:spPr>
          <a:xfrm>
            <a:off x="2334006" y="4630382"/>
            <a:ext cx="4475988" cy="338554"/>
          </a:xfrm>
          <a:prstGeom prst="rect">
            <a:avLst/>
          </a:prstGeom>
          <a:noFill/>
        </p:spPr>
        <p:txBody>
          <a:bodyPr wrap="square" rtlCol="0" anchor="ctr">
            <a:spAutoFit/>
          </a:bodyPr>
          <a:lstStyle/>
          <a:p>
            <a:pPr algn="ctr"/>
            <a:r>
              <a:rPr lang="en-US" sz="1600" b="1" dirty="0"/>
              <a:t>Example</a:t>
            </a:r>
          </a:p>
        </p:txBody>
      </p:sp>
      <p:sp>
        <p:nvSpPr>
          <p:cNvPr id="3" name="TextBox 2">
            <a:extLst>
              <a:ext uri="{FF2B5EF4-FFF2-40B4-BE49-F238E27FC236}">
                <a16:creationId xmlns:a16="http://schemas.microsoft.com/office/drawing/2014/main" id="{4F60F02E-27DA-D066-6012-517758B11BD1}"/>
              </a:ext>
            </a:extLst>
          </p:cNvPr>
          <p:cNvSpPr txBox="1"/>
          <p:nvPr/>
        </p:nvSpPr>
        <p:spPr>
          <a:xfrm>
            <a:off x="497711" y="471103"/>
            <a:ext cx="8148578" cy="461665"/>
          </a:xfrm>
          <a:prstGeom prst="rect">
            <a:avLst/>
          </a:prstGeom>
          <a:noFill/>
        </p:spPr>
        <p:txBody>
          <a:bodyPr wrap="square" rtlCol="0">
            <a:spAutoFit/>
          </a:bodyPr>
          <a:lstStyle/>
          <a:p>
            <a:pPr algn="ctr"/>
            <a:r>
              <a:rPr lang="en-US" sz="1200" dirty="0"/>
              <a:t>A probabilistic model where observed data comes from a mixture of underlying distributions, </a:t>
            </a:r>
          </a:p>
          <a:p>
            <a:pPr algn="ctr"/>
            <a:r>
              <a:rPr lang="en-US" sz="1200" dirty="0"/>
              <a:t>with parameters estimated using Bayesian inference with prior distributions</a:t>
            </a:r>
          </a:p>
        </p:txBody>
      </p:sp>
    </p:spTree>
    <p:extLst>
      <p:ext uri="{BB962C8B-B14F-4D97-AF65-F5344CB8AC3E}">
        <p14:creationId xmlns:p14="http://schemas.microsoft.com/office/powerpoint/2010/main" val="1760134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DCD446-BB8D-1619-4003-67C3A5E99C03}"/>
              </a:ext>
            </a:extLst>
          </p:cNvPr>
          <p:cNvSpPr txBox="1"/>
          <p:nvPr/>
        </p:nvSpPr>
        <p:spPr>
          <a:xfrm>
            <a:off x="2116393" y="80661"/>
            <a:ext cx="4911210" cy="400110"/>
          </a:xfrm>
          <a:prstGeom prst="rect">
            <a:avLst/>
          </a:prstGeom>
          <a:noFill/>
        </p:spPr>
        <p:txBody>
          <a:bodyPr wrap="square" rtlCol="0" anchor="ctr">
            <a:spAutoFit/>
          </a:bodyPr>
          <a:lstStyle/>
          <a:p>
            <a:pPr algn="ctr"/>
            <a:r>
              <a:rPr lang="en-US" sz="2000" b="1" dirty="0"/>
              <a:t>Factor Analysis</a:t>
            </a:r>
          </a:p>
        </p:txBody>
      </p:sp>
      <p:sp>
        <p:nvSpPr>
          <p:cNvPr id="4" name="Rounded Rectangle 3">
            <a:extLst>
              <a:ext uri="{FF2B5EF4-FFF2-40B4-BE49-F238E27FC236}">
                <a16:creationId xmlns:a16="http://schemas.microsoft.com/office/drawing/2014/main" id="{4A29BE67-9A19-6DD5-6643-0353E554892A}"/>
              </a:ext>
            </a:extLst>
          </p:cNvPr>
          <p:cNvSpPr/>
          <p:nvPr/>
        </p:nvSpPr>
        <p:spPr>
          <a:xfrm>
            <a:off x="5125792" y="834964"/>
            <a:ext cx="3100139" cy="3703320"/>
          </a:xfrm>
          <a:prstGeom prst="round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5" name="Rounded Rectangle 4">
            <a:extLst>
              <a:ext uri="{FF2B5EF4-FFF2-40B4-BE49-F238E27FC236}">
                <a16:creationId xmlns:a16="http://schemas.microsoft.com/office/drawing/2014/main" id="{D7F07AF0-5E90-A22C-E3CA-2447FC3F89BB}"/>
              </a:ext>
            </a:extLst>
          </p:cNvPr>
          <p:cNvSpPr/>
          <p:nvPr/>
        </p:nvSpPr>
        <p:spPr>
          <a:xfrm>
            <a:off x="770385" y="836614"/>
            <a:ext cx="3100139" cy="3700020"/>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7" name="TextBox 6">
            <a:extLst>
              <a:ext uri="{FF2B5EF4-FFF2-40B4-BE49-F238E27FC236}">
                <a16:creationId xmlns:a16="http://schemas.microsoft.com/office/drawing/2014/main" id="{548F8C0F-C7B6-FCE5-6F2E-00AC40FB3E5D}"/>
              </a:ext>
            </a:extLst>
          </p:cNvPr>
          <p:cNvSpPr txBox="1"/>
          <p:nvPr/>
        </p:nvSpPr>
        <p:spPr>
          <a:xfrm>
            <a:off x="768163" y="460740"/>
            <a:ext cx="7607673" cy="261610"/>
          </a:xfrm>
          <a:prstGeom prst="rect">
            <a:avLst/>
          </a:prstGeom>
          <a:noFill/>
        </p:spPr>
        <p:txBody>
          <a:bodyPr wrap="square">
            <a:spAutoFit/>
          </a:bodyPr>
          <a:lstStyle/>
          <a:p>
            <a:pPr algn="ctr"/>
            <a:r>
              <a:rPr lang="en-US" sz="1100" dirty="0"/>
              <a:t>Discovers the hidden factors that cause the pattern of the observed variables</a:t>
            </a:r>
          </a:p>
        </p:txBody>
      </p:sp>
      <p:sp>
        <p:nvSpPr>
          <p:cNvPr id="17" name="Oval 16">
            <a:extLst>
              <a:ext uri="{FF2B5EF4-FFF2-40B4-BE49-F238E27FC236}">
                <a16:creationId xmlns:a16="http://schemas.microsoft.com/office/drawing/2014/main" id="{386120E4-52E5-C5ED-D11C-9326CEE2D7AE}"/>
              </a:ext>
            </a:extLst>
          </p:cNvPr>
          <p:cNvSpPr>
            <a:spLocks noChangeAspect="1"/>
          </p:cNvSpPr>
          <p:nvPr/>
        </p:nvSpPr>
        <p:spPr>
          <a:xfrm>
            <a:off x="1770344" y="1172135"/>
            <a:ext cx="1100220" cy="1097280"/>
          </a:xfrm>
          <a:prstGeom prst="ellipse">
            <a:avLst/>
          </a:prstGeom>
          <a:solidFill>
            <a:srgbClr val="F8766C"/>
          </a:solidFill>
          <a:ln w="28575">
            <a:solidFill>
              <a:srgbClr val="F8766C"/>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Factor 1</a:t>
            </a:r>
          </a:p>
        </p:txBody>
      </p:sp>
      <p:sp>
        <p:nvSpPr>
          <p:cNvPr id="18" name="Oval 17">
            <a:extLst>
              <a:ext uri="{FF2B5EF4-FFF2-40B4-BE49-F238E27FC236}">
                <a16:creationId xmlns:a16="http://schemas.microsoft.com/office/drawing/2014/main" id="{A6DAD572-361F-B49E-1D5C-72F36108D5C6}"/>
              </a:ext>
            </a:extLst>
          </p:cNvPr>
          <p:cNvSpPr/>
          <p:nvPr/>
        </p:nvSpPr>
        <p:spPr>
          <a:xfrm>
            <a:off x="1771814" y="2731248"/>
            <a:ext cx="1097280" cy="1097280"/>
          </a:xfrm>
          <a:prstGeom prst="ellipse">
            <a:avLst/>
          </a:prstGeom>
          <a:solidFill>
            <a:schemeClr val="accent5">
              <a:lumMod val="75000"/>
            </a:schemeClr>
          </a:solidFill>
          <a:ln w="28575">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Factor 2</a:t>
            </a:r>
          </a:p>
        </p:txBody>
      </p:sp>
      <p:sp>
        <p:nvSpPr>
          <p:cNvPr id="19" name="Rounded Rectangle 18">
            <a:extLst>
              <a:ext uri="{FF2B5EF4-FFF2-40B4-BE49-F238E27FC236}">
                <a16:creationId xmlns:a16="http://schemas.microsoft.com/office/drawing/2014/main" id="{FCCC3092-67FF-4E41-CC68-59AEF5A3CC87}"/>
              </a:ext>
            </a:extLst>
          </p:cNvPr>
          <p:cNvSpPr/>
          <p:nvPr/>
        </p:nvSpPr>
        <p:spPr>
          <a:xfrm>
            <a:off x="5905395" y="1195013"/>
            <a:ext cx="1540933" cy="431800"/>
          </a:xfrm>
          <a:prstGeom prst="roundRect">
            <a:avLst/>
          </a:prstGeom>
          <a:solidFill>
            <a:srgbClr val="016300"/>
          </a:solidFill>
          <a:ln>
            <a:solidFill>
              <a:srgbClr val="016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Variable 1</a:t>
            </a:r>
          </a:p>
        </p:txBody>
      </p:sp>
      <p:sp>
        <p:nvSpPr>
          <p:cNvPr id="20" name="Rounded Rectangle 19">
            <a:extLst>
              <a:ext uri="{FF2B5EF4-FFF2-40B4-BE49-F238E27FC236}">
                <a16:creationId xmlns:a16="http://schemas.microsoft.com/office/drawing/2014/main" id="{36EBA7AD-145D-849B-98C4-7FDF0E4900CE}"/>
              </a:ext>
            </a:extLst>
          </p:cNvPr>
          <p:cNvSpPr/>
          <p:nvPr/>
        </p:nvSpPr>
        <p:spPr>
          <a:xfrm>
            <a:off x="5905395" y="1764193"/>
            <a:ext cx="1540933" cy="431800"/>
          </a:xfrm>
          <a:prstGeom prst="roundRect">
            <a:avLst/>
          </a:prstGeom>
          <a:solidFill>
            <a:srgbClr val="016300"/>
          </a:solidFill>
          <a:ln>
            <a:solidFill>
              <a:srgbClr val="016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Variable 2</a:t>
            </a:r>
          </a:p>
        </p:txBody>
      </p:sp>
      <p:sp>
        <p:nvSpPr>
          <p:cNvPr id="21" name="Rounded Rectangle 20">
            <a:extLst>
              <a:ext uri="{FF2B5EF4-FFF2-40B4-BE49-F238E27FC236}">
                <a16:creationId xmlns:a16="http://schemas.microsoft.com/office/drawing/2014/main" id="{B61859B9-0295-8083-ABFF-09819A52BFA0}"/>
              </a:ext>
            </a:extLst>
          </p:cNvPr>
          <p:cNvSpPr/>
          <p:nvPr/>
        </p:nvSpPr>
        <p:spPr>
          <a:xfrm>
            <a:off x="5905395" y="2384744"/>
            <a:ext cx="1540933" cy="431800"/>
          </a:xfrm>
          <a:prstGeom prst="roundRect">
            <a:avLst/>
          </a:prstGeom>
          <a:solidFill>
            <a:srgbClr val="016300"/>
          </a:solidFill>
          <a:ln>
            <a:solidFill>
              <a:srgbClr val="016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Variable 3</a:t>
            </a:r>
          </a:p>
        </p:txBody>
      </p:sp>
      <p:sp>
        <p:nvSpPr>
          <p:cNvPr id="22" name="Rounded Rectangle 21">
            <a:extLst>
              <a:ext uri="{FF2B5EF4-FFF2-40B4-BE49-F238E27FC236}">
                <a16:creationId xmlns:a16="http://schemas.microsoft.com/office/drawing/2014/main" id="{4510FC7B-8F26-AB07-C70F-B0499E509222}"/>
              </a:ext>
            </a:extLst>
          </p:cNvPr>
          <p:cNvSpPr/>
          <p:nvPr/>
        </p:nvSpPr>
        <p:spPr>
          <a:xfrm>
            <a:off x="5905395" y="2986296"/>
            <a:ext cx="1540933" cy="431800"/>
          </a:xfrm>
          <a:prstGeom prst="roundRect">
            <a:avLst/>
          </a:prstGeom>
          <a:solidFill>
            <a:srgbClr val="016300"/>
          </a:solidFill>
          <a:ln>
            <a:solidFill>
              <a:srgbClr val="016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Variable 4</a:t>
            </a:r>
          </a:p>
        </p:txBody>
      </p:sp>
      <p:sp>
        <p:nvSpPr>
          <p:cNvPr id="23" name="Rounded Rectangle 22">
            <a:extLst>
              <a:ext uri="{FF2B5EF4-FFF2-40B4-BE49-F238E27FC236}">
                <a16:creationId xmlns:a16="http://schemas.microsoft.com/office/drawing/2014/main" id="{3DDC5B10-28FE-1A8C-7494-73C56172F0F0}"/>
              </a:ext>
            </a:extLst>
          </p:cNvPr>
          <p:cNvSpPr/>
          <p:nvPr/>
        </p:nvSpPr>
        <p:spPr>
          <a:xfrm>
            <a:off x="5905395" y="3587848"/>
            <a:ext cx="1540933" cy="431800"/>
          </a:xfrm>
          <a:prstGeom prst="roundRect">
            <a:avLst/>
          </a:prstGeom>
          <a:solidFill>
            <a:srgbClr val="016300"/>
          </a:solidFill>
          <a:ln>
            <a:solidFill>
              <a:srgbClr val="016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Variable 5</a:t>
            </a:r>
          </a:p>
        </p:txBody>
      </p:sp>
      <p:sp>
        <p:nvSpPr>
          <p:cNvPr id="24" name="TextBox 23">
            <a:extLst>
              <a:ext uri="{FF2B5EF4-FFF2-40B4-BE49-F238E27FC236}">
                <a16:creationId xmlns:a16="http://schemas.microsoft.com/office/drawing/2014/main" id="{AE812E4A-DCEC-9B7C-67D5-B4733B1A55B4}"/>
              </a:ext>
            </a:extLst>
          </p:cNvPr>
          <p:cNvSpPr txBox="1"/>
          <p:nvPr/>
        </p:nvSpPr>
        <p:spPr>
          <a:xfrm>
            <a:off x="5689790" y="4049676"/>
            <a:ext cx="1972143" cy="369332"/>
          </a:xfrm>
          <a:prstGeom prst="rect">
            <a:avLst/>
          </a:prstGeom>
          <a:noFill/>
        </p:spPr>
        <p:txBody>
          <a:bodyPr wrap="none" rtlCol="0">
            <a:spAutoFit/>
          </a:bodyPr>
          <a:lstStyle/>
          <a:p>
            <a:r>
              <a:rPr lang="en-US" dirty="0"/>
              <a:t>Observed variables</a:t>
            </a:r>
          </a:p>
        </p:txBody>
      </p:sp>
      <p:sp>
        <p:nvSpPr>
          <p:cNvPr id="25" name="TextBox 24">
            <a:extLst>
              <a:ext uri="{FF2B5EF4-FFF2-40B4-BE49-F238E27FC236}">
                <a16:creationId xmlns:a16="http://schemas.microsoft.com/office/drawing/2014/main" id="{7A0C048D-083C-2605-D0B3-223383CA8B3C}"/>
              </a:ext>
            </a:extLst>
          </p:cNvPr>
          <p:cNvSpPr txBox="1"/>
          <p:nvPr/>
        </p:nvSpPr>
        <p:spPr>
          <a:xfrm>
            <a:off x="793469" y="3845988"/>
            <a:ext cx="3100139" cy="646331"/>
          </a:xfrm>
          <a:prstGeom prst="rect">
            <a:avLst/>
          </a:prstGeom>
          <a:noFill/>
        </p:spPr>
        <p:txBody>
          <a:bodyPr wrap="square" rtlCol="0">
            <a:spAutoFit/>
          </a:bodyPr>
          <a:lstStyle/>
          <a:p>
            <a:pPr algn="ctr"/>
            <a:r>
              <a:rPr lang="en-US" dirty="0"/>
              <a:t>Latent factors</a:t>
            </a:r>
          </a:p>
          <a:p>
            <a:pPr algn="ctr"/>
            <a:r>
              <a:rPr lang="en-US" dirty="0"/>
              <a:t>(unobserved, to be inferred)</a:t>
            </a:r>
          </a:p>
        </p:txBody>
      </p:sp>
      <p:cxnSp>
        <p:nvCxnSpPr>
          <p:cNvPr id="27" name="Straight Arrow Connector 26">
            <a:extLst>
              <a:ext uri="{FF2B5EF4-FFF2-40B4-BE49-F238E27FC236}">
                <a16:creationId xmlns:a16="http://schemas.microsoft.com/office/drawing/2014/main" id="{094CCC12-43C0-47E1-24AC-E104A3B86401}"/>
              </a:ext>
            </a:extLst>
          </p:cNvPr>
          <p:cNvCxnSpPr>
            <a:cxnSpLocks/>
            <a:stCxn id="17" idx="6"/>
            <a:endCxn id="19" idx="1"/>
          </p:cNvCxnSpPr>
          <p:nvPr/>
        </p:nvCxnSpPr>
        <p:spPr>
          <a:xfrm flipV="1">
            <a:off x="2870564" y="1410913"/>
            <a:ext cx="3034831" cy="309862"/>
          </a:xfrm>
          <a:prstGeom prst="straightConnector1">
            <a:avLst/>
          </a:prstGeom>
          <a:ln w="19050">
            <a:solidFill>
              <a:srgbClr val="F8766C"/>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DEA01D8-CD96-3C66-9595-70A073C5D4F2}"/>
              </a:ext>
            </a:extLst>
          </p:cNvPr>
          <p:cNvCxnSpPr>
            <a:cxnSpLocks/>
            <a:stCxn id="17" idx="6"/>
            <a:endCxn id="20" idx="1"/>
          </p:cNvCxnSpPr>
          <p:nvPr/>
        </p:nvCxnSpPr>
        <p:spPr>
          <a:xfrm>
            <a:off x="2870564" y="1720775"/>
            <a:ext cx="3034831" cy="259318"/>
          </a:xfrm>
          <a:prstGeom prst="straightConnector1">
            <a:avLst/>
          </a:prstGeom>
          <a:ln w="19050">
            <a:solidFill>
              <a:srgbClr val="F8766C"/>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D8DBE5A-3845-9C9D-2FFF-B340A823B778}"/>
              </a:ext>
            </a:extLst>
          </p:cNvPr>
          <p:cNvCxnSpPr>
            <a:cxnSpLocks/>
            <a:stCxn id="18" idx="6"/>
            <a:endCxn id="22" idx="1"/>
          </p:cNvCxnSpPr>
          <p:nvPr/>
        </p:nvCxnSpPr>
        <p:spPr>
          <a:xfrm flipV="1">
            <a:off x="2869094" y="3202196"/>
            <a:ext cx="3036301" cy="77692"/>
          </a:xfrm>
          <a:prstGeom prst="straightConnector1">
            <a:avLst/>
          </a:prstGeom>
          <a:ln w="19050">
            <a:solidFill>
              <a:srgbClr val="0070C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63ECD5C-3543-1F61-7020-1AA5BF1F4454}"/>
              </a:ext>
            </a:extLst>
          </p:cNvPr>
          <p:cNvCxnSpPr>
            <a:cxnSpLocks/>
            <a:stCxn id="18" idx="6"/>
            <a:endCxn id="23" idx="1"/>
          </p:cNvCxnSpPr>
          <p:nvPr/>
        </p:nvCxnSpPr>
        <p:spPr>
          <a:xfrm>
            <a:off x="2869094" y="3279888"/>
            <a:ext cx="3036301" cy="523860"/>
          </a:xfrm>
          <a:prstGeom prst="straightConnector1">
            <a:avLst/>
          </a:prstGeom>
          <a:ln w="19050">
            <a:solidFill>
              <a:srgbClr val="0070C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9D7DCBD-C0ED-7632-7F72-6B24A8680B90}"/>
              </a:ext>
            </a:extLst>
          </p:cNvPr>
          <p:cNvCxnSpPr>
            <a:cxnSpLocks/>
            <a:stCxn id="18" idx="6"/>
            <a:endCxn id="21" idx="1"/>
          </p:cNvCxnSpPr>
          <p:nvPr/>
        </p:nvCxnSpPr>
        <p:spPr>
          <a:xfrm flipV="1">
            <a:off x="2869094" y="2600644"/>
            <a:ext cx="3036301" cy="679244"/>
          </a:xfrm>
          <a:prstGeom prst="straightConnector1">
            <a:avLst/>
          </a:prstGeom>
          <a:ln w="19050">
            <a:solidFill>
              <a:srgbClr val="0070C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4F33483F-B7E0-8A3A-04F0-2C144A880601}"/>
              </a:ext>
            </a:extLst>
          </p:cNvPr>
          <p:cNvSpPr/>
          <p:nvPr/>
        </p:nvSpPr>
        <p:spPr>
          <a:xfrm>
            <a:off x="372755" y="4844846"/>
            <a:ext cx="8398490" cy="4063180"/>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endParaRPr lang="en-US" sz="1600" dirty="0">
              <a:solidFill>
                <a:schemeClr val="tx1"/>
              </a:solidFill>
            </a:endParaRPr>
          </a:p>
          <a:p>
            <a:pPr marL="285750" indent="-285750" algn="just">
              <a:buFont typeface="Arial" panose="020B0604020202020204" pitchFamily="34" charset="0"/>
              <a:buChar char="•"/>
            </a:pPr>
            <a:endParaRPr lang="en-US" sz="1600" dirty="0">
              <a:solidFill>
                <a:schemeClr val="tx1"/>
              </a:solidFill>
            </a:endParaRPr>
          </a:p>
          <a:p>
            <a:pPr marL="285750" indent="-285750" algn="just">
              <a:buFont typeface="Arial" panose="020B0604020202020204" pitchFamily="34" charset="0"/>
              <a:buChar char="•"/>
            </a:pPr>
            <a:endParaRPr lang="en-US" sz="1600" dirty="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91A37F8-551C-4844-D45B-543A28A1EC32}"/>
                  </a:ext>
                </a:extLst>
              </p:cNvPr>
              <p:cNvSpPr txBox="1"/>
              <p:nvPr/>
            </p:nvSpPr>
            <p:spPr>
              <a:xfrm>
                <a:off x="491187" y="5317780"/>
                <a:ext cx="3999754" cy="1600438"/>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sz="1400" b="1" i="1" smtClean="0">
                        <a:latin typeface="Cambria Math" panose="02040503050406030204" pitchFamily="18" charset="0"/>
                      </a:rPr>
                      <m:t>𝑿</m:t>
                    </m:r>
                  </m:oMath>
                </a14:m>
                <a:r>
                  <a:rPr lang="en-US" sz="1400" dirty="0"/>
                  <a:t> (</a:t>
                </a:r>
                <a14:m>
                  <m:oMath xmlns:m="http://schemas.openxmlformats.org/officeDocument/2006/math">
                    <m:r>
                      <m:rPr>
                        <m:sty m:val="p"/>
                      </m:rPr>
                      <a:rPr lang="en-US" sz="1400" b="0" i="0" smtClean="0">
                        <a:latin typeface="Cambria Math" panose="02040503050406030204" pitchFamily="18" charset="0"/>
                        <a:ea typeface="Cambria Math" panose="02040503050406030204" pitchFamily="18" charset="0"/>
                      </a:rPr>
                      <m:t>N</m:t>
                    </m:r>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𝑝</m:t>
                    </m:r>
                  </m:oMath>
                </a14:m>
                <a:r>
                  <a:rPr lang="en-US" sz="1400" dirty="0"/>
                  <a:t>): each row is an observed variable and each column is a sample</a:t>
                </a:r>
              </a:p>
              <a:p>
                <a:pPr marL="285750" indent="-285750">
                  <a:buFont typeface="Arial" panose="020B0604020202020204" pitchFamily="34" charset="0"/>
                  <a:buChar char="•"/>
                </a:pPr>
                <a14:m>
                  <m:oMath xmlns:m="http://schemas.openxmlformats.org/officeDocument/2006/math">
                    <m:r>
                      <a:rPr lang="en-US" sz="1400" b="1" i="1" smtClean="0">
                        <a:latin typeface="Cambria Math" panose="02040503050406030204" pitchFamily="18" charset="0"/>
                      </a:rPr>
                      <m:t>𝑳</m:t>
                    </m:r>
                  </m:oMath>
                </a14:m>
                <a:r>
                  <a:rPr lang="en-US" sz="1400" dirty="0"/>
                  <a:t> (</a:t>
                </a:r>
                <a14:m>
                  <m:oMath xmlns:m="http://schemas.openxmlformats.org/officeDocument/2006/math">
                    <m:r>
                      <m:rPr>
                        <m:sty m:val="p"/>
                      </m:rPr>
                      <a:rPr lang="en-US" sz="1400" dirty="0">
                        <a:latin typeface="Cambria Math" panose="02040503050406030204" pitchFamily="18" charset="0"/>
                        <a:ea typeface="Cambria Math" panose="02040503050406030204" pitchFamily="18" charset="0"/>
                      </a:rPr>
                      <m:t>k</m:t>
                    </m:r>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𝑁</m:t>
                    </m:r>
                  </m:oMath>
                </a14:m>
                <a:r>
                  <a:rPr lang="en-US" sz="1400" dirty="0"/>
                  <a:t>): loading matrix (the underlying factor values of each sample)</a:t>
                </a:r>
              </a:p>
              <a:p>
                <a:pPr marL="285750" indent="-285750">
                  <a:buFont typeface="Arial" panose="020B0604020202020204" pitchFamily="34" charset="0"/>
                  <a:buChar char="•"/>
                </a:pPr>
                <a14:m>
                  <m:oMath xmlns:m="http://schemas.openxmlformats.org/officeDocument/2006/math">
                    <m:r>
                      <a:rPr lang="en-US" sz="1400" b="1" i="1" smtClean="0">
                        <a:latin typeface="Cambria Math" panose="02040503050406030204" pitchFamily="18" charset="0"/>
                        <a:sym typeface="Wingdings" pitchFamily="2" charset="2"/>
                      </a:rPr>
                      <m:t>𝑭</m:t>
                    </m:r>
                  </m:oMath>
                </a14:m>
                <a:r>
                  <a:rPr lang="en-US" sz="1400" dirty="0">
                    <a:sym typeface="Wingdings" pitchFamily="2" charset="2"/>
                  </a:rPr>
                  <a:t> (</a:t>
                </a:r>
                <a14:m>
                  <m:oMath xmlns:m="http://schemas.openxmlformats.org/officeDocument/2006/math">
                    <m:r>
                      <m:rPr>
                        <m:sty m:val="p"/>
                      </m:rPr>
                      <a:rPr lang="en-US" sz="1400" dirty="0">
                        <a:latin typeface="Cambria Math" panose="02040503050406030204" pitchFamily="18" charset="0"/>
                        <a:ea typeface="Cambria Math" panose="02040503050406030204" pitchFamily="18" charset="0"/>
                        <a:sym typeface="Wingdings" pitchFamily="2" charset="2"/>
                      </a:rPr>
                      <m:t>k</m:t>
                    </m:r>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𝑝</m:t>
                    </m:r>
                  </m:oMath>
                </a14:m>
                <a:r>
                  <a:rPr lang="en-US" sz="1400" dirty="0"/>
                  <a:t>): factor matrix (loading of each factor on the observed variables)</a:t>
                </a:r>
              </a:p>
              <a:p>
                <a:pPr marL="285750" indent="-285750">
                  <a:buFont typeface="Arial" panose="020B0604020202020204" pitchFamily="34" charset="0"/>
                  <a:buChar char="•"/>
                </a:pPr>
                <a14:m>
                  <m:oMath xmlns:m="http://schemas.openxmlformats.org/officeDocument/2006/math">
                    <m:r>
                      <a:rPr lang="en-US" sz="1400" b="1" i="1">
                        <a:latin typeface="Cambria Math" panose="02040503050406030204" pitchFamily="18" charset="0"/>
                      </a:rPr>
                      <m:t>𝑬</m:t>
                    </m:r>
                  </m:oMath>
                </a14:m>
                <a:r>
                  <a:rPr lang="en-US" sz="1400" dirty="0"/>
                  <a:t> (</a:t>
                </a:r>
                <a14:m>
                  <m:oMath xmlns:m="http://schemas.openxmlformats.org/officeDocument/2006/math">
                    <m:r>
                      <m:rPr>
                        <m:sty m:val="p"/>
                      </m:rPr>
                      <a:rPr lang="en-US" sz="1400" b="0" i="0" smtClean="0">
                        <a:latin typeface="Cambria Math" panose="02040503050406030204" pitchFamily="18" charset="0"/>
                        <a:ea typeface="Cambria Math" panose="02040503050406030204" pitchFamily="18" charset="0"/>
                      </a:rPr>
                      <m:t>N</m:t>
                    </m:r>
                    <m:r>
                      <a:rPr lang="en-US" sz="1400" i="1">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𝑝</m:t>
                    </m:r>
                  </m:oMath>
                </a14:m>
                <a:r>
                  <a:rPr lang="en-US" sz="1400" dirty="0"/>
                  <a:t>): unobserved stochastic error term</a:t>
                </a:r>
              </a:p>
            </p:txBody>
          </p:sp>
        </mc:Choice>
        <mc:Fallback xmlns="">
          <p:sp>
            <p:nvSpPr>
              <p:cNvPr id="6" name="TextBox 5">
                <a:extLst>
                  <a:ext uri="{FF2B5EF4-FFF2-40B4-BE49-F238E27FC236}">
                    <a16:creationId xmlns:a16="http://schemas.microsoft.com/office/drawing/2014/main" id="{391A37F8-551C-4844-D45B-543A28A1EC32}"/>
                  </a:ext>
                </a:extLst>
              </p:cNvPr>
              <p:cNvSpPr txBox="1">
                <a:spLocks noRot="1" noChangeAspect="1" noMove="1" noResize="1" noEditPoints="1" noAdjustHandles="1" noChangeArrowheads="1" noChangeShapeType="1" noTextEdit="1"/>
              </p:cNvSpPr>
              <p:nvPr/>
            </p:nvSpPr>
            <p:spPr>
              <a:xfrm>
                <a:off x="491187" y="5317780"/>
                <a:ext cx="3999754" cy="1600438"/>
              </a:xfrm>
              <a:prstGeom prst="rect">
                <a:avLst/>
              </a:prstGeom>
              <a:blipFill>
                <a:blip r:embed="rId3"/>
                <a:stretch>
                  <a:fillRect l="-316" t="-787" r="-633" b="-39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255EDC4-8036-1CA6-A42D-E7467732C5DD}"/>
                  </a:ext>
                </a:extLst>
              </p:cNvPr>
              <p:cNvSpPr txBox="1"/>
              <p:nvPr/>
            </p:nvSpPr>
            <p:spPr>
              <a:xfrm>
                <a:off x="3870524" y="4952374"/>
                <a:ext cx="15217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b="1" i="1" smtClean="0">
                              <a:latin typeface="Cambria Math" panose="02040503050406030204" pitchFamily="18" charset="0"/>
                            </a:rPr>
                            <m:t>𝑳</m:t>
                          </m:r>
                        </m:e>
                        <m:sup>
                          <m:r>
                            <a:rPr lang="en-US" b="0" i="1" smtClean="0">
                              <a:latin typeface="Cambria Math" panose="02040503050406030204" pitchFamily="18" charset="0"/>
                            </a:rPr>
                            <m:t>𝑇</m:t>
                          </m:r>
                        </m:sup>
                      </m:sSup>
                      <m:r>
                        <a:rPr lang="en-US" b="1" i="1">
                          <a:latin typeface="Cambria Math" panose="02040503050406030204" pitchFamily="18" charset="0"/>
                        </a:rPr>
                        <m:t>𝑭</m:t>
                      </m:r>
                      <m:r>
                        <a:rPr lang="en-US" b="1" i="1">
                          <a:latin typeface="Cambria Math" panose="02040503050406030204" pitchFamily="18" charset="0"/>
                        </a:rPr>
                        <m:t>+</m:t>
                      </m:r>
                      <m:r>
                        <a:rPr lang="en-US" b="1" i="1">
                          <a:latin typeface="Cambria Math" panose="02040503050406030204" pitchFamily="18" charset="0"/>
                        </a:rPr>
                        <m:t>𝑬</m:t>
                      </m:r>
                    </m:oMath>
                  </m:oMathPara>
                </a14:m>
                <a:endParaRPr lang="en-US" sz="1400" dirty="0"/>
              </a:p>
            </p:txBody>
          </p:sp>
        </mc:Choice>
        <mc:Fallback xmlns="">
          <p:sp>
            <p:nvSpPr>
              <p:cNvPr id="8" name="TextBox 7">
                <a:extLst>
                  <a:ext uri="{FF2B5EF4-FFF2-40B4-BE49-F238E27FC236}">
                    <a16:creationId xmlns:a16="http://schemas.microsoft.com/office/drawing/2014/main" id="{3255EDC4-8036-1CA6-A42D-E7467732C5DD}"/>
                  </a:ext>
                </a:extLst>
              </p:cNvPr>
              <p:cNvSpPr txBox="1">
                <a:spLocks noRot="1" noChangeAspect="1" noMove="1" noResize="1" noEditPoints="1" noAdjustHandles="1" noChangeArrowheads="1" noChangeShapeType="1" noTextEdit="1"/>
              </p:cNvSpPr>
              <p:nvPr/>
            </p:nvSpPr>
            <p:spPr>
              <a:xfrm>
                <a:off x="3870524" y="4952374"/>
                <a:ext cx="1521763"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8A4CF1C5-5CCD-F8E5-A93A-6DBED7D98830}"/>
                  </a:ext>
                </a:extLst>
              </p:cNvPr>
              <p:cNvSpPr/>
              <p:nvPr/>
            </p:nvSpPr>
            <p:spPr>
              <a:xfrm>
                <a:off x="4420402" y="5881881"/>
                <a:ext cx="1097280" cy="822960"/>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ysClr val="windowText" lastClr="000000"/>
                          </a:solidFill>
                          <a:latin typeface="Cambria Math" panose="02040503050406030204" pitchFamily="18" charset="0"/>
                        </a:rPr>
                        <m:t>𝑿</m:t>
                      </m:r>
                    </m:oMath>
                  </m:oMathPara>
                </a14:m>
                <a:endParaRPr lang="en-US" dirty="0">
                  <a:solidFill>
                    <a:sysClr val="windowText" lastClr="000000"/>
                  </a:solidFill>
                </a:endParaRPr>
              </a:p>
            </p:txBody>
          </p:sp>
        </mc:Choice>
        <mc:Fallback xmlns="">
          <p:sp>
            <p:nvSpPr>
              <p:cNvPr id="10" name="Rounded Rectangle 9">
                <a:extLst>
                  <a:ext uri="{FF2B5EF4-FFF2-40B4-BE49-F238E27FC236}">
                    <a16:creationId xmlns:a16="http://schemas.microsoft.com/office/drawing/2014/main" id="{8A4CF1C5-5CCD-F8E5-A93A-6DBED7D98830}"/>
                  </a:ext>
                </a:extLst>
              </p:cNvPr>
              <p:cNvSpPr>
                <a:spLocks noRot="1" noChangeAspect="1" noMove="1" noResize="1" noEditPoints="1" noAdjustHandles="1" noChangeArrowheads="1" noChangeShapeType="1" noTextEdit="1"/>
              </p:cNvSpPr>
              <p:nvPr/>
            </p:nvSpPr>
            <p:spPr>
              <a:xfrm>
                <a:off x="4420402" y="5881881"/>
                <a:ext cx="1097280" cy="822960"/>
              </a:xfrm>
              <a:prstGeom prst="roundRect">
                <a:avLst/>
              </a:prstGeom>
              <a:blipFill>
                <a:blip r:embed="rId5"/>
                <a:stretch>
                  <a:fillRect/>
                </a:stretch>
              </a:blipFill>
              <a:ln>
                <a:solidFill>
                  <a:schemeClr val="accent4">
                    <a:lumMod val="60000"/>
                    <a:lumOff val="40000"/>
                  </a:schemeClr>
                </a:solid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E380CEFC-B346-448A-FAF6-ADCB98938CFE}"/>
              </a:ext>
            </a:extLst>
          </p:cNvPr>
          <p:cNvSpPr txBox="1"/>
          <p:nvPr/>
        </p:nvSpPr>
        <p:spPr>
          <a:xfrm>
            <a:off x="5499811" y="6096773"/>
            <a:ext cx="300082" cy="369332"/>
          </a:xfrm>
          <a:prstGeom prst="rect">
            <a:avLst/>
          </a:prstGeom>
          <a:noFill/>
        </p:spPr>
        <p:txBody>
          <a:bodyPr wrap="none" rtlCol="0">
            <a:spAutoFit/>
          </a:bodyPr>
          <a:lstStyle/>
          <a:p>
            <a:r>
              <a:rPr lang="en-US" dirty="0">
                <a:solidFill>
                  <a:sysClr val="windowText" lastClr="000000"/>
                </a:solidFill>
              </a:rPr>
              <a:t>=</a:t>
            </a:r>
          </a:p>
        </p:txBody>
      </p: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5BE4A0A8-C006-6A54-D5A0-DAC781B25845}"/>
                  </a:ext>
                </a:extLst>
              </p:cNvPr>
              <p:cNvSpPr/>
              <p:nvPr/>
            </p:nvSpPr>
            <p:spPr>
              <a:xfrm>
                <a:off x="6332812" y="5880896"/>
                <a:ext cx="1097280" cy="548640"/>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ysClr val="windowText" lastClr="000000"/>
                          </a:solidFill>
                          <a:latin typeface="Cambria Math" panose="02040503050406030204" pitchFamily="18" charset="0"/>
                        </a:rPr>
                        <m:t>𝑭</m:t>
                      </m:r>
                    </m:oMath>
                  </m:oMathPara>
                </a14:m>
                <a:endParaRPr lang="en-US" b="1" dirty="0">
                  <a:solidFill>
                    <a:sysClr val="windowText" lastClr="000000"/>
                  </a:solidFill>
                </a:endParaRPr>
              </a:p>
            </p:txBody>
          </p:sp>
        </mc:Choice>
        <mc:Fallback xmlns="">
          <p:sp>
            <p:nvSpPr>
              <p:cNvPr id="33" name="Rounded Rectangle 32">
                <a:extLst>
                  <a:ext uri="{FF2B5EF4-FFF2-40B4-BE49-F238E27FC236}">
                    <a16:creationId xmlns:a16="http://schemas.microsoft.com/office/drawing/2014/main" id="{5BE4A0A8-C006-6A54-D5A0-DAC781B25845}"/>
                  </a:ext>
                </a:extLst>
              </p:cNvPr>
              <p:cNvSpPr>
                <a:spLocks noRot="1" noChangeAspect="1" noMove="1" noResize="1" noEditPoints="1" noAdjustHandles="1" noChangeArrowheads="1" noChangeShapeType="1" noTextEdit="1"/>
              </p:cNvSpPr>
              <p:nvPr/>
            </p:nvSpPr>
            <p:spPr>
              <a:xfrm>
                <a:off x="6332812" y="5880896"/>
                <a:ext cx="1097280" cy="548640"/>
              </a:xfrm>
              <a:prstGeom prst="roundRect">
                <a:avLst/>
              </a:prstGeom>
              <a:blipFill>
                <a:blip r:embed="rId6"/>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ounded Rectangle 42">
                <a:extLst>
                  <a:ext uri="{FF2B5EF4-FFF2-40B4-BE49-F238E27FC236}">
                    <a16:creationId xmlns:a16="http://schemas.microsoft.com/office/drawing/2014/main" id="{F2873287-DE56-2C7C-E4C7-393E4174BB5A}"/>
                  </a:ext>
                </a:extLst>
              </p:cNvPr>
              <p:cNvSpPr/>
              <p:nvPr/>
            </p:nvSpPr>
            <p:spPr>
              <a:xfrm>
                <a:off x="5735308" y="5878051"/>
                <a:ext cx="548640" cy="822960"/>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b="1" i="1" smtClean="0">
                              <a:solidFill>
                                <a:sysClr val="windowText" lastClr="000000"/>
                              </a:solidFill>
                              <a:latin typeface="Cambria Math" panose="02040503050406030204" pitchFamily="18" charset="0"/>
                            </a:rPr>
                          </m:ctrlPr>
                        </m:sSupPr>
                        <m:e>
                          <m:r>
                            <a:rPr lang="en-US" b="1" i="1" smtClean="0">
                              <a:solidFill>
                                <a:sysClr val="windowText" lastClr="000000"/>
                              </a:solidFill>
                              <a:latin typeface="Cambria Math" panose="02040503050406030204" pitchFamily="18" charset="0"/>
                            </a:rPr>
                            <m:t>𝑳</m:t>
                          </m:r>
                        </m:e>
                        <m:sup>
                          <m:r>
                            <m:rPr>
                              <m:sty m:val="p"/>
                            </m:rPr>
                            <a:rPr lang="en-US" b="1" i="1" smtClean="0">
                              <a:solidFill>
                                <a:sysClr val="windowText" lastClr="000000"/>
                              </a:solidFill>
                              <a:latin typeface="Cambria Math" panose="02040503050406030204" pitchFamily="18" charset="0"/>
                            </a:rPr>
                            <m:t>T</m:t>
                          </m:r>
                        </m:sup>
                      </m:sSup>
                    </m:oMath>
                  </m:oMathPara>
                </a14:m>
                <a:endParaRPr lang="en-US" dirty="0">
                  <a:solidFill>
                    <a:sysClr val="windowText" lastClr="000000"/>
                  </a:solidFill>
                </a:endParaRPr>
              </a:p>
            </p:txBody>
          </p:sp>
        </mc:Choice>
        <mc:Fallback xmlns="">
          <p:sp>
            <p:nvSpPr>
              <p:cNvPr id="43" name="Rounded Rectangle 42">
                <a:extLst>
                  <a:ext uri="{FF2B5EF4-FFF2-40B4-BE49-F238E27FC236}">
                    <a16:creationId xmlns:a16="http://schemas.microsoft.com/office/drawing/2014/main" id="{F2873287-DE56-2C7C-E4C7-393E4174BB5A}"/>
                  </a:ext>
                </a:extLst>
              </p:cNvPr>
              <p:cNvSpPr>
                <a:spLocks noRot="1" noChangeAspect="1" noMove="1" noResize="1" noEditPoints="1" noAdjustHandles="1" noChangeArrowheads="1" noChangeShapeType="1" noTextEdit="1"/>
              </p:cNvSpPr>
              <p:nvPr/>
            </p:nvSpPr>
            <p:spPr>
              <a:xfrm>
                <a:off x="5735308" y="5878051"/>
                <a:ext cx="548640" cy="822960"/>
              </a:xfrm>
              <a:prstGeom prst="roundRect">
                <a:avLst/>
              </a:prstGeom>
              <a:blipFill>
                <a:blip r:embed="rId7"/>
                <a:stretch>
                  <a:fillRect/>
                </a:stretch>
              </a:blipFill>
              <a:ln>
                <a:solidFill>
                  <a:schemeClr val="accent5">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ounded Rectangle 44">
                <a:extLst>
                  <a:ext uri="{FF2B5EF4-FFF2-40B4-BE49-F238E27FC236}">
                    <a16:creationId xmlns:a16="http://schemas.microsoft.com/office/drawing/2014/main" id="{6FC951DB-73AC-D5DF-075A-A414B3A0EC91}"/>
                  </a:ext>
                </a:extLst>
              </p:cNvPr>
              <p:cNvSpPr/>
              <p:nvPr/>
            </p:nvSpPr>
            <p:spPr>
              <a:xfrm>
                <a:off x="7611891" y="5878051"/>
                <a:ext cx="1097280" cy="822960"/>
              </a:xfrm>
              <a:prstGeom prst="round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ysClr val="windowText" lastClr="000000"/>
                          </a:solidFill>
                          <a:latin typeface="Cambria Math" panose="02040503050406030204" pitchFamily="18" charset="0"/>
                        </a:rPr>
                        <m:t>𝑬</m:t>
                      </m:r>
                    </m:oMath>
                  </m:oMathPara>
                </a14:m>
                <a:endParaRPr lang="en-US" b="1" dirty="0">
                  <a:solidFill>
                    <a:sysClr val="windowText" lastClr="000000"/>
                  </a:solidFill>
                </a:endParaRPr>
              </a:p>
            </p:txBody>
          </p:sp>
        </mc:Choice>
        <mc:Fallback xmlns="">
          <p:sp>
            <p:nvSpPr>
              <p:cNvPr id="45" name="Rounded Rectangle 44">
                <a:extLst>
                  <a:ext uri="{FF2B5EF4-FFF2-40B4-BE49-F238E27FC236}">
                    <a16:creationId xmlns:a16="http://schemas.microsoft.com/office/drawing/2014/main" id="{6FC951DB-73AC-D5DF-075A-A414B3A0EC91}"/>
                  </a:ext>
                </a:extLst>
              </p:cNvPr>
              <p:cNvSpPr>
                <a:spLocks noRot="1" noChangeAspect="1" noMove="1" noResize="1" noEditPoints="1" noAdjustHandles="1" noChangeArrowheads="1" noChangeShapeType="1" noTextEdit="1"/>
              </p:cNvSpPr>
              <p:nvPr/>
            </p:nvSpPr>
            <p:spPr>
              <a:xfrm>
                <a:off x="7611891" y="5878051"/>
                <a:ext cx="1097280" cy="822960"/>
              </a:xfrm>
              <a:prstGeom prst="roundRect">
                <a:avLst/>
              </a:prstGeom>
              <a:blipFill>
                <a:blip r:embed="rId8"/>
                <a:stretch>
                  <a:fillRect/>
                </a:stretch>
              </a:blipFill>
              <a:ln>
                <a:solidFill>
                  <a:schemeClr val="bg2">
                    <a:lumMod val="90000"/>
                  </a:schemeClr>
                </a:solidFill>
              </a:ln>
            </p:spPr>
            <p:txBody>
              <a:bodyPr/>
              <a:lstStyle/>
              <a:p>
                <a:r>
                  <a:rPr lang="en-US">
                    <a:noFill/>
                  </a:rPr>
                  <a:t> </a:t>
                </a:r>
              </a:p>
            </p:txBody>
          </p:sp>
        </mc:Fallback>
      </mc:AlternateContent>
      <p:sp>
        <p:nvSpPr>
          <p:cNvPr id="46" name="TextBox 45">
            <a:extLst>
              <a:ext uri="{FF2B5EF4-FFF2-40B4-BE49-F238E27FC236}">
                <a16:creationId xmlns:a16="http://schemas.microsoft.com/office/drawing/2014/main" id="{27608BAA-AA13-DAFA-4CFC-42A2AEC685BC}"/>
              </a:ext>
            </a:extLst>
          </p:cNvPr>
          <p:cNvSpPr txBox="1"/>
          <p:nvPr/>
        </p:nvSpPr>
        <p:spPr>
          <a:xfrm>
            <a:off x="7392365" y="6131173"/>
            <a:ext cx="300082" cy="369332"/>
          </a:xfrm>
          <a:prstGeom prst="rect">
            <a:avLst/>
          </a:prstGeom>
          <a:noFill/>
        </p:spPr>
        <p:txBody>
          <a:bodyPr wrap="none" rtlCol="0">
            <a:spAutoFit/>
          </a:bodyPr>
          <a:lstStyle/>
          <a:p>
            <a:r>
              <a:rPr lang="en-US" dirty="0">
                <a:solidFill>
                  <a:sysClr val="windowText" lastClr="000000"/>
                </a:solidFill>
              </a:rPr>
              <a:t>+</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1F30DC5-E4B0-FBF1-61DB-38C9F21A6A6D}"/>
                  </a:ext>
                </a:extLst>
              </p:cNvPr>
              <p:cNvSpPr txBox="1"/>
              <p:nvPr/>
            </p:nvSpPr>
            <p:spPr>
              <a:xfrm>
                <a:off x="1045992" y="8007853"/>
                <a:ext cx="7052012" cy="715089"/>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Different factor analysis methods essentially impose </a:t>
                </a:r>
              </a:p>
              <a:p>
                <a:pPr algn="ctr"/>
                <a:r>
                  <a:rPr lang="en-US" dirty="0"/>
                  <a:t>different </a:t>
                </a:r>
                <a:r>
                  <a:rPr lang="en-US" b="1" dirty="0"/>
                  <a:t>constraints</a:t>
                </a:r>
                <a:r>
                  <a:rPr lang="en-US" dirty="0"/>
                  <a:t> on </a:t>
                </a:r>
                <a14:m>
                  <m:oMath xmlns:m="http://schemas.openxmlformats.org/officeDocument/2006/math">
                    <m:r>
                      <a:rPr lang="en-US" b="1" i="1">
                        <a:latin typeface="Cambria Math" panose="02040503050406030204" pitchFamily="18" charset="0"/>
                      </a:rPr>
                      <m:t>𝑳</m:t>
                    </m:r>
                  </m:oMath>
                </a14:m>
                <a:r>
                  <a:rPr lang="en-US" dirty="0"/>
                  <a:t> and/or </a:t>
                </a:r>
                <a14:m>
                  <m:oMath xmlns:m="http://schemas.openxmlformats.org/officeDocument/2006/math">
                    <m:r>
                      <a:rPr lang="en-US" b="1" i="1">
                        <a:latin typeface="Cambria Math" panose="02040503050406030204" pitchFamily="18" charset="0"/>
                      </a:rPr>
                      <m:t>𝑭</m:t>
                    </m:r>
                  </m:oMath>
                </a14:m>
                <a:r>
                  <a:rPr lang="en-US" dirty="0"/>
                  <a:t> to achieve a unique solution.</a:t>
                </a:r>
              </a:p>
            </p:txBody>
          </p:sp>
        </mc:Choice>
        <mc:Fallback xmlns="">
          <p:sp>
            <p:nvSpPr>
              <p:cNvPr id="57" name="TextBox 56">
                <a:extLst>
                  <a:ext uri="{FF2B5EF4-FFF2-40B4-BE49-F238E27FC236}">
                    <a16:creationId xmlns:a16="http://schemas.microsoft.com/office/drawing/2014/main" id="{91F30DC5-E4B0-FBF1-61DB-38C9F21A6A6D}"/>
                  </a:ext>
                </a:extLst>
              </p:cNvPr>
              <p:cNvSpPr txBox="1">
                <a:spLocks noRot="1" noChangeAspect="1" noMove="1" noResize="1" noEditPoints="1" noAdjustHandles="1" noChangeArrowheads="1" noChangeShapeType="1" noTextEdit="1"/>
              </p:cNvSpPr>
              <p:nvPr/>
            </p:nvSpPr>
            <p:spPr>
              <a:xfrm>
                <a:off x="1045992" y="8007853"/>
                <a:ext cx="7052012" cy="715089"/>
              </a:xfrm>
              <a:prstGeom prst="roundRect">
                <a:avLst/>
              </a:prstGeom>
              <a:blipFill>
                <a:blip r:embed="rId13"/>
                <a:stretch>
                  <a:fillRect b="-8621"/>
                </a:stretch>
              </a:blipFill>
              <a:ln>
                <a:solidFill>
                  <a:schemeClr val="accent5">
                    <a:lumMod val="40000"/>
                    <a:lumOff val="6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946175E-0FB0-8B26-9E62-24357589C327}"/>
                  </a:ext>
                </a:extLst>
              </p:cNvPr>
              <p:cNvSpPr txBox="1"/>
              <p:nvPr/>
            </p:nvSpPr>
            <p:spPr>
              <a:xfrm>
                <a:off x="500701" y="7011403"/>
                <a:ext cx="4895547" cy="1169551"/>
              </a:xfrm>
              <a:prstGeom prst="rect">
                <a:avLst/>
              </a:prstGeom>
              <a:noFill/>
            </p:spPr>
            <p:txBody>
              <a:bodyPr wrap="square" rtlCol="0">
                <a:spAutoFit/>
              </a:bodyPr>
              <a:lstStyle/>
              <a:p>
                <a:r>
                  <a:rPr lang="en-US" sz="1400" b="1" dirty="0"/>
                  <a:t>Example (ADMIXTURE): </a:t>
                </a:r>
              </a:p>
              <a:p>
                <a:pPr marL="285750" indent="-285750">
                  <a:buFont typeface="Arial" panose="020B0604020202020204" pitchFamily="34" charset="0"/>
                  <a:buChar char="•"/>
                </a:pPr>
                <a:r>
                  <a:rPr lang="en-US" sz="1400" dirty="0"/>
                  <a:t>Each row of </a:t>
                </a:r>
                <a14:m>
                  <m:oMath xmlns:m="http://schemas.openxmlformats.org/officeDocument/2006/math">
                    <m:r>
                      <a:rPr lang="en-US" sz="1400" b="1" i="1">
                        <a:latin typeface="Cambria Math" panose="02040503050406030204" pitchFamily="18" charset="0"/>
                      </a:rPr>
                      <m:t>𝑳</m:t>
                    </m:r>
                    <m:r>
                      <a:rPr lang="en-US" sz="1400" b="1" i="1">
                        <a:latin typeface="Cambria Math" panose="02040503050406030204" pitchFamily="18" charset="0"/>
                      </a:rPr>
                      <m:t> </m:t>
                    </m:r>
                  </m:oMath>
                </a14:m>
                <a:r>
                  <a:rPr lang="en-US" sz="1400" dirty="0"/>
                  <a:t>sum up to 1 (e.g., proportion of ancestry), and all elements are between 0 and 1</a:t>
                </a:r>
              </a:p>
              <a:p>
                <a:pPr marL="285750" indent="-285750">
                  <a:buFont typeface="Arial" panose="020B0604020202020204" pitchFamily="34" charset="0"/>
                  <a:buChar char="•"/>
                </a:pPr>
                <a:r>
                  <a:rPr lang="en-US" sz="1400" dirty="0"/>
                  <a:t>All elements in </a:t>
                </a:r>
                <a14:m>
                  <m:oMath xmlns:m="http://schemas.openxmlformats.org/officeDocument/2006/math">
                    <m:r>
                      <a:rPr lang="en-US" sz="1400" b="1" i="1" smtClean="0">
                        <a:latin typeface="Cambria Math" panose="02040503050406030204" pitchFamily="18" charset="0"/>
                      </a:rPr>
                      <m:t>𝑭</m:t>
                    </m:r>
                  </m:oMath>
                </a14:m>
                <a:r>
                  <a:rPr lang="en-US" sz="1400" dirty="0"/>
                  <a:t> is between 0 and 1 (e.g., allele frequency)</a:t>
                </a:r>
              </a:p>
              <a:p>
                <a:pPr marL="285750" indent="-285750">
                  <a:buFont typeface="Arial" panose="020B0604020202020204" pitchFamily="34" charset="0"/>
                  <a:buChar char="•"/>
                </a:pPr>
                <a:endParaRPr lang="en-US" sz="1400" dirty="0"/>
              </a:p>
            </p:txBody>
          </p:sp>
        </mc:Choice>
        <mc:Fallback xmlns="">
          <p:sp>
            <p:nvSpPr>
              <p:cNvPr id="58" name="TextBox 57">
                <a:extLst>
                  <a:ext uri="{FF2B5EF4-FFF2-40B4-BE49-F238E27FC236}">
                    <a16:creationId xmlns:a16="http://schemas.microsoft.com/office/drawing/2014/main" id="{9946175E-0FB0-8B26-9E62-24357589C327}"/>
                  </a:ext>
                </a:extLst>
              </p:cNvPr>
              <p:cNvSpPr txBox="1">
                <a:spLocks noRot="1" noChangeAspect="1" noMove="1" noResize="1" noEditPoints="1" noAdjustHandles="1" noChangeArrowheads="1" noChangeShapeType="1" noTextEdit="1"/>
              </p:cNvSpPr>
              <p:nvPr/>
            </p:nvSpPr>
            <p:spPr>
              <a:xfrm>
                <a:off x="500701" y="7011403"/>
                <a:ext cx="4895547" cy="1169551"/>
              </a:xfrm>
              <a:prstGeom prst="rect">
                <a:avLst/>
              </a:prstGeom>
              <a:blipFill>
                <a:blip r:embed="rId14"/>
                <a:stretch>
                  <a:fillRect l="-518" t="-1075"/>
                </a:stretch>
              </a:blipFill>
            </p:spPr>
            <p:txBody>
              <a:bodyPr/>
              <a:lstStyle/>
              <a:p>
                <a:r>
                  <a:rPr lang="en-US">
                    <a:noFill/>
                  </a:rPr>
                  <a:t> </a:t>
                </a:r>
              </a:p>
            </p:txBody>
          </p:sp>
        </mc:Fallback>
      </mc:AlternateContent>
    </p:spTree>
    <p:extLst>
      <p:ext uri="{BB962C8B-B14F-4D97-AF65-F5344CB8AC3E}">
        <p14:creationId xmlns:p14="http://schemas.microsoft.com/office/powerpoint/2010/main" val="183376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DBC3F-B183-30B6-2D25-DF98064DBB8B}"/>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BAE2010-47E2-F5A0-D6E3-34805F122E83}"/>
              </a:ext>
            </a:extLst>
          </p:cNvPr>
          <p:cNvSpPr/>
          <p:nvPr/>
        </p:nvSpPr>
        <p:spPr>
          <a:xfrm>
            <a:off x="286551" y="3967911"/>
            <a:ext cx="8570898" cy="2308195"/>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 name="TextBox 1">
            <a:extLst>
              <a:ext uri="{FF2B5EF4-FFF2-40B4-BE49-F238E27FC236}">
                <a16:creationId xmlns:a16="http://schemas.microsoft.com/office/drawing/2014/main" id="{01E4A053-F939-8E67-71CC-3D40CA253FEA}"/>
              </a:ext>
            </a:extLst>
          </p:cNvPr>
          <p:cNvSpPr txBox="1"/>
          <p:nvPr/>
        </p:nvSpPr>
        <p:spPr>
          <a:xfrm>
            <a:off x="2116393" y="80661"/>
            <a:ext cx="4911210" cy="400110"/>
          </a:xfrm>
          <a:prstGeom prst="rect">
            <a:avLst/>
          </a:prstGeom>
          <a:noFill/>
        </p:spPr>
        <p:txBody>
          <a:bodyPr wrap="square" rtlCol="0" anchor="ctr">
            <a:spAutoFit/>
          </a:bodyPr>
          <a:lstStyle/>
          <a:p>
            <a:pPr algn="ctr"/>
            <a:r>
              <a:rPr lang="en-US" sz="2000" b="1" dirty="0"/>
              <a:t>Principal Component Analysis (PCA)</a:t>
            </a:r>
          </a:p>
        </p:txBody>
      </p:sp>
      <p:sp>
        <p:nvSpPr>
          <p:cNvPr id="7" name="TextBox 6">
            <a:extLst>
              <a:ext uri="{FF2B5EF4-FFF2-40B4-BE49-F238E27FC236}">
                <a16:creationId xmlns:a16="http://schemas.microsoft.com/office/drawing/2014/main" id="{A530DA03-8232-AA19-0B51-97906B106E08}"/>
              </a:ext>
            </a:extLst>
          </p:cNvPr>
          <p:cNvSpPr txBox="1"/>
          <p:nvPr/>
        </p:nvSpPr>
        <p:spPr>
          <a:xfrm>
            <a:off x="768163" y="460740"/>
            <a:ext cx="7607673" cy="261610"/>
          </a:xfrm>
          <a:prstGeom prst="rect">
            <a:avLst/>
          </a:prstGeom>
          <a:noFill/>
        </p:spPr>
        <p:txBody>
          <a:bodyPr wrap="square">
            <a:spAutoFit/>
          </a:bodyPr>
          <a:lstStyle/>
          <a:p>
            <a:pPr algn="ctr"/>
            <a:r>
              <a:rPr lang="en-US" sz="1100" dirty="0"/>
              <a:t>Finds the directions where your data varies the most, allowing you to reduce dimensions while preserving maximum information</a:t>
            </a:r>
          </a:p>
        </p:txBody>
      </p:sp>
      <p:pic>
        <p:nvPicPr>
          <p:cNvPr id="26" name="Picture 25">
            <a:extLst>
              <a:ext uri="{FF2B5EF4-FFF2-40B4-BE49-F238E27FC236}">
                <a16:creationId xmlns:a16="http://schemas.microsoft.com/office/drawing/2014/main" id="{442D29CC-7143-5976-3035-F25AC1A294D5}"/>
              </a:ext>
            </a:extLst>
          </p:cNvPr>
          <p:cNvPicPr>
            <a:picLocks noChangeAspect="1"/>
          </p:cNvPicPr>
          <p:nvPr/>
        </p:nvPicPr>
        <p:blipFill>
          <a:blip r:embed="rId2"/>
          <a:srcRect t="3651"/>
          <a:stretch>
            <a:fillRect/>
          </a:stretch>
        </p:blipFill>
        <p:spPr>
          <a:xfrm>
            <a:off x="148533" y="951846"/>
            <a:ext cx="4032355" cy="2858814"/>
          </a:xfrm>
          <a:prstGeom prst="rect">
            <a:avLst/>
          </a:prstGeom>
        </p:spPr>
      </p:pic>
      <mc:AlternateContent xmlns:mc="http://schemas.openxmlformats.org/markup-compatibility/2006" xmlns:a14="http://schemas.microsoft.com/office/drawing/2010/main">
        <mc:Choice Requires="a14">
          <p:sp>
            <p:nvSpPr>
              <p:cNvPr id="32" name="Rounded Rectangle 31">
                <a:extLst>
                  <a:ext uri="{FF2B5EF4-FFF2-40B4-BE49-F238E27FC236}">
                    <a16:creationId xmlns:a16="http://schemas.microsoft.com/office/drawing/2014/main" id="{EE2FD29D-3FFF-8456-225A-E9E2D39B4767}"/>
                  </a:ext>
                </a:extLst>
              </p:cNvPr>
              <p:cNvSpPr/>
              <p:nvPr/>
            </p:nvSpPr>
            <p:spPr>
              <a:xfrm>
                <a:off x="4347148" y="1102429"/>
                <a:ext cx="4345439" cy="2602543"/>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dirty="0">
                    <a:solidFill>
                      <a:schemeClr val="tx1"/>
                    </a:solidFill>
                  </a:rPr>
                  <a:t>PCA is a special case of factor analysis</a:t>
                </a:r>
                <a:endParaRPr lang="en-US" sz="1600" b="0" dirty="0">
                  <a:solidFill>
                    <a:schemeClr val="tx1"/>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𝑿</m:t>
                      </m:r>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1" i="1" smtClean="0">
                              <a:solidFill>
                                <a:schemeClr val="tx1"/>
                              </a:solidFill>
                              <a:latin typeface="Cambria Math" panose="02040503050406030204" pitchFamily="18" charset="0"/>
                            </a:rPr>
                            <m:t>𝑳</m:t>
                          </m:r>
                        </m:e>
                        <m:sup>
                          <m:r>
                            <a:rPr lang="en-US" sz="2000" b="0" i="1" smtClean="0">
                              <a:solidFill>
                                <a:schemeClr val="tx1"/>
                              </a:solidFill>
                              <a:latin typeface="Cambria Math" panose="02040503050406030204" pitchFamily="18" charset="0"/>
                            </a:rPr>
                            <m:t>𝑇</m:t>
                          </m:r>
                        </m:sup>
                      </m:sSup>
                      <m:r>
                        <a:rPr lang="en-US" sz="2000" b="1" i="1">
                          <a:solidFill>
                            <a:schemeClr val="tx1"/>
                          </a:solidFill>
                          <a:latin typeface="Cambria Math" panose="02040503050406030204" pitchFamily="18" charset="0"/>
                        </a:rPr>
                        <m:t>𝑭</m:t>
                      </m:r>
                      <m:r>
                        <a:rPr lang="en-US" sz="2000" b="1" i="1">
                          <a:solidFill>
                            <a:schemeClr val="tx1"/>
                          </a:solidFill>
                          <a:latin typeface="Cambria Math" panose="02040503050406030204" pitchFamily="18" charset="0"/>
                        </a:rPr>
                        <m:t>+</m:t>
                      </m:r>
                      <m:r>
                        <a:rPr lang="en-US" sz="2000" b="1" i="1">
                          <a:solidFill>
                            <a:schemeClr val="tx1"/>
                          </a:solidFill>
                          <a:latin typeface="Cambria Math" panose="02040503050406030204" pitchFamily="18" charset="0"/>
                        </a:rPr>
                        <m:t>𝑬</m:t>
                      </m:r>
                      <m:r>
                        <a:rPr lang="en-US" sz="2000" b="0" i="1" smtClean="0">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𝑼</m:t>
                          </m:r>
                        </m:e>
                        <m:sub>
                          <m:r>
                            <a:rPr lang="en-US" sz="2000" i="1">
                              <a:solidFill>
                                <a:schemeClr val="tx1"/>
                              </a:solidFill>
                              <a:latin typeface="Cambria Math" panose="02040503050406030204" pitchFamily="18" charset="0"/>
                            </a:rPr>
                            <m:t>𝑘</m:t>
                          </m:r>
                        </m:sub>
                      </m:sSub>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𝚺</m:t>
                          </m:r>
                        </m:e>
                        <m:sub>
                          <m:r>
                            <a:rPr lang="en-US" sz="2000" b="0" i="1" smtClean="0">
                              <a:solidFill>
                                <a:schemeClr val="tx1"/>
                              </a:solidFill>
                              <a:latin typeface="Cambria Math" panose="02040503050406030204" pitchFamily="18" charset="0"/>
                            </a:rPr>
                            <m:t>𝑘</m:t>
                          </m:r>
                        </m:sub>
                      </m:sSub>
                      <m:r>
                        <a:rPr lang="en-US" sz="2000" b="1" i="1" smtClean="0">
                          <a:solidFill>
                            <a:schemeClr val="tx1"/>
                          </a:solidFill>
                          <a:latin typeface="Cambria Math" panose="02040503050406030204" pitchFamily="18" charset="0"/>
                        </a:rPr>
                        <m:t> </m:t>
                      </m:r>
                      <m:sSubSup>
                        <m:sSubSupPr>
                          <m:ctrlPr>
                            <a:rPr lang="en-US" sz="2000" b="1" i="1" smtClean="0">
                              <a:solidFill>
                                <a:schemeClr val="tx1"/>
                              </a:solidFill>
                              <a:latin typeface="Cambria Math" panose="02040503050406030204" pitchFamily="18" charset="0"/>
                            </a:rPr>
                          </m:ctrlPr>
                        </m:sSubSupPr>
                        <m:e>
                          <m:r>
                            <a:rPr lang="en-US" sz="2000" b="1" i="1" smtClean="0">
                              <a:solidFill>
                                <a:schemeClr val="tx1"/>
                              </a:solidFill>
                              <a:latin typeface="Cambria Math" panose="02040503050406030204" pitchFamily="18" charset="0"/>
                            </a:rPr>
                            <m:t>𝑾</m:t>
                          </m:r>
                        </m:e>
                        <m:sub>
                          <m:r>
                            <a:rPr lang="en-US" sz="2000" b="0" i="1" smtClean="0">
                              <a:solidFill>
                                <a:schemeClr val="tx1"/>
                              </a:solidFill>
                              <a:latin typeface="Cambria Math" panose="02040503050406030204" pitchFamily="18" charset="0"/>
                            </a:rPr>
                            <m:t>𝑘</m:t>
                          </m:r>
                        </m:sub>
                        <m:sup>
                          <m:r>
                            <a:rPr lang="en-US" sz="2000" b="0" i="1" smtClean="0">
                              <a:solidFill>
                                <a:schemeClr val="tx1"/>
                              </a:solidFill>
                              <a:latin typeface="Cambria Math" panose="02040503050406030204" pitchFamily="18" charset="0"/>
                            </a:rPr>
                            <m:t>𝑇</m:t>
                          </m:r>
                        </m:sup>
                      </m:sSubSup>
                      <m:r>
                        <a:rPr lang="en-US" sz="2000" b="1" i="1"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𝑬</m:t>
                      </m:r>
                    </m:oMath>
                  </m:oMathPara>
                </a14:m>
                <a:endParaRPr lang="en-US" sz="1600" dirty="0">
                  <a:solidFill>
                    <a:schemeClr val="tx1"/>
                  </a:solidFill>
                </a:endParaRPr>
              </a:p>
              <a:p>
                <a:pPr marL="171450" indent="-171450" algn="just">
                  <a:buFont typeface="Arial" panose="020B0604020202020204" pitchFamily="34" charset="0"/>
                  <a:buChar char="•"/>
                </a:pPr>
                <a14:m>
                  <m:oMath xmlns:m="http://schemas.openxmlformats.org/officeDocument/2006/math">
                    <m:sSup>
                      <m:sSupPr>
                        <m:ctrlPr>
                          <a:rPr lang="en-US" sz="1600" i="1">
                            <a:solidFill>
                              <a:schemeClr val="tx1"/>
                            </a:solidFill>
                            <a:latin typeface="Cambria Math" panose="02040503050406030204" pitchFamily="18" charset="0"/>
                          </a:rPr>
                        </m:ctrlPr>
                      </m:sSupPr>
                      <m:e>
                        <m:r>
                          <a:rPr lang="en-US" sz="1600" b="1" i="1">
                            <a:solidFill>
                              <a:schemeClr val="tx1"/>
                            </a:solidFill>
                            <a:latin typeface="Cambria Math" panose="02040503050406030204" pitchFamily="18" charset="0"/>
                          </a:rPr>
                          <m:t>𝑳</m:t>
                        </m:r>
                      </m:e>
                      <m:sup>
                        <m:r>
                          <a:rPr lang="en-US" sz="1600" i="1">
                            <a:solidFill>
                              <a:schemeClr val="tx1"/>
                            </a:solidFill>
                            <a:latin typeface="Cambria Math" panose="02040503050406030204" pitchFamily="18" charset="0"/>
                          </a:rPr>
                          <m:t>𝑇</m:t>
                        </m:r>
                      </m:sup>
                    </m:sSup>
                    <m:r>
                      <a:rPr lang="en-US" sz="1600" b="1" i="1" smtClean="0">
                        <a:solidFill>
                          <a:schemeClr val="tx1"/>
                        </a:solidFill>
                        <a:latin typeface="Cambria Math" panose="02040503050406030204" pitchFamily="18" charset="0"/>
                      </a:rPr>
                      <m:t>=</m:t>
                    </m:r>
                    <m:sSub>
                      <m:sSubPr>
                        <m:ctrlPr>
                          <a:rPr lang="en-US"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rPr>
                          <m:t>𝑼</m:t>
                        </m:r>
                      </m:e>
                      <m:sub>
                        <m:r>
                          <a:rPr lang="en-US" sz="1600" i="1">
                            <a:solidFill>
                              <a:schemeClr val="tx1"/>
                            </a:solidFill>
                            <a:latin typeface="Cambria Math" panose="02040503050406030204" pitchFamily="18" charset="0"/>
                          </a:rPr>
                          <m:t>𝑘</m:t>
                        </m:r>
                      </m:sub>
                    </m:sSub>
                    <m:sSub>
                      <m:sSubPr>
                        <m:ctrlPr>
                          <a:rPr lang="en-US"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ea typeface="Cambria Math" panose="02040503050406030204" pitchFamily="18" charset="0"/>
                          </a:rPr>
                          <m:t>𝚺</m:t>
                        </m:r>
                      </m:e>
                      <m:sub>
                        <m:r>
                          <a:rPr lang="en-US" sz="1600" i="1">
                            <a:solidFill>
                              <a:schemeClr val="tx1"/>
                            </a:solidFill>
                            <a:latin typeface="Cambria Math" panose="02040503050406030204" pitchFamily="18" charset="0"/>
                          </a:rPr>
                          <m:t>𝑘</m:t>
                        </m:r>
                      </m:sub>
                    </m:sSub>
                  </m:oMath>
                </a14:m>
                <a:r>
                  <a:rPr lang="en-US" sz="1600" dirty="0">
                    <a:solidFill>
                      <a:schemeClr val="tx1"/>
                    </a:solidFill>
                  </a:rPr>
                  <a:t>; </a:t>
                </a:r>
                <a14:m>
                  <m:oMath xmlns:m="http://schemas.openxmlformats.org/officeDocument/2006/math">
                    <m:r>
                      <a:rPr lang="en-US" sz="1600" b="1" i="1" smtClean="0">
                        <a:solidFill>
                          <a:schemeClr val="tx1"/>
                        </a:solidFill>
                        <a:latin typeface="Cambria Math" panose="02040503050406030204" pitchFamily="18" charset="0"/>
                      </a:rPr>
                      <m:t>𝑭</m:t>
                    </m:r>
                    <m:r>
                      <a:rPr lang="en-US" sz="1600" b="1" i="1" smtClean="0">
                        <a:solidFill>
                          <a:schemeClr val="tx1"/>
                        </a:solidFill>
                        <a:latin typeface="Cambria Math" panose="02040503050406030204" pitchFamily="18" charset="0"/>
                      </a:rPr>
                      <m:t>=</m:t>
                    </m:r>
                    <m:sSubSup>
                      <m:sSubSupPr>
                        <m:ctrlPr>
                          <a:rPr lang="en-US" sz="1600" b="1" i="1">
                            <a:solidFill>
                              <a:schemeClr val="tx1"/>
                            </a:solidFill>
                            <a:latin typeface="Cambria Math" panose="02040503050406030204" pitchFamily="18" charset="0"/>
                          </a:rPr>
                        </m:ctrlPr>
                      </m:sSubSupPr>
                      <m:e>
                        <m:r>
                          <a:rPr lang="en-US" sz="1600" b="1" i="1" smtClean="0">
                            <a:solidFill>
                              <a:schemeClr val="tx1"/>
                            </a:solidFill>
                            <a:latin typeface="Cambria Math" panose="02040503050406030204" pitchFamily="18" charset="0"/>
                          </a:rPr>
                          <m:t>𝑾</m:t>
                        </m:r>
                      </m:e>
                      <m:sub>
                        <m:r>
                          <a:rPr lang="en-US" sz="1600" i="1">
                            <a:solidFill>
                              <a:schemeClr val="tx1"/>
                            </a:solidFill>
                            <a:latin typeface="Cambria Math" panose="02040503050406030204" pitchFamily="18" charset="0"/>
                          </a:rPr>
                          <m:t>𝑘</m:t>
                        </m:r>
                      </m:sub>
                      <m:sup>
                        <m:r>
                          <a:rPr lang="en-US" sz="1600" i="1">
                            <a:solidFill>
                              <a:schemeClr val="tx1"/>
                            </a:solidFill>
                            <a:latin typeface="Cambria Math" panose="02040503050406030204" pitchFamily="18" charset="0"/>
                          </a:rPr>
                          <m:t>𝑇</m:t>
                        </m:r>
                      </m:sup>
                    </m:sSubSup>
                  </m:oMath>
                </a14:m>
                <a:endParaRPr lang="en-US" sz="1600" dirty="0">
                  <a:solidFill>
                    <a:schemeClr val="tx1"/>
                  </a:solidFill>
                </a:endParaRPr>
              </a:p>
              <a:p>
                <a:pPr marL="171450" indent="-171450" algn="just">
                  <a:buFont typeface="Arial" panose="020B0604020202020204" pitchFamily="34" charset="0"/>
                  <a:buChar char="•"/>
                </a:pPr>
                <a14:m>
                  <m:oMath xmlns:m="http://schemas.openxmlformats.org/officeDocument/2006/math">
                    <m:r>
                      <a:rPr lang="en-US" sz="1600" b="1" i="1">
                        <a:solidFill>
                          <a:schemeClr val="tx1"/>
                        </a:solidFill>
                        <a:latin typeface="Cambria Math" panose="02040503050406030204" pitchFamily="18" charset="0"/>
                      </a:rPr>
                      <m:t>𝑿</m:t>
                    </m:r>
                  </m:oMath>
                </a14:m>
                <a:r>
                  <a:rPr lang="en-US" sz="1600" dirty="0">
                    <a:solidFill>
                      <a:schemeClr val="tx1"/>
                    </a:solidFill>
                  </a:rPr>
                  <a:t> needs to be scaled first (PCA is sensitive to scaling)</a:t>
                </a:r>
              </a:p>
              <a:p>
                <a:pPr marL="171450" indent="-171450" algn="just">
                  <a:buFont typeface="Arial" panose="020B0604020202020204" pitchFamily="34" charset="0"/>
                  <a:buChar char="•"/>
                </a:pPr>
                <a:r>
                  <a:rPr lang="en-US" sz="1600" dirty="0">
                    <a:solidFill>
                      <a:schemeClr val="tx1"/>
                    </a:solidFill>
                  </a:rPr>
                  <a:t>It turns many correlated variables into fewer orthogonal “summary” variables (</a:t>
                </a:r>
                <a14:m>
                  <m:oMath xmlns:m="http://schemas.openxmlformats.org/officeDocument/2006/math">
                    <m:sSubSup>
                      <m:sSubSupPr>
                        <m:ctrlPr>
                          <a:rPr lang="en-US" sz="1600" b="1" i="1">
                            <a:solidFill>
                              <a:schemeClr val="tx1"/>
                            </a:solidFill>
                            <a:latin typeface="Cambria Math" panose="02040503050406030204" pitchFamily="18" charset="0"/>
                          </a:rPr>
                        </m:ctrlPr>
                      </m:sSubSupPr>
                      <m:e>
                        <m:r>
                          <a:rPr lang="en-US" sz="1600" b="1" i="1">
                            <a:solidFill>
                              <a:schemeClr val="tx1"/>
                            </a:solidFill>
                            <a:latin typeface="Cambria Math" panose="02040503050406030204" pitchFamily="18" charset="0"/>
                          </a:rPr>
                          <m:t>𝑾</m:t>
                        </m:r>
                      </m:e>
                      <m:sub>
                        <m:r>
                          <a:rPr lang="en-US" sz="1600" i="1">
                            <a:solidFill>
                              <a:schemeClr val="tx1"/>
                            </a:solidFill>
                            <a:latin typeface="Cambria Math" panose="02040503050406030204" pitchFamily="18" charset="0"/>
                          </a:rPr>
                          <m:t>𝑘</m:t>
                        </m:r>
                      </m:sub>
                      <m:sup>
                        <m:r>
                          <a:rPr lang="en-US" sz="1600" i="1">
                            <a:solidFill>
                              <a:schemeClr val="tx1"/>
                            </a:solidFill>
                            <a:latin typeface="Cambria Math" panose="02040503050406030204" pitchFamily="18" charset="0"/>
                          </a:rPr>
                          <m:t>𝑇</m:t>
                        </m:r>
                      </m:sup>
                    </m:sSubSup>
                    <m:r>
                      <a:rPr lang="en-US" sz="1600" b="1" i="1" smtClean="0">
                        <a:solidFill>
                          <a:schemeClr val="tx1"/>
                        </a:solidFill>
                        <a:latin typeface="Cambria Math" panose="02040503050406030204" pitchFamily="18" charset="0"/>
                      </a:rPr>
                      <m:t>)</m:t>
                    </m:r>
                  </m:oMath>
                </a14:m>
                <a:endParaRPr lang="en-US" sz="1600" b="1" dirty="0">
                  <a:solidFill>
                    <a:schemeClr val="tx1"/>
                  </a:solidFill>
                </a:endParaRPr>
              </a:p>
              <a:p>
                <a:pPr marL="171450" indent="-171450" algn="just">
                  <a:buFont typeface="Arial" panose="020B0604020202020204" pitchFamily="34" charset="0"/>
                  <a:buChar char="•"/>
                </a:pPr>
                <a:r>
                  <a:rPr lang="en-US" sz="1600" dirty="0">
                    <a:solidFill>
                      <a:schemeClr val="tx1"/>
                    </a:solidFill>
                  </a:rPr>
                  <a:t>Loadings </a:t>
                </a:r>
                <a14:m>
                  <m:oMath xmlns:m="http://schemas.openxmlformats.org/officeDocument/2006/math">
                    <m:sSub>
                      <m:sSubPr>
                        <m:ctrlPr>
                          <a:rPr lang="en-US"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rPr>
                          <m:t>𝑼</m:t>
                        </m:r>
                      </m:e>
                      <m:sub>
                        <m:r>
                          <a:rPr lang="en-US" sz="1600" i="1">
                            <a:solidFill>
                              <a:schemeClr val="tx1"/>
                            </a:solidFill>
                            <a:latin typeface="Cambria Math" panose="02040503050406030204" pitchFamily="18" charset="0"/>
                          </a:rPr>
                          <m:t>𝑘</m:t>
                        </m:r>
                      </m:sub>
                    </m:sSub>
                    <m:sSub>
                      <m:sSubPr>
                        <m:ctrlPr>
                          <a:rPr lang="en-US" sz="1600" b="1"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ea typeface="Cambria Math" panose="02040503050406030204" pitchFamily="18" charset="0"/>
                          </a:rPr>
                          <m:t>𝚺</m:t>
                        </m:r>
                      </m:e>
                      <m:sub>
                        <m:r>
                          <a:rPr lang="en-US" sz="1600" i="1">
                            <a:solidFill>
                              <a:schemeClr val="tx1"/>
                            </a:solidFill>
                            <a:latin typeface="Cambria Math" panose="02040503050406030204" pitchFamily="18" charset="0"/>
                          </a:rPr>
                          <m:t>𝑘</m:t>
                        </m:r>
                      </m:sub>
                    </m:sSub>
                    <m:r>
                      <a:rPr lang="en-US" sz="1600" b="1" i="1" smtClean="0">
                        <a:solidFill>
                          <a:schemeClr val="tx1"/>
                        </a:solidFill>
                        <a:latin typeface="Cambria Math" panose="02040503050406030204" pitchFamily="18" charset="0"/>
                      </a:rPr>
                      <m:t>=</m:t>
                    </m:r>
                    <m:r>
                      <a:rPr lang="en-US" sz="1600" b="1" i="1" smtClean="0">
                        <a:solidFill>
                          <a:schemeClr val="tx1"/>
                        </a:solidFill>
                        <a:latin typeface="Cambria Math" panose="02040503050406030204" pitchFamily="18" charset="0"/>
                      </a:rPr>
                      <m:t>𝑿</m:t>
                    </m:r>
                    <m:sSub>
                      <m:sSubPr>
                        <m:ctrlPr>
                          <a:rPr lang="en-US" sz="1600" i="1">
                            <a:solidFill>
                              <a:schemeClr val="tx1"/>
                            </a:solidFill>
                            <a:latin typeface="Cambria Math" panose="02040503050406030204" pitchFamily="18" charset="0"/>
                          </a:rPr>
                        </m:ctrlPr>
                      </m:sSubPr>
                      <m:e>
                        <m:r>
                          <a:rPr lang="en-US" sz="1600" b="1" i="1">
                            <a:solidFill>
                              <a:schemeClr val="tx1"/>
                            </a:solidFill>
                            <a:latin typeface="Cambria Math" panose="02040503050406030204" pitchFamily="18" charset="0"/>
                          </a:rPr>
                          <m:t>𝑾</m:t>
                        </m:r>
                      </m:e>
                      <m:sub>
                        <m:r>
                          <a:rPr lang="en-US" sz="1600" i="1">
                            <a:solidFill>
                              <a:schemeClr val="tx1"/>
                            </a:solidFill>
                            <a:latin typeface="Cambria Math" panose="02040503050406030204" pitchFamily="18" charset="0"/>
                          </a:rPr>
                          <m:t>𝑘</m:t>
                        </m:r>
                      </m:sub>
                    </m:sSub>
                  </m:oMath>
                </a14:m>
                <a:r>
                  <a:rPr lang="en-US" sz="1600" dirty="0">
                    <a:solidFill>
                      <a:schemeClr val="tx1"/>
                    </a:solidFill>
                  </a:rPr>
                  <a:t>(called PC scores) are generally used to control for confounders.</a:t>
                </a:r>
              </a:p>
            </p:txBody>
          </p:sp>
        </mc:Choice>
        <mc:Fallback xmlns="">
          <p:sp>
            <p:nvSpPr>
              <p:cNvPr id="32" name="Rounded Rectangle 31">
                <a:extLst>
                  <a:ext uri="{FF2B5EF4-FFF2-40B4-BE49-F238E27FC236}">
                    <a16:creationId xmlns:a16="http://schemas.microsoft.com/office/drawing/2014/main" id="{EE2FD29D-3FFF-8456-225A-E9E2D39B4767}"/>
                  </a:ext>
                </a:extLst>
              </p:cNvPr>
              <p:cNvSpPr>
                <a:spLocks noRot="1" noChangeAspect="1" noMove="1" noResize="1" noEditPoints="1" noAdjustHandles="1" noChangeArrowheads="1" noChangeShapeType="1" noTextEdit="1"/>
              </p:cNvSpPr>
              <p:nvPr/>
            </p:nvSpPr>
            <p:spPr>
              <a:xfrm>
                <a:off x="4347148" y="1102429"/>
                <a:ext cx="4345439" cy="2602543"/>
              </a:xfrm>
              <a:prstGeom prst="round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ounded Rectangle 35">
                <a:extLst>
                  <a:ext uri="{FF2B5EF4-FFF2-40B4-BE49-F238E27FC236}">
                    <a16:creationId xmlns:a16="http://schemas.microsoft.com/office/drawing/2014/main" id="{51B6B0C3-6300-C146-666C-17431E3F775A}"/>
                  </a:ext>
                </a:extLst>
              </p:cNvPr>
              <p:cNvSpPr/>
              <p:nvPr/>
            </p:nvSpPr>
            <p:spPr>
              <a:xfrm>
                <a:off x="286551" y="6456218"/>
                <a:ext cx="4181176" cy="2415066"/>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Properties</a:t>
                </a:r>
              </a:p>
              <a:p>
                <a:pPr marL="228600" lvl="1" indent="-228600">
                  <a:buAutoNum type="arabicPeriod"/>
                </a:pPr>
                <a:r>
                  <a:rPr lang="en-US" sz="1100" dirty="0">
                    <a:solidFill>
                      <a:schemeClr val="tx1"/>
                    </a:solidFill>
                  </a:rPr>
                  <a:t>Columns of </a:t>
                </a:r>
                <a14:m>
                  <m:oMath xmlns:m="http://schemas.openxmlformats.org/officeDocument/2006/math">
                    <m:sSub>
                      <m:sSubPr>
                        <m:ctrlPr>
                          <a:rPr lang="en-US" sz="1100" b="1" i="1">
                            <a:solidFill>
                              <a:schemeClr val="tx1"/>
                            </a:solidFill>
                            <a:latin typeface="Cambria Math" panose="02040503050406030204" pitchFamily="18" charset="0"/>
                          </a:rPr>
                        </m:ctrlPr>
                      </m:sSubPr>
                      <m:e>
                        <m:r>
                          <a:rPr lang="en-US" sz="1100" b="1" i="0">
                            <a:solidFill>
                              <a:schemeClr val="tx1"/>
                            </a:solidFill>
                            <a:latin typeface="Cambria Math" panose="02040503050406030204" pitchFamily="18" charset="0"/>
                          </a:rPr>
                          <m:t>𝐔</m:t>
                        </m:r>
                      </m:e>
                      <m:sub>
                        <m:r>
                          <m:rPr>
                            <m:sty m:val="p"/>
                          </m:rPr>
                          <a:rPr lang="en-US" sz="1100" i="0">
                            <a:solidFill>
                              <a:schemeClr val="tx1"/>
                            </a:solidFill>
                            <a:latin typeface="Cambria Math" panose="02040503050406030204" pitchFamily="18" charset="0"/>
                          </a:rPr>
                          <m:t>k</m:t>
                        </m:r>
                      </m:sub>
                    </m:sSub>
                  </m:oMath>
                </a14:m>
                <a:r>
                  <a:rPr lang="en-US" sz="1100" dirty="0">
                    <a:solidFill>
                      <a:schemeClr val="tx1"/>
                    </a:solidFill>
                  </a:rPr>
                  <a:t> are </a:t>
                </a:r>
                <a:r>
                  <a:rPr lang="en-US" sz="1100" i="1" dirty="0">
                    <a:solidFill>
                      <a:schemeClr val="tx1"/>
                    </a:solidFill>
                  </a:rPr>
                  <a:t>orthogonal unit left singular vectors</a:t>
                </a:r>
                <a:r>
                  <a:rPr lang="en-US" sz="1100" dirty="0">
                    <a:solidFill>
                      <a:schemeClr val="tx1"/>
                    </a:solidFill>
                  </a:rPr>
                  <a:t> of </a:t>
                </a:r>
                <a14:m>
                  <m:oMath xmlns:m="http://schemas.openxmlformats.org/officeDocument/2006/math">
                    <m:r>
                      <a:rPr lang="en-US" sz="1100" b="1" i="0" smtClean="0">
                        <a:solidFill>
                          <a:schemeClr val="tx1"/>
                        </a:solidFill>
                        <a:latin typeface="Cambria Math" panose="02040503050406030204" pitchFamily="18" charset="0"/>
                      </a:rPr>
                      <m:t>𝐗</m:t>
                    </m:r>
                  </m:oMath>
                </a14:m>
                <a:endParaRPr lang="en-US" sz="1100" dirty="0">
                  <a:solidFill>
                    <a:schemeClr val="tx1"/>
                  </a:solidFill>
                </a:endParaRPr>
              </a:p>
              <a:p>
                <a:pPr marL="228600" lvl="1" indent="-228600">
                  <a:buAutoNum type="arabicPeriod"/>
                </a:pPr>
                <a:r>
                  <a:rPr lang="en-US" sz="1100" dirty="0">
                    <a:solidFill>
                      <a:schemeClr val="tx1"/>
                    </a:solidFill>
                  </a:rPr>
                  <a:t>Column of </a:t>
                </a:r>
                <a14:m>
                  <m:oMath xmlns:m="http://schemas.openxmlformats.org/officeDocument/2006/math">
                    <m:sSub>
                      <m:sSubPr>
                        <m:ctrlPr>
                          <a:rPr lang="en-US" sz="1100" i="1">
                            <a:solidFill>
                              <a:schemeClr val="tx1"/>
                            </a:solidFill>
                            <a:latin typeface="Cambria Math" panose="02040503050406030204" pitchFamily="18" charset="0"/>
                          </a:rPr>
                        </m:ctrlPr>
                      </m:sSubPr>
                      <m:e>
                        <m:r>
                          <a:rPr lang="en-US" sz="1100" b="1" i="0" smtClean="0">
                            <a:solidFill>
                              <a:schemeClr val="tx1"/>
                            </a:solidFill>
                            <a:latin typeface="Cambria Math" panose="02040503050406030204" pitchFamily="18" charset="0"/>
                          </a:rPr>
                          <m:t>𝐖</m:t>
                        </m:r>
                      </m:e>
                      <m:sub>
                        <m:r>
                          <m:rPr>
                            <m:sty m:val="p"/>
                          </m:rPr>
                          <a:rPr lang="en-US" sz="1100" b="0" i="0">
                            <a:solidFill>
                              <a:schemeClr val="tx1"/>
                            </a:solidFill>
                            <a:latin typeface="Cambria Math" panose="02040503050406030204" pitchFamily="18" charset="0"/>
                          </a:rPr>
                          <m:t>k</m:t>
                        </m:r>
                      </m:sub>
                    </m:sSub>
                  </m:oMath>
                </a14:m>
                <a:r>
                  <a:rPr lang="en-US" sz="1100" dirty="0">
                    <a:solidFill>
                      <a:schemeClr val="tx1"/>
                    </a:solidFill>
                  </a:rPr>
                  <a:t> are </a:t>
                </a:r>
                <a:r>
                  <a:rPr lang="en-US" sz="1100" i="1" dirty="0">
                    <a:solidFill>
                      <a:schemeClr val="tx1"/>
                    </a:solidFill>
                  </a:rPr>
                  <a:t>orthogonal unit right singular vectors</a:t>
                </a:r>
                <a:r>
                  <a:rPr lang="en-US" sz="1100" dirty="0">
                    <a:solidFill>
                      <a:schemeClr val="tx1"/>
                    </a:solidFill>
                  </a:rPr>
                  <a:t> of </a:t>
                </a:r>
                <a14:m>
                  <m:oMath xmlns:m="http://schemas.openxmlformats.org/officeDocument/2006/math">
                    <m:r>
                      <a:rPr lang="en-US" sz="1100" b="1" i="0">
                        <a:solidFill>
                          <a:schemeClr val="tx1"/>
                        </a:solidFill>
                        <a:latin typeface="Cambria Math" panose="02040503050406030204" pitchFamily="18" charset="0"/>
                      </a:rPr>
                      <m:t>𝐗</m:t>
                    </m:r>
                  </m:oMath>
                </a14:m>
                <a:endParaRPr lang="en-US" sz="1100" dirty="0">
                  <a:solidFill>
                    <a:schemeClr val="tx1"/>
                  </a:solidFill>
                </a:endParaRPr>
              </a:p>
              <a:p>
                <a:pPr marL="228600" lvl="1" indent="-228600">
                  <a:buAutoNum type="arabicPeriod"/>
                </a:pPr>
                <a:r>
                  <a:rPr lang="en-US" sz="1100" dirty="0">
                    <a:solidFill>
                      <a:schemeClr val="tx1"/>
                    </a:solidFill>
                  </a:rPr>
                  <a:t>The diagonal elements of </a:t>
                </a:r>
                <a14:m>
                  <m:oMath xmlns:m="http://schemas.openxmlformats.org/officeDocument/2006/math">
                    <m:sSub>
                      <m:sSubPr>
                        <m:ctrlPr>
                          <a:rPr lang="en-US" sz="1100" i="1">
                            <a:solidFill>
                              <a:schemeClr val="tx1"/>
                            </a:solidFill>
                            <a:latin typeface="Cambria Math" panose="02040503050406030204" pitchFamily="18" charset="0"/>
                          </a:rPr>
                        </m:ctrlPr>
                      </m:sSubPr>
                      <m:e>
                        <m:r>
                          <a:rPr lang="en-US" sz="1100" b="1" i="0">
                            <a:solidFill>
                              <a:schemeClr val="tx1"/>
                            </a:solidFill>
                            <a:latin typeface="Cambria Math" panose="02040503050406030204" pitchFamily="18" charset="0"/>
                            <a:ea typeface="Cambria Math" panose="02040503050406030204" pitchFamily="18" charset="0"/>
                          </a:rPr>
                          <m:t>𝚺</m:t>
                        </m:r>
                      </m:e>
                      <m:sub>
                        <m:r>
                          <m:rPr>
                            <m:sty m:val="p"/>
                          </m:rPr>
                          <a:rPr lang="en-US" sz="1100" b="0" i="0">
                            <a:solidFill>
                              <a:schemeClr val="tx1"/>
                            </a:solidFill>
                            <a:latin typeface="Cambria Math" panose="02040503050406030204" pitchFamily="18" charset="0"/>
                          </a:rPr>
                          <m:t>k</m:t>
                        </m:r>
                      </m:sub>
                    </m:sSub>
                  </m:oMath>
                </a14:m>
                <a:r>
                  <a:rPr lang="en-US" sz="1100" dirty="0">
                    <a:solidFill>
                      <a:schemeClr val="tx1"/>
                    </a:solidFill>
                  </a:rPr>
                  <a:t> is </a:t>
                </a:r>
                <a:r>
                  <a:rPr lang="en-US" sz="1100" i="1" dirty="0">
                    <a:solidFill>
                      <a:schemeClr val="tx1"/>
                    </a:solidFill>
                  </a:rPr>
                  <a:t>the singular values </a:t>
                </a:r>
                <a:r>
                  <a:rPr lang="en-US" sz="1100" dirty="0">
                    <a:solidFill>
                      <a:schemeClr val="tx1"/>
                    </a:solidFill>
                  </a:rPr>
                  <a:t>of </a:t>
                </a:r>
                <a14:m>
                  <m:oMath xmlns:m="http://schemas.openxmlformats.org/officeDocument/2006/math">
                    <m:r>
                      <a:rPr lang="en-US" sz="1100" b="1" i="0">
                        <a:solidFill>
                          <a:schemeClr val="tx1"/>
                        </a:solidFill>
                        <a:latin typeface="Cambria Math" panose="02040503050406030204" pitchFamily="18" charset="0"/>
                      </a:rPr>
                      <m:t>𝐗</m:t>
                    </m:r>
                  </m:oMath>
                </a14:m>
                <a:r>
                  <a:rPr lang="en-US" sz="1100" dirty="0">
                    <a:solidFill>
                      <a:schemeClr val="tx1"/>
                    </a:solidFill>
                  </a:rPr>
                  <a:t>, and </a:t>
                </a:r>
                <a14:m>
                  <m:oMath xmlns:m="http://schemas.openxmlformats.org/officeDocument/2006/math">
                    <m:sSub>
                      <m:sSubPr>
                        <m:ctrlPr>
                          <a:rPr lang="en-US" sz="1100" i="1" smtClean="0">
                            <a:solidFill>
                              <a:schemeClr val="tx1"/>
                            </a:solidFill>
                            <a:latin typeface="Cambria Math" panose="02040503050406030204" pitchFamily="18" charset="0"/>
                          </a:rPr>
                        </m:ctrlPr>
                      </m:sSubPr>
                      <m:e>
                        <m:r>
                          <m:rPr>
                            <m:sty m:val="p"/>
                          </m:rPr>
                          <a:rPr lang="en-US" sz="1100" b="0" i="0" smtClean="0">
                            <a:solidFill>
                              <a:schemeClr val="tx1"/>
                            </a:solidFill>
                            <a:latin typeface="Cambria Math" panose="02040503050406030204" pitchFamily="18" charset="0"/>
                            <a:ea typeface="Cambria Math" panose="02040503050406030204" pitchFamily="18" charset="0"/>
                          </a:rPr>
                          <m:t>σ</m:t>
                        </m:r>
                      </m:e>
                      <m:sub>
                        <m:r>
                          <a:rPr lang="en-US" sz="1100" b="0" i="0" smtClean="0">
                            <a:solidFill>
                              <a:schemeClr val="tx1"/>
                            </a:solidFill>
                            <a:latin typeface="Cambria Math" panose="02040503050406030204" pitchFamily="18" charset="0"/>
                          </a:rPr>
                          <m:t>1</m:t>
                        </m:r>
                      </m:sub>
                    </m:sSub>
                    <m:r>
                      <a:rPr lang="en-US" sz="1100" b="0" i="0" smtClean="0">
                        <a:solidFill>
                          <a:schemeClr val="tx1"/>
                        </a:solidFill>
                        <a:latin typeface="Cambria Math" panose="02040503050406030204" pitchFamily="18" charset="0"/>
                        <a:ea typeface="Cambria Math" panose="02040503050406030204" pitchFamily="18" charset="0"/>
                      </a:rPr>
                      <m:t>≥</m:t>
                    </m:r>
                    <m:sSub>
                      <m:sSubPr>
                        <m:ctrlPr>
                          <a:rPr lang="en-US" sz="1100" i="1">
                            <a:solidFill>
                              <a:schemeClr val="tx1"/>
                            </a:solidFill>
                            <a:latin typeface="Cambria Math" panose="02040503050406030204" pitchFamily="18" charset="0"/>
                          </a:rPr>
                        </m:ctrlPr>
                      </m:sSubPr>
                      <m:e>
                        <m:r>
                          <m:rPr>
                            <m:sty m:val="p"/>
                          </m:rPr>
                          <a:rPr lang="en-US" sz="1100" b="0" i="0">
                            <a:solidFill>
                              <a:schemeClr val="tx1"/>
                            </a:solidFill>
                            <a:latin typeface="Cambria Math" panose="02040503050406030204" pitchFamily="18" charset="0"/>
                            <a:ea typeface="Cambria Math" panose="02040503050406030204" pitchFamily="18" charset="0"/>
                          </a:rPr>
                          <m:t>σ</m:t>
                        </m:r>
                      </m:e>
                      <m:sub>
                        <m:r>
                          <a:rPr lang="en-US" sz="1100" b="0" i="0" smtClean="0">
                            <a:solidFill>
                              <a:schemeClr val="tx1"/>
                            </a:solidFill>
                            <a:latin typeface="Cambria Math" panose="02040503050406030204" pitchFamily="18" charset="0"/>
                            <a:ea typeface="Cambria Math" panose="02040503050406030204" pitchFamily="18" charset="0"/>
                          </a:rPr>
                          <m:t>2</m:t>
                        </m:r>
                      </m:sub>
                    </m:sSub>
                    <m:r>
                      <a:rPr lang="en-US" sz="1100" b="0" i="0">
                        <a:solidFill>
                          <a:schemeClr val="tx1"/>
                        </a:solidFill>
                        <a:latin typeface="Cambria Math" panose="02040503050406030204" pitchFamily="18" charset="0"/>
                        <a:ea typeface="Cambria Math" panose="02040503050406030204" pitchFamily="18" charset="0"/>
                      </a:rPr>
                      <m:t>≥</m:t>
                    </m:r>
                    <m:r>
                      <a:rPr lang="en-US" sz="1100" b="0" i="0" smtClean="0">
                        <a:solidFill>
                          <a:schemeClr val="tx1"/>
                        </a:solidFill>
                        <a:latin typeface="Cambria Math" panose="02040503050406030204" pitchFamily="18" charset="0"/>
                        <a:ea typeface="Cambria Math" panose="02040503050406030204" pitchFamily="18" charset="0"/>
                      </a:rPr>
                      <m:t>…</m:t>
                    </m:r>
                    <m:r>
                      <a:rPr lang="en-US" sz="1100" b="0" i="0">
                        <a:solidFill>
                          <a:schemeClr val="tx1"/>
                        </a:solidFill>
                        <a:latin typeface="Cambria Math" panose="02040503050406030204" pitchFamily="18" charset="0"/>
                        <a:ea typeface="Cambria Math" panose="02040503050406030204" pitchFamily="18" charset="0"/>
                      </a:rPr>
                      <m:t>≥</m:t>
                    </m:r>
                    <m:sSub>
                      <m:sSubPr>
                        <m:ctrlPr>
                          <a:rPr lang="en-US" sz="1100" i="1">
                            <a:solidFill>
                              <a:schemeClr val="tx1"/>
                            </a:solidFill>
                            <a:latin typeface="Cambria Math" panose="02040503050406030204" pitchFamily="18" charset="0"/>
                          </a:rPr>
                        </m:ctrlPr>
                      </m:sSubPr>
                      <m:e>
                        <m:r>
                          <m:rPr>
                            <m:sty m:val="p"/>
                          </m:rPr>
                          <a:rPr lang="en-US" sz="1100" b="0" i="0">
                            <a:solidFill>
                              <a:schemeClr val="tx1"/>
                            </a:solidFill>
                            <a:latin typeface="Cambria Math" panose="02040503050406030204" pitchFamily="18" charset="0"/>
                            <a:ea typeface="Cambria Math" panose="02040503050406030204" pitchFamily="18" charset="0"/>
                          </a:rPr>
                          <m:t>σ</m:t>
                        </m:r>
                      </m:e>
                      <m:sub>
                        <m:r>
                          <m:rPr>
                            <m:sty m:val="p"/>
                          </m:rPr>
                          <a:rPr lang="en-US" sz="1100" b="0" i="0" smtClean="0">
                            <a:solidFill>
                              <a:schemeClr val="tx1"/>
                            </a:solidFill>
                            <a:latin typeface="Cambria Math" panose="02040503050406030204" pitchFamily="18" charset="0"/>
                            <a:ea typeface="Cambria Math" panose="02040503050406030204" pitchFamily="18" charset="0"/>
                          </a:rPr>
                          <m:t>k</m:t>
                        </m:r>
                      </m:sub>
                    </m:sSub>
                    <m:r>
                      <a:rPr lang="en-US" sz="1100" b="0" i="0" smtClean="0">
                        <a:solidFill>
                          <a:schemeClr val="tx1"/>
                        </a:solidFill>
                        <a:latin typeface="Cambria Math" panose="02040503050406030204" pitchFamily="18" charset="0"/>
                      </a:rPr>
                      <m:t>&gt;0</m:t>
                    </m:r>
                  </m:oMath>
                </a14:m>
                <a:endParaRPr lang="en-US" sz="1100" dirty="0">
                  <a:solidFill>
                    <a:schemeClr val="tx1"/>
                  </a:solidFill>
                </a:endParaRPr>
              </a:p>
              <a:p>
                <a:pPr marL="228600" lvl="1" indent="-228600">
                  <a:buAutoNum type="arabicPeriod"/>
                </a:pPr>
                <a:r>
                  <a:rPr lang="en-US" sz="1100" dirty="0">
                    <a:solidFill>
                      <a:schemeClr val="tx1"/>
                    </a:solidFill>
                  </a:rPr>
                  <a:t>Proportion of variance explained (</a:t>
                </a:r>
                <a:r>
                  <a:rPr lang="en-US" sz="1100" b="1" dirty="0">
                    <a:solidFill>
                      <a:schemeClr val="tx1"/>
                    </a:solidFill>
                  </a:rPr>
                  <a:t>PVE</a:t>
                </a:r>
                <a:r>
                  <a:rPr lang="en-US" sz="1100" dirty="0">
                    <a:solidFill>
                      <a:schemeClr val="tx1"/>
                    </a:solidFill>
                  </a:rPr>
                  <a:t>) by each PC: </a:t>
                </a:r>
                <a:endParaRPr lang="en-US" sz="110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1100" i="1" smtClean="0">
                              <a:solidFill>
                                <a:schemeClr val="tx1"/>
                              </a:solidFill>
                              <a:latin typeface="Cambria Math" panose="02040503050406030204" pitchFamily="18" charset="0"/>
                            </a:rPr>
                          </m:ctrlPr>
                        </m:fPr>
                        <m:num>
                          <m:sSubSup>
                            <m:sSubSupPr>
                              <m:ctrlPr>
                                <a:rPr lang="en-US" sz="1100" i="1">
                                  <a:solidFill>
                                    <a:schemeClr val="tx1"/>
                                  </a:solidFill>
                                  <a:latin typeface="Cambria Math" panose="02040503050406030204" pitchFamily="18" charset="0"/>
                                </a:rPr>
                              </m:ctrlPr>
                            </m:sSubSupPr>
                            <m:e>
                              <m:r>
                                <m:rPr>
                                  <m:sty m:val="p"/>
                                </m:rPr>
                                <a:rPr lang="en-US" sz="1100" i="0">
                                  <a:solidFill>
                                    <a:schemeClr val="tx1"/>
                                  </a:solidFill>
                                  <a:latin typeface="Cambria Math" panose="02040503050406030204" pitchFamily="18" charset="0"/>
                                  <a:ea typeface="Cambria Math" panose="02040503050406030204" pitchFamily="18" charset="0"/>
                                </a:rPr>
                                <m:t>σ</m:t>
                              </m:r>
                            </m:e>
                            <m:sub>
                              <m:r>
                                <m:rPr>
                                  <m:sty m:val="p"/>
                                </m:rPr>
                                <a:rPr lang="en-US" sz="1100" i="0">
                                  <a:solidFill>
                                    <a:schemeClr val="tx1"/>
                                  </a:solidFill>
                                  <a:latin typeface="Cambria Math" panose="02040503050406030204" pitchFamily="18" charset="0"/>
                                </a:rPr>
                                <m:t>j</m:t>
                              </m:r>
                            </m:sub>
                            <m:sup>
                              <m:r>
                                <a:rPr lang="en-US" sz="1100" i="0">
                                  <a:solidFill>
                                    <a:schemeClr val="tx1"/>
                                  </a:solidFill>
                                  <a:latin typeface="Cambria Math" panose="02040503050406030204" pitchFamily="18" charset="0"/>
                                </a:rPr>
                                <m:t>2</m:t>
                              </m:r>
                            </m:sup>
                          </m:sSubSup>
                        </m:num>
                        <m:den>
                          <m:nary>
                            <m:naryPr>
                              <m:chr m:val="∑"/>
                              <m:limLoc m:val="subSup"/>
                              <m:ctrlPr>
                                <a:rPr lang="en-US" sz="1100" i="1">
                                  <a:solidFill>
                                    <a:schemeClr val="tx1"/>
                                  </a:solidFill>
                                  <a:latin typeface="Cambria Math" panose="02040503050406030204" pitchFamily="18" charset="0"/>
                                </a:rPr>
                              </m:ctrlPr>
                            </m:naryPr>
                            <m:sub>
                              <m:r>
                                <m:rPr>
                                  <m:sty m:val="p"/>
                                  <m:brk m:alnAt="25"/>
                                </m:rPr>
                                <a:rPr lang="en-US" sz="1100" i="0">
                                  <a:solidFill>
                                    <a:schemeClr val="tx1"/>
                                  </a:solidFill>
                                  <a:latin typeface="Cambria Math" panose="02040503050406030204" pitchFamily="18" charset="0"/>
                                </a:rPr>
                                <m:t>j</m:t>
                              </m:r>
                              <m:r>
                                <a:rPr lang="en-US" sz="1100" i="0">
                                  <a:solidFill>
                                    <a:schemeClr val="tx1"/>
                                  </a:solidFill>
                                  <a:latin typeface="Cambria Math" panose="02040503050406030204" pitchFamily="18" charset="0"/>
                                </a:rPr>
                                <m:t>=1</m:t>
                              </m:r>
                            </m:sub>
                            <m:sup>
                              <m:r>
                                <m:rPr>
                                  <m:sty m:val="p"/>
                                </m:rPr>
                                <a:rPr lang="en-US" sz="1100" b="0" i="0" smtClean="0">
                                  <a:solidFill>
                                    <a:schemeClr val="tx1"/>
                                  </a:solidFill>
                                  <a:latin typeface="Cambria Math" panose="02040503050406030204" pitchFamily="18" charset="0"/>
                                </a:rPr>
                                <m:t>p</m:t>
                              </m:r>
                            </m:sup>
                            <m:e>
                              <m:sSubSup>
                                <m:sSubSupPr>
                                  <m:ctrlPr>
                                    <a:rPr lang="en-US" sz="1100" i="1">
                                      <a:solidFill>
                                        <a:schemeClr val="tx1"/>
                                      </a:solidFill>
                                      <a:latin typeface="Cambria Math" panose="02040503050406030204" pitchFamily="18" charset="0"/>
                                    </a:rPr>
                                  </m:ctrlPr>
                                </m:sSubSupPr>
                                <m:e>
                                  <m:r>
                                    <m:rPr>
                                      <m:sty m:val="p"/>
                                    </m:rPr>
                                    <a:rPr lang="en-US" sz="1100" i="0">
                                      <a:solidFill>
                                        <a:schemeClr val="tx1"/>
                                      </a:solidFill>
                                      <a:latin typeface="Cambria Math" panose="02040503050406030204" pitchFamily="18" charset="0"/>
                                      <a:ea typeface="Cambria Math" panose="02040503050406030204" pitchFamily="18" charset="0"/>
                                    </a:rPr>
                                    <m:t>σ</m:t>
                                  </m:r>
                                </m:e>
                                <m:sub>
                                  <m:r>
                                    <m:rPr>
                                      <m:sty m:val="p"/>
                                    </m:rPr>
                                    <a:rPr lang="en-US" sz="1100" i="0">
                                      <a:solidFill>
                                        <a:schemeClr val="tx1"/>
                                      </a:solidFill>
                                      <a:latin typeface="Cambria Math" panose="02040503050406030204" pitchFamily="18" charset="0"/>
                                    </a:rPr>
                                    <m:t>j</m:t>
                                  </m:r>
                                </m:sub>
                                <m:sup>
                                  <m:r>
                                    <a:rPr lang="en-US" sz="1100" i="0">
                                      <a:solidFill>
                                        <a:schemeClr val="tx1"/>
                                      </a:solidFill>
                                      <a:latin typeface="Cambria Math" panose="02040503050406030204" pitchFamily="18" charset="0"/>
                                    </a:rPr>
                                    <m:t>2</m:t>
                                  </m:r>
                                </m:sup>
                              </m:sSubSup>
                            </m:e>
                          </m:nary>
                        </m:den>
                      </m:f>
                    </m:oMath>
                  </m:oMathPara>
                </a14:m>
                <a:endParaRPr lang="en-US" sz="1100" dirty="0">
                  <a:solidFill>
                    <a:schemeClr val="tx1"/>
                  </a:solidFill>
                </a:endParaRPr>
              </a:p>
              <a:p>
                <a:pPr marL="228600" indent="-228600">
                  <a:buFont typeface="+mj-lt"/>
                  <a:buAutoNum type="arabicPeriod" startAt="5"/>
                </a:pPr>
                <a:r>
                  <a:rPr lang="en-US" sz="1100" dirty="0">
                    <a:solidFill>
                      <a:schemeClr val="tx1"/>
                    </a:solidFill>
                  </a:rPr>
                  <a:t>Proportion of variance explained (</a:t>
                </a:r>
                <a:r>
                  <a:rPr lang="en-US" sz="1100" b="1" dirty="0">
                    <a:solidFill>
                      <a:schemeClr val="tx1"/>
                    </a:solidFill>
                  </a:rPr>
                  <a:t>PVE</a:t>
                </a:r>
                <a:r>
                  <a:rPr lang="en-US" sz="1100" dirty="0">
                    <a:solidFill>
                      <a:schemeClr val="tx1"/>
                    </a:solidFill>
                  </a:rPr>
                  <a:t>) by the top </a:t>
                </a:r>
                <a14:m>
                  <m:oMath xmlns:m="http://schemas.openxmlformats.org/officeDocument/2006/math">
                    <m:r>
                      <m:rPr>
                        <m:sty m:val="p"/>
                      </m:rPr>
                      <a:rPr lang="en-US" sz="1100" b="0" i="0" smtClean="0">
                        <a:solidFill>
                          <a:schemeClr val="tx1"/>
                        </a:solidFill>
                        <a:latin typeface="Cambria Math" panose="02040503050406030204" pitchFamily="18" charset="0"/>
                      </a:rPr>
                      <m:t>k</m:t>
                    </m:r>
                  </m:oMath>
                </a14:m>
                <a:r>
                  <a:rPr lang="en-US" sz="1100" dirty="0">
                    <a:solidFill>
                      <a:schemeClr val="tx1"/>
                    </a:solidFill>
                  </a:rPr>
                  <a:t> PCs: </a:t>
                </a:r>
                <a:endParaRPr lang="en-US" sz="110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sz="1100" i="1">
                              <a:solidFill>
                                <a:schemeClr val="tx1"/>
                              </a:solidFill>
                              <a:latin typeface="Cambria Math" panose="02040503050406030204" pitchFamily="18" charset="0"/>
                            </a:rPr>
                          </m:ctrlPr>
                        </m:fPr>
                        <m:num>
                          <m:nary>
                            <m:naryPr>
                              <m:chr m:val="∑"/>
                              <m:limLoc m:val="subSup"/>
                              <m:ctrlPr>
                                <a:rPr lang="en-US" sz="1100" i="1">
                                  <a:solidFill>
                                    <a:schemeClr val="tx1"/>
                                  </a:solidFill>
                                  <a:latin typeface="Cambria Math" panose="02040503050406030204" pitchFamily="18" charset="0"/>
                                </a:rPr>
                              </m:ctrlPr>
                            </m:naryPr>
                            <m:sub>
                              <m:r>
                                <m:rPr>
                                  <m:sty m:val="p"/>
                                  <m:brk m:alnAt="1"/>
                                </m:rPr>
                                <a:rPr lang="en-US" sz="1100" b="0" i="0" smtClean="0">
                                  <a:solidFill>
                                    <a:schemeClr val="tx1"/>
                                  </a:solidFill>
                                  <a:latin typeface="Cambria Math" panose="02040503050406030204" pitchFamily="18" charset="0"/>
                                </a:rPr>
                                <m:t>j</m:t>
                              </m:r>
                              <m:r>
                                <a:rPr lang="en-US" sz="1100">
                                  <a:solidFill>
                                    <a:schemeClr val="tx1"/>
                                  </a:solidFill>
                                  <a:latin typeface="Cambria Math" panose="02040503050406030204" pitchFamily="18" charset="0"/>
                                </a:rPr>
                                <m:t>=1</m:t>
                              </m:r>
                            </m:sub>
                            <m:sup>
                              <m:r>
                                <m:rPr>
                                  <m:sty m:val="p"/>
                                </m:rPr>
                                <a:rPr lang="en-US" sz="1100" b="0" i="0" smtClean="0">
                                  <a:solidFill>
                                    <a:schemeClr val="tx1"/>
                                  </a:solidFill>
                                  <a:latin typeface="Cambria Math" panose="02040503050406030204" pitchFamily="18" charset="0"/>
                                </a:rPr>
                                <m:t>k</m:t>
                              </m:r>
                            </m:sup>
                            <m:e>
                              <m:sSubSup>
                                <m:sSubSupPr>
                                  <m:ctrlPr>
                                    <a:rPr lang="en-US" sz="1100" i="1">
                                      <a:solidFill>
                                        <a:schemeClr val="tx1"/>
                                      </a:solidFill>
                                      <a:latin typeface="Cambria Math" panose="02040503050406030204" pitchFamily="18" charset="0"/>
                                    </a:rPr>
                                  </m:ctrlPr>
                                </m:sSubSupPr>
                                <m:e>
                                  <m:r>
                                    <m:rPr>
                                      <m:sty m:val="p"/>
                                    </m:rPr>
                                    <a:rPr lang="en-US" sz="1100">
                                      <a:solidFill>
                                        <a:schemeClr val="tx1"/>
                                      </a:solidFill>
                                      <a:latin typeface="Cambria Math" panose="02040503050406030204" pitchFamily="18" charset="0"/>
                                      <a:ea typeface="Cambria Math" panose="02040503050406030204" pitchFamily="18" charset="0"/>
                                    </a:rPr>
                                    <m:t>σ</m:t>
                                  </m:r>
                                </m:e>
                                <m:sub>
                                  <m:r>
                                    <m:rPr>
                                      <m:sty m:val="p"/>
                                    </m:rPr>
                                    <a:rPr lang="en-US" sz="1100" b="0" i="0" smtClean="0">
                                      <a:solidFill>
                                        <a:schemeClr val="tx1"/>
                                      </a:solidFill>
                                      <a:latin typeface="Cambria Math" panose="02040503050406030204" pitchFamily="18" charset="0"/>
                                      <a:ea typeface="Cambria Math" panose="02040503050406030204" pitchFamily="18" charset="0"/>
                                    </a:rPr>
                                    <m:t>j</m:t>
                                  </m:r>
                                </m:sub>
                                <m:sup>
                                  <m:r>
                                    <a:rPr lang="en-US" sz="1100">
                                      <a:solidFill>
                                        <a:schemeClr val="tx1"/>
                                      </a:solidFill>
                                      <a:latin typeface="Cambria Math" panose="02040503050406030204" pitchFamily="18" charset="0"/>
                                    </a:rPr>
                                    <m:t>2</m:t>
                                  </m:r>
                                </m:sup>
                              </m:sSubSup>
                            </m:e>
                          </m:nary>
                        </m:num>
                        <m:den>
                          <m:nary>
                            <m:naryPr>
                              <m:chr m:val="∑"/>
                              <m:limLoc m:val="subSup"/>
                              <m:ctrlPr>
                                <a:rPr lang="en-US" sz="1100" i="1">
                                  <a:solidFill>
                                    <a:schemeClr val="tx1"/>
                                  </a:solidFill>
                                  <a:latin typeface="Cambria Math" panose="02040503050406030204" pitchFamily="18" charset="0"/>
                                </a:rPr>
                              </m:ctrlPr>
                            </m:naryPr>
                            <m:sub>
                              <m:r>
                                <m:rPr>
                                  <m:sty m:val="p"/>
                                  <m:brk m:alnAt="25"/>
                                </m:rPr>
                                <a:rPr lang="en-US" sz="1100">
                                  <a:solidFill>
                                    <a:schemeClr val="tx1"/>
                                  </a:solidFill>
                                  <a:latin typeface="Cambria Math" panose="02040503050406030204" pitchFamily="18" charset="0"/>
                                </a:rPr>
                                <m:t>j</m:t>
                              </m:r>
                              <m:r>
                                <a:rPr lang="en-US" sz="1100">
                                  <a:solidFill>
                                    <a:schemeClr val="tx1"/>
                                  </a:solidFill>
                                  <a:latin typeface="Cambria Math" panose="02040503050406030204" pitchFamily="18" charset="0"/>
                                </a:rPr>
                                <m:t>=1</m:t>
                              </m:r>
                            </m:sub>
                            <m:sup>
                              <m:r>
                                <m:rPr>
                                  <m:sty m:val="p"/>
                                </m:rPr>
                                <a:rPr lang="en-US" sz="1100">
                                  <a:solidFill>
                                    <a:schemeClr val="tx1"/>
                                  </a:solidFill>
                                  <a:latin typeface="Cambria Math" panose="02040503050406030204" pitchFamily="18" charset="0"/>
                                </a:rPr>
                                <m:t>p</m:t>
                              </m:r>
                            </m:sup>
                            <m:e>
                              <m:sSubSup>
                                <m:sSubSupPr>
                                  <m:ctrlPr>
                                    <a:rPr lang="en-US" sz="1100" i="1">
                                      <a:solidFill>
                                        <a:schemeClr val="tx1"/>
                                      </a:solidFill>
                                      <a:latin typeface="Cambria Math" panose="02040503050406030204" pitchFamily="18" charset="0"/>
                                    </a:rPr>
                                  </m:ctrlPr>
                                </m:sSubSupPr>
                                <m:e>
                                  <m:r>
                                    <m:rPr>
                                      <m:sty m:val="p"/>
                                    </m:rPr>
                                    <a:rPr lang="en-US" sz="1100">
                                      <a:solidFill>
                                        <a:schemeClr val="tx1"/>
                                      </a:solidFill>
                                      <a:latin typeface="Cambria Math" panose="02040503050406030204" pitchFamily="18" charset="0"/>
                                      <a:ea typeface="Cambria Math" panose="02040503050406030204" pitchFamily="18" charset="0"/>
                                    </a:rPr>
                                    <m:t>σ</m:t>
                                  </m:r>
                                </m:e>
                                <m:sub>
                                  <m:r>
                                    <m:rPr>
                                      <m:sty m:val="p"/>
                                    </m:rPr>
                                    <a:rPr lang="en-US" sz="1100">
                                      <a:solidFill>
                                        <a:schemeClr val="tx1"/>
                                      </a:solidFill>
                                      <a:latin typeface="Cambria Math" panose="02040503050406030204" pitchFamily="18" charset="0"/>
                                    </a:rPr>
                                    <m:t>j</m:t>
                                  </m:r>
                                </m:sub>
                                <m:sup>
                                  <m:r>
                                    <a:rPr lang="en-US" sz="1100">
                                      <a:solidFill>
                                        <a:schemeClr val="tx1"/>
                                      </a:solidFill>
                                      <a:latin typeface="Cambria Math" panose="02040503050406030204" pitchFamily="18" charset="0"/>
                                    </a:rPr>
                                    <m:t>2</m:t>
                                  </m:r>
                                </m:sup>
                              </m:sSubSup>
                            </m:e>
                          </m:nary>
                        </m:den>
                      </m:f>
                    </m:oMath>
                  </m:oMathPara>
                </a14:m>
                <a:endParaRPr lang="en-US" sz="1100" dirty="0">
                  <a:solidFill>
                    <a:schemeClr val="tx1"/>
                  </a:solidFill>
                </a:endParaRPr>
              </a:p>
            </p:txBody>
          </p:sp>
        </mc:Choice>
        <mc:Fallback xmlns="">
          <p:sp>
            <p:nvSpPr>
              <p:cNvPr id="36" name="Rounded Rectangle 35">
                <a:extLst>
                  <a:ext uri="{FF2B5EF4-FFF2-40B4-BE49-F238E27FC236}">
                    <a16:creationId xmlns:a16="http://schemas.microsoft.com/office/drawing/2014/main" id="{51B6B0C3-6300-C146-666C-17431E3F775A}"/>
                  </a:ext>
                </a:extLst>
              </p:cNvPr>
              <p:cNvSpPr>
                <a:spLocks noRot="1" noChangeAspect="1" noMove="1" noResize="1" noEditPoints="1" noAdjustHandles="1" noChangeArrowheads="1" noChangeShapeType="1" noTextEdit="1"/>
              </p:cNvSpPr>
              <p:nvPr/>
            </p:nvSpPr>
            <p:spPr>
              <a:xfrm>
                <a:off x="286551" y="6456218"/>
                <a:ext cx="4181176" cy="2415066"/>
              </a:xfrm>
              <a:prstGeom prst="roundRect">
                <a:avLst/>
              </a:prstGeom>
              <a:blipFill>
                <a:blip r:embed="rId4"/>
                <a:stretch>
                  <a:fillRect b="-10417"/>
                </a:stretch>
              </a:blipFill>
              <a:ln>
                <a:solidFill>
                  <a:schemeClr val="tx1"/>
                </a:solidFill>
              </a:ln>
            </p:spPr>
            <p:txBody>
              <a:bodyPr/>
              <a:lstStyle/>
              <a:p>
                <a:r>
                  <a:rPr lang="en-US">
                    <a:noFill/>
                  </a:rPr>
                  <a:t> </a:t>
                </a:r>
              </a:p>
            </p:txBody>
          </p:sp>
        </mc:Fallback>
      </mc:AlternateContent>
      <p:sp>
        <p:nvSpPr>
          <p:cNvPr id="39" name="Rounded Rectangle 38">
            <a:extLst>
              <a:ext uri="{FF2B5EF4-FFF2-40B4-BE49-F238E27FC236}">
                <a16:creationId xmlns:a16="http://schemas.microsoft.com/office/drawing/2014/main" id="{6210F74C-1D23-B0E1-D902-7EF202DB8FE5}"/>
              </a:ext>
            </a:extLst>
          </p:cNvPr>
          <p:cNvSpPr/>
          <p:nvPr/>
        </p:nvSpPr>
        <p:spPr>
          <a:xfrm>
            <a:off x="4572001" y="6456217"/>
            <a:ext cx="4285448" cy="2415066"/>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Applications</a:t>
            </a:r>
          </a:p>
          <a:p>
            <a:pPr marL="171450" indent="-171450">
              <a:buFont typeface="Arial" panose="020B0604020202020204" pitchFamily="34" charset="0"/>
              <a:buChar char="•"/>
            </a:pPr>
            <a:r>
              <a:rPr lang="en-US" sz="1100" i="1" dirty="0">
                <a:solidFill>
                  <a:schemeClr val="tx1"/>
                </a:solidFill>
              </a:rPr>
              <a:t>Mixture analysis (population structure)</a:t>
            </a:r>
            <a:endParaRPr lang="en-US" sz="1100" dirty="0">
              <a:solidFill>
                <a:schemeClr val="tx1"/>
              </a:solidFill>
            </a:endParaRPr>
          </a:p>
          <a:p>
            <a:pPr marL="628650" lvl="1" indent="-171450">
              <a:buFont typeface="Arial" panose="020B0604020202020204" pitchFamily="34" charset="0"/>
              <a:buChar char="•"/>
            </a:pPr>
            <a:r>
              <a:rPr lang="en-US" sz="1100" dirty="0">
                <a:solidFill>
                  <a:schemeClr val="tx1"/>
                </a:solidFill>
              </a:rPr>
              <a:t>Identify ancestry clusters in datasets</a:t>
            </a:r>
          </a:p>
          <a:p>
            <a:pPr marL="628650" lvl="1" indent="-171450">
              <a:buFont typeface="Arial" panose="020B0604020202020204" pitchFamily="34" charset="0"/>
              <a:buChar char="•"/>
            </a:pPr>
            <a:r>
              <a:rPr lang="en-US" sz="1100" dirty="0">
                <a:solidFill>
                  <a:schemeClr val="tx1"/>
                </a:solidFill>
              </a:rPr>
              <a:t>Visualize genetic diversity — e.g., PC1 vs PC2 plots that resemble geographic maps</a:t>
            </a:r>
          </a:p>
          <a:p>
            <a:pPr marL="171450" indent="-171450">
              <a:buFont typeface="Arial" panose="020B0604020202020204" pitchFamily="34" charset="0"/>
              <a:buChar char="•"/>
            </a:pPr>
            <a:r>
              <a:rPr lang="en-US" sz="1100" dirty="0">
                <a:solidFill>
                  <a:schemeClr val="tx1"/>
                </a:solidFill>
              </a:rPr>
              <a:t>Correction for </a:t>
            </a:r>
            <a:r>
              <a:rPr lang="en-US" sz="1100" i="1" dirty="0">
                <a:solidFill>
                  <a:schemeClr val="tx1"/>
                </a:solidFill>
              </a:rPr>
              <a:t>population stratification </a:t>
            </a:r>
            <a:r>
              <a:rPr lang="en-US" sz="1100" dirty="0">
                <a:solidFill>
                  <a:schemeClr val="tx1"/>
                </a:solidFill>
              </a:rPr>
              <a:t>in GWAS</a:t>
            </a:r>
          </a:p>
          <a:p>
            <a:pPr marL="628650" lvl="1" indent="-171450">
              <a:buFont typeface="Arial" panose="020B0604020202020204" pitchFamily="34" charset="0"/>
              <a:buChar char="•"/>
            </a:pPr>
            <a:r>
              <a:rPr lang="en-US" sz="1100" dirty="0">
                <a:solidFill>
                  <a:schemeClr val="tx1"/>
                </a:solidFill>
              </a:rPr>
              <a:t>Genetic ancestry differences can confound association tests</a:t>
            </a:r>
          </a:p>
          <a:p>
            <a:pPr marL="628650" lvl="1" indent="-171450">
              <a:buFont typeface="Arial" panose="020B0604020202020204" pitchFamily="34" charset="0"/>
              <a:buChar char="•"/>
            </a:pPr>
            <a:r>
              <a:rPr lang="en-US" sz="1100" dirty="0">
                <a:solidFill>
                  <a:schemeClr val="tx1"/>
                </a:solidFill>
              </a:rPr>
              <a:t>Top PCs can be included in the model as covariates:</a:t>
            </a:r>
          </a:p>
          <a:p>
            <a:pPr lvl="1"/>
            <a:r>
              <a:rPr lang="en-US" sz="1100" dirty="0">
                <a:solidFill>
                  <a:schemeClr val="tx1"/>
                </a:solidFill>
              </a:rPr>
              <a:t>	        Trait ∼ SNP + </a:t>
            </a:r>
            <a:r>
              <a:rPr lang="en-US" sz="1100" i="1" dirty="0">
                <a:solidFill>
                  <a:schemeClr val="tx1"/>
                </a:solidFill>
              </a:rPr>
              <a:t>PCs</a:t>
            </a:r>
            <a:r>
              <a:rPr lang="en-US" sz="1100" dirty="0">
                <a:solidFill>
                  <a:schemeClr val="tx1"/>
                </a:solidFill>
              </a:rPr>
              <a:t> + covariates</a:t>
            </a:r>
          </a:p>
          <a:p>
            <a:pPr marL="171450" indent="-171450">
              <a:buFont typeface="Arial" panose="020B0604020202020204" pitchFamily="34" charset="0"/>
              <a:buChar char="•"/>
            </a:pPr>
            <a:r>
              <a:rPr lang="en-US" sz="1100" i="1" dirty="0">
                <a:solidFill>
                  <a:schemeClr val="tx1"/>
                </a:solidFill>
              </a:rPr>
              <a:t>Quality control (QC) </a:t>
            </a:r>
            <a:r>
              <a:rPr lang="en-US" sz="1100" dirty="0">
                <a:solidFill>
                  <a:schemeClr val="tx1"/>
                </a:solidFill>
              </a:rPr>
              <a:t>(identify outlier samples)</a:t>
            </a:r>
          </a:p>
          <a:p>
            <a:pPr marL="628650" lvl="1" indent="-171450">
              <a:buFont typeface="Arial" panose="020B0604020202020204" pitchFamily="34" charset="0"/>
              <a:buChar char="•"/>
            </a:pPr>
            <a:r>
              <a:rPr lang="en-US" sz="1100" dirty="0">
                <a:solidFill>
                  <a:schemeClr val="tx1"/>
                </a:solidFill>
              </a:rPr>
              <a:t>mislabeled ancestry, contamination</a:t>
            </a:r>
          </a:p>
        </p:txBody>
      </p:sp>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9CEE3DD8-F1A0-2C66-AD60-53A500E2A4BC}"/>
                  </a:ext>
                </a:extLst>
              </p:cNvPr>
              <p:cNvSpPr/>
              <p:nvPr/>
            </p:nvSpPr>
            <p:spPr>
              <a:xfrm>
                <a:off x="358392" y="4498383"/>
                <a:ext cx="1371600" cy="822960"/>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ysClr val="windowText" lastClr="000000"/>
                          </a:solidFill>
                          <a:latin typeface="Cambria Math" panose="02040503050406030204" pitchFamily="18" charset="0"/>
                        </a:rPr>
                        <m:t>𝑿</m:t>
                      </m:r>
                    </m:oMath>
                  </m:oMathPara>
                </a14:m>
                <a:endParaRPr lang="en-US" dirty="0">
                  <a:solidFill>
                    <a:sysClr val="windowText" lastClr="000000"/>
                  </a:solidFill>
                </a:endParaRPr>
              </a:p>
            </p:txBody>
          </p:sp>
        </mc:Choice>
        <mc:Fallback xmlns="">
          <p:sp>
            <p:nvSpPr>
              <p:cNvPr id="3" name="Rounded Rectangle 2">
                <a:extLst>
                  <a:ext uri="{FF2B5EF4-FFF2-40B4-BE49-F238E27FC236}">
                    <a16:creationId xmlns:a16="http://schemas.microsoft.com/office/drawing/2014/main" id="{9CEE3DD8-F1A0-2C66-AD60-53A500E2A4BC}"/>
                  </a:ext>
                </a:extLst>
              </p:cNvPr>
              <p:cNvSpPr>
                <a:spLocks noRot="1" noChangeAspect="1" noMove="1" noResize="1" noEditPoints="1" noAdjustHandles="1" noChangeArrowheads="1" noChangeShapeType="1" noTextEdit="1"/>
              </p:cNvSpPr>
              <p:nvPr/>
            </p:nvSpPr>
            <p:spPr>
              <a:xfrm>
                <a:off x="358392" y="4498383"/>
                <a:ext cx="1371600" cy="822960"/>
              </a:xfrm>
              <a:prstGeom prst="roundRect">
                <a:avLst/>
              </a:prstGeom>
              <a:blipFill>
                <a:blip r:embed="rId5"/>
                <a:stretch>
                  <a:fillRect/>
                </a:stretch>
              </a:blipFill>
              <a:ln>
                <a:solidFill>
                  <a:schemeClr val="accent4">
                    <a:lumMod val="60000"/>
                    <a:lumOff val="40000"/>
                  </a:schemeClr>
                </a:solid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D2DB31DA-0635-DFB3-C4E2-C9491529FEDF}"/>
              </a:ext>
            </a:extLst>
          </p:cNvPr>
          <p:cNvSpPr txBox="1"/>
          <p:nvPr/>
        </p:nvSpPr>
        <p:spPr>
          <a:xfrm>
            <a:off x="1708360" y="4713275"/>
            <a:ext cx="300082" cy="369332"/>
          </a:xfrm>
          <a:prstGeom prst="rect">
            <a:avLst/>
          </a:prstGeom>
          <a:noFill/>
        </p:spPr>
        <p:txBody>
          <a:bodyPr wrap="none" rtlCol="0">
            <a:spAutoFit/>
          </a:bodyPr>
          <a:lstStyle/>
          <a:p>
            <a:r>
              <a:rPr lang="en-US" dirty="0">
                <a:solidFill>
                  <a:sysClr val="windowText" lastClr="000000"/>
                </a:solidFill>
              </a:rPr>
              <a:t>=</a:t>
            </a:r>
          </a:p>
        </p:txBody>
      </p:sp>
      <mc:AlternateContent xmlns:mc="http://schemas.openxmlformats.org/markup-compatibility/2006" xmlns:a14="http://schemas.microsoft.com/office/drawing/2010/main">
        <mc:Choice Requires="a14">
          <p:sp>
            <p:nvSpPr>
              <p:cNvPr id="5" name="Rounded Rectangle 4">
                <a:extLst>
                  <a:ext uri="{FF2B5EF4-FFF2-40B4-BE49-F238E27FC236}">
                    <a16:creationId xmlns:a16="http://schemas.microsoft.com/office/drawing/2014/main" id="{DF756A40-1811-6EDE-D881-B0D42D50551F}"/>
                  </a:ext>
                </a:extLst>
              </p:cNvPr>
              <p:cNvSpPr/>
              <p:nvPr/>
            </p:nvSpPr>
            <p:spPr>
              <a:xfrm>
                <a:off x="2777867" y="4478184"/>
                <a:ext cx="1371600" cy="329184"/>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i="1" smtClean="0">
                              <a:solidFill>
                                <a:sysClr val="windowText" lastClr="000000"/>
                              </a:solidFill>
                              <a:latin typeface="Cambria Math" panose="02040503050406030204" pitchFamily="18" charset="0"/>
                            </a:rPr>
                          </m:ctrlPr>
                        </m:sSupPr>
                        <m:e>
                          <m:r>
                            <a:rPr lang="en-US" b="1" i="1" smtClean="0">
                              <a:solidFill>
                                <a:sysClr val="windowText" lastClr="000000"/>
                              </a:solidFill>
                              <a:latin typeface="Cambria Math" panose="02040503050406030204" pitchFamily="18" charset="0"/>
                            </a:rPr>
                            <m:t>𝑾</m:t>
                          </m:r>
                        </m:e>
                        <m:sup>
                          <m:r>
                            <a:rPr lang="en-US" b="0" i="1" smtClean="0">
                              <a:solidFill>
                                <a:sysClr val="windowText" lastClr="000000"/>
                              </a:solidFill>
                              <a:latin typeface="Cambria Math" panose="02040503050406030204" pitchFamily="18" charset="0"/>
                            </a:rPr>
                            <m:t>𝑇</m:t>
                          </m:r>
                        </m:sup>
                      </m:sSup>
                    </m:oMath>
                  </m:oMathPara>
                </a14:m>
                <a:endParaRPr lang="en-US" dirty="0">
                  <a:solidFill>
                    <a:sysClr val="windowText" lastClr="000000"/>
                  </a:solidFill>
                </a:endParaRPr>
              </a:p>
            </p:txBody>
          </p:sp>
        </mc:Choice>
        <mc:Fallback xmlns="">
          <p:sp>
            <p:nvSpPr>
              <p:cNvPr id="5" name="Rounded Rectangle 4">
                <a:extLst>
                  <a:ext uri="{FF2B5EF4-FFF2-40B4-BE49-F238E27FC236}">
                    <a16:creationId xmlns:a16="http://schemas.microsoft.com/office/drawing/2014/main" id="{DF756A40-1811-6EDE-D881-B0D42D50551F}"/>
                  </a:ext>
                </a:extLst>
              </p:cNvPr>
              <p:cNvSpPr>
                <a:spLocks noRot="1" noChangeAspect="1" noMove="1" noResize="1" noEditPoints="1" noAdjustHandles="1" noChangeArrowheads="1" noChangeShapeType="1" noTextEdit="1"/>
              </p:cNvSpPr>
              <p:nvPr/>
            </p:nvSpPr>
            <p:spPr>
              <a:xfrm>
                <a:off x="2777867" y="4478184"/>
                <a:ext cx="1371600" cy="329184"/>
              </a:xfrm>
              <a:prstGeom prst="roundRect">
                <a:avLst/>
              </a:prstGeom>
              <a:blipFill>
                <a:blip r:embed="rId6"/>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95649F78-BCEB-CBC0-15CD-88C5A5E12AED}"/>
                  </a:ext>
                </a:extLst>
              </p:cNvPr>
              <p:cNvSpPr/>
              <p:nvPr/>
            </p:nvSpPr>
            <p:spPr>
              <a:xfrm>
                <a:off x="1957712" y="4494553"/>
                <a:ext cx="327411" cy="822960"/>
              </a:xfrm>
              <a:prstGeom prst="round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1" i="1" smtClean="0">
                          <a:solidFill>
                            <a:schemeClr val="tx1"/>
                          </a:solidFill>
                          <a:latin typeface="Cambria Math" panose="02040503050406030204" pitchFamily="18" charset="0"/>
                        </a:rPr>
                        <m:t>𝑼</m:t>
                      </m:r>
                    </m:oMath>
                  </m:oMathPara>
                </a14:m>
                <a:endParaRPr lang="en-US" dirty="0">
                  <a:solidFill>
                    <a:sysClr val="windowText" lastClr="000000"/>
                  </a:solidFill>
                </a:endParaRPr>
              </a:p>
            </p:txBody>
          </p:sp>
        </mc:Choice>
        <mc:Fallback xmlns="">
          <p:sp>
            <p:nvSpPr>
              <p:cNvPr id="6" name="Rounded Rectangle 5">
                <a:extLst>
                  <a:ext uri="{FF2B5EF4-FFF2-40B4-BE49-F238E27FC236}">
                    <a16:creationId xmlns:a16="http://schemas.microsoft.com/office/drawing/2014/main" id="{95649F78-BCEB-CBC0-15CD-88C5A5E12AED}"/>
                  </a:ext>
                </a:extLst>
              </p:cNvPr>
              <p:cNvSpPr>
                <a:spLocks noRot="1" noChangeAspect="1" noMove="1" noResize="1" noEditPoints="1" noAdjustHandles="1" noChangeArrowheads="1" noChangeShapeType="1" noTextEdit="1"/>
              </p:cNvSpPr>
              <p:nvPr/>
            </p:nvSpPr>
            <p:spPr>
              <a:xfrm>
                <a:off x="1957712" y="4494553"/>
                <a:ext cx="327411" cy="822960"/>
              </a:xfrm>
              <a:prstGeom prst="roundRect">
                <a:avLst/>
              </a:prstGeom>
              <a:blipFill>
                <a:blip r:embed="rId7"/>
                <a:stretch>
                  <a:fillRect l="-3571"/>
                </a:stretch>
              </a:blipFill>
              <a:ln>
                <a:solidFill>
                  <a:schemeClr val="accent5">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BB7F88C6-F66E-A764-A5BD-FEC3556877DD}"/>
                  </a:ext>
                </a:extLst>
              </p:cNvPr>
              <p:cNvSpPr>
                <a:spLocks noChangeAspect="1"/>
              </p:cNvSpPr>
              <p:nvPr/>
            </p:nvSpPr>
            <p:spPr>
              <a:xfrm>
                <a:off x="2366903" y="4494553"/>
                <a:ext cx="329184" cy="329184"/>
              </a:xfrm>
              <a:prstGeom prst="round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a:solidFill>
                            <a:schemeClr val="tx1"/>
                          </a:solidFill>
                          <a:latin typeface="Cambria Math" panose="02040503050406030204" pitchFamily="18" charset="0"/>
                          <a:ea typeface="Cambria Math" panose="02040503050406030204" pitchFamily="18" charset="0"/>
                        </a:rPr>
                        <m:t>𝚺</m:t>
                      </m:r>
                    </m:oMath>
                  </m:oMathPara>
                </a14:m>
                <a:endParaRPr lang="en-US" dirty="0">
                  <a:solidFill>
                    <a:sysClr val="windowText" lastClr="000000"/>
                  </a:solidFill>
                </a:endParaRPr>
              </a:p>
            </p:txBody>
          </p:sp>
        </mc:Choice>
        <mc:Fallback xmlns="">
          <p:sp>
            <p:nvSpPr>
              <p:cNvPr id="8" name="Rounded Rectangle 7">
                <a:extLst>
                  <a:ext uri="{FF2B5EF4-FFF2-40B4-BE49-F238E27FC236}">
                    <a16:creationId xmlns:a16="http://schemas.microsoft.com/office/drawing/2014/main" id="{BB7F88C6-F66E-A764-A5BD-FEC3556877DD}"/>
                  </a:ext>
                </a:extLst>
              </p:cNvPr>
              <p:cNvSpPr>
                <a:spLocks noRot="1" noChangeAspect="1" noMove="1" noResize="1" noEditPoints="1" noAdjustHandles="1" noChangeArrowheads="1" noChangeShapeType="1" noTextEdit="1"/>
              </p:cNvSpPr>
              <p:nvPr/>
            </p:nvSpPr>
            <p:spPr>
              <a:xfrm>
                <a:off x="2366903" y="4494553"/>
                <a:ext cx="329184" cy="329184"/>
              </a:xfrm>
              <a:prstGeom prst="roundRect">
                <a:avLst/>
              </a:prstGeom>
              <a:blipFill>
                <a:blip r:embed="rId8"/>
                <a:stretch>
                  <a:fillRect/>
                </a:stretch>
              </a:blipFill>
              <a:ln>
                <a:solidFill>
                  <a:schemeClr val="bg2">
                    <a:lumMod val="9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243C952C-00AC-D467-B282-0F8ABD8B3500}"/>
                  </a:ext>
                </a:extLst>
              </p:cNvPr>
              <p:cNvSpPr>
                <a:spLocks noChangeAspect="1"/>
              </p:cNvSpPr>
              <p:nvPr/>
            </p:nvSpPr>
            <p:spPr>
              <a:xfrm>
                <a:off x="4454441" y="4149960"/>
                <a:ext cx="1371600" cy="1371600"/>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b="1" i="1" smtClean="0">
                              <a:solidFill>
                                <a:sysClr val="windowText" lastClr="000000"/>
                              </a:solidFill>
                              <a:latin typeface="Cambria Math" panose="02040503050406030204" pitchFamily="18" charset="0"/>
                            </a:rPr>
                          </m:ctrlPr>
                        </m:sSupPr>
                        <m:e>
                          <m:r>
                            <a:rPr lang="en-US" b="1" i="1" smtClean="0">
                              <a:solidFill>
                                <a:sysClr val="windowText" lastClr="000000"/>
                              </a:solidFill>
                              <a:latin typeface="Cambria Math" panose="02040503050406030204" pitchFamily="18" charset="0"/>
                            </a:rPr>
                            <m:t>𝑿</m:t>
                          </m:r>
                        </m:e>
                        <m:sup>
                          <m:r>
                            <a:rPr lang="en-US" b="0" i="1" smtClean="0">
                              <a:solidFill>
                                <a:sysClr val="windowText" lastClr="000000"/>
                              </a:solidFill>
                              <a:latin typeface="Cambria Math" panose="02040503050406030204" pitchFamily="18" charset="0"/>
                            </a:rPr>
                            <m:t>𝑇</m:t>
                          </m:r>
                        </m:sup>
                      </m:sSup>
                      <m:r>
                        <a:rPr lang="en-US" b="1" i="1" smtClean="0">
                          <a:solidFill>
                            <a:sysClr val="windowText" lastClr="000000"/>
                          </a:solidFill>
                          <a:latin typeface="Cambria Math" panose="02040503050406030204" pitchFamily="18" charset="0"/>
                        </a:rPr>
                        <m:t>𝑿</m:t>
                      </m:r>
                    </m:oMath>
                  </m:oMathPara>
                </a14:m>
                <a:endParaRPr lang="en-US" dirty="0">
                  <a:solidFill>
                    <a:sysClr val="windowText" lastClr="000000"/>
                  </a:solidFill>
                </a:endParaRPr>
              </a:p>
            </p:txBody>
          </p:sp>
        </mc:Choice>
        <mc:Fallback xmlns="">
          <p:sp>
            <p:nvSpPr>
              <p:cNvPr id="15" name="Rounded Rectangle 14">
                <a:extLst>
                  <a:ext uri="{FF2B5EF4-FFF2-40B4-BE49-F238E27FC236}">
                    <a16:creationId xmlns:a16="http://schemas.microsoft.com/office/drawing/2014/main" id="{243C952C-00AC-D467-B282-0F8ABD8B3500}"/>
                  </a:ext>
                </a:extLst>
              </p:cNvPr>
              <p:cNvSpPr>
                <a:spLocks noRot="1" noChangeAspect="1" noMove="1" noResize="1" noEditPoints="1" noAdjustHandles="1" noChangeArrowheads="1" noChangeShapeType="1" noTextEdit="1"/>
              </p:cNvSpPr>
              <p:nvPr/>
            </p:nvSpPr>
            <p:spPr>
              <a:xfrm>
                <a:off x="4454441" y="4149960"/>
                <a:ext cx="1371600" cy="1371600"/>
              </a:xfrm>
              <a:prstGeom prst="roundRect">
                <a:avLst/>
              </a:prstGeom>
              <a:blipFill>
                <a:blip r:embed="rId9"/>
                <a:stretch>
                  <a:fillRect/>
                </a:stretch>
              </a:blipFill>
              <a:ln>
                <a:solidFill>
                  <a:schemeClr val="accent4">
                    <a:lumMod val="60000"/>
                    <a:lumOff val="4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969BFEC7-8A60-7E49-EA85-49028334397E}"/>
                  </a:ext>
                </a:extLst>
              </p:cNvPr>
              <p:cNvSpPr/>
              <p:nvPr/>
            </p:nvSpPr>
            <p:spPr>
              <a:xfrm rot="5400000">
                <a:off x="5533421" y="4671168"/>
                <a:ext cx="1371600" cy="329184"/>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ParaPr>
                      <m:jc m:val="centerGroup"/>
                    </m:oMathParaPr>
                    <m:oMath xmlns:m="http://schemas.openxmlformats.org/officeDocument/2006/math">
                      <m:r>
                        <a:rPr lang="en-US" b="1" i="1" smtClean="0">
                          <a:solidFill>
                            <a:sysClr val="windowText" lastClr="000000"/>
                          </a:solidFill>
                          <a:latin typeface="Cambria Math" panose="02040503050406030204" pitchFamily="18" charset="0"/>
                        </a:rPr>
                        <m:t>𝑾</m:t>
                      </m:r>
                    </m:oMath>
                  </m:oMathPara>
                </a14:m>
                <a:endParaRPr lang="en-US" b="1" dirty="0">
                  <a:solidFill>
                    <a:sysClr val="windowText" lastClr="000000"/>
                  </a:solidFill>
                </a:endParaRPr>
              </a:p>
            </p:txBody>
          </p:sp>
        </mc:Choice>
        <mc:Fallback xmlns="">
          <p:sp>
            <p:nvSpPr>
              <p:cNvPr id="16" name="Rounded Rectangle 15">
                <a:extLst>
                  <a:ext uri="{FF2B5EF4-FFF2-40B4-BE49-F238E27FC236}">
                    <a16:creationId xmlns:a16="http://schemas.microsoft.com/office/drawing/2014/main" id="{969BFEC7-8A60-7E49-EA85-49028334397E}"/>
                  </a:ext>
                </a:extLst>
              </p:cNvPr>
              <p:cNvSpPr>
                <a:spLocks noRot="1" noChangeAspect="1" noMove="1" noResize="1" noEditPoints="1" noAdjustHandles="1" noChangeArrowheads="1" noChangeShapeType="1" noTextEdit="1"/>
              </p:cNvSpPr>
              <p:nvPr/>
            </p:nvSpPr>
            <p:spPr>
              <a:xfrm rot="5400000">
                <a:off x="5533421" y="4671168"/>
                <a:ext cx="1371600" cy="329184"/>
              </a:xfrm>
              <a:prstGeom prst="roundRect">
                <a:avLst/>
              </a:prstGeom>
              <a:blipFill>
                <a:blip r:embed="rId10"/>
                <a:stretch>
                  <a:fillRect l="-14286"/>
                </a:stretch>
              </a:blipFill>
              <a:ln>
                <a:solidFill>
                  <a:schemeClr val="accent5">
                    <a:lumMod val="60000"/>
                    <a:lumOff val="40000"/>
                  </a:schemeClr>
                </a:solidFill>
              </a:ln>
            </p:spPr>
            <p:txBody>
              <a:bodyPr/>
              <a:lstStyle/>
              <a:p>
                <a:r>
                  <a:rPr lang="en-US">
                    <a:noFill/>
                  </a:rPr>
                  <a:t> </a:t>
                </a:r>
              </a:p>
            </p:txBody>
          </p:sp>
        </mc:Fallback>
      </mc:AlternateContent>
      <p:sp>
        <p:nvSpPr>
          <p:cNvPr id="17" name="TextBox 16">
            <a:extLst>
              <a:ext uri="{FF2B5EF4-FFF2-40B4-BE49-F238E27FC236}">
                <a16:creationId xmlns:a16="http://schemas.microsoft.com/office/drawing/2014/main" id="{0E7CDC44-A4C7-B225-8771-A6A426C07F5C}"/>
              </a:ext>
            </a:extLst>
          </p:cNvPr>
          <p:cNvSpPr txBox="1"/>
          <p:nvPr/>
        </p:nvSpPr>
        <p:spPr>
          <a:xfrm>
            <a:off x="5778757" y="4629921"/>
            <a:ext cx="300082" cy="369332"/>
          </a:xfrm>
          <a:prstGeom prst="rect">
            <a:avLst/>
          </a:prstGeom>
          <a:noFill/>
        </p:spPr>
        <p:txBody>
          <a:bodyPr wrap="none" rtlCol="0">
            <a:spAutoFit/>
          </a:bodyPr>
          <a:lstStyle/>
          <a:p>
            <a:r>
              <a:rPr lang="en-US" dirty="0">
                <a:solidFill>
                  <a:sysClr val="windowText" lastClr="000000"/>
                </a:solidFill>
              </a:rPr>
              <a:t>=</a:t>
            </a:r>
          </a:p>
        </p:txBody>
      </p:sp>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343BD99B-1A48-2D06-6AE6-FE21A43E89AA}"/>
                  </a:ext>
                </a:extLst>
              </p:cNvPr>
              <p:cNvSpPr>
                <a:spLocks noChangeAspect="1"/>
              </p:cNvSpPr>
              <p:nvPr/>
            </p:nvSpPr>
            <p:spPr>
              <a:xfrm>
                <a:off x="6481934" y="4158004"/>
                <a:ext cx="329184" cy="329184"/>
              </a:xfrm>
              <a:prstGeom prst="round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a:solidFill>
                            <a:schemeClr val="tx1"/>
                          </a:solidFill>
                          <a:latin typeface="Cambria Math" panose="02040503050406030204" pitchFamily="18" charset="0"/>
                          <a:ea typeface="Cambria Math" panose="02040503050406030204" pitchFamily="18" charset="0"/>
                        </a:rPr>
                        <m:t>𝚺</m:t>
                      </m:r>
                    </m:oMath>
                  </m:oMathPara>
                </a14:m>
                <a:endParaRPr lang="en-US" dirty="0">
                  <a:solidFill>
                    <a:sysClr val="windowText" lastClr="000000"/>
                  </a:solidFill>
                </a:endParaRPr>
              </a:p>
            </p:txBody>
          </p:sp>
        </mc:Choice>
        <mc:Fallback xmlns="">
          <p:sp>
            <p:nvSpPr>
              <p:cNvPr id="18" name="Rounded Rectangle 17">
                <a:extLst>
                  <a:ext uri="{FF2B5EF4-FFF2-40B4-BE49-F238E27FC236}">
                    <a16:creationId xmlns:a16="http://schemas.microsoft.com/office/drawing/2014/main" id="{343BD99B-1A48-2D06-6AE6-FE21A43E89AA}"/>
                  </a:ext>
                </a:extLst>
              </p:cNvPr>
              <p:cNvSpPr>
                <a:spLocks noRot="1" noChangeAspect="1" noMove="1" noResize="1" noEditPoints="1" noAdjustHandles="1" noChangeArrowheads="1" noChangeShapeType="1" noTextEdit="1"/>
              </p:cNvSpPr>
              <p:nvPr/>
            </p:nvSpPr>
            <p:spPr>
              <a:xfrm>
                <a:off x="6481934" y="4158004"/>
                <a:ext cx="329184" cy="329184"/>
              </a:xfrm>
              <a:prstGeom prst="roundRect">
                <a:avLst/>
              </a:prstGeom>
              <a:blipFill>
                <a:blip r:embed="rId11"/>
                <a:stretch>
                  <a:fillRect/>
                </a:stretch>
              </a:blipFill>
              <a:ln>
                <a:solidFill>
                  <a:schemeClr val="bg2">
                    <a:lumMod val="9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CAAA07AC-0581-A6B7-50A9-E62F8A7FB65D}"/>
                  </a:ext>
                </a:extLst>
              </p:cNvPr>
              <p:cNvSpPr>
                <a:spLocks noChangeAspect="1"/>
              </p:cNvSpPr>
              <p:nvPr/>
            </p:nvSpPr>
            <p:spPr>
              <a:xfrm>
                <a:off x="6909239" y="4158004"/>
                <a:ext cx="329184" cy="329184"/>
              </a:xfrm>
              <a:prstGeom prst="round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a:solidFill>
                            <a:schemeClr val="tx1"/>
                          </a:solidFill>
                          <a:latin typeface="Cambria Math" panose="02040503050406030204" pitchFamily="18" charset="0"/>
                          <a:ea typeface="Cambria Math" panose="02040503050406030204" pitchFamily="18" charset="0"/>
                        </a:rPr>
                        <m:t>𝚺</m:t>
                      </m:r>
                    </m:oMath>
                  </m:oMathPara>
                </a14:m>
                <a:endParaRPr lang="en-US" dirty="0">
                  <a:solidFill>
                    <a:sysClr val="windowText" lastClr="000000"/>
                  </a:solidFill>
                </a:endParaRPr>
              </a:p>
            </p:txBody>
          </p:sp>
        </mc:Choice>
        <mc:Fallback xmlns="">
          <p:sp>
            <p:nvSpPr>
              <p:cNvPr id="19" name="Rounded Rectangle 18">
                <a:extLst>
                  <a:ext uri="{FF2B5EF4-FFF2-40B4-BE49-F238E27FC236}">
                    <a16:creationId xmlns:a16="http://schemas.microsoft.com/office/drawing/2014/main" id="{CAAA07AC-0581-A6B7-50A9-E62F8A7FB65D}"/>
                  </a:ext>
                </a:extLst>
              </p:cNvPr>
              <p:cNvSpPr>
                <a:spLocks noRot="1" noChangeAspect="1" noMove="1" noResize="1" noEditPoints="1" noAdjustHandles="1" noChangeArrowheads="1" noChangeShapeType="1" noTextEdit="1"/>
              </p:cNvSpPr>
              <p:nvPr/>
            </p:nvSpPr>
            <p:spPr>
              <a:xfrm>
                <a:off x="6909239" y="4158004"/>
                <a:ext cx="329184" cy="329184"/>
              </a:xfrm>
              <a:prstGeom prst="roundRect">
                <a:avLst/>
              </a:prstGeom>
              <a:blipFill>
                <a:blip r:embed="rId12"/>
                <a:stretch>
                  <a:fillRect/>
                </a:stretch>
              </a:blipFill>
              <a:ln>
                <a:solidFill>
                  <a:schemeClr val="bg2">
                    <a:lumMod val="9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ounded Rectangle 19">
                <a:extLst>
                  <a:ext uri="{FF2B5EF4-FFF2-40B4-BE49-F238E27FC236}">
                    <a16:creationId xmlns:a16="http://schemas.microsoft.com/office/drawing/2014/main" id="{35C5CE23-8D14-5FE5-B71C-F65AA57CD945}"/>
                  </a:ext>
                </a:extLst>
              </p:cNvPr>
              <p:cNvSpPr/>
              <p:nvPr/>
            </p:nvSpPr>
            <p:spPr>
              <a:xfrm>
                <a:off x="7336544" y="4158004"/>
                <a:ext cx="1371600" cy="329184"/>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i="1" smtClean="0">
                              <a:solidFill>
                                <a:sysClr val="windowText" lastClr="000000"/>
                              </a:solidFill>
                              <a:latin typeface="Cambria Math" panose="02040503050406030204" pitchFamily="18" charset="0"/>
                            </a:rPr>
                          </m:ctrlPr>
                        </m:sSupPr>
                        <m:e>
                          <m:r>
                            <a:rPr lang="en-US" b="1" i="1" smtClean="0">
                              <a:solidFill>
                                <a:sysClr val="windowText" lastClr="000000"/>
                              </a:solidFill>
                              <a:latin typeface="Cambria Math" panose="02040503050406030204" pitchFamily="18" charset="0"/>
                            </a:rPr>
                            <m:t>𝑾</m:t>
                          </m:r>
                        </m:e>
                        <m:sup>
                          <m:r>
                            <a:rPr lang="en-US" b="0" i="1" smtClean="0">
                              <a:solidFill>
                                <a:sysClr val="windowText" lastClr="000000"/>
                              </a:solidFill>
                              <a:latin typeface="Cambria Math" panose="02040503050406030204" pitchFamily="18" charset="0"/>
                            </a:rPr>
                            <m:t>𝑇</m:t>
                          </m:r>
                        </m:sup>
                      </m:sSup>
                    </m:oMath>
                  </m:oMathPara>
                </a14:m>
                <a:endParaRPr lang="en-US" dirty="0">
                  <a:solidFill>
                    <a:sysClr val="windowText" lastClr="000000"/>
                  </a:solidFill>
                </a:endParaRPr>
              </a:p>
            </p:txBody>
          </p:sp>
        </mc:Choice>
        <mc:Fallback xmlns="">
          <p:sp>
            <p:nvSpPr>
              <p:cNvPr id="20" name="Rounded Rectangle 19">
                <a:extLst>
                  <a:ext uri="{FF2B5EF4-FFF2-40B4-BE49-F238E27FC236}">
                    <a16:creationId xmlns:a16="http://schemas.microsoft.com/office/drawing/2014/main" id="{35C5CE23-8D14-5FE5-B71C-F65AA57CD945}"/>
                  </a:ext>
                </a:extLst>
              </p:cNvPr>
              <p:cNvSpPr>
                <a:spLocks noRot="1" noChangeAspect="1" noMove="1" noResize="1" noEditPoints="1" noAdjustHandles="1" noChangeArrowheads="1" noChangeShapeType="1" noTextEdit="1"/>
              </p:cNvSpPr>
              <p:nvPr/>
            </p:nvSpPr>
            <p:spPr>
              <a:xfrm>
                <a:off x="7336544" y="4158004"/>
                <a:ext cx="1371600" cy="329184"/>
              </a:xfrm>
              <a:prstGeom prst="roundRect">
                <a:avLst/>
              </a:prstGeom>
              <a:blipFill>
                <a:blip r:embed="rId13"/>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CA4BA31-B719-0C08-CCA1-C595E740980D}"/>
                  </a:ext>
                </a:extLst>
              </p:cNvPr>
              <p:cNvSpPr txBox="1"/>
              <p:nvPr/>
            </p:nvSpPr>
            <p:spPr>
              <a:xfrm>
                <a:off x="912697" y="5575668"/>
                <a:ext cx="3093026" cy="646331"/>
              </a:xfrm>
              <a:prstGeom prst="rect">
                <a:avLst/>
              </a:prstGeom>
              <a:noFill/>
            </p:spPr>
            <p:txBody>
              <a:bodyPr wrap="none" rtlCol="0">
                <a:spAutoFit/>
              </a:bodyPr>
              <a:lstStyle/>
              <a:p>
                <a:pPr algn="ctr"/>
                <a:r>
                  <a:rPr lang="en-US" b="1" dirty="0"/>
                  <a:t>Singular Value Decomposition</a:t>
                </a:r>
                <a:r>
                  <a:rPr lang="zh-CN" altLang="en-US" b="1" dirty="0"/>
                  <a:t> </a:t>
                </a:r>
                <a:endParaRPr lang="en-US" altLang="zh-CN" b="1" dirty="0"/>
              </a:p>
              <a:p>
                <a:pPr algn="ctr"/>
                <a:r>
                  <a:rPr lang="en-US" altLang="zh-CN" b="1" dirty="0"/>
                  <a:t>(SVD) </a:t>
                </a:r>
                <a:r>
                  <a:rPr lang="en-US" b="1" dirty="0"/>
                  <a:t>of </a:t>
                </a:r>
                <a14:m>
                  <m:oMath xmlns:m="http://schemas.openxmlformats.org/officeDocument/2006/math">
                    <m:r>
                      <a:rPr lang="en-US" b="1" i="1" smtClean="0">
                        <a:solidFill>
                          <a:sysClr val="windowText" lastClr="000000"/>
                        </a:solidFill>
                        <a:latin typeface="Cambria Math" panose="02040503050406030204" pitchFamily="18" charset="0"/>
                      </a:rPr>
                      <m:t>𝑿</m:t>
                    </m:r>
                  </m:oMath>
                </a14:m>
                <a:r>
                  <a:rPr lang="en-US" b="1" dirty="0">
                    <a:solidFill>
                      <a:sysClr val="windowText" lastClr="000000"/>
                    </a:solidFill>
                  </a:rPr>
                  <a:t> (genotype matrix)</a:t>
                </a:r>
              </a:p>
            </p:txBody>
          </p:sp>
        </mc:Choice>
        <mc:Fallback xmlns="">
          <p:sp>
            <p:nvSpPr>
              <p:cNvPr id="22" name="TextBox 21">
                <a:extLst>
                  <a:ext uri="{FF2B5EF4-FFF2-40B4-BE49-F238E27FC236}">
                    <a16:creationId xmlns:a16="http://schemas.microsoft.com/office/drawing/2014/main" id="{6CA4BA31-B719-0C08-CCA1-C595E740980D}"/>
                  </a:ext>
                </a:extLst>
              </p:cNvPr>
              <p:cNvSpPr txBox="1">
                <a:spLocks noRot="1" noChangeAspect="1" noMove="1" noResize="1" noEditPoints="1" noAdjustHandles="1" noChangeArrowheads="1" noChangeShapeType="1" noTextEdit="1"/>
              </p:cNvSpPr>
              <p:nvPr/>
            </p:nvSpPr>
            <p:spPr>
              <a:xfrm>
                <a:off x="912697" y="5575668"/>
                <a:ext cx="3093026" cy="646331"/>
              </a:xfrm>
              <a:prstGeom prst="rect">
                <a:avLst/>
              </a:prstGeom>
              <a:blipFill>
                <a:blip r:embed="rId14"/>
                <a:stretch>
                  <a:fillRect l="-1230" t="-5769"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75F4C57-BA45-75A3-E3A4-6C821CB57B93}"/>
                  </a:ext>
                </a:extLst>
              </p:cNvPr>
              <p:cNvSpPr txBox="1"/>
              <p:nvPr/>
            </p:nvSpPr>
            <p:spPr>
              <a:xfrm>
                <a:off x="4467727" y="5518601"/>
                <a:ext cx="4285448" cy="760465"/>
              </a:xfrm>
              <a:prstGeom prst="rect">
                <a:avLst/>
              </a:prstGeom>
              <a:noFill/>
            </p:spPr>
            <p:txBody>
              <a:bodyPr wrap="square" rtlCol="0">
                <a:spAutoFit/>
              </a:bodyPr>
              <a:lstStyle/>
              <a:p>
                <a:pPr algn="ctr"/>
                <a:r>
                  <a:rPr lang="en-US" b="1" dirty="0"/>
                  <a:t>Eigen Decomposition of </a:t>
                </a:r>
                <a14:m>
                  <m:oMath xmlns:m="http://schemas.openxmlformats.org/officeDocument/2006/math">
                    <m:sSup>
                      <m:sSupPr>
                        <m:ctrlPr>
                          <a:rPr lang="en-US" b="1" i="1">
                            <a:solidFill>
                              <a:sysClr val="windowText" lastClr="000000"/>
                            </a:solidFill>
                            <a:latin typeface="Cambria Math" panose="02040503050406030204" pitchFamily="18" charset="0"/>
                          </a:rPr>
                        </m:ctrlPr>
                      </m:sSupPr>
                      <m:e>
                        <m:r>
                          <a:rPr lang="en-US" b="1" i="1">
                            <a:solidFill>
                              <a:sysClr val="windowText" lastClr="000000"/>
                            </a:solidFill>
                            <a:latin typeface="Cambria Math" panose="02040503050406030204" pitchFamily="18" charset="0"/>
                          </a:rPr>
                          <m:t>𝑿</m:t>
                        </m:r>
                      </m:e>
                      <m:sup>
                        <m:r>
                          <a:rPr lang="en-US" i="1">
                            <a:solidFill>
                              <a:sysClr val="windowText" lastClr="000000"/>
                            </a:solidFill>
                            <a:latin typeface="Cambria Math" panose="02040503050406030204" pitchFamily="18" charset="0"/>
                          </a:rPr>
                          <m:t>𝑇</m:t>
                        </m:r>
                      </m:sup>
                    </m:sSup>
                    <m:r>
                      <a:rPr lang="en-US" b="1" i="1" smtClean="0">
                        <a:solidFill>
                          <a:sysClr val="windowText" lastClr="000000"/>
                        </a:solidFill>
                        <a:latin typeface="Cambria Math" panose="02040503050406030204" pitchFamily="18" charset="0"/>
                      </a:rPr>
                      <m:t>𝑿</m:t>
                    </m:r>
                  </m:oMath>
                </a14:m>
                <a:r>
                  <a:rPr lang="en-US" b="1" dirty="0">
                    <a:solidFill>
                      <a:sysClr val="windowText" lastClr="000000"/>
                    </a:solidFill>
                  </a:rPr>
                  <a:t> </a:t>
                </a:r>
              </a:p>
              <a:p>
                <a:pPr algn="ctr"/>
                <a:r>
                  <a:rPr lang="en-US" dirty="0">
                    <a:solidFill>
                      <a:sysClr val="windowText" lastClr="000000"/>
                    </a:solidFill>
                  </a:rPr>
                  <a:t>(</a:t>
                </a:r>
                <a14:m>
                  <m:oMath xmlns:m="http://schemas.openxmlformats.org/officeDocument/2006/math">
                    <m:r>
                      <a:rPr lang="en-US" i="1">
                        <a:solidFill>
                          <a:sysClr val="windowText" lastClr="000000"/>
                        </a:solidFill>
                        <a:latin typeface="Cambria Math" panose="02040503050406030204" pitchFamily="18" charset="0"/>
                      </a:rPr>
                      <m:t>𝐿𝐷</m:t>
                    </m:r>
                    <m:r>
                      <a:rPr lang="en-US" i="1">
                        <a:solidFill>
                          <a:sysClr val="windowText" lastClr="000000"/>
                        </a:solidFill>
                        <a:latin typeface="Cambria Math" panose="02040503050406030204" pitchFamily="18" charset="0"/>
                      </a:rPr>
                      <m:t>=</m:t>
                    </m:r>
                    <m:f>
                      <m:fPr>
                        <m:ctrlPr>
                          <a:rPr lang="en-US" i="1">
                            <a:solidFill>
                              <a:sysClr val="windowText" lastClr="000000"/>
                            </a:solidFill>
                            <a:latin typeface="Cambria Math" panose="02040503050406030204" pitchFamily="18" charset="0"/>
                          </a:rPr>
                        </m:ctrlPr>
                      </m:fPr>
                      <m:num>
                        <m:r>
                          <a:rPr lang="en-US" i="1">
                            <a:solidFill>
                              <a:sysClr val="windowText" lastClr="000000"/>
                            </a:solidFill>
                            <a:latin typeface="Cambria Math" panose="02040503050406030204" pitchFamily="18" charset="0"/>
                          </a:rPr>
                          <m:t>1</m:t>
                        </m:r>
                      </m:num>
                      <m:den>
                        <m:r>
                          <a:rPr lang="en-US" i="1">
                            <a:solidFill>
                              <a:sysClr val="windowText" lastClr="000000"/>
                            </a:solidFill>
                            <a:latin typeface="Cambria Math" panose="02040503050406030204" pitchFamily="18" charset="0"/>
                          </a:rPr>
                          <m:t>𝑁</m:t>
                        </m:r>
                      </m:den>
                    </m:f>
                    <m:sSup>
                      <m:sSupPr>
                        <m:ctrlPr>
                          <a:rPr lang="en-US" b="1" i="1">
                            <a:solidFill>
                              <a:sysClr val="windowText" lastClr="000000"/>
                            </a:solidFill>
                            <a:latin typeface="Cambria Math" panose="02040503050406030204" pitchFamily="18" charset="0"/>
                          </a:rPr>
                        </m:ctrlPr>
                      </m:sSupPr>
                      <m:e>
                        <m:r>
                          <a:rPr lang="en-US" b="1" i="1">
                            <a:solidFill>
                              <a:sysClr val="windowText" lastClr="000000"/>
                            </a:solidFill>
                            <a:latin typeface="Cambria Math" panose="02040503050406030204" pitchFamily="18" charset="0"/>
                          </a:rPr>
                          <m:t>𝑿</m:t>
                        </m:r>
                      </m:e>
                      <m:sup>
                        <m:r>
                          <a:rPr lang="en-US" i="1">
                            <a:solidFill>
                              <a:sysClr val="windowText" lastClr="000000"/>
                            </a:solidFill>
                            <a:latin typeface="Cambria Math" panose="02040503050406030204" pitchFamily="18" charset="0"/>
                          </a:rPr>
                          <m:t>𝑇</m:t>
                        </m:r>
                      </m:sup>
                    </m:sSup>
                    <m:r>
                      <a:rPr lang="en-US" b="1" i="1">
                        <a:solidFill>
                          <a:sysClr val="windowText" lastClr="000000"/>
                        </a:solidFill>
                        <a:latin typeface="Cambria Math" panose="02040503050406030204" pitchFamily="18" charset="0"/>
                      </a:rPr>
                      <m:t>𝑿</m:t>
                    </m:r>
                  </m:oMath>
                </a14:m>
                <a:r>
                  <a:rPr lang="en-US" dirty="0">
                    <a:solidFill>
                      <a:sysClr val="windowText" lastClr="000000"/>
                    </a:solidFill>
                  </a:rPr>
                  <a:t>)</a:t>
                </a:r>
              </a:p>
            </p:txBody>
          </p:sp>
        </mc:Choice>
        <mc:Fallback xmlns="">
          <p:sp>
            <p:nvSpPr>
              <p:cNvPr id="24" name="TextBox 23">
                <a:extLst>
                  <a:ext uri="{FF2B5EF4-FFF2-40B4-BE49-F238E27FC236}">
                    <a16:creationId xmlns:a16="http://schemas.microsoft.com/office/drawing/2014/main" id="{E75F4C57-BA45-75A3-E3A4-6C821CB57B93}"/>
                  </a:ext>
                </a:extLst>
              </p:cNvPr>
              <p:cNvSpPr txBox="1">
                <a:spLocks noRot="1" noChangeAspect="1" noMove="1" noResize="1" noEditPoints="1" noAdjustHandles="1" noChangeArrowheads="1" noChangeShapeType="1" noTextEdit="1"/>
              </p:cNvSpPr>
              <p:nvPr/>
            </p:nvSpPr>
            <p:spPr>
              <a:xfrm>
                <a:off x="4467727" y="5518601"/>
                <a:ext cx="4285448" cy="760465"/>
              </a:xfrm>
              <a:prstGeom prst="rect">
                <a:avLst/>
              </a:prstGeom>
              <a:blipFill>
                <a:blip r:embed="rId15"/>
                <a:stretch>
                  <a:fillRect t="-3279" b="-4918"/>
                </a:stretch>
              </a:blipFill>
            </p:spPr>
            <p:txBody>
              <a:bodyPr/>
              <a:lstStyle/>
              <a:p>
                <a:r>
                  <a:rPr lang="en-US">
                    <a:noFill/>
                  </a:rPr>
                  <a:t> </a:t>
                </a:r>
              </a:p>
            </p:txBody>
          </p:sp>
        </mc:Fallback>
      </mc:AlternateContent>
    </p:spTree>
    <p:extLst>
      <p:ext uri="{BB962C8B-B14F-4D97-AF65-F5344CB8AC3E}">
        <p14:creationId xmlns:p14="http://schemas.microsoft.com/office/powerpoint/2010/main" val="4026748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62758-9BB6-AC72-9E44-4767DF4A99BA}"/>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5A78521B-817F-B64C-5785-1354CBD0F506}"/>
              </a:ext>
            </a:extLst>
          </p:cNvPr>
          <p:cNvSpPr/>
          <p:nvPr/>
        </p:nvSpPr>
        <p:spPr>
          <a:xfrm>
            <a:off x="4701409" y="4483458"/>
            <a:ext cx="4098251" cy="41896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extBox 1">
            <a:extLst>
              <a:ext uri="{FF2B5EF4-FFF2-40B4-BE49-F238E27FC236}">
                <a16:creationId xmlns:a16="http://schemas.microsoft.com/office/drawing/2014/main" id="{3C1D7240-0CF0-C55E-1650-7D06C9DD84DC}"/>
              </a:ext>
            </a:extLst>
          </p:cNvPr>
          <p:cNvSpPr txBox="1"/>
          <p:nvPr/>
        </p:nvSpPr>
        <p:spPr>
          <a:xfrm>
            <a:off x="2099090" y="138690"/>
            <a:ext cx="4911210" cy="400110"/>
          </a:xfrm>
          <a:prstGeom prst="rect">
            <a:avLst/>
          </a:prstGeom>
          <a:noFill/>
        </p:spPr>
        <p:txBody>
          <a:bodyPr wrap="square" rtlCol="0" anchor="ctr">
            <a:spAutoFit/>
          </a:bodyPr>
          <a:lstStyle/>
          <a:p>
            <a:pPr algn="ctr"/>
            <a:r>
              <a:rPr lang="en-US" sz="2000" b="1" dirty="0"/>
              <a:t>Hidden Markov Model (HMM)</a:t>
            </a:r>
          </a:p>
        </p:txBody>
      </p:sp>
      <p:sp>
        <p:nvSpPr>
          <p:cNvPr id="4" name="Rounded Rectangle 3">
            <a:extLst>
              <a:ext uri="{FF2B5EF4-FFF2-40B4-BE49-F238E27FC236}">
                <a16:creationId xmlns:a16="http://schemas.microsoft.com/office/drawing/2014/main" id="{EDB37417-8F6F-8E1B-0EDD-F45C19847684}"/>
              </a:ext>
            </a:extLst>
          </p:cNvPr>
          <p:cNvSpPr/>
          <p:nvPr/>
        </p:nvSpPr>
        <p:spPr>
          <a:xfrm>
            <a:off x="416803" y="922542"/>
            <a:ext cx="8275784" cy="133110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 name="Rounded Rectangle 9">
            <a:extLst>
              <a:ext uri="{FF2B5EF4-FFF2-40B4-BE49-F238E27FC236}">
                <a16:creationId xmlns:a16="http://schemas.microsoft.com/office/drawing/2014/main" id="{7F319B20-ADB2-7A3E-3CA8-489F2A4FBBEC}"/>
              </a:ext>
            </a:extLst>
          </p:cNvPr>
          <p:cNvSpPr/>
          <p:nvPr/>
        </p:nvSpPr>
        <p:spPr>
          <a:xfrm>
            <a:off x="416803" y="2398253"/>
            <a:ext cx="8275784" cy="187280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TextBox 10">
            <a:extLst>
              <a:ext uri="{FF2B5EF4-FFF2-40B4-BE49-F238E27FC236}">
                <a16:creationId xmlns:a16="http://schemas.microsoft.com/office/drawing/2014/main" id="{AC307247-BE7F-9422-FE35-65A9BF882D5A}"/>
              </a:ext>
            </a:extLst>
          </p:cNvPr>
          <p:cNvSpPr txBox="1"/>
          <p:nvPr/>
        </p:nvSpPr>
        <p:spPr>
          <a:xfrm>
            <a:off x="2316701" y="2450606"/>
            <a:ext cx="4475988" cy="369332"/>
          </a:xfrm>
          <a:prstGeom prst="rect">
            <a:avLst/>
          </a:prstGeom>
          <a:noFill/>
        </p:spPr>
        <p:txBody>
          <a:bodyPr wrap="square" rtlCol="0" anchor="ctr">
            <a:spAutoFit/>
          </a:bodyPr>
          <a:lstStyle/>
          <a:p>
            <a:pPr algn="ctr"/>
            <a:r>
              <a:rPr lang="en-US" b="1" dirty="0"/>
              <a:t>Hidden Markov Model</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2697F1D-E500-CBFB-8861-D17D5AE24D15}"/>
                  </a:ext>
                </a:extLst>
              </p:cNvPr>
              <p:cNvSpPr txBox="1"/>
              <p:nvPr/>
            </p:nvSpPr>
            <p:spPr>
              <a:xfrm>
                <a:off x="920714" y="3691904"/>
                <a:ext cx="7267963" cy="461665"/>
              </a:xfrm>
              <a:prstGeom prst="rect">
                <a:avLst/>
              </a:prstGeom>
              <a:noFill/>
            </p:spPr>
            <p:txBody>
              <a:bodyPr wrap="square">
                <a:spAutoFit/>
              </a:bodyPr>
              <a:lstStyle/>
              <a:p>
                <a:pPr algn="just"/>
                <a:r>
                  <a:rPr lang="en-US" sz="1200" dirty="0">
                    <a:ea typeface="Cambria Math" panose="02040503050406030204" pitchFamily="18" charset="0"/>
                  </a:rPr>
                  <a:t>HMM extends the Markov Chain by adding observations </a:t>
                </a:r>
                <a14:m>
                  <m:oMath xmlns:m="http://schemas.openxmlformats.org/officeDocument/2006/math">
                    <m:sSub>
                      <m:sSubPr>
                        <m:ctrlPr>
                          <a:rPr lang="en-US" sz="1200" i="1">
                            <a:latin typeface="Cambria Math" panose="02040503050406030204" pitchFamily="18" charset="0"/>
                          </a:rPr>
                        </m:ctrlPr>
                      </m:sSubPr>
                      <m:e>
                        <m:r>
                          <a:rPr lang="en-US" sz="1200" b="0" i="1">
                            <a:latin typeface="Cambria Math" panose="02040503050406030204" pitchFamily="18" charset="0"/>
                          </a:rPr>
                          <m:t>𝑋</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b="0" i="1">
                            <a:latin typeface="Cambria Math" panose="02040503050406030204" pitchFamily="18" charset="0"/>
                          </a:rPr>
                          <m:t>𝑋</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 …,</m:t>
                    </m:r>
                    <m:sSub>
                      <m:sSubPr>
                        <m:ctrlPr>
                          <a:rPr lang="en-US" sz="1200" i="1">
                            <a:latin typeface="Cambria Math" panose="02040503050406030204" pitchFamily="18" charset="0"/>
                          </a:rPr>
                        </m:ctrlPr>
                      </m:sSubPr>
                      <m:e>
                        <m:r>
                          <a:rPr lang="en-US" sz="1200" b="0" i="1">
                            <a:latin typeface="Cambria Math" panose="02040503050406030204" pitchFamily="18" charset="0"/>
                          </a:rPr>
                          <m:t>𝑋</m:t>
                        </m:r>
                      </m:e>
                      <m:sub>
                        <m:r>
                          <a:rPr lang="en-US" sz="1200" b="0" i="1" smtClean="0">
                            <a:latin typeface="Cambria Math" panose="02040503050406030204" pitchFamily="18" charset="0"/>
                          </a:rPr>
                          <m:t>𝑇</m:t>
                        </m:r>
                      </m:sub>
                    </m:sSub>
                  </m:oMath>
                </a14:m>
                <a:r>
                  <a:rPr lang="en-US" sz="1200" dirty="0">
                    <a:ea typeface="Cambria Math" panose="02040503050406030204" pitchFamily="18" charset="0"/>
                  </a:rPr>
                  <a:t> while the underlying states </a:t>
                </a:r>
                <a14:m>
                  <m:oMath xmlns:m="http://schemas.openxmlformats.org/officeDocument/2006/math">
                    <m:sSub>
                      <m:sSubPr>
                        <m:ctrlPr>
                          <a:rPr lang="en-US" sz="1200" i="1">
                            <a:latin typeface="Cambria Math" panose="02040503050406030204" pitchFamily="18" charset="0"/>
                          </a:rPr>
                        </m:ctrlPr>
                      </m:sSubPr>
                      <m:e>
                        <m:r>
                          <a:rPr lang="en-US" sz="1200" b="0" i="1">
                            <a:latin typeface="Cambria Math" panose="02040503050406030204" pitchFamily="18" charset="0"/>
                          </a:rPr>
                          <m:t>𝑍</m:t>
                        </m:r>
                      </m:e>
                      <m:sub>
                        <m:r>
                          <a:rPr lang="en-US" sz="1200" b="0" i="1">
                            <a:latin typeface="Cambria Math" panose="02040503050406030204" pitchFamily="18" charset="0"/>
                          </a:rPr>
                          <m:t>1</m:t>
                        </m:r>
                      </m:sub>
                    </m:sSub>
                    <m:r>
                      <a:rPr lang="en-US" sz="1200" b="0" i="1">
                        <a:latin typeface="Cambria Math" panose="02040503050406030204" pitchFamily="18" charset="0"/>
                      </a:rPr>
                      <m:t>, </m:t>
                    </m:r>
                    <m:sSub>
                      <m:sSubPr>
                        <m:ctrlPr>
                          <a:rPr lang="en-US" sz="1200" i="1">
                            <a:latin typeface="Cambria Math" panose="02040503050406030204" pitchFamily="18" charset="0"/>
                          </a:rPr>
                        </m:ctrlPr>
                      </m:sSubPr>
                      <m:e>
                        <m:r>
                          <a:rPr lang="en-US" sz="1200" b="0" i="1">
                            <a:latin typeface="Cambria Math" panose="02040503050406030204" pitchFamily="18" charset="0"/>
                          </a:rPr>
                          <m:t>𝑍</m:t>
                        </m:r>
                      </m:e>
                      <m:sub>
                        <m:r>
                          <a:rPr lang="en-US" sz="1200" b="0" i="1">
                            <a:latin typeface="Cambria Math" panose="02040503050406030204" pitchFamily="18" charset="0"/>
                          </a:rPr>
                          <m:t>2</m:t>
                        </m:r>
                      </m:sub>
                    </m:sSub>
                    <m:r>
                      <a:rPr lang="en-US" sz="1200" b="0" i="1">
                        <a:latin typeface="Cambria Math" panose="02040503050406030204" pitchFamily="18" charset="0"/>
                      </a:rPr>
                      <m:t>, …, </m:t>
                    </m:r>
                    <m:sSub>
                      <m:sSubPr>
                        <m:ctrlPr>
                          <a:rPr lang="en-US" sz="1200" i="1">
                            <a:latin typeface="Cambria Math" panose="02040503050406030204" pitchFamily="18" charset="0"/>
                          </a:rPr>
                        </m:ctrlPr>
                      </m:sSubPr>
                      <m:e>
                        <m:r>
                          <a:rPr lang="en-US" sz="1200" b="0" i="1">
                            <a:latin typeface="Cambria Math" panose="02040503050406030204" pitchFamily="18" charset="0"/>
                          </a:rPr>
                          <m:t>𝑍</m:t>
                        </m:r>
                      </m:e>
                      <m:sub>
                        <m:r>
                          <a:rPr lang="en-US" sz="1200" b="0" i="1">
                            <a:latin typeface="Cambria Math" panose="02040503050406030204" pitchFamily="18" charset="0"/>
                          </a:rPr>
                          <m:t>𝑇</m:t>
                        </m:r>
                      </m:sub>
                    </m:sSub>
                  </m:oMath>
                </a14:m>
                <a:r>
                  <a:rPr lang="en-US" sz="1200" dirty="0">
                    <a:ea typeface="Cambria Math" panose="02040503050406030204" pitchFamily="18" charset="0"/>
                  </a:rPr>
                  <a:t> are hidden (unobservable), but at each time </a:t>
                </a:r>
                <a14:m>
                  <m:oMath xmlns:m="http://schemas.openxmlformats.org/officeDocument/2006/math">
                    <m:r>
                      <a:rPr lang="en-US" sz="1200" i="1">
                        <a:latin typeface="Cambria Math" panose="02040503050406030204" pitchFamily="18" charset="0"/>
                      </a:rPr>
                      <m:t>𝑡</m:t>
                    </m:r>
                  </m:oMath>
                </a14:m>
                <a:r>
                  <a:rPr lang="en-US" sz="1200" dirty="0">
                    <a:ea typeface="Cambria Math" panose="02040503050406030204" pitchFamily="18" charset="0"/>
                  </a:rPr>
                  <a:t> we observe </a:t>
                </a:r>
                <a14:m>
                  <m:oMath xmlns:m="http://schemas.openxmlformats.org/officeDocument/2006/math">
                    <m:sSub>
                      <m:sSubPr>
                        <m:ctrlPr>
                          <a:rPr lang="en-US" sz="1200" i="1">
                            <a:latin typeface="Cambria Math" panose="02040503050406030204" pitchFamily="18" charset="0"/>
                          </a:rPr>
                        </m:ctrlPr>
                      </m:sSubPr>
                      <m:e>
                        <m:r>
                          <a:rPr lang="en-US" sz="1200" b="0" i="1">
                            <a:latin typeface="Cambria Math" panose="02040503050406030204" pitchFamily="18" charset="0"/>
                          </a:rPr>
                          <m:t>𝑋</m:t>
                        </m:r>
                      </m:e>
                      <m:sub>
                        <m:r>
                          <a:rPr lang="en-US" sz="1200" b="0" i="1" smtClean="0">
                            <a:latin typeface="Cambria Math" panose="02040503050406030204" pitchFamily="18" charset="0"/>
                          </a:rPr>
                          <m:t>𝑡</m:t>
                        </m:r>
                      </m:sub>
                    </m:sSub>
                  </m:oMath>
                </a14:m>
                <a:r>
                  <a:rPr lang="en-US" sz="1200" dirty="0">
                    <a:ea typeface="Cambria Math" panose="02040503050406030204" pitchFamily="18" charset="0"/>
                  </a:rPr>
                  <a:t> that depends </a:t>
                </a:r>
                <a:r>
                  <a:rPr lang="en-US" sz="1200" b="1" dirty="0">
                    <a:ea typeface="Cambria Math" panose="02040503050406030204" pitchFamily="18" charset="0"/>
                  </a:rPr>
                  <a:t>only</a:t>
                </a:r>
                <a:r>
                  <a:rPr lang="en-US" sz="1200" dirty="0">
                    <a:ea typeface="Cambria Math" panose="02040503050406030204" pitchFamily="18" charset="0"/>
                  </a:rPr>
                  <a:t> on the current hidden state </a:t>
                </a:r>
                <a14:m>
                  <m:oMath xmlns:m="http://schemas.openxmlformats.org/officeDocument/2006/math">
                    <m:sSub>
                      <m:sSubPr>
                        <m:ctrlPr>
                          <a:rPr lang="en-US" sz="1200" i="1">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𝑡</m:t>
                        </m:r>
                      </m:sub>
                    </m:sSub>
                  </m:oMath>
                </a14:m>
                <a:r>
                  <a:rPr lang="en-US" sz="1200" dirty="0">
                    <a:ea typeface="Cambria Math" panose="02040503050406030204" pitchFamily="18" charset="0"/>
                  </a:rPr>
                  <a:t>. </a:t>
                </a:r>
              </a:p>
            </p:txBody>
          </p:sp>
        </mc:Choice>
        <mc:Fallback xmlns="">
          <p:sp>
            <p:nvSpPr>
              <p:cNvPr id="13" name="TextBox 12">
                <a:extLst>
                  <a:ext uri="{FF2B5EF4-FFF2-40B4-BE49-F238E27FC236}">
                    <a16:creationId xmlns:a16="http://schemas.microsoft.com/office/drawing/2014/main" id="{82697F1D-E500-CBFB-8861-D17D5AE24D15}"/>
                  </a:ext>
                </a:extLst>
              </p:cNvPr>
              <p:cNvSpPr txBox="1">
                <a:spLocks noRot="1" noChangeAspect="1" noMove="1" noResize="1" noEditPoints="1" noAdjustHandles="1" noChangeArrowheads="1" noChangeShapeType="1" noTextEdit="1"/>
              </p:cNvSpPr>
              <p:nvPr/>
            </p:nvSpPr>
            <p:spPr>
              <a:xfrm>
                <a:off x="920714" y="3691904"/>
                <a:ext cx="7267963" cy="461665"/>
              </a:xfrm>
              <a:prstGeom prst="rect">
                <a:avLst/>
              </a:prstGeom>
              <a:blipFill>
                <a:blip r:embed="rId2"/>
                <a:stretch>
                  <a:fillRect b="-1081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BF15942-3A0E-DBAA-841D-49FFA591D61C}"/>
              </a:ext>
            </a:extLst>
          </p:cNvPr>
          <p:cNvSpPr txBox="1"/>
          <p:nvPr/>
        </p:nvSpPr>
        <p:spPr>
          <a:xfrm>
            <a:off x="4512540" y="4675942"/>
            <a:ext cx="4475988" cy="369332"/>
          </a:xfrm>
          <a:prstGeom prst="rect">
            <a:avLst/>
          </a:prstGeom>
          <a:noFill/>
        </p:spPr>
        <p:txBody>
          <a:bodyPr wrap="square" rtlCol="0" anchor="ctr">
            <a:spAutoFit/>
          </a:bodyPr>
          <a:lstStyle/>
          <a:p>
            <a:pPr algn="ctr"/>
            <a:r>
              <a:rPr lang="en-US" b="1" dirty="0"/>
              <a:t>Applications of HMM</a:t>
            </a:r>
          </a:p>
        </p:txBody>
      </p:sp>
      <p:sp>
        <p:nvSpPr>
          <p:cNvPr id="3" name="TextBox 2">
            <a:extLst>
              <a:ext uri="{FF2B5EF4-FFF2-40B4-BE49-F238E27FC236}">
                <a16:creationId xmlns:a16="http://schemas.microsoft.com/office/drawing/2014/main" id="{48929066-CE22-3507-5ECF-458C8C5B3D65}"/>
              </a:ext>
            </a:extLst>
          </p:cNvPr>
          <p:cNvSpPr txBox="1"/>
          <p:nvPr/>
        </p:nvSpPr>
        <p:spPr>
          <a:xfrm>
            <a:off x="503557" y="470899"/>
            <a:ext cx="8102277" cy="430887"/>
          </a:xfrm>
          <a:prstGeom prst="rect">
            <a:avLst/>
          </a:prstGeom>
          <a:noFill/>
        </p:spPr>
        <p:txBody>
          <a:bodyPr wrap="square" rtlCol="0">
            <a:spAutoFit/>
          </a:bodyPr>
          <a:lstStyle/>
          <a:p>
            <a:pPr algn="ctr"/>
            <a:r>
              <a:rPr lang="en-US" sz="1100" dirty="0"/>
              <a:t>HMMs figure out what's happening behind the scenes by watching what you can actually see, </a:t>
            </a:r>
          </a:p>
          <a:p>
            <a:pPr algn="ctr"/>
            <a:r>
              <a:rPr lang="en-US" sz="1100" dirty="0"/>
              <a:t>knowing that hidden states tend to persist from one position to the next</a:t>
            </a:r>
          </a:p>
        </p:txBody>
      </p:sp>
      <p:grpSp>
        <p:nvGrpSpPr>
          <p:cNvPr id="6" name="Group 5">
            <a:extLst>
              <a:ext uri="{FF2B5EF4-FFF2-40B4-BE49-F238E27FC236}">
                <a16:creationId xmlns:a16="http://schemas.microsoft.com/office/drawing/2014/main" id="{F890C4F1-B45E-1160-525C-7F03341E8401}"/>
              </a:ext>
            </a:extLst>
          </p:cNvPr>
          <p:cNvGrpSpPr/>
          <p:nvPr/>
        </p:nvGrpSpPr>
        <p:grpSpPr>
          <a:xfrm>
            <a:off x="2960395" y="1300047"/>
            <a:ext cx="3188600" cy="303985"/>
            <a:chOff x="2806341" y="1300047"/>
            <a:chExt cx="3188600" cy="303985"/>
          </a:xfrm>
        </p:grpSpPr>
        <p:cxnSp>
          <p:nvCxnSpPr>
            <p:cNvPr id="9" name="Straight Arrow Connector 8">
              <a:extLst>
                <a:ext uri="{FF2B5EF4-FFF2-40B4-BE49-F238E27FC236}">
                  <a16:creationId xmlns:a16="http://schemas.microsoft.com/office/drawing/2014/main" id="{2C443B05-4219-B1A0-B5CD-741A58D70810}"/>
                </a:ext>
              </a:extLst>
            </p:cNvPr>
            <p:cNvCxnSpPr>
              <a:cxnSpLocks/>
            </p:cNvCxnSpPr>
            <p:nvPr/>
          </p:nvCxnSpPr>
          <p:spPr>
            <a:xfrm flipV="1">
              <a:off x="5490096" y="1476624"/>
              <a:ext cx="253264" cy="16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2C6AF84B-D074-24FE-7F32-CA418873D6C0}"/>
                    </a:ext>
                  </a:extLst>
                </p:cNvPr>
                <p:cNvSpPr/>
                <p:nvPr/>
              </p:nvSpPr>
              <p:spPr>
                <a:xfrm>
                  <a:off x="3271829" y="135245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1</m:t>
                            </m:r>
                          </m:sub>
                        </m:sSub>
                      </m:oMath>
                    </m:oMathPara>
                  </a14:m>
                  <a:endParaRPr lang="en-US" sz="1200" dirty="0"/>
                </a:p>
              </p:txBody>
            </p:sp>
          </mc:Choice>
          <mc:Fallback xmlns="">
            <p:sp>
              <p:nvSpPr>
                <p:cNvPr id="14" name="Oval 13">
                  <a:extLst>
                    <a:ext uri="{FF2B5EF4-FFF2-40B4-BE49-F238E27FC236}">
                      <a16:creationId xmlns:a16="http://schemas.microsoft.com/office/drawing/2014/main" id="{2C6AF84B-D074-24FE-7F32-CA418873D6C0}"/>
                    </a:ext>
                  </a:extLst>
                </p:cNvPr>
                <p:cNvSpPr>
                  <a:spLocks noRot="1" noChangeAspect="1" noMove="1" noResize="1" noEditPoints="1" noAdjustHandles="1" noChangeArrowheads="1" noChangeShapeType="1" noTextEdit="1"/>
                </p:cNvSpPr>
                <p:nvPr/>
              </p:nvSpPr>
              <p:spPr>
                <a:xfrm>
                  <a:off x="3271829" y="1352451"/>
                  <a:ext cx="251581" cy="251581"/>
                </a:xfrm>
                <a:prstGeom prst="ellipse">
                  <a:avLst/>
                </a:prstGeom>
                <a:blipFill>
                  <a:blip r:embed="rId3"/>
                  <a:stretch>
                    <a:fillRect l="-27273" b="-9091"/>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8CA40D4A-74CC-4FD2-5E55-9E0A88A3FC1E}"/>
                    </a:ext>
                  </a:extLst>
                </p:cNvPr>
                <p:cNvSpPr/>
                <p:nvPr/>
              </p:nvSpPr>
              <p:spPr>
                <a:xfrm>
                  <a:off x="3927391" y="135245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2</m:t>
                            </m:r>
                          </m:sub>
                        </m:sSub>
                      </m:oMath>
                    </m:oMathPara>
                  </a14:m>
                  <a:endParaRPr lang="en-US" sz="1200" dirty="0"/>
                </a:p>
              </p:txBody>
            </p:sp>
          </mc:Choice>
          <mc:Fallback xmlns="">
            <p:sp>
              <p:nvSpPr>
                <p:cNvPr id="21" name="Oval 20">
                  <a:extLst>
                    <a:ext uri="{FF2B5EF4-FFF2-40B4-BE49-F238E27FC236}">
                      <a16:creationId xmlns:a16="http://schemas.microsoft.com/office/drawing/2014/main" id="{8CA40D4A-74CC-4FD2-5E55-9E0A88A3FC1E}"/>
                    </a:ext>
                  </a:extLst>
                </p:cNvPr>
                <p:cNvSpPr>
                  <a:spLocks noRot="1" noChangeAspect="1" noMove="1" noResize="1" noEditPoints="1" noAdjustHandles="1" noChangeArrowheads="1" noChangeShapeType="1" noTextEdit="1"/>
                </p:cNvSpPr>
                <p:nvPr/>
              </p:nvSpPr>
              <p:spPr>
                <a:xfrm>
                  <a:off x="3927391" y="1352451"/>
                  <a:ext cx="251581" cy="251581"/>
                </a:xfrm>
                <a:prstGeom prst="ellipse">
                  <a:avLst/>
                </a:prstGeom>
                <a:blipFill>
                  <a:blip r:embed="rId4"/>
                  <a:stretch>
                    <a:fillRect l="-31818" b="-9091"/>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a:extLst>
                    <a:ext uri="{FF2B5EF4-FFF2-40B4-BE49-F238E27FC236}">
                      <a16:creationId xmlns:a16="http://schemas.microsoft.com/office/drawing/2014/main" id="{BBE3B2F7-5959-5AAD-6751-4ADD8F2B4BA5}"/>
                    </a:ext>
                  </a:extLst>
                </p:cNvPr>
                <p:cNvSpPr/>
                <p:nvPr/>
              </p:nvSpPr>
              <p:spPr>
                <a:xfrm>
                  <a:off x="4582953" y="135245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3</m:t>
                            </m:r>
                          </m:sub>
                        </m:sSub>
                      </m:oMath>
                    </m:oMathPara>
                  </a14:m>
                  <a:endParaRPr lang="en-US" sz="1200" dirty="0"/>
                </a:p>
              </p:txBody>
            </p:sp>
          </mc:Choice>
          <mc:Fallback xmlns="">
            <p:sp>
              <p:nvSpPr>
                <p:cNvPr id="22" name="Oval 21">
                  <a:extLst>
                    <a:ext uri="{FF2B5EF4-FFF2-40B4-BE49-F238E27FC236}">
                      <a16:creationId xmlns:a16="http://schemas.microsoft.com/office/drawing/2014/main" id="{BBE3B2F7-5959-5AAD-6751-4ADD8F2B4BA5}"/>
                    </a:ext>
                  </a:extLst>
                </p:cNvPr>
                <p:cNvSpPr>
                  <a:spLocks noRot="1" noChangeAspect="1" noMove="1" noResize="1" noEditPoints="1" noAdjustHandles="1" noChangeArrowheads="1" noChangeShapeType="1" noTextEdit="1"/>
                </p:cNvSpPr>
                <p:nvPr/>
              </p:nvSpPr>
              <p:spPr>
                <a:xfrm>
                  <a:off x="4582953" y="1352451"/>
                  <a:ext cx="251581" cy="251581"/>
                </a:xfrm>
                <a:prstGeom prst="ellipse">
                  <a:avLst/>
                </a:prstGeom>
                <a:blipFill>
                  <a:blip r:embed="rId5"/>
                  <a:stretch>
                    <a:fillRect l="-27273" b="-9091"/>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a:extLst>
                    <a:ext uri="{FF2B5EF4-FFF2-40B4-BE49-F238E27FC236}">
                      <a16:creationId xmlns:a16="http://schemas.microsoft.com/office/drawing/2014/main" id="{EB2DA1F9-D03F-9853-2D32-CB4800DF2512}"/>
                    </a:ext>
                  </a:extLst>
                </p:cNvPr>
                <p:cNvSpPr/>
                <p:nvPr/>
              </p:nvSpPr>
              <p:spPr>
                <a:xfrm>
                  <a:off x="5238515" y="135245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4</m:t>
                            </m:r>
                          </m:sub>
                        </m:sSub>
                      </m:oMath>
                    </m:oMathPara>
                  </a14:m>
                  <a:endParaRPr lang="en-US" sz="1200" dirty="0"/>
                </a:p>
              </p:txBody>
            </p:sp>
          </mc:Choice>
          <mc:Fallback xmlns="">
            <p:sp>
              <p:nvSpPr>
                <p:cNvPr id="23" name="Oval 22">
                  <a:extLst>
                    <a:ext uri="{FF2B5EF4-FFF2-40B4-BE49-F238E27FC236}">
                      <a16:creationId xmlns:a16="http://schemas.microsoft.com/office/drawing/2014/main" id="{EB2DA1F9-D03F-9853-2D32-CB4800DF2512}"/>
                    </a:ext>
                  </a:extLst>
                </p:cNvPr>
                <p:cNvSpPr>
                  <a:spLocks noRot="1" noChangeAspect="1" noMove="1" noResize="1" noEditPoints="1" noAdjustHandles="1" noChangeArrowheads="1" noChangeShapeType="1" noTextEdit="1"/>
                </p:cNvSpPr>
                <p:nvPr/>
              </p:nvSpPr>
              <p:spPr>
                <a:xfrm>
                  <a:off x="5238515" y="1352451"/>
                  <a:ext cx="251581" cy="251581"/>
                </a:xfrm>
                <a:prstGeom prst="ellipse">
                  <a:avLst/>
                </a:prstGeom>
                <a:blipFill>
                  <a:blip r:embed="rId6"/>
                  <a:stretch>
                    <a:fillRect l="-27273" b="-9091"/>
                  </a:stretch>
                </a:blipFill>
                <a:ln w="19050">
                  <a:solidFill>
                    <a:schemeClr val="accent5">
                      <a:lumMod val="60000"/>
                      <a:lumOff val="40000"/>
                    </a:schemeClr>
                  </a:solidFill>
                  <a:prstDash val="dash"/>
                </a:ln>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07E0A466-834E-531D-2146-155B9D442C79}"/>
                </a:ext>
              </a:extLst>
            </p:cNvPr>
            <p:cNvCxnSpPr>
              <a:cxnSpLocks/>
              <a:stCxn id="22" idx="6"/>
              <a:endCxn id="23" idx="2"/>
            </p:cNvCxnSpPr>
            <p:nvPr/>
          </p:nvCxnSpPr>
          <p:spPr>
            <a:xfrm>
              <a:off x="4834534" y="1478242"/>
              <a:ext cx="40398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551BA0E4-EEE9-7D79-C43A-82D3CE1ECFCE}"/>
                </a:ext>
              </a:extLst>
            </p:cNvPr>
            <p:cNvCxnSpPr>
              <a:cxnSpLocks/>
              <a:stCxn id="21" idx="6"/>
              <a:endCxn id="22" idx="2"/>
            </p:cNvCxnSpPr>
            <p:nvPr/>
          </p:nvCxnSpPr>
          <p:spPr>
            <a:xfrm>
              <a:off x="4178972" y="1478242"/>
              <a:ext cx="40398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8" name="Straight Arrow Connector 37">
              <a:extLst>
                <a:ext uri="{FF2B5EF4-FFF2-40B4-BE49-F238E27FC236}">
                  <a16:creationId xmlns:a16="http://schemas.microsoft.com/office/drawing/2014/main" id="{922883B9-0339-C0A0-762D-5782A6B4C6F2}"/>
                </a:ext>
              </a:extLst>
            </p:cNvPr>
            <p:cNvCxnSpPr>
              <a:cxnSpLocks/>
              <a:stCxn id="14" idx="6"/>
              <a:endCxn id="21" idx="2"/>
            </p:cNvCxnSpPr>
            <p:nvPr/>
          </p:nvCxnSpPr>
          <p:spPr>
            <a:xfrm>
              <a:off x="3523410" y="1478242"/>
              <a:ext cx="40398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7BC1088A-CE2C-3EA6-AA94-FA86037E1E25}"/>
                </a:ext>
              </a:extLst>
            </p:cNvPr>
            <p:cNvCxnSpPr>
              <a:cxnSpLocks/>
              <a:endCxn id="14" idx="2"/>
            </p:cNvCxnSpPr>
            <p:nvPr/>
          </p:nvCxnSpPr>
          <p:spPr>
            <a:xfrm>
              <a:off x="3079861" y="1478242"/>
              <a:ext cx="19196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5" name="TextBox 44">
              <a:extLst>
                <a:ext uri="{FF2B5EF4-FFF2-40B4-BE49-F238E27FC236}">
                  <a16:creationId xmlns:a16="http://schemas.microsoft.com/office/drawing/2014/main" id="{A3F599C7-CC1D-BB91-E57A-3A69924A15E9}"/>
                </a:ext>
              </a:extLst>
            </p:cNvPr>
            <p:cNvSpPr txBox="1"/>
            <p:nvPr/>
          </p:nvSpPr>
          <p:spPr>
            <a:xfrm>
              <a:off x="2806341" y="1300047"/>
              <a:ext cx="290464" cy="276999"/>
            </a:xfrm>
            <a:prstGeom prst="rect">
              <a:avLst/>
            </a:prstGeom>
            <a:noFill/>
          </p:spPr>
          <p:txBody>
            <a:bodyPr wrap="none" rtlCol="0">
              <a:spAutoFit/>
            </a:bodyPr>
            <a:lstStyle/>
            <a:p>
              <a:r>
                <a:rPr lang="en-US" sz="1200" dirty="0"/>
                <a:t>…</a:t>
              </a:r>
            </a:p>
          </p:txBody>
        </p:sp>
        <p:sp>
          <p:nvSpPr>
            <p:cNvPr id="47" name="TextBox 46">
              <a:extLst>
                <a:ext uri="{FF2B5EF4-FFF2-40B4-BE49-F238E27FC236}">
                  <a16:creationId xmlns:a16="http://schemas.microsoft.com/office/drawing/2014/main" id="{F37A45C7-E87B-366C-370E-F7A5955D1C5C}"/>
                </a:ext>
              </a:extLst>
            </p:cNvPr>
            <p:cNvSpPr txBox="1"/>
            <p:nvPr/>
          </p:nvSpPr>
          <p:spPr>
            <a:xfrm>
              <a:off x="5704477" y="1306668"/>
              <a:ext cx="290464" cy="276999"/>
            </a:xfrm>
            <a:prstGeom prst="rect">
              <a:avLst/>
            </a:prstGeom>
            <a:noFill/>
          </p:spPr>
          <p:txBody>
            <a:bodyPr wrap="none" rtlCol="0">
              <a:spAutoFit/>
            </a:bodyPr>
            <a:lstStyle/>
            <a:p>
              <a:r>
                <a:rPr lang="en-US" sz="1200" dirty="0"/>
                <a:t>…</a:t>
              </a:r>
            </a:p>
          </p:txBody>
        </p:sp>
      </p:gr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E89FB0D-D39B-E559-FA66-9856BF69FA31}"/>
                  </a:ext>
                </a:extLst>
              </p:cNvPr>
              <p:cNvSpPr txBox="1"/>
              <p:nvPr/>
            </p:nvSpPr>
            <p:spPr>
              <a:xfrm>
                <a:off x="700633" y="1580578"/>
                <a:ext cx="7708125" cy="692497"/>
              </a:xfrm>
              <a:prstGeom prst="rect">
                <a:avLst/>
              </a:prstGeom>
              <a:noFill/>
            </p:spPr>
            <p:txBody>
              <a:bodyPr wrap="square" rtlCol="0">
                <a:spAutoFit/>
              </a:bodyPr>
              <a:lstStyle/>
              <a:p>
                <a:r>
                  <a:rPr lang="en-US" sz="1300" dirty="0"/>
                  <a:t>For a sequence of random variables </a:t>
                </a:r>
                <a14:m>
                  <m:oMath xmlns:m="http://schemas.openxmlformats.org/officeDocument/2006/math">
                    <m:sSub>
                      <m:sSubPr>
                        <m:ctrlPr>
                          <a:rPr lang="en-US" sz="1300" i="1" smtClean="0">
                            <a:latin typeface="Cambria Math" panose="02040503050406030204" pitchFamily="18" charset="0"/>
                          </a:rPr>
                        </m:ctrlPr>
                      </m:sSubPr>
                      <m:e>
                        <m:r>
                          <a:rPr lang="en-US" sz="1300" b="0" i="1" smtClean="0">
                            <a:latin typeface="Cambria Math" panose="02040503050406030204" pitchFamily="18" charset="0"/>
                          </a:rPr>
                          <m:t>𝑍</m:t>
                        </m:r>
                      </m:e>
                      <m:sub>
                        <m:r>
                          <a:rPr lang="en-US" sz="1300" b="0" i="1" smtClean="0">
                            <a:latin typeface="Cambria Math" panose="02040503050406030204" pitchFamily="18" charset="0"/>
                          </a:rPr>
                          <m:t>1</m:t>
                        </m:r>
                      </m:sub>
                    </m:sSub>
                    <m:r>
                      <a:rPr lang="en-US" sz="1300" b="0" i="1" smtClean="0">
                        <a:latin typeface="Cambria Math" panose="02040503050406030204" pitchFamily="18" charset="0"/>
                      </a:rPr>
                      <m:t>, </m:t>
                    </m:r>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𝑍</m:t>
                        </m:r>
                      </m:e>
                      <m:sub>
                        <m:r>
                          <a:rPr lang="en-US" sz="1300" b="0" i="1" smtClean="0">
                            <a:latin typeface="Cambria Math" panose="02040503050406030204" pitchFamily="18" charset="0"/>
                          </a:rPr>
                          <m:t>2</m:t>
                        </m:r>
                      </m:sub>
                    </m:sSub>
                    <m:r>
                      <a:rPr lang="en-US" sz="1300" b="0" i="1" smtClean="0">
                        <a:latin typeface="Cambria Math" panose="02040503050406030204" pitchFamily="18" charset="0"/>
                      </a:rPr>
                      <m:t>, …, </m:t>
                    </m:r>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𝑍</m:t>
                        </m:r>
                      </m:e>
                      <m:sub>
                        <m:r>
                          <a:rPr lang="en-US" sz="1300" b="0" i="1" smtClean="0">
                            <a:latin typeface="Cambria Math" panose="02040503050406030204" pitchFamily="18" charset="0"/>
                          </a:rPr>
                          <m:t>𝑇</m:t>
                        </m:r>
                      </m:sub>
                    </m:sSub>
                  </m:oMath>
                </a14:m>
                <a:r>
                  <a:rPr lang="en-US" sz="1300" dirty="0"/>
                  <a:t>, the Markov property states that the future state depends only on the current state, not on the past history:</a:t>
                </a:r>
              </a:p>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𝑃</m:t>
                      </m:r>
                      <m:d>
                        <m:dPr>
                          <m:ctrlPr>
                            <a:rPr lang="en-US" sz="1300" b="0" i="1" smtClean="0">
                              <a:latin typeface="Cambria Math" panose="02040503050406030204" pitchFamily="18" charset="0"/>
                            </a:rPr>
                          </m:ctrlPr>
                        </m:dPr>
                        <m:e>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𝑍</m:t>
                              </m:r>
                            </m:e>
                            <m:sub>
                              <m:r>
                                <a:rPr lang="en-US" sz="1300" b="0" i="1" smtClean="0">
                                  <a:latin typeface="Cambria Math" panose="02040503050406030204" pitchFamily="18" charset="0"/>
                                </a:rPr>
                                <m:t>𝑡</m:t>
                              </m:r>
                              <m:r>
                                <a:rPr lang="en-US" sz="1300" b="0" i="1" smtClean="0">
                                  <a:latin typeface="Cambria Math" panose="02040503050406030204" pitchFamily="18" charset="0"/>
                                </a:rPr>
                                <m:t>+1</m:t>
                              </m:r>
                            </m:sub>
                          </m:sSub>
                        </m:e>
                        <m:e>
                          <m:sSub>
                            <m:sSubPr>
                              <m:ctrlPr>
                                <a:rPr lang="en-US" sz="1300" i="1">
                                  <a:latin typeface="Cambria Math" panose="02040503050406030204" pitchFamily="18" charset="0"/>
                                </a:rPr>
                              </m:ctrlPr>
                            </m:sSubPr>
                            <m:e>
                              <m:r>
                                <a:rPr lang="en-US" sz="1300" i="1">
                                  <a:latin typeface="Cambria Math" panose="02040503050406030204" pitchFamily="18" charset="0"/>
                                </a:rPr>
                                <m:t>𝑍</m:t>
                              </m:r>
                            </m:e>
                            <m:sub>
                              <m:r>
                                <a:rPr lang="en-US" sz="1300" i="1">
                                  <a:latin typeface="Cambria Math" panose="02040503050406030204" pitchFamily="18" charset="0"/>
                                </a:rPr>
                                <m:t>1</m:t>
                              </m:r>
                            </m:sub>
                          </m:sSub>
                          <m:r>
                            <a:rPr lang="en-US" sz="1300" i="1">
                              <a:latin typeface="Cambria Math" panose="02040503050406030204" pitchFamily="18" charset="0"/>
                            </a:rPr>
                            <m:t>, </m:t>
                          </m:r>
                          <m:sSub>
                            <m:sSubPr>
                              <m:ctrlPr>
                                <a:rPr lang="en-US" sz="1300" i="1">
                                  <a:latin typeface="Cambria Math" panose="02040503050406030204" pitchFamily="18" charset="0"/>
                                </a:rPr>
                              </m:ctrlPr>
                            </m:sSubPr>
                            <m:e>
                              <m:r>
                                <a:rPr lang="en-US" sz="1300" i="1">
                                  <a:latin typeface="Cambria Math" panose="02040503050406030204" pitchFamily="18" charset="0"/>
                                </a:rPr>
                                <m:t>𝑍</m:t>
                              </m:r>
                            </m:e>
                            <m:sub>
                              <m:r>
                                <a:rPr lang="en-US" sz="1300" i="1">
                                  <a:latin typeface="Cambria Math" panose="02040503050406030204" pitchFamily="18" charset="0"/>
                                </a:rPr>
                                <m:t>2</m:t>
                              </m:r>
                            </m:sub>
                          </m:sSub>
                          <m:r>
                            <a:rPr lang="en-US" sz="1300" i="1">
                              <a:latin typeface="Cambria Math" panose="02040503050406030204" pitchFamily="18" charset="0"/>
                            </a:rPr>
                            <m:t>, …, </m:t>
                          </m:r>
                          <m:sSub>
                            <m:sSubPr>
                              <m:ctrlPr>
                                <a:rPr lang="en-US" sz="1300" i="1">
                                  <a:latin typeface="Cambria Math" panose="02040503050406030204" pitchFamily="18" charset="0"/>
                                </a:rPr>
                              </m:ctrlPr>
                            </m:sSubPr>
                            <m:e>
                              <m:r>
                                <a:rPr lang="en-US" sz="1300" i="1">
                                  <a:latin typeface="Cambria Math" panose="02040503050406030204" pitchFamily="18" charset="0"/>
                                </a:rPr>
                                <m:t>𝑍</m:t>
                              </m:r>
                            </m:e>
                            <m:sub>
                              <m:r>
                                <a:rPr lang="en-US" sz="1300" b="0" i="1" smtClean="0">
                                  <a:latin typeface="Cambria Math" panose="02040503050406030204" pitchFamily="18" charset="0"/>
                                </a:rPr>
                                <m:t>𝑡</m:t>
                              </m:r>
                            </m:sub>
                          </m:sSub>
                        </m:e>
                      </m:d>
                      <m:r>
                        <a:rPr lang="en-US" sz="1300" b="0" i="1" smtClean="0">
                          <a:latin typeface="Cambria Math" panose="02040503050406030204" pitchFamily="18" charset="0"/>
                        </a:rPr>
                        <m:t>=</m:t>
                      </m:r>
                      <m:r>
                        <a:rPr lang="en-US" sz="1300" i="1">
                          <a:latin typeface="Cambria Math" panose="02040503050406030204" pitchFamily="18" charset="0"/>
                        </a:rPr>
                        <m:t>𝑃</m:t>
                      </m:r>
                      <m:d>
                        <m:dPr>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i="1">
                                  <a:latin typeface="Cambria Math" panose="02040503050406030204" pitchFamily="18" charset="0"/>
                                </a:rPr>
                                <m:t>𝑍</m:t>
                              </m:r>
                            </m:e>
                            <m:sub>
                              <m:r>
                                <a:rPr lang="en-US" sz="1300" i="1">
                                  <a:latin typeface="Cambria Math" panose="02040503050406030204" pitchFamily="18" charset="0"/>
                                </a:rPr>
                                <m:t>𝑡</m:t>
                              </m:r>
                              <m:r>
                                <a:rPr lang="en-US" sz="1300" i="1">
                                  <a:latin typeface="Cambria Math" panose="02040503050406030204" pitchFamily="18" charset="0"/>
                                </a:rPr>
                                <m:t>+1</m:t>
                              </m:r>
                            </m:sub>
                          </m:sSub>
                        </m:e>
                        <m:e>
                          <m:sSub>
                            <m:sSubPr>
                              <m:ctrlPr>
                                <a:rPr lang="en-US" sz="1300" i="1">
                                  <a:latin typeface="Cambria Math" panose="02040503050406030204" pitchFamily="18" charset="0"/>
                                </a:rPr>
                              </m:ctrlPr>
                            </m:sSubPr>
                            <m:e>
                              <m:r>
                                <a:rPr lang="en-US" sz="1300" i="1">
                                  <a:latin typeface="Cambria Math" panose="02040503050406030204" pitchFamily="18" charset="0"/>
                                </a:rPr>
                                <m:t>𝑍</m:t>
                              </m:r>
                            </m:e>
                            <m:sub>
                              <m:r>
                                <a:rPr lang="en-US" sz="1300" i="1">
                                  <a:latin typeface="Cambria Math" panose="02040503050406030204" pitchFamily="18" charset="0"/>
                                </a:rPr>
                                <m:t>𝑡</m:t>
                              </m:r>
                            </m:sub>
                          </m:sSub>
                        </m:e>
                      </m:d>
                    </m:oMath>
                  </m:oMathPara>
                </a14:m>
                <a:endParaRPr lang="en-US" sz="1300" dirty="0"/>
              </a:p>
            </p:txBody>
          </p:sp>
        </mc:Choice>
        <mc:Fallback xmlns="">
          <p:sp>
            <p:nvSpPr>
              <p:cNvPr id="64" name="TextBox 63">
                <a:extLst>
                  <a:ext uri="{FF2B5EF4-FFF2-40B4-BE49-F238E27FC236}">
                    <a16:creationId xmlns:a16="http://schemas.microsoft.com/office/drawing/2014/main" id="{DE89FB0D-D39B-E559-FA66-9856BF69FA31}"/>
                  </a:ext>
                </a:extLst>
              </p:cNvPr>
              <p:cNvSpPr txBox="1">
                <a:spLocks noRot="1" noChangeAspect="1" noMove="1" noResize="1" noEditPoints="1" noAdjustHandles="1" noChangeArrowheads="1" noChangeShapeType="1" noTextEdit="1"/>
              </p:cNvSpPr>
              <p:nvPr/>
            </p:nvSpPr>
            <p:spPr>
              <a:xfrm>
                <a:off x="700633" y="1580578"/>
                <a:ext cx="7708125" cy="692497"/>
              </a:xfrm>
              <a:prstGeom prst="rect">
                <a:avLst/>
              </a:prstGeom>
              <a:blipFill>
                <a:blip r:embed="rId7"/>
                <a:stretch>
                  <a:fillRect l="-165" t="-1786"/>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7E954C02-3017-CF31-1241-09B28F36DD15}"/>
              </a:ext>
            </a:extLst>
          </p:cNvPr>
          <p:cNvGrpSpPr/>
          <p:nvPr/>
        </p:nvGrpSpPr>
        <p:grpSpPr>
          <a:xfrm>
            <a:off x="1696417" y="2900621"/>
            <a:ext cx="5716557" cy="701801"/>
            <a:chOff x="1562555" y="2900621"/>
            <a:chExt cx="5716557" cy="701801"/>
          </a:xfrm>
        </p:grpSpPr>
        <p:cxnSp>
          <p:nvCxnSpPr>
            <p:cNvPr id="65" name="Straight Arrow Connector 64">
              <a:extLst>
                <a:ext uri="{FF2B5EF4-FFF2-40B4-BE49-F238E27FC236}">
                  <a16:creationId xmlns:a16="http://schemas.microsoft.com/office/drawing/2014/main" id="{8D1EBA4C-E2D3-DD96-80BE-308110EDEAB2}"/>
                </a:ext>
              </a:extLst>
            </p:cNvPr>
            <p:cNvCxnSpPr>
              <a:cxnSpLocks/>
            </p:cNvCxnSpPr>
            <p:nvPr/>
          </p:nvCxnSpPr>
          <p:spPr>
            <a:xfrm flipV="1">
              <a:off x="4246310" y="3475014"/>
              <a:ext cx="253264" cy="16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66" name="Oval 65">
                  <a:extLst>
                    <a:ext uri="{FF2B5EF4-FFF2-40B4-BE49-F238E27FC236}">
                      <a16:creationId xmlns:a16="http://schemas.microsoft.com/office/drawing/2014/main" id="{FCEA006D-3251-F08D-524E-7BA15DFD88BD}"/>
                    </a:ext>
                  </a:extLst>
                </p:cNvPr>
                <p:cNvSpPr/>
                <p:nvPr/>
              </p:nvSpPr>
              <p:spPr>
                <a:xfrm>
                  <a:off x="2028043" y="335084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1</m:t>
                            </m:r>
                          </m:sub>
                        </m:sSub>
                      </m:oMath>
                    </m:oMathPara>
                  </a14:m>
                  <a:endParaRPr lang="en-US" sz="1200" dirty="0"/>
                </a:p>
              </p:txBody>
            </p:sp>
          </mc:Choice>
          <mc:Fallback xmlns="">
            <p:sp>
              <p:nvSpPr>
                <p:cNvPr id="66" name="Oval 65">
                  <a:extLst>
                    <a:ext uri="{FF2B5EF4-FFF2-40B4-BE49-F238E27FC236}">
                      <a16:creationId xmlns:a16="http://schemas.microsoft.com/office/drawing/2014/main" id="{FCEA006D-3251-F08D-524E-7BA15DFD88BD}"/>
                    </a:ext>
                  </a:extLst>
                </p:cNvPr>
                <p:cNvSpPr>
                  <a:spLocks noRot="1" noChangeAspect="1" noMove="1" noResize="1" noEditPoints="1" noAdjustHandles="1" noChangeArrowheads="1" noChangeShapeType="1" noTextEdit="1"/>
                </p:cNvSpPr>
                <p:nvPr/>
              </p:nvSpPr>
              <p:spPr>
                <a:xfrm>
                  <a:off x="2028043" y="3350841"/>
                  <a:ext cx="251581" cy="251581"/>
                </a:xfrm>
                <a:prstGeom prst="ellipse">
                  <a:avLst/>
                </a:prstGeom>
                <a:blipFill>
                  <a:blip r:embed="rId8"/>
                  <a:stretch>
                    <a:fillRect l="-26087" b="-9091"/>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Oval 66">
                  <a:extLst>
                    <a:ext uri="{FF2B5EF4-FFF2-40B4-BE49-F238E27FC236}">
                      <a16:creationId xmlns:a16="http://schemas.microsoft.com/office/drawing/2014/main" id="{A8D4DEF1-6D7F-E5F1-E5FC-CDFA58C4D748}"/>
                    </a:ext>
                  </a:extLst>
                </p:cNvPr>
                <p:cNvSpPr/>
                <p:nvPr/>
              </p:nvSpPr>
              <p:spPr>
                <a:xfrm>
                  <a:off x="2683605" y="335084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2</m:t>
                            </m:r>
                          </m:sub>
                        </m:sSub>
                      </m:oMath>
                    </m:oMathPara>
                  </a14:m>
                  <a:endParaRPr lang="en-US" sz="1200" dirty="0"/>
                </a:p>
              </p:txBody>
            </p:sp>
          </mc:Choice>
          <mc:Fallback xmlns="">
            <p:sp>
              <p:nvSpPr>
                <p:cNvPr id="67" name="Oval 66">
                  <a:extLst>
                    <a:ext uri="{FF2B5EF4-FFF2-40B4-BE49-F238E27FC236}">
                      <a16:creationId xmlns:a16="http://schemas.microsoft.com/office/drawing/2014/main" id="{A8D4DEF1-6D7F-E5F1-E5FC-CDFA58C4D748}"/>
                    </a:ext>
                  </a:extLst>
                </p:cNvPr>
                <p:cNvSpPr>
                  <a:spLocks noRot="1" noChangeAspect="1" noMove="1" noResize="1" noEditPoints="1" noAdjustHandles="1" noChangeArrowheads="1" noChangeShapeType="1" noTextEdit="1"/>
                </p:cNvSpPr>
                <p:nvPr/>
              </p:nvSpPr>
              <p:spPr>
                <a:xfrm>
                  <a:off x="2683605" y="3350841"/>
                  <a:ext cx="251581" cy="251581"/>
                </a:xfrm>
                <a:prstGeom prst="ellipse">
                  <a:avLst/>
                </a:prstGeom>
                <a:blipFill>
                  <a:blip r:embed="rId9"/>
                  <a:stretch>
                    <a:fillRect l="-27273" b="-9091"/>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Oval 67">
                  <a:extLst>
                    <a:ext uri="{FF2B5EF4-FFF2-40B4-BE49-F238E27FC236}">
                      <a16:creationId xmlns:a16="http://schemas.microsoft.com/office/drawing/2014/main" id="{DBC15BC8-67AF-98C2-600F-504E5F136A9F}"/>
                    </a:ext>
                  </a:extLst>
                </p:cNvPr>
                <p:cNvSpPr/>
                <p:nvPr/>
              </p:nvSpPr>
              <p:spPr>
                <a:xfrm>
                  <a:off x="3339167" y="335084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3</m:t>
                            </m:r>
                          </m:sub>
                        </m:sSub>
                      </m:oMath>
                    </m:oMathPara>
                  </a14:m>
                  <a:endParaRPr lang="en-US" sz="1200" dirty="0"/>
                </a:p>
              </p:txBody>
            </p:sp>
          </mc:Choice>
          <mc:Fallback xmlns="">
            <p:sp>
              <p:nvSpPr>
                <p:cNvPr id="68" name="Oval 67">
                  <a:extLst>
                    <a:ext uri="{FF2B5EF4-FFF2-40B4-BE49-F238E27FC236}">
                      <a16:creationId xmlns:a16="http://schemas.microsoft.com/office/drawing/2014/main" id="{DBC15BC8-67AF-98C2-600F-504E5F136A9F}"/>
                    </a:ext>
                  </a:extLst>
                </p:cNvPr>
                <p:cNvSpPr>
                  <a:spLocks noRot="1" noChangeAspect="1" noMove="1" noResize="1" noEditPoints="1" noAdjustHandles="1" noChangeArrowheads="1" noChangeShapeType="1" noTextEdit="1"/>
                </p:cNvSpPr>
                <p:nvPr/>
              </p:nvSpPr>
              <p:spPr>
                <a:xfrm>
                  <a:off x="3339167" y="3350841"/>
                  <a:ext cx="251581" cy="251581"/>
                </a:xfrm>
                <a:prstGeom prst="ellipse">
                  <a:avLst/>
                </a:prstGeom>
                <a:blipFill>
                  <a:blip r:embed="rId10"/>
                  <a:stretch>
                    <a:fillRect l="-31818" b="-9091"/>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Oval 68">
                  <a:extLst>
                    <a:ext uri="{FF2B5EF4-FFF2-40B4-BE49-F238E27FC236}">
                      <a16:creationId xmlns:a16="http://schemas.microsoft.com/office/drawing/2014/main" id="{4733A31C-6701-6D27-7797-EC0C18DC721A}"/>
                    </a:ext>
                  </a:extLst>
                </p:cNvPr>
                <p:cNvSpPr/>
                <p:nvPr/>
              </p:nvSpPr>
              <p:spPr>
                <a:xfrm>
                  <a:off x="3994729" y="3350841"/>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4</m:t>
                            </m:r>
                          </m:sub>
                        </m:sSub>
                      </m:oMath>
                    </m:oMathPara>
                  </a14:m>
                  <a:endParaRPr lang="en-US" sz="1200" dirty="0"/>
                </a:p>
              </p:txBody>
            </p:sp>
          </mc:Choice>
          <mc:Fallback xmlns="">
            <p:sp>
              <p:nvSpPr>
                <p:cNvPr id="69" name="Oval 68">
                  <a:extLst>
                    <a:ext uri="{FF2B5EF4-FFF2-40B4-BE49-F238E27FC236}">
                      <a16:creationId xmlns:a16="http://schemas.microsoft.com/office/drawing/2014/main" id="{4733A31C-6701-6D27-7797-EC0C18DC721A}"/>
                    </a:ext>
                  </a:extLst>
                </p:cNvPr>
                <p:cNvSpPr>
                  <a:spLocks noRot="1" noChangeAspect="1" noMove="1" noResize="1" noEditPoints="1" noAdjustHandles="1" noChangeArrowheads="1" noChangeShapeType="1" noTextEdit="1"/>
                </p:cNvSpPr>
                <p:nvPr/>
              </p:nvSpPr>
              <p:spPr>
                <a:xfrm>
                  <a:off x="3994729" y="3350841"/>
                  <a:ext cx="251581" cy="251581"/>
                </a:xfrm>
                <a:prstGeom prst="ellipse">
                  <a:avLst/>
                </a:prstGeom>
                <a:blipFill>
                  <a:blip r:embed="rId11"/>
                  <a:stretch>
                    <a:fillRect l="-26087" b="-9091"/>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748DB28-2465-35BE-9F82-8BC819E676F7}"/>
                    </a:ext>
                  </a:extLst>
                </p:cNvPr>
                <p:cNvSpPr/>
                <p:nvPr/>
              </p:nvSpPr>
              <p:spPr>
                <a:xfrm>
                  <a:off x="2028043" y="2900621"/>
                  <a:ext cx="251581" cy="251581"/>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1</m:t>
                            </m:r>
                          </m:sub>
                        </m:sSub>
                      </m:oMath>
                    </m:oMathPara>
                  </a14:m>
                  <a:endParaRPr lang="en-US" sz="1200" dirty="0"/>
                </a:p>
              </p:txBody>
            </p:sp>
          </mc:Choice>
          <mc:Fallback xmlns="">
            <p:sp>
              <p:nvSpPr>
                <p:cNvPr id="70" name="Oval 69">
                  <a:extLst>
                    <a:ext uri="{FF2B5EF4-FFF2-40B4-BE49-F238E27FC236}">
                      <a16:creationId xmlns:a16="http://schemas.microsoft.com/office/drawing/2014/main" id="{0748DB28-2465-35BE-9F82-8BC819E676F7}"/>
                    </a:ext>
                  </a:extLst>
                </p:cNvPr>
                <p:cNvSpPr>
                  <a:spLocks noRot="1" noChangeAspect="1" noMove="1" noResize="1" noEditPoints="1" noAdjustHandles="1" noChangeArrowheads="1" noChangeShapeType="1" noTextEdit="1"/>
                </p:cNvSpPr>
                <p:nvPr/>
              </p:nvSpPr>
              <p:spPr>
                <a:xfrm>
                  <a:off x="2028043" y="2900621"/>
                  <a:ext cx="251581" cy="251581"/>
                </a:xfrm>
                <a:prstGeom prst="ellipse">
                  <a:avLst/>
                </a:prstGeom>
                <a:blipFill>
                  <a:blip r:embed="rId12"/>
                  <a:stretch>
                    <a:fillRect l="-27273" b="-14286"/>
                  </a:stretch>
                </a:blipFill>
                <a:ln>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Oval 70">
                  <a:extLst>
                    <a:ext uri="{FF2B5EF4-FFF2-40B4-BE49-F238E27FC236}">
                      <a16:creationId xmlns:a16="http://schemas.microsoft.com/office/drawing/2014/main" id="{D35F2952-F1E5-9480-7217-84D9D208456C}"/>
                    </a:ext>
                  </a:extLst>
                </p:cNvPr>
                <p:cNvSpPr/>
                <p:nvPr/>
              </p:nvSpPr>
              <p:spPr>
                <a:xfrm>
                  <a:off x="2683605" y="2900621"/>
                  <a:ext cx="251581" cy="251581"/>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2</m:t>
                            </m:r>
                          </m:sub>
                        </m:sSub>
                      </m:oMath>
                    </m:oMathPara>
                  </a14:m>
                  <a:endParaRPr lang="en-US" sz="1200" dirty="0"/>
                </a:p>
              </p:txBody>
            </p:sp>
          </mc:Choice>
          <mc:Fallback xmlns="">
            <p:sp>
              <p:nvSpPr>
                <p:cNvPr id="71" name="Oval 70">
                  <a:extLst>
                    <a:ext uri="{FF2B5EF4-FFF2-40B4-BE49-F238E27FC236}">
                      <a16:creationId xmlns:a16="http://schemas.microsoft.com/office/drawing/2014/main" id="{D35F2952-F1E5-9480-7217-84D9D208456C}"/>
                    </a:ext>
                  </a:extLst>
                </p:cNvPr>
                <p:cNvSpPr>
                  <a:spLocks noRot="1" noChangeAspect="1" noMove="1" noResize="1" noEditPoints="1" noAdjustHandles="1" noChangeArrowheads="1" noChangeShapeType="1" noTextEdit="1"/>
                </p:cNvSpPr>
                <p:nvPr/>
              </p:nvSpPr>
              <p:spPr>
                <a:xfrm>
                  <a:off x="2683605" y="2900621"/>
                  <a:ext cx="251581" cy="251581"/>
                </a:xfrm>
                <a:prstGeom prst="ellipse">
                  <a:avLst/>
                </a:prstGeom>
                <a:blipFill>
                  <a:blip r:embed="rId13"/>
                  <a:stretch>
                    <a:fillRect l="-28571" r="-4762" b="-14286"/>
                  </a:stretch>
                </a:blipFill>
                <a:ln>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Oval 71">
                  <a:extLst>
                    <a:ext uri="{FF2B5EF4-FFF2-40B4-BE49-F238E27FC236}">
                      <a16:creationId xmlns:a16="http://schemas.microsoft.com/office/drawing/2014/main" id="{CCE6EB6D-50D8-619E-3515-309702925756}"/>
                    </a:ext>
                  </a:extLst>
                </p:cNvPr>
                <p:cNvSpPr/>
                <p:nvPr/>
              </p:nvSpPr>
              <p:spPr>
                <a:xfrm>
                  <a:off x="3339167" y="2900621"/>
                  <a:ext cx="251581" cy="251581"/>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3</m:t>
                            </m:r>
                          </m:sub>
                        </m:sSub>
                      </m:oMath>
                    </m:oMathPara>
                  </a14:m>
                  <a:endParaRPr lang="en-US" sz="1200" dirty="0"/>
                </a:p>
              </p:txBody>
            </p:sp>
          </mc:Choice>
          <mc:Fallback xmlns="">
            <p:sp>
              <p:nvSpPr>
                <p:cNvPr id="72" name="Oval 71">
                  <a:extLst>
                    <a:ext uri="{FF2B5EF4-FFF2-40B4-BE49-F238E27FC236}">
                      <a16:creationId xmlns:a16="http://schemas.microsoft.com/office/drawing/2014/main" id="{CCE6EB6D-50D8-619E-3515-309702925756}"/>
                    </a:ext>
                  </a:extLst>
                </p:cNvPr>
                <p:cNvSpPr>
                  <a:spLocks noRot="1" noChangeAspect="1" noMove="1" noResize="1" noEditPoints="1" noAdjustHandles="1" noChangeArrowheads="1" noChangeShapeType="1" noTextEdit="1"/>
                </p:cNvSpPr>
                <p:nvPr/>
              </p:nvSpPr>
              <p:spPr>
                <a:xfrm>
                  <a:off x="3339167" y="2900621"/>
                  <a:ext cx="251581" cy="251581"/>
                </a:xfrm>
                <a:prstGeom prst="ellipse">
                  <a:avLst/>
                </a:prstGeom>
                <a:blipFill>
                  <a:blip r:embed="rId14"/>
                  <a:stretch>
                    <a:fillRect l="-33333" b="-14286"/>
                  </a:stretch>
                </a:blipFill>
                <a:ln>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Oval 72">
                  <a:extLst>
                    <a:ext uri="{FF2B5EF4-FFF2-40B4-BE49-F238E27FC236}">
                      <a16:creationId xmlns:a16="http://schemas.microsoft.com/office/drawing/2014/main" id="{11AC307B-AB96-4FC3-C9EF-68C6B456A734}"/>
                    </a:ext>
                  </a:extLst>
                </p:cNvPr>
                <p:cNvSpPr/>
                <p:nvPr/>
              </p:nvSpPr>
              <p:spPr>
                <a:xfrm>
                  <a:off x="3994729" y="2900621"/>
                  <a:ext cx="251581" cy="251581"/>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4</m:t>
                            </m:r>
                          </m:sub>
                        </m:sSub>
                      </m:oMath>
                    </m:oMathPara>
                  </a14:m>
                  <a:endParaRPr lang="en-US" sz="1200" dirty="0"/>
                </a:p>
              </p:txBody>
            </p:sp>
          </mc:Choice>
          <mc:Fallback xmlns="">
            <p:sp>
              <p:nvSpPr>
                <p:cNvPr id="73" name="Oval 72">
                  <a:extLst>
                    <a:ext uri="{FF2B5EF4-FFF2-40B4-BE49-F238E27FC236}">
                      <a16:creationId xmlns:a16="http://schemas.microsoft.com/office/drawing/2014/main" id="{11AC307B-AB96-4FC3-C9EF-68C6B456A734}"/>
                    </a:ext>
                  </a:extLst>
                </p:cNvPr>
                <p:cNvSpPr>
                  <a:spLocks noRot="1" noChangeAspect="1" noMove="1" noResize="1" noEditPoints="1" noAdjustHandles="1" noChangeArrowheads="1" noChangeShapeType="1" noTextEdit="1"/>
                </p:cNvSpPr>
                <p:nvPr/>
              </p:nvSpPr>
              <p:spPr>
                <a:xfrm>
                  <a:off x="3994729" y="2900621"/>
                  <a:ext cx="251581" cy="251581"/>
                </a:xfrm>
                <a:prstGeom prst="ellipse">
                  <a:avLst/>
                </a:prstGeom>
                <a:blipFill>
                  <a:blip r:embed="rId15"/>
                  <a:stretch>
                    <a:fillRect l="-27273" b="-14286"/>
                  </a:stretch>
                </a:blipFill>
                <a:ln>
                  <a:solidFill>
                    <a:schemeClr val="accent6">
                      <a:lumMod val="75000"/>
                    </a:schemeClr>
                  </a:solidFill>
                </a:ln>
              </p:spPr>
              <p:txBody>
                <a:bodyPr/>
                <a:lstStyle/>
                <a:p>
                  <a:r>
                    <a:rPr lang="en-US">
                      <a:noFill/>
                    </a:rPr>
                    <a:t> </a:t>
                  </a:r>
                </a:p>
              </p:txBody>
            </p:sp>
          </mc:Fallback>
        </mc:AlternateContent>
        <p:cxnSp>
          <p:nvCxnSpPr>
            <p:cNvPr id="74" name="Straight Arrow Connector 73">
              <a:extLst>
                <a:ext uri="{FF2B5EF4-FFF2-40B4-BE49-F238E27FC236}">
                  <a16:creationId xmlns:a16="http://schemas.microsoft.com/office/drawing/2014/main" id="{7BAB380A-BDE3-ACA4-6343-C88148EA0020}"/>
                </a:ext>
              </a:extLst>
            </p:cNvPr>
            <p:cNvCxnSpPr>
              <a:cxnSpLocks/>
              <a:stCxn id="68" idx="6"/>
              <a:endCxn id="69" idx="2"/>
            </p:cNvCxnSpPr>
            <p:nvPr/>
          </p:nvCxnSpPr>
          <p:spPr>
            <a:xfrm>
              <a:off x="3590748" y="3476632"/>
              <a:ext cx="40398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75" name="Straight Arrow Connector 74">
              <a:extLst>
                <a:ext uri="{FF2B5EF4-FFF2-40B4-BE49-F238E27FC236}">
                  <a16:creationId xmlns:a16="http://schemas.microsoft.com/office/drawing/2014/main" id="{8E68BF3D-846B-AFF2-6BDF-D0DCF38C49EA}"/>
                </a:ext>
              </a:extLst>
            </p:cNvPr>
            <p:cNvCxnSpPr>
              <a:cxnSpLocks/>
              <a:stCxn id="67" idx="6"/>
              <a:endCxn id="68" idx="2"/>
            </p:cNvCxnSpPr>
            <p:nvPr/>
          </p:nvCxnSpPr>
          <p:spPr>
            <a:xfrm>
              <a:off x="2935186" y="3476632"/>
              <a:ext cx="40398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76" name="Straight Arrow Connector 75">
              <a:extLst>
                <a:ext uri="{FF2B5EF4-FFF2-40B4-BE49-F238E27FC236}">
                  <a16:creationId xmlns:a16="http://schemas.microsoft.com/office/drawing/2014/main" id="{D012E219-5FD3-16C6-CCE1-51801629FF66}"/>
                </a:ext>
              </a:extLst>
            </p:cNvPr>
            <p:cNvCxnSpPr>
              <a:cxnSpLocks/>
              <a:stCxn id="66" idx="6"/>
              <a:endCxn id="67" idx="2"/>
            </p:cNvCxnSpPr>
            <p:nvPr/>
          </p:nvCxnSpPr>
          <p:spPr>
            <a:xfrm>
              <a:off x="2279624" y="3476632"/>
              <a:ext cx="40398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77" name="Straight Arrow Connector 76">
              <a:extLst>
                <a:ext uri="{FF2B5EF4-FFF2-40B4-BE49-F238E27FC236}">
                  <a16:creationId xmlns:a16="http://schemas.microsoft.com/office/drawing/2014/main" id="{110D86C1-A3D9-DDDB-39FC-4137D54795DC}"/>
                </a:ext>
              </a:extLst>
            </p:cNvPr>
            <p:cNvCxnSpPr>
              <a:cxnSpLocks/>
              <a:endCxn id="66" idx="2"/>
            </p:cNvCxnSpPr>
            <p:nvPr/>
          </p:nvCxnSpPr>
          <p:spPr>
            <a:xfrm>
              <a:off x="1836075" y="3476632"/>
              <a:ext cx="19196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78" name="TextBox 77">
              <a:extLst>
                <a:ext uri="{FF2B5EF4-FFF2-40B4-BE49-F238E27FC236}">
                  <a16:creationId xmlns:a16="http://schemas.microsoft.com/office/drawing/2014/main" id="{E1DD5B00-0772-5251-7F5D-4922EDE8E3E8}"/>
                </a:ext>
              </a:extLst>
            </p:cNvPr>
            <p:cNvSpPr txBox="1"/>
            <p:nvPr/>
          </p:nvSpPr>
          <p:spPr>
            <a:xfrm>
              <a:off x="1562555" y="3298437"/>
              <a:ext cx="290464" cy="276999"/>
            </a:xfrm>
            <a:prstGeom prst="rect">
              <a:avLst/>
            </a:prstGeom>
            <a:noFill/>
          </p:spPr>
          <p:txBody>
            <a:bodyPr wrap="none" rtlCol="0">
              <a:spAutoFit/>
            </a:bodyPr>
            <a:lstStyle/>
            <a:p>
              <a:r>
                <a:rPr lang="en-US" sz="1200" dirty="0"/>
                <a:t>…</a:t>
              </a:r>
            </a:p>
          </p:txBody>
        </p:sp>
        <p:sp>
          <p:nvSpPr>
            <p:cNvPr id="79" name="TextBox 78">
              <a:extLst>
                <a:ext uri="{FF2B5EF4-FFF2-40B4-BE49-F238E27FC236}">
                  <a16:creationId xmlns:a16="http://schemas.microsoft.com/office/drawing/2014/main" id="{B400B983-4DE9-4F65-8CFE-2E05BCDC26A0}"/>
                </a:ext>
              </a:extLst>
            </p:cNvPr>
            <p:cNvSpPr txBox="1"/>
            <p:nvPr/>
          </p:nvSpPr>
          <p:spPr>
            <a:xfrm>
              <a:off x="4460691" y="3305058"/>
              <a:ext cx="290464" cy="276999"/>
            </a:xfrm>
            <a:prstGeom prst="rect">
              <a:avLst/>
            </a:prstGeom>
            <a:noFill/>
          </p:spPr>
          <p:txBody>
            <a:bodyPr wrap="none" rtlCol="0">
              <a:spAutoFit/>
            </a:bodyPr>
            <a:lstStyle/>
            <a:p>
              <a:r>
                <a:rPr lang="en-US" sz="1200" dirty="0"/>
                <a:t>…</a:t>
              </a:r>
            </a:p>
          </p:txBody>
        </p:sp>
        <p:cxnSp>
          <p:nvCxnSpPr>
            <p:cNvPr id="80" name="Straight Arrow Connector 79">
              <a:extLst>
                <a:ext uri="{FF2B5EF4-FFF2-40B4-BE49-F238E27FC236}">
                  <a16:creationId xmlns:a16="http://schemas.microsoft.com/office/drawing/2014/main" id="{2DBE86B9-66EA-0BDE-B07A-4AE4D606F094}"/>
                </a:ext>
              </a:extLst>
            </p:cNvPr>
            <p:cNvCxnSpPr>
              <a:cxnSpLocks/>
              <a:stCxn id="66" idx="0"/>
              <a:endCxn id="70" idx="4"/>
            </p:cNvCxnSpPr>
            <p:nvPr/>
          </p:nvCxnSpPr>
          <p:spPr>
            <a:xfrm flipV="1">
              <a:off x="2153834" y="3152202"/>
              <a:ext cx="0" cy="19863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81" name="Straight Arrow Connector 80">
              <a:extLst>
                <a:ext uri="{FF2B5EF4-FFF2-40B4-BE49-F238E27FC236}">
                  <a16:creationId xmlns:a16="http://schemas.microsoft.com/office/drawing/2014/main" id="{500FE0BF-6094-4962-9513-C4709E92C146}"/>
                </a:ext>
              </a:extLst>
            </p:cNvPr>
            <p:cNvCxnSpPr>
              <a:cxnSpLocks/>
              <a:stCxn id="67" idx="0"/>
              <a:endCxn id="71" idx="4"/>
            </p:cNvCxnSpPr>
            <p:nvPr/>
          </p:nvCxnSpPr>
          <p:spPr>
            <a:xfrm flipV="1">
              <a:off x="2809396" y="3152202"/>
              <a:ext cx="0" cy="19863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82" name="Straight Arrow Connector 81">
              <a:extLst>
                <a:ext uri="{FF2B5EF4-FFF2-40B4-BE49-F238E27FC236}">
                  <a16:creationId xmlns:a16="http://schemas.microsoft.com/office/drawing/2014/main" id="{FC0F1B2B-D512-7B09-9B76-0C3F1B2DB25F}"/>
                </a:ext>
              </a:extLst>
            </p:cNvPr>
            <p:cNvCxnSpPr>
              <a:cxnSpLocks/>
              <a:stCxn id="68" idx="0"/>
              <a:endCxn id="72" idx="4"/>
            </p:cNvCxnSpPr>
            <p:nvPr/>
          </p:nvCxnSpPr>
          <p:spPr>
            <a:xfrm flipV="1">
              <a:off x="3464958" y="3152202"/>
              <a:ext cx="0" cy="19863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83" name="Straight Arrow Connector 82">
              <a:extLst>
                <a:ext uri="{FF2B5EF4-FFF2-40B4-BE49-F238E27FC236}">
                  <a16:creationId xmlns:a16="http://schemas.microsoft.com/office/drawing/2014/main" id="{D0CF1D48-259F-AD28-300A-CB5F4FCD5971}"/>
                </a:ext>
              </a:extLst>
            </p:cNvPr>
            <p:cNvCxnSpPr>
              <a:cxnSpLocks/>
              <a:stCxn id="69" idx="0"/>
              <a:endCxn id="73" idx="4"/>
            </p:cNvCxnSpPr>
            <p:nvPr/>
          </p:nvCxnSpPr>
          <p:spPr>
            <a:xfrm flipV="1">
              <a:off x="4120520" y="3152202"/>
              <a:ext cx="0" cy="19863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84" name="Oval 83">
                  <a:extLst>
                    <a:ext uri="{FF2B5EF4-FFF2-40B4-BE49-F238E27FC236}">
                      <a16:creationId xmlns:a16="http://schemas.microsoft.com/office/drawing/2014/main" id="{12DE0CD1-03C2-5A5C-AB71-091E3C80CAE3}"/>
                    </a:ext>
                  </a:extLst>
                </p:cNvPr>
                <p:cNvSpPr/>
                <p:nvPr/>
              </p:nvSpPr>
              <p:spPr>
                <a:xfrm>
                  <a:off x="5177107" y="2938225"/>
                  <a:ext cx="251581" cy="251581"/>
                </a:xfrm>
                <a:prstGeom prst="ellipse">
                  <a:avLst/>
                </a:prstGeom>
                <a:solidFill>
                  <a:schemeClr val="accent5">
                    <a:lumMod val="60000"/>
                    <a:lumOff val="40000"/>
                  </a:schemeClr>
                </a:solid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𝑡</m:t>
                            </m:r>
                          </m:sub>
                        </m:sSub>
                      </m:oMath>
                    </m:oMathPara>
                  </a14:m>
                  <a:endParaRPr lang="en-US" sz="1200" dirty="0"/>
                </a:p>
              </p:txBody>
            </p:sp>
          </mc:Choice>
          <mc:Fallback xmlns="">
            <p:sp>
              <p:nvSpPr>
                <p:cNvPr id="84" name="Oval 83">
                  <a:extLst>
                    <a:ext uri="{FF2B5EF4-FFF2-40B4-BE49-F238E27FC236}">
                      <a16:creationId xmlns:a16="http://schemas.microsoft.com/office/drawing/2014/main" id="{12DE0CD1-03C2-5A5C-AB71-091E3C80CAE3}"/>
                    </a:ext>
                  </a:extLst>
                </p:cNvPr>
                <p:cNvSpPr>
                  <a:spLocks noRot="1" noChangeAspect="1" noMove="1" noResize="1" noEditPoints="1" noAdjustHandles="1" noChangeArrowheads="1" noChangeShapeType="1" noTextEdit="1"/>
                </p:cNvSpPr>
                <p:nvPr/>
              </p:nvSpPr>
              <p:spPr>
                <a:xfrm>
                  <a:off x="5177107" y="2938225"/>
                  <a:ext cx="251581" cy="251581"/>
                </a:xfrm>
                <a:prstGeom prst="ellipse">
                  <a:avLst/>
                </a:prstGeom>
                <a:blipFill>
                  <a:blip r:embed="rId16"/>
                  <a:stretch>
                    <a:fillRect l="-22727" b="-4348"/>
                  </a:stretch>
                </a:blipFill>
                <a:ln w="19050">
                  <a:solidFill>
                    <a:schemeClr val="accent5">
                      <a:lumMod val="60000"/>
                      <a:lumOff val="40000"/>
                    </a:schemeClr>
                  </a:solidFill>
                  <a:prstDash val="dash"/>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Oval 84">
                  <a:extLst>
                    <a:ext uri="{FF2B5EF4-FFF2-40B4-BE49-F238E27FC236}">
                      <a16:creationId xmlns:a16="http://schemas.microsoft.com/office/drawing/2014/main" id="{DB37525D-E2E8-154D-1EDD-47A6DD674290}"/>
                    </a:ext>
                  </a:extLst>
                </p:cNvPr>
                <p:cNvSpPr/>
                <p:nvPr/>
              </p:nvSpPr>
              <p:spPr>
                <a:xfrm>
                  <a:off x="5177107" y="3316782"/>
                  <a:ext cx="251581" cy="251581"/>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𝑡</m:t>
                            </m:r>
                          </m:sub>
                        </m:sSub>
                      </m:oMath>
                    </m:oMathPara>
                  </a14:m>
                  <a:endParaRPr lang="en-US" sz="1200" dirty="0"/>
                </a:p>
              </p:txBody>
            </p:sp>
          </mc:Choice>
          <mc:Fallback xmlns="">
            <p:sp>
              <p:nvSpPr>
                <p:cNvPr id="85" name="Oval 84">
                  <a:extLst>
                    <a:ext uri="{FF2B5EF4-FFF2-40B4-BE49-F238E27FC236}">
                      <a16:creationId xmlns:a16="http://schemas.microsoft.com/office/drawing/2014/main" id="{DB37525D-E2E8-154D-1EDD-47A6DD674290}"/>
                    </a:ext>
                  </a:extLst>
                </p:cNvPr>
                <p:cNvSpPr>
                  <a:spLocks noRot="1" noChangeAspect="1" noMove="1" noResize="1" noEditPoints="1" noAdjustHandles="1" noChangeArrowheads="1" noChangeShapeType="1" noTextEdit="1"/>
                </p:cNvSpPr>
                <p:nvPr/>
              </p:nvSpPr>
              <p:spPr>
                <a:xfrm>
                  <a:off x="5177107" y="3316782"/>
                  <a:ext cx="251581" cy="251581"/>
                </a:xfrm>
                <a:prstGeom prst="ellipse">
                  <a:avLst/>
                </a:prstGeom>
                <a:blipFill>
                  <a:blip r:embed="rId17"/>
                  <a:stretch>
                    <a:fillRect l="-27273" b="-9091"/>
                  </a:stretch>
                </a:blipFill>
                <a:ln>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96435F83-324B-B162-DEE3-007C05B194F4}"/>
                    </a:ext>
                  </a:extLst>
                </p:cNvPr>
                <p:cNvSpPr txBox="1"/>
                <p:nvPr/>
              </p:nvSpPr>
              <p:spPr>
                <a:xfrm>
                  <a:off x="5490096" y="2914598"/>
                  <a:ext cx="1789016" cy="307777"/>
                </a:xfrm>
                <a:prstGeom prst="rect">
                  <a:avLst/>
                </a:prstGeom>
                <a:noFill/>
              </p:spPr>
              <p:txBody>
                <a:bodyPr wrap="none" rtlCol="0">
                  <a:spAutoFit/>
                </a:bodyPr>
                <a:lstStyle/>
                <a:p>
                  <a:r>
                    <a:rPr lang="en-US" sz="1400" dirty="0"/>
                    <a:t>Hidden state at time </a:t>
                  </a:r>
                  <a14:m>
                    <m:oMath xmlns:m="http://schemas.openxmlformats.org/officeDocument/2006/math">
                      <m:r>
                        <a:rPr lang="en-US" sz="1400" i="1">
                          <a:latin typeface="Cambria Math" panose="02040503050406030204" pitchFamily="18" charset="0"/>
                        </a:rPr>
                        <m:t>𝑡</m:t>
                      </m:r>
                    </m:oMath>
                  </a14:m>
                  <a:endParaRPr lang="en-US" sz="1400" dirty="0"/>
                </a:p>
              </p:txBody>
            </p:sp>
          </mc:Choice>
          <mc:Fallback xmlns="">
            <p:sp>
              <p:nvSpPr>
                <p:cNvPr id="86" name="TextBox 85">
                  <a:extLst>
                    <a:ext uri="{FF2B5EF4-FFF2-40B4-BE49-F238E27FC236}">
                      <a16:creationId xmlns:a16="http://schemas.microsoft.com/office/drawing/2014/main" id="{96435F83-324B-B162-DEE3-007C05B194F4}"/>
                    </a:ext>
                  </a:extLst>
                </p:cNvPr>
                <p:cNvSpPr txBox="1">
                  <a:spLocks noRot="1" noChangeAspect="1" noMove="1" noResize="1" noEditPoints="1" noAdjustHandles="1" noChangeArrowheads="1" noChangeShapeType="1" noTextEdit="1"/>
                </p:cNvSpPr>
                <p:nvPr/>
              </p:nvSpPr>
              <p:spPr>
                <a:xfrm>
                  <a:off x="5490096" y="2914598"/>
                  <a:ext cx="1789016" cy="307777"/>
                </a:xfrm>
                <a:prstGeom prst="rect">
                  <a:avLst/>
                </a:prstGeom>
                <a:blipFill>
                  <a:blip r:embed="rId18"/>
                  <a:stretch>
                    <a:fillRect l="-1418"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D0E73055-71E8-AD22-EC22-B485687144E5}"/>
                    </a:ext>
                  </a:extLst>
                </p:cNvPr>
                <p:cNvSpPr txBox="1"/>
                <p:nvPr/>
              </p:nvSpPr>
              <p:spPr>
                <a:xfrm>
                  <a:off x="5490096" y="3277080"/>
                  <a:ext cx="1739194" cy="307777"/>
                </a:xfrm>
                <a:prstGeom prst="rect">
                  <a:avLst/>
                </a:prstGeom>
                <a:noFill/>
              </p:spPr>
              <p:txBody>
                <a:bodyPr wrap="none" rtlCol="0">
                  <a:spAutoFit/>
                </a:bodyPr>
                <a:lstStyle/>
                <a:p>
                  <a:r>
                    <a:rPr lang="en-US" sz="1400" dirty="0"/>
                    <a:t>Observation at time </a:t>
                  </a:r>
                  <a14:m>
                    <m:oMath xmlns:m="http://schemas.openxmlformats.org/officeDocument/2006/math">
                      <m:r>
                        <a:rPr lang="en-US" sz="1400" i="1">
                          <a:latin typeface="Cambria Math" panose="02040503050406030204" pitchFamily="18" charset="0"/>
                        </a:rPr>
                        <m:t>𝑡</m:t>
                      </m:r>
                    </m:oMath>
                  </a14:m>
                  <a:endParaRPr lang="en-US" sz="1400" dirty="0"/>
                </a:p>
              </p:txBody>
            </p:sp>
          </mc:Choice>
          <mc:Fallback xmlns="">
            <p:sp>
              <p:nvSpPr>
                <p:cNvPr id="87" name="TextBox 86">
                  <a:extLst>
                    <a:ext uri="{FF2B5EF4-FFF2-40B4-BE49-F238E27FC236}">
                      <a16:creationId xmlns:a16="http://schemas.microsoft.com/office/drawing/2014/main" id="{D0E73055-71E8-AD22-EC22-B485687144E5}"/>
                    </a:ext>
                  </a:extLst>
                </p:cNvPr>
                <p:cNvSpPr txBox="1">
                  <a:spLocks noRot="1" noChangeAspect="1" noMove="1" noResize="1" noEditPoints="1" noAdjustHandles="1" noChangeArrowheads="1" noChangeShapeType="1" noTextEdit="1"/>
                </p:cNvSpPr>
                <p:nvPr/>
              </p:nvSpPr>
              <p:spPr>
                <a:xfrm>
                  <a:off x="5490096" y="3277080"/>
                  <a:ext cx="1739194" cy="307777"/>
                </a:xfrm>
                <a:prstGeom prst="rect">
                  <a:avLst/>
                </a:prstGeom>
                <a:blipFill>
                  <a:blip r:embed="rId19"/>
                  <a:stretch>
                    <a:fillRect l="-1460" t="-4000" b="-20000"/>
                  </a:stretch>
                </a:blipFill>
              </p:spPr>
              <p:txBody>
                <a:bodyPr/>
                <a:lstStyle/>
                <a:p>
                  <a:r>
                    <a:rPr lang="en-US">
                      <a:noFill/>
                    </a:rPr>
                    <a:t> </a:t>
                  </a:r>
                </a:p>
              </p:txBody>
            </p:sp>
          </mc:Fallback>
        </mc:AlternateContent>
      </p:grpSp>
      <p:sp>
        <p:nvSpPr>
          <p:cNvPr id="88" name="TextBox 87">
            <a:extLst>
              <a:ext uri="{FF2B5EF4-FFF2-40B4-BE49-F238E27FC236}">
                <a16:creationId xmlns:a16="http://schemas.microsoft.com/office/drawing/2014/main" id="{EE817123-BDF8-A9ED-7E26-DBA1E4A78A9F}"/>
              </a:ext>
            </a:extLst>
          </p:cNvPr>
          <p:cNvSpPr txBox="1"/>
          <p:nvPr/>
        </p:nvSpPr>
        <p:spPr>
          <a:xfrm>
            <a:off x="2316701" y="946724"/>
            <a:ext cx="4475988" cy="369332"/>
          </a:xfrm>
          <a:prstGeom prst="rect">
            <a:avLst/>
          </a:prstGeom>
          <a:noFill/>
        </p:spPr>
        <p:txBody>
          <a:bodyPr wrap="square" rtlCol="0" anchor="ctr">
            <a:spAutoFit/>
          </a:bodyPr>
          <a:lstStyle/>
          <a:p>
            <a:pPr algn="ctr"/>
            <a:r>
              <a:rPr lang="en-US" b="1" dirty="0"/>
              <a:t>Markov Chain</a:t>
            </a:r>
          </a:p>
        </p:txBody>
      </p:sp>
      <p:sp>
        <p:nvSpPr>
          <p:cNvPr id="104" name="Rounded Rectangle 103">
            <a:extLst>
              <a:ext uri="{FF2B5EF4-FFF2-40B4-BE49-F238E27FC236}">
                <a16:creationId xmlns:a16="http://schemas.microsoft.com/office/drawing/2014/main" id="{748F3C11-1C1B-0B89-3C55-73EDA5B1601A}"/>
              </a:ext>
            </a:extLst>
          </p:cNvPr>
          <p:cNvSpPr/>
          <p:nvPr/>
        </p:nvSpPr>
        <p:spPr>
          <a:xfrm>
            <a:off x="363989" y="4489778"/>
            <a:ext cx="4103120" cy="418332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05" name="TextBox 104">
            <a:extLst>
              <a:ext uri="{FF2B5EF4-FFF2-40B4-BE49-F238E27FC236}">
                <a16:creationId xmlns:a16="http://schemas.microsoft.com/office/drawing/2014/main" id="{D0EF6D7A-395D-5694-0B7B-C28EDE0F8856}"/>
              </a:ext>
            </a:extLst>
          </p:cNvPr>
          <p:cNvSpPr txBox="1"/>
          <p:nvPr/>
        </p:nvSpPr>
        <p:spPr>
          <a:xfrm>
            <a:off x="177555" y="4675942"/>
            <a:ext cx="4475988" cy="369332"/>
          </a:xfrm>
          <a:prstGeom prst="rect">
            <a:avLst/>
          </a:prstGeom>
          <a:noFill/>
        </p:spPr>
        <p:txBody>
          <a:bodyPr wrap="square" rtlCol="0" anchor="ctr">
            <a:spAutoFit/>
          </a:bodyPr>
          <a:lstStyle/>
          <a:p>
            <a:pPr algn="ctr"/>
            <a:r>
              <a:rPr lang="en-US" b="1" dirty="0"/>
              <a:t>Posterior = Forward * Backward</a:t>
            </a: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07143B5E-4AAA-70BE-EE1A-EE11B6CCCC02}"/>
                  </a:ext>
                </a:extLst>
              </p:cNvPr>
              <p:cNvSpPr txBox="1"/>
              <p:nvPr/>
            </p:nvSpPr>
            <p:spPr>
              <a:xfrm>
                <a:off x="388375" y="5158413"/>
                <a:ext cx="4054348" cy="1890454"/>
              </a:xfrm>
              <a:prstGeom prst="rect">
                <a:avLst/>
              </a:prstGeom>
              <a:noFill/>
            </p:spPr>
            <p:txBody>
              <a:bodyPr wrap="square" rtlCol="0">
                <a:spAutoFit/>
              </a:bodyPr>
              <a:lstStyle/>
              <a:p>
                <a:pPr marL="171450" indent="-171450">
                  <a:buFont typeface="Arial" panose="020B0604020202020204" pitchFamily="34" charset="0"/>
                  <a:buChar char="•"/>
                </a:pPr>
                <a:r>
                  <a:rPr lang="en-US" sz="1050" dirty="0"/>
                  <a:t>Forward Probability</a:t>
                </a:r>
              </a:p>
              <a:p>
                <a:pPr/>
                <a14:m>
                  <m:oMathPara xmlns:m="http://schemas.openxmlformats.org/officeDocument/2006/math">
                    <m:oMathParaPr>
                      <m:jc m:val="centerGroup"/>
                    </m:oMathParaPr>
                    <m:oMath xmlns:m="http://schemas.openxmlformats.org/officeDocument/2006/math">
                      <m:sSub>
                        <m:sSubPr>
                          <m:ctrlPr>
                            <a:rPr lang="en-US" sz="1050" i="1" smtClean="0">
                              <a:latin typeface="Cambria Math" panose="02040503050406030204" pitchFamily="18" charset="0"/>
                            </a:rPr>
                          </m:ctrlPr>
                        </m:sSubPr>
                        <m:e>
                          <m:r>
                            <a:rPr lang="en-US" sz="1050" i="1" smtClean="0">
                              <a:latin typeface="Cambria Math" panose="02040503050406030204" pitchFamily="18" charset="0"/>
                              <a:ea typeface="Cambria Math" panose="02040503050406030204" pitchFamily="18" charset="0"/>
                            </a:rPr>
                            <m:t>𝛼</m:t>
                          </m:r>
                        </m:e>
                        <m:sub>
                          <m:r>
                            <a:rPr lang="en-US" sz="1050" b="0" i="1" smtClean="0">
                              <a:latin typeface="Cambria Math" panose="02040503050406030204" pitchFamily="18" charset="0"/>
                            </a:rPr>
                            <m:t>𝑡</m:t>
                          </m:r>
                        </m:sub>
                      </m:sSub>
                      <m:d>
                        <m:dPr>
                          <m:ctrlPr>
                            <a:rPr lang="en-US" sz="1050" b="0" i="1" smtClean="0">
                              <a:latin typeface="Cambria Math" panose="02040503050406030204" pitchFamily="18" charset="0"/>
                            </a:rPr>
                          </m:ctrlPr>
                        </m:dPr>
                        <m:e>
                          <m:r>
                            <a:rPr lang="en-US" sz="1050" b="0" i="1" smtClean="0">
                              <a:latin typeface="Cambria Math" panose="02040503050406030204" pitchFamily="18" charset="0"/>
                            </a:rPr>
                            <m:t>𝑘</m:t>
                          </m:r>
                        </m:e>
                      </m:d>
                      <m:r>
                        <a:rPr lang="en-US" sz="1050" b="0" i="1" smtClean="0">
                          <a:latin typeface="Cambria Math" panose="02040503050406030204" pitchFamily="18" charset="0"/>
                        </a:rPr>
                        <m:t>≔</m:t>
                      </m:r>
                      <m:r>
                        <a:rPr lang="en-US" sz="1050" b="0" i="1" smtClean="0">
                          <a:latin typeface="Cambria Math" panose="02040503050406030204" pitchFamily="18" charset="0"/>
                        </a:rPr>
                        <m:t>𝑃</m:t>
                      </m:r>
                      <m:d>
                        <m:dPr>
                          <m:ctrlPr>
                            <a:rPr lang="en-US" sz="1050" b="0" i="1" smtClean="0">
                              <a:latin typeface="Cambria Math" panose="02040503050406030204" pitchFamily="18" charset="0"/>
                            </a:rPr>
                          </m:ctrlPr>
                        </m:dPr>
                        <m:e>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𝑧</m:t>
                              </m:r>
                            </m:e>
                            <m:sub>
                              <m:r>
                                <a:rPr lang="en-US" sz="1050" b="0" i="1" smtClean="0">
                                  <a:latin typeface="Cambria Math" panose="02040503050406030204" pitchFamily="18" charset="0"/>
                                </a:rPr>
                                <m:t>𝑡</m:t>
                              </m:r>
                            </m:sub>
                          </m:sSub>
                          <m:r>
                            <a:rPr lang="en-US" sz="1050" b="0" i="1" smtClean="0">
                              <a:latin typeface="Cambria Math" panose="02040503050406030204" pitchFamily="18" charset="0"/>
                            </a:rPr>
                            <m:t>=</m:t>
                          </m:r>
                          <m:r>
                            <a:rPr lang="en-US" sz="1050" b="0" i="1" smtClean="0">
                              <a:latin typeface="Cambria Math" panose="02040503050406030204" pitchFamily="18" charset="0"/>
                            </a:rPr>
                            <m:t>𝑘</m:t>
                          </m:r>
                          <m:r>
                            <a:rPr lang="en-US" sz="1050" b="0" i="1" smtClean="0">
                              <a:latin typeface="Cambria Math" panose="02040503050406030204" pitchFamily="18" charset="0"/>
                            </a:rPr>
                            <m:t>,</m:t>
                          </m:r>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𝑥</m:t>
                              </m:r>
                            </m:e>
                            <m:sub>
                              <m:r>
                                <a:rPr lang="en-US" sz="1050" b="0" i="1" smtClean="0">
                                  <a:latin typeface="Cambria Math" panose="02040503050406030204" pitchFamily="18" charset="0"/>
                                </a:rPr>
                                <m:t>1:</m:t>
                              </m:r>
                              <m:r>
                                <a:rPr lang="en-US" sz="1050" b="0" i="1" smtClean="0">
                                  <a:latin typeface="Cambria Math" panose="02040503050406030204" pitchFamily="18" charset="0"/>
                                </a:rPr>
                                <m:t>𝑡</m:t>
                              </m:r>
                            </m:sub>
                          </m:sSub>
                        </m:e>
                      </m:d>
                    </m:oMath>
                  </m:oMathPara>
                </a14:m>
                <a:endParaRPr lang="en-US" sz="1050" b="0" dirty="0"/>
              </a:p>
              <a:p>
                <a:pPr/>
                <a14:m>
                  <m:oMathPara xmlns:m="http://schemas.openxmlformats.org/officeDocument/2006/math">
                    <m:oMathParaPr>
                      <m:jc m:val="centerGroup"/>
                    </m:oMathParaPr>
                    <m:oMath xmlns:m="http://schemas.openxmlformats.org/officeDocument/2006/math">
                      <m:sSub>
                        <m:sSubPr>
                          <m:ctrlPr>
                            <a:rPr lang="en-US" sz="1050" i="1">
                              <a:latin typeface="Cambria Math" panose="02040503050406030204" pitchFamily="18" charset="0"/>
                            </a:rPr>
                          </m:ctrlPr>
                        </m:sSubPr>
                        <m:e>
                          <m:r>
                            <a:rPr lang="en-US" sz="1050" i="1">
                              <a:latin typeface="Cambria Math" panose="02040503050406030204" pitchFamily="18" charset="0"/>
                              <a:ea typeface="Cambria Math" panose="02040503050406030204" pitchFamily="18" charset="0"/>
                            </a:rPr>
                            <m:t>𝛼</m:t>
                          </m:r>
                        </m:e>
                        <m:sub>
                          <m:r>
                            <a:rPr lang="en-US" sz="1050" i="1">
                              <a:latin typeface="Cambria Math" panose="02040503050406030204" pitchFamily="18" charset="0"/>
                            </a:rPr>
                            <m:t>𝑡</m:t>
                          </m:r>
                          <m:r>
                            <a:rPr lang="en-US" sz="1050" b="0" i="1" smtClean="0">
                              <a:latin typeface="Cambria Math" panose="02040503050406030204" pitchFamily="18" charset="0"/>
                            </a:rPr>
                            <m:t>+1</m:t>
                          </m:r>
                        </m:sub>
                      </m:sSub>
                      <m:d>
                        <m:dPr>
                          <m:ctrlPr>
                            <a:rPr lang="en-US" sz="1050" i="1">
                              <a:latin typeface="Cambria Math" panose="02040503050406030204" pitchFamily="18" charset="0"/>
                            </a:rPr>
                          </m:ctrlPr>
                        </m:dPr>
                        <m:e>
                          <m:r>
                            <a:rPr lang="en-US" sz="1050" i="1">
                              <a:latin typeface="Cambria Math" panose="02040503050406030204" pitchFamily="18" charset="0"/>
                            </a:rPr>
                            <m:t>𝑘</m:t>
                          </m:r>
                        </m:e>
                      </m:d>
                      <m:r>
                        <a:rPr lang="en-US" sz="1050" b="0" i="1" smtClean="0">
                          <a:latin typeface="Cambria Math" panose="02040503050406030204" pitchFamily="18" charset="0"/>
                        </a:rPr>
                        <m:t>=</m:t>
                      </m:r>
                      <m:r>
                        <a:rPr lang="en-US" sz="1050" i="1">
                          <a:latin typeface="Cambria Math" panose="02040503050406030204" pitchFamily="18" charset="0"/>
                        </a:rPr>
                        <m:t>𝑃</m:t>
                      </m:r>
                      <m:d>
                        <m:dPr>
                          <m:ctrlPr>
                            <a:rPr lang="en-US" sz="1050" i="1" smtClean="0">
                              <a:latin typeface="Cambria Math" panose="02040503050406030204" pitchFamily="18" charset="0"/>
                            </a:rPr>
                          </m:ctrlPr>
                        </m:dPr>
                        <m:e>
                          <m:sSub>
                            <m:sSubPr>
                              <m:ctrlPr>
                                <a:rPr lang="en-US" sz="1050" i="1">
                                  <a:latin typeface="Cambria Math" panose="02040503050406030204" pitchFamily="18" charset="0"/>
                                </a:rPr>
                              </m:ctrlPr>
                            </m:sSubPr>
                            <m:e>
                              <m:r>
                                <a:rPr lang="en-US" sz="1050" b="0" i="1" smtClean="0">
                                  <a:latin typeface="Cambria Math" panose="02040503050406030204" pitchFamily="18" charset="0"/>
                                </a:rPr>
                                <m:t>𝑥</m:t>
                              </m:r>
                            </m:e>
                            <m:sub>
                              <m:r>
                                <a:rPr lang="en-US" sz="1050" i="1">
                                  <a:latin typeface="Cambria Math" panose="02040503050406030204" pitchFamily="18" charset="0"/>
                                </a:rPr>
                                <m:t>𝑡</m:t>
                              </m:r>
                              <m:r>
                                <a:rPr lang="en-US" sz="1050" b="0" i="1" smtClean="0">
                                  <a:latin typeface="Cambria Math" panose="02040503050406030204" pitchFamily="18" charset="0"/>
                                </a:rPr>
                                <m:t>+1</m:t>
                              </m:r>
                            </m:sub>
                          </m:sSub>
                          <m:r>
                            <a:rPr lang="en-US" sz="1050" b="0" i="1" smtClean="0">
                              <a:latin typeface="Cambria Math" panose="02040503050406030204" pitchFamily="18" charset="0"/>
                            </a:rPr>
                            <m:t>|</m:t>
                          </m:r>
                          <m:sSub>
                            <m:sSubPr>
                              <m:ctrlPr>
                                <a:rPr lang="en-US" sz="1050" i="1">
                                  <a:latin typeface="Cambria Math" panose="02040503050406030204" pitchFamily="18" charset="0"/>
                                </a:rPr>
                              </m:ctrlPr>
                            </m:sSubPr>
                            <m:e>
                              <m:r>
                                <a:rPr lang="en-US" sz="1050" b="0" i="1" smtClean="0">
                                  <a:latin typeface="Cambria Math" panose="02040503050406030204" pitchFamily="18" charset="0"/>
                                </a:rPr>
                                <m:t>𝑧</m:t>
                              </m:r>
                            </m:e>
                            <m:sub>
                              <m:r>
                                <a:rPr lang="en-US" sz="1050" i="1">
                                  <a:latin typeface="Cambria Math" panose="02040503050406030204" pitchFamily="18" charset="0"/>
                                </a:rPr>
                                <m:t>𝑡</m:t>
                              </m:r>
                              <m:r>
                                <a:rPr lang="en-US" sz="1050" i="1">
                                  <a:latin typeface="Cambria Math" panose="02040503050406030204" pitchFamily="18" charset="0"/>
                                </a:rPr>
                                <m:t>+1</m:t>
                              </m:r>
                            </m:sub>
                          </m:sSub>
                          <m:r>
                            <a:rPr lang="en-US" sz="1050" i="1">
                              <a:latin typeface="Cambria Math" panose="02040503050406030204" pitchFamily="18" charset="0"/>
                            </a:rPr>
                            <m:t>=</m:t>
                          </m:r>
                          <m:r>
                            <a:rPr lang="en-US" sz="1050" i="1">
                              <a:latin typeface="Cambria Math" panose="02040503050406030204" pitchFamily="18" charset="0"/>
                            </a:rPr>
                            <m:t>𝑘</m:t>
                          </m:r>
                        </m:e>
                      </m:d>
                      <m:nary>
                        <m:naryPr>
                          <m:chr m:val="∑"/>
                          <m:limLoc m:val="subSup"/>
                          <m:supHide m:val="on"/>
                          <m:ctrlPr>
                            <a:rPr lang="en-US" sz="1050" i="1" smtClean="0">
                              <a:latin typeface="Cambria Math" panose="02040503050406030204" pitchFamily="18" charset="0"/>
                            </a:rPr>
                          </m:ctrlPr>
                        </m:naryPr>
                        <m:sub>
                          <m:r>
                            <m:rPr>
                              <m:brk m:alnAt="9"/>
                            </m:rPr>
                            <a:rPr lang="en-US" sz="1050" b="0" i="1" smtClean="0">
                              <a:latin typeface="Cambria Math" panose="02040503050406030204" pitchFamily="18" charset="0"/>
                            </a:rPr>
                            <m:t>𝑗</m:t>
                          </m:r>
                        </m:sub>
                        <m:sup/>
                        <m:e>
                          <m:sSub>
                            <m:sSubPr>
                              <m:ctrlPr>
                                <a:rPr lang="en-US" sz="1050" i="1">
                                  <a:latin typeface="Cambria Math" panose="02040503050406030204" pitchFamily="18" charset="0"/>
                                </a:rPr>
                              </m:ctrlPr>
                            </m:sSubPr>
                            <m:e>
                              <m:r>
                                <a:rPr lang="en-US" sz="1050" i="1">
                                  <a:latin typeface="Cambria Math" panose="02040503050406030204" pitchFamily="18" charset="0"/>
                                  <a:ea typeface="Cambria Math" panose="02040503050406030204" pitchFamily="18" charset="0"/>
                                </a:rPr>
                                <m:t>𝛼</m:t>
                              </m:r>
                            </m:e>
                            <m:sub>
                              <m:r>
                                <a:rPr lang="en-US" sz="1050" i="1">
                                  <a:latin typeface="Cambria Math" panose="02040503050406030204" pitchFamily="18" charset="0"/>
                                </a:rPr>
                                <m:t>𝑡</m:t>
                              </m:r>
                            </m:sub>
                          </m:sSub>
                          <m:d>
                            <m:dPr>
                              <m:ctrlPr>
                                <a:rPr lang="en-US" sz="1050" i="1">
                                  <a:latin typeface="Cambria Math" panose="02040503050406030204" pitchFamily="18" charset="0"/>
                                </a:rPr>
                              </m:ctrlPr>
                            </m:dPr>
                            <m:e>
                              <m:r>
                                <a:rPr lang="en-US" sz="1050" b="0" i="1" smtClean="0">
                                  <a:latin typeface="Cambria Math" panose="02040503050406030204" pitchFamily="18" charset="0"/>
                                </a:rPr>
                                <m:t>𝑗</m:t>
                              </m:r>
                            </m:e>
                          </m:d>
                          <m:r>
                            <a:rPr lang="en-US" sz="1050" i="1" smtClean="0">
                              <a:latin typeface="Cambria Math" panose="02040503050406030204" pitchFamily="18" charset="0"/>
                              <a:ea typeface="Cambria Math" panose="02040503050406030204" pitchFamily="18" charset="0"/>
                            </a:rPr>
                            <m:t>∙</m:t>
                          </m:r>
                          <m:r>
                            <a:rPr lang="en-US" sz="1050" b="0" i="1" smtClean="0">
                              <a:latin typeface="Cambria Math" panose="02040503050406030204" pitchFamily="18" charset="0"/>
                              <a:ea typeface="Cambria Math" panose="02040503050406030204" pitchFamily="18" charset="0"/>
                            </a:rPr>
                            <m:t>𝑃</m:t>
                          </m:r>
                          <m:d>
                            <m:dPr>
                              <m:ctrlPr>
                                <a:rPr lang="en-US" sz="1050" i="1">
                                  <a:latin typeface="Cambria Math" panose="02040503050406030204" pitchFamily="18" charset="0"/>
                                </a:rPr>
                              </m:ctrlPr>
                            </m:dPr>
                            <m:e>
                              <m:sSub>
                                <m:sSubPr>
                                  <m:ctrlPr>
                                    <a:rPr lang="en-US" sz="1050" i="1">
                                      <a:latin typeface="Cambria Math" panose="02040503050406030204" pitchFamily="18" charset="0"/>
                                    </a:rPr>
                                  </m:ctrlPr>
                                </m:sSubPr>
                                <m:e>
                                  <m:r>
                                    <a:rPr lang="en-US" sz="1050" b="0" i="1" smtClean="0">
                                      <a:latin typeface="Cambria Math" panose="02040503050406030204" pitchFamily="18" charset="0"/>
                                    </a:rPr>
                                    <m:t>𝑧</m:t>
                                  </m:r>
                                </m:e>
                                <m:sub>
                                  <m:r>
                                    <a:rPr lang="en-US" sz="1050" i="1">
                                      <a:latin typeface="Cambria Math" panose="02040503050406030204" pitchFamily="18" charset="0"/>
                                    </a:rPr>
                                    <m:t>𝑡</m:t>
                                  </m:r>
                                  <m:r>
                                    <a:rPr lang="en-US" sz="1050" i="1">
                                      <a:latin typeface="Cambria Math" panose="02040503050406030204" pitchFamily="18" charset="0"/>
                                    </a:rPr>
                                    <m:t>+1</m:t>
                                  </m:r>
                                </m:sub>
                              </m:sSub>
                              <m:r>
                                <a:rPr lang="en-US" sz="1050" b="0" i="1" smtClean="0">
                                  <a:latin typeface="Cambria Math" panose="02040503050406030204" pitchFamily="18" charset="0"/>
                                </a:rPr>
                                <m:t>=</m:t>
                              </m:r>
                              <m:r>
                                <a:rPr lang="en-US" sz="1050" b="0" i="1" smtClean="0">
                                  <a:latin typeface="Cambria Math" panose="02040503050406030204" pitchFamily="18" charset="0"/>
                                </a:rPr>
                                <m:t>𝑘</m:t>
                              </m:r>
                              <m:r>
                                <a:rPr lang="en-US" sz="1050" i="1">
                                  <a:latin typeface="Cambria Math" panose="02040503050406030204" pitchFamily="18" charset="0"/>
                                </a:rPr>
                                <m:t>|</m:t>
                              </m:r>
                              <m:sSub>
                                <m:sSubPr>
                                  <m:ctrlPr>
                                    <a:rPr lang="en-US" sz="1050" i="1">
                                      <a:latin typeface="Cambria Math" panose="02040503050406030204" pitchFamily="18" charset="0"/>
                                    </a:rPr>
                                  </m:ctrlPr>
                                </m:sSubPr>
                                <m:e>
                                  <m:r>
                                    <a:rPr lang="en-US" sz="1050" i="1">
                                      <a:latin typeface="Cambria Math" panose="02040503050406030204" pitchFamily="18" charset="0"/>
                                    </a:rPr>
                                    <m:t>𝑧</m:t>
                                  </m:r>
                                </m:e>
                                <m:sub>
                                  <m:r>
                                    <a:rPr lang="en-US" sz="1050" i="1">
                                      <a:latin typeface="Cambria Math" panose="02040503050406030204" pitchFamily="18" charset="0"/>
                                    </a:rPr>
                                    <m:t>𝑡</m:t>
                                  </m:r>
                                </m:sub>
                              </m:sSub>
                              <m:r>
                                <a:rPr lang="en-US" sz="1050" i="1">
                                  <a:latin typeface="Cambria Math" panose="02040503050406030204" pitchFamily="18" charset="0"/>
                                </a:rPr>
                                <m:t>=</m:t>
                              </m:r>
                              <m:r>
                                <a:rPr lang="en-US" sz="1050" b="0" i="1" smtClean="0">
                                  <a:latin typeface="Cambria Math" panose="02040503050406030204" pitchFamily="18" charset="0"/>
                                </a:rPr>
                                <m:t>𝑗</m:t>
                              </m:r>
                            </m:e>
                          </m:d>
                        </m:e>
                      </m:nary>
                    </m:oMath>
                  </m:oMathPara>
                </a14:m>
                <a:endParaRPr lang="en-US" sz="1050" dirty="0"/>
              </a:p>
              <a:p>
                <a:pPr marL="171450" indent="-171450">
                  <a:buFont typeface="Arial" panose="020B0604020202020204" pitchFamily="34" charset="0"/>
                  <a:buChar char="•"/>
                </a:pPr>
                <a:r>
                  <a:rPr lang="en-US" sz="1050" dirty="0"/>
                  <a:t>Backward Probability</a:t>
                </a:r>
              </a:p>
              <a:p>
                <a:pPr/>
                <a14:m>
                  <m:oMathPara xmlns:m="http://schemas.openxmlformats.org/officeDocument/2006/math">
                    <m:oMathParaPr>
                      <m:jc m:val="centerGroup"/>
                    </m:oMathParaPr>
                    <m:oMath xmlns:m="http://schemas.openxmlformats.org/officeDocument/2006/math">
                      <m:sSub>
                        <m:sSubPr>
                          <m:ctrlPr>
                            <a:rPr lang="en-US" sz="1050" i="1">
                              <a:latin typeface="Cambria Math" panose="02040503050406030204" pitchFamily="18" charset="0"/>
                            </a:rPr>
                          </m:ctrlPr>
                        </m:sSubPr>
                        <m:e>
                          <m:r>
                            <a:rPr lang="en-US" sz="1050" i="1" smtClean="0">
                              <a:latin typeface="Cambria Math" panose="02040503050406030204" pitchFamily="18" charset="0"/>
                              <a:ea typeface="Cambria Math" panose="02040503050406030204" pitchFamily="18" charset="0"/>
                            </a:rPr>
                            <m:t>𝛽</m:t>
                          </m:r>
                        </m:e>
                        <m:sub>
                          <m:r>
                            <a:rPr lang="en-US" sz="1050" i="1">
                              <a:latin typeface="Cambria Math" panose="02040503050406030204" pitchFamily="18" charset="0"/>
                            </a:rPr>
                            <m:t>𝑡</m:t>
                          </m:r>
                        </m:sub>
                      </m:sSub>
                      <m:d>
                        <m:dPr>
                          <m:ctrlPr>
                            <a:rPr lang="en-US" sz="1050" i="1">
                              <a:latin typeface="Cambria Math" panose="02040503050406030204" pitchFamily="18" charset="0"/>
                            </a:rPr>
                          </m:ctrlPr>
                        </m:dPr>
                        <m:e>
                          <m:r>
                            <a:rPr lang="en-US" sz="1050" i="1">
                              <a:latin typeface="Cambria Math" panose="02040503050406030204" pitchFamily="18" charset="0"/>
                            </a:rPr>
                            <m:t>𝑘</m:t>
                          </m:r>
                        </m:e>
                      </m:d>
                      <m:r>
                        <a:rPr lang="en-US" sz="1050" i="1">
                          <a:latin typeface="Cambria Math" panose="02040503050406030204" pitchFamily="18" charset="0"/>
                        </a:rPr>
                        <m:t>≔</m:t>
                      </m:r>
                      <m:r>
                        <a:rPr lang="en-US" sz="1050" i="1">
                          <a:latin typeface="Cambria Math" panose="02040503050406030204" pitchFamily="18" charset="0"/>
                        </a:rPr>
                        <m:t>𝑃</m:t>
                      </m:r>
                      <m:d>
                        <m:dPr>
                          <m:ctrlPr>
                            <a:rPr lang="en-US" sz="1050" i="1">
                              <a:latin typeface="Cambria Math" panose="02040503050406030204" pitchFamily="18" charset="0"/>
                            </a:rPr>
                          </m:ctrlPr>
                        </m:dPr>
                        <m:e>
                          <m:sSub>
                            <m:sSubPr>
                              <m:ctrlPr>
                                <a:rPr lang="en-US" sz="1050" i="1">
                                  <a:latin typeface="Cambria Math" panose="02040503050406030204" pitchFamily="18" charset="0"/>
                                </a:rPr>
                              </m:ctrlPr>
                            </m:sSubPr>
                            <m:e>
                              <m:r>
                                <a:rPr lang="en-US" sz="1050" b="0" i="1" smtClean="0">
                                  <a:latin typeface="Cambria Math" panose="02040503050406030204" pitchFamily="18" charset="0"/>
                                </a:rPr>
                                <m:t>𝑥</m:t>
                              </m:r>
                            </m:e>
                            <m:sub>
                              <m:r>
                                <a:rPr lang="en-US" sz="1050" i="1">
                                  <a:latin typeface="Cambria Math" panose="02040503050406030204" pitchFamily="18" charset="0"/>
                                </a:rPr>
                                <m:t>𝑡</m:t>
                              </m:r>
                              <m:r>
                                <a:rPr lang="en-US" sz="1050" b="0" i="1" smtClean="0">
                                  <a:latin typeface="Cambria Math" panose="02040503050406030204" pitchFamily="18" charset="0"/>
                                </a:rPr>
                                <m:t>+1:</m:t>
                              </m:r>
                              <m:r>
                                <a:rPr lang="en-US" sz="1050" b="0" i="1" smtClean="0">
                                  <a:latin typeface="Cambria Math" panose="02040503050406030204" pitchFamily="18" charset="0"/>
                                </a:rPr>
                                <m:t>𝑇</m:t>
                              </m:r>
                            </m:sub>
                          </m:sSub>
                          <m:r>
                            <a:rPr lang="en-US" sz="1050" b="0" i="1" smtClean="0">
                              <a:latin typeface="Cambria Math" panose="02040503050406030204" pitchFamily="18" charset="0"/>
                            </a:rPr>
                            <m:t>|</m:t>
                          </m:r>
                          <m:sSub>
                            <m:sSubPr>
                              <m:ctrlPr>
                                <a:rPr lang="en-US" sz="1050" i="1">
                                  <a:latin typeface="Cambria Math" panose="02040503050406030204" pitchFamily="18" charset="0"/>
                                </a:rPr>
                              </m:ctrlPr>
                            </m:sSubPr>
                            <m:e>
                              <m:r>
                                <a:rPr lang="en-US" sz="1050" b="0" i="1" smtClean="0">
                                  <a:latin typeface="Cambria Math" panose="02040503050406030204" pitchFamily="18" charset="0"/>
                                </a:rPr>
                                <m:t>𝑧</m:t>
                              </m:r>
                            </m:e>
                            <m:sub>
                              <m:r>
                                <a:rPr lang="en-US" sz="1050" i="1">
                                  <a:latin typeface="Cambria Math" panose="02040503050406030204" pitchFamily="18" charset="0"/>
                                </a:rPr>
                                <m:t>𝑡</m:t>
                              </m:r>
                            </m:sub>
                          </m:sSub>
                          <m:r>
                            <a:rPr lang="en-US" sz="1050" b="0" i="1" smtClean="0">
                              <a:latin typeface="Cambria Math" panose="02040503050406030204" pitchFamily="18" charset="0"/>
                            </a:rPr>
                            <m:t>=</m:t>
                          </m:r>
                          <m:r>
                            <a:rPr lang="en-US" sz="1050" b="0" i="1" smtClean="0">
                              <a:latin typeface="Cambria Math" panose="02040503050406030204" pitchFamily="18" charset="0"/>
                            </a:rPr>
                            <m:t>𝑘</m:t>
                          </m:r>
                        </m:e>
                      </m:d>
                    </m:oMath>
                  </m:oMathPara>
                </a14:m>
                <a:endParaRPr lang="en-US" sz="1050" dirty="0"/>
              </a:p>
              <a:p>
                <a:pPr/>
                <a14:m>
                  <m:oMathPara xmlns:m="http://schemas.openxmlformats.org/officeDocument/2006/math">
                    <m:oMathParaPr>
                      <m:jc m:val="centerGroup"/>
                    </m:oMathParaPr>
                    <m:oMath xmlns:m="http://schemas.openxmlformats.org/officeDocument/2006/math">
                      <m:sSub>
                        <m:sSubPr>
                          <m:ctrlPr>
                            <a:rPr lang="en-US" sz="1050" i="1">
                              <a:latin typeface="Cambria Math" panose="02040503050406030204" pitchFamily="18" charset="0"/>
                            </a:rPr>
                          </m:ctrlPr>
                        </m:sSubPr>
                        <m:e>
                          <m:r>
                            <a:rPr lang="en-US" sz="1050" i="1" smtClean="0">
                              <a:latin typeface="Cambria Math" panose="02040503050406030204" pitchFamily="18" charset="0"/>
                              <a:ea typeface="Cambria Math" panose="02040503050406030204" pitchFamily="18" charset="0"/>
                            </a:rPr>
                            <m:t>𝛽</m:t>
                          </m:r>
                        </m:e>
                        <m:sub>
                          <m:r>
                            <a:rPr lang="en-US" sz="1050" i="1">
                              <a:latin typeface="Cambria Math" panose="02040503050406030204" pitchFamily="18" charset="0"/>
                            </a:rPr>
                            <m:t>𝑡</m:t>
                          </m:r>
                        </m:sub>
                      </m:sSub>
                      <m:d>
                        <m:dPr>
                          <m:ctrlPr>
                            <a:rPr lang="en-US" sz="1050" i="1">
                              <a:latin typeface="Cambria Math" panose="02040503050406030204" pitchFamily="18" charset="0"/>
                            </a:rPr>
                          </m:ctrlPr>
                        </m:dPr>
                        <m:e>
                          <m:r>
                            <a:rPr lang="en-US" sz="1050" i="1">
                              <a:latin typeface="Cambria Math" panose="02040503050406030204" pitchFamily="18" charset="0"/>
                            </a:rPr>
                            <m:t>𝑘</m:t>
                          </m:r>
                        </m:e>
                      </m:d>
                      <m:r>
                        <a:rPr lang="en-US" sz="1050" i="1">
                          <a:latin typeface="Cambria Math" panose="02040503050406030204" pitchFamily="18" charset="0"/>
                        </a:rPr>
                        <m:t>=</m:t>
                      </m:r>
                      <m:nary>
                        <m:naryPr>
                          <m:chr m:val="∑"/>
                          <m:limLoc m:val="subSup"/>
                          <m:supHide m:val="on"/>
                          <m:ctrlPr>
                            <a:rPr lang="en-US" sz="1050" i="1">
                              <a:latin typeface="Cambria Math" panose="02040503050406030204" pitchFamily="18" charset="0"/>
                            </a:rPr>
                          </m:ctrlPr>
                        </m:naryPr>
                        <m:sub>
                          <m:r>
                            <m:rPr>
                              <m:brk m:alnAt="9"/>
                            </m:rPr>
                            <a:rPr lang="en-US" sz="1050" i="1">
                              <a:latin typeface="Cambria Math" panose="02040503050406030204" pitchFamily="18" charset="0"/>
                            </a:rPr>
                            <m:t>𝑗</m:t>
                          </m:r>
                        </m:sub>
                        <m:sup/>
                        <m:e>
                          <m:sSub>
                            <m:sSubPr>
                              <m:ctrlPr>
                                <a:rPr lang="en-US" sz="1050" i="1">
                                  <a:latin typeface="Cambria Math" panose="02040503050406030204" pitchFamily="18" charset="0"/>
                                </a:rPr>
                              </m:ctrlPr>
                            </m:sSubPr>
                            <m:e>
                              <m:r>
                                <a:rPr lang="en-US" sz="1050" i="1" smtClean="0">
                                  <a:latin typeface="Cambria Math" panose="02040503050406030204" pitchFamily="18" charset="0"/>
                                  <a:ea typeface="Cambria Math" panose="02040503050406030204" pitchFamily="18" charset="0"/>
                                </a:rPr>
                                <m:t>𝛽</m:t>
                              </m:r>
                            </m:e>
                            <m:sub>
                              <m:r>
                                <a:rPr lang="en-US" sz="1050" i="1">
                                  <a:latin typeface="Cambria Math" panose="02040503050406030204" pitchFamily="18" charset="0"/>
                                </a:rPr>
                                <m:t>𝑡</m:t>
                              </m:r>
                              <m:r>
                                <a:rPr lang="en-US" sz="1050" b="0" i="1" smtClean="0">
                                  <a:latin typeface="Cambria Math" panose="02040503050406030204" pitchFamily="18" charset="0"/>
                                </a:rPr>
                                <m:t>+1</m:t>
                              </m:r>
                            </m:sub>
                          </m:sSub>
                          <m:d>
                            <m:dPr>
                              <m:ctrlPr>
                                <a:rPr lang="en-US" sz="1050" i="1">
                                  <a:latin typeface="Cambria Math" panose="02040503050406030204" pitchFamily="18" charset="0"/>
                                </a:rPr>
                              </m:ctrlPr>
                            </m:dPr>
                            <m:e>
                              <m:r>
                                <a:rPr lang="en-US" sz="1050" i="1">
                                  <a:latin typeface="Cambria Math" panose="02040503050406030204" pitchFamily="18" charset="0"/>
                                </a:rPr>
                                <m:t>𝑗</m:t>
                              </m:r>
                            </m:e>
                          </m:d>
                          <m:r>
                            <a:rPr lang="en-US" sz="1050" i="1">
                              <a:latin typeface="Cambria Math" panose="02040503050406030204" pitchFamily="18" charset="0"/>
                              <a:ea typeface="Cambria Math" panose="02040503050406030204" pitchFamily="18" charset="0"/>
                            </a:rPr>
                            <m:t>∙</m:t>
                          </m:r>
                          <m:r>
                            <a:rPr lang="en-US" sz="1050" i="1">
                              <a:latin typeface="Cambria Math" panose="02040503050406030204" pitchFamily="18" charset="0"/>
                            </a:rPr>
                            <m:t>𝑃</m:t>
                          </m:r>
                          <m:d>
                            <m:dPr>
                              <m:ctrlPr>
                                <a:rPr lang="en-US" sz="1050" i="1">
                                  <a:latin typeface="Cambria Math" panose="02040503050406030204" pitchFamily="18" charset="0"/>
                                </a:rPr>
                              </m:ctrlPr>
                            </m:dPr>
                            <m:e>
                              <m:sSub>
                                <m:sSubPr>
                                  <m:ctrlPr>
                                    <a:rPr lang="en-US" sz="1050" i="1">
                                      <a:latin typeface="Cambria Math" panose="02040503050406030204" pitchFamily="18" charset="0"/>
                                    </a:rPr>
                                  </m:ctrlPr>
                                </m:sSubPr>
                                <m:e>
                                  <m:r>
                                    <a:rPr lang="en-US" sz="1050" b="0" i="1" smtClean="0">
                                      <a:latin typeface="Cambria Math" panose="02040503050406030204" pitchFamily="18" charset="0"/>
                                    </a:rPr>
                                    <m:t>𝑧</m:t>
                                  </m:r>
                                </m:e>
                                <m:sub>
                                  <m:r>
                                    <a:rPr lang="en-US" sz="1050" i="1">
                                      <a:latin typeface="Cambria Math" panose="02040503050406030204" pitchFamily="18" charset="0"/>
                                    </a:rPr>
                                    <m:t>𝑡</m:t>
                                  </m:r>
                                  <m:r>
                                    <a:rPr lang="en-US" sz="1050" i="1">
                                      <a:latin typeface="Cambria Math" panose="02040503050406030204" pitchFamily="18" charset="0"/>
                                    </a:rPr>
                                    <m:t>+1</m:t>
                                  </m:r>
                                </m:sub>
                              </m:sSub>
                              <m:r>
                                <a:rPr lang="en-US" sz="1050" b="0" i="1" smtClean="0">
                                  <a:latin typeface="Cambria Math" panose="02040503050406030204" pitchFamily="18" charset="0"/>
                                </a:rPr>
                                <m:t>=</m:t>
                              </m:r>
                              <m:r>
                                <a:rPr lang="en-US" sz="1050" b="0" i="1" smtClean="0">
                                  <a:latin typeface="Cambria Math" panose="02040503050406030204" pitchFamily="18" charset="0"/>
                                </a:rPr>
                                <m:t>𝑗</m:t>
                              </m:r>
                              <m:r>
                                <a:rPr lang="en-US" sz="1050" i="1">
                                  <a:latin typeface="Cambria Math" panose="02040503050406030204" pitchFamily="18" charset="0"/>
                                </a:rPr>
                                <m:t>|</m:t>
                              </m:r>
                              <m:sSub>
                                <m:sSubPr>
                                  <m:ctrlPr>
                                    <a:rPr lang="en-US" sz="1050" i="1">
                                      <a:latin typeface="Cambria Math" panose="02040503050406030204" pitchFamily="18" charset="0"/>
                                    </a:rPr>
                                  </m:ctrlPr>
                                </m:sSubPr>
                                <m:e>
                                  <m:r>
                                    <a:rPr lang="en-US" sz="1050" i="1">
                                      <a:latin typeface="Cambria Math" panose="02040503050406030204" pitchFamily="18" charset="0"/>
                                    </a:rPr>
                                    <m:t>𝑧</m:t>
                                  </m:r>
                                </m:e>
                                <m:sub>
                                  <m:r>
                                    <a:rPr lang="en-US" sz="1050" i="1">
                                      <a:latin typeface="Cambria Math" panose="02040503050406030204" pitchFamily="18" charset="0"/>
                                    </a:rPr>
                                    <m:t>𝑡</m:t>
                                  </m:r>
                                </m:sub>
                              </m:sSub>
                              <m:r>
                                <a:rPr lang="en-US" sz="1050" i="1">
                                  <a:latin typeface="Cambria Math" panose="02040503050406030204" pitchFamily="18" charset="0"/>
                                </a:rPr>
                                <m:t>=</m:t>
                              </m:r>
                              <m:r>
                                <a:rPr lang="en-US" sz="1050" i="1">
                                  <a:latin typeface="Cambria Math" panose="02040503050406030204" pitchFamily="18" charset="0"/>
                                </a:rPr>
                                <m:t>𝑘</m:t>
                              </m:r>
                            </m:e>
                          </m:d>
                          <m:r>
                            <a:rPr lang="en-US" sz="1050" i="1">
                              <a:latin typeface="Cambria Math" panose="02040503050406030204" pitchFamily="18" charset="0"/>
                              <a:ea typeface="Cambria Math" panose="02040503050406030204" pitchFamily="18" charset="0"/>
                            </a:rPr>
                            <m:t>∙</m:t>
                          </m:r>
                          <m:r>
                            <a:rPr lang="en-US" sz="1050" i="1">
                              <a:latin typeface="Cambria Math" panose="02040503050406030204" pitchFamily="18" charset="0"/>
                              <a:ea typeface="Cambria Math" panose="02040503050406030204" pitchFamily="18" charset="0"/>
                            </a:rPr>
                            <m:t>𝑃</m:t>
                          </m:r>
                          <m:d>
                            <m:dPr>
                              <m:ctrlPr>
                                <a:rPr lang="en-US" sz="1050" i="1">
                                  <a:latin typeface="Cambria Math" panose="02040503050406030204" pitchFamily="18" charset="0"/>
                                </a:rPr>
                              </m:ctrlPr>
                            </m:dPr>
                            <m:e>
                              <m:sSub>
                                <m:sSubPr>
                                  <m:ctrlPr>
                                    <a:rPr lang="en-US" sz="1050" i="1">
                                      <a:latin typeface="Cambria Math" panose="02040503050406030204" pitchFamily="18" charset="0"/>
                                    </a:rPr>
                                  </m:ctrlPr>
                                </m:sSubPr>
                                <m:e>
                                  <m:r>
                                    <a:rPr lang="en-US" sz="1050" b="0" i="1" smtClean="0">
                                      <a:latin typeface="Cambria Math" panose="02040503050406030204" pitchFamily="18" charset="0"/>
                                    </a:rPr>
                                    <m:t>𝑥</m:t>
                                  </m:r>
                                </m:e>
                                <m:sub>
                                  <m:r>
                                    <a:rPr lang="en-US" sz="1050" i="1">
                                      <a:latin typeface="Cambria Math" panose="02040503050406030204" pitchFamily="18" charset="0"/>
                                    </a:rPr>
                                    <m:t>𝑡</m:t>
                                  </m:r>
                                  <m:r>
                                    <a:rPr lang="en-US" sz="1050" i="1">
                                      <a:latin typeface="Cambria Math" panose="02040503050406030204" pitchFamily="18" charset="0"/>
                                    </a:rPr>
                                    <m:t>+1</m:t>
                                  </m:r>
                                </m:sub>
                              </m:sSub>
                              <m:r>
                                <a:rPr lang="en-US" sz="1050" i="1">
                                  <a:latin typeface="Cambria Math" panose="02040503050406030204" pitchFamily="18" charset="0"/>
                                </a:rPr>
                                <m:t>|</m:t>
                              </m:r>
                              <m:sSub>
                                <m:sSubPr>
                                  <m:ctrlPr>
                                    <a:rPr lang="en-US" sz="1050" i="1">
                                      <a:latin typeface="Cambria Math" panose="02040503050406030204" pitchFamily="18" charset="0"/>
                                    </a:rPr>
                                  </m:ctrlPr>
                                </m:sSubPr>
                                <m:e>
                                  <m:r>
                                    <a:rPr lang="en-US" sz="1050" i="1">
                                      <a:latin typeface="Cambria Math" panose="02040503050406030204" pitchFamily="18" charset="0"/>
                                    </a:rPr>
                                    <m:t>𝑧</m:t>
                                  </m:r>
                                </m:e>
                                <m:sub>
                                  <m:r>
                                    <a:rPr lang="en-US" sz="1050" i="1">
                                      <a:latin typeface="Cambria Math" panose="02040503050406030204" pitchFamily="18" charset="0"/>
                                    </a:rPr>
                                    <m:t>𝑡</m:t>
                                  </m:r>
                                  <m:r>
                                    <a:rPr lang="en-US" sz="1050" b="0" i="1" smtClean="0">
                                      <a:latin typeface="Cambria Math" panose="02040503050406030204" pitchFamily="18" charset="0"/>
                                    </a:rPr>
                                    <m:t>+1</m:t>
                                  </m:r>
                                </m:sub>
                              </m:sSub>
                              <m:r>
                                <a:rPr lang="en-US" sz="1050" i="1">
                                  <a:latin typeface="Cambria Math" panose="02040503050406030204" pitchFamily="18" charset="0"/>
                                </a:rPr>
                                <m:t>=</m:t>
                              </m:r>
                              <m:r>
                                <a:rPr lang="en-US" sz="1050" i="1">
                                  <a:latin typeface="Cambria Math" panose="02040503050406030204" pitchFamily="18" charset="0"/>
                                </a:rPr>
                                <m:t>𝑗</m:t>
                              </m:r>
                            </m:e>
                          </m:d>
                        </m:e>
                      </m:nary>
                    </m:oMath>
                  </m:oMathPara>
                </a14:m>
                <a:endParaRPr lang="en-US" sz="1050" dirty="0"/>
              </a:p>
              <a:p>
                <a:pPr marL="171450" indent="-171450">
                  <a:buFont typeface="Arial" panose="020B0604020202020204" pitchFamily="34" charset="0"/>
                  <a:buChar char="•"/>
                </a:pPr>
                <a:r>
                  <a:rPr lang="en-US" sz="1050" dirty="0"/>
                  <a:t>Posterior Distribution</a:t>
                </a:r>
              </a:p>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𝑃</m:t>
                      </m:r>
                      <m:d>
                        <m:dPr>
                          <m:ctrlPr>
                            <a:rPr lang="en-US" sz="1050" b="0" i="1" smtClean="0">
                              <a:latin typeface="Cambria Math" panose="02040503050406030204" pitchFamily="18" charset="0"/>
                            </a:rPr>
                          </m:ctrlPr>
                        </m:dPr>
                        <m:e>
                          <m:sSub>
                            <m:sSubPr>
                              <m:ctrlPr>
                                <a:rPr lang="en-US" sz="1050" i="1">
                                  <a:latin typeface="Cambria Math" panose="02040503050406030204" pitchFamily="18" charset="0"/>
                                </a:rPr>
                              </m:ctrlPr>
                            </m:sSubPr>
                            <m:e>
                              <m:r>
                                <a:rPr lang="en-US" sz="1050" i="1">
                                  <a:latin typeface="Cambria Math" panose="02040503050406030204" pitchFamily="18" charset="0"/>
                                </a:rPr>
                                <m:t>𝑧</m:t>
                              </m:r>
                            </m:e>
                            <m:sub>
                              <m:r>
                                <a:rPr lang="en-US" sz="1050" i="1">
                                  <a:latin typeface="Cambria Math" panose="02040503050406030204" pitchFamily="18" charset="0"/>
                                </a:rPr>
                                <m:t>𝑡</m:t>
                              </m:r>
                            </m:sub>
                          </m:sSub>
                          <m:r>
                            <a:rPr lang="en-US" sz="1050" i="1">
                              <a:latin typeface="Cambria Math" panose="02040503050406030204" pitchFamily="18" charset="0"/>
                            </a:rPr>
                            <m:t>=</m:t>
                          </m:r>
                          <m:r>
                            <a:rPr lang="en-US" sz="1050" b="0" i="1" smtClean="0">
                              <a:latin typeface="Cambria Math" panose="02040503050406030204" pitchFamily="18" charset="0"/>
                            </a:rPr>
                            <m:t>𝑘</m:t>
                          </m:r>
                        </m:e>
                        <m:e>
                          <m:sSub>
                            <m:sSubPr>
                              <m:ctrlPr>
                                <a:rPr lang="en-US" sz="1050" i="1">
                                  <a:latin typeface="Cambria Math" panose="02040503050406030204" pitchFamily="18" charset="0"/>
                                </a:rPr>
                              </m:ctrlPr>
                            </m:sSubPr>
                            <m:e>
                              <m:r>
                                <a:rPr lang="en-US" sz="1050" i="1">
                                  <a:latin typeface="Cambria Math" panose="02040503050406030204" pitchFamily="18" charset="0"/>
                                </a:rPr>
                                <m:t>𝑥</m:t>
                              </m:r>
                            </m:e>
                            <m:sub>
                              <m:r>
                                <a:rPr lang="en-US" sz="1050" i="1">
                                  <a:latin typeface="Cambria Math" panose="02040503050406030204" pitchFamily="18" charset="0"/>
                                </a:rPr>
                                <m:t>1:</m:t>
                              </m:r>
                              <m:r>
                                <a:rPr lang="en-US" sz="1050" i="1">
                                  <a:latin typeface="Cambria Math" panose="02040503050406030204" pitchFamily="18" charset="0"/>
                                </a:rPr>
                                <m:t>𝑇</m:t>
                              </m:r>
                            </m:sub>
                          </m:sSub>
                        </m:e>
                      </m:d>
                      <m:r>
                        <a:rPr lang="en-US" sz="1050" b="0" i="1" smtClean="0">
                          <a:latin typeface="Cambria Math" panose="02040503050406030204" pitchFamily="18" charset="0"/>
                        </a:rPr>
                        <m:t>=</m:t>
                      </m:r>
                      <m:f>
                        <m:fPr>
                          <m:ctrlPr>
                            <a:rPr lang="en-US" sz="1050" i="1">
                              <a:latin typeface="Cambria Math" panose="02040503050406030204" pitchFamily="18" charset="0"/>
                            </a:rPr>
                          </m:ctrlPr>
                        </m:fPr>
                        <m:num>
                          <m:sSub>
                            <m:sSubPr>
                              <m:ctrlPr>
                                <a:rPr lang="en-US" sz="1050" i="1">
                                  <a:latin typeface="Cambria Math" panose="02040503050406030204" pitchFamily="18" charset="0"/>
                                </a:rPr>
                              </m:ctrlPr>
                            </m:sSubPr>
                            <m:e>
                              <m:r>
                                <a:rPr lang="en-US" sz="1050" i="1">
                                  <a:latin typeface="Cambria Math" panose="02040503050406030204" pitchFamily="18" charset="0"/>
                                  <a:ea typeface="Cambria Math" panose="02040503050406030204" pitchFamily="18" charset="0"/>
                                </a:rPr>
                                <m:t>𝛼</m:t>
                              </m:r>
                            </m:e>
                            <m:sub>
                              <m:r>
                                <a:rPr lang="en-US" sz="1050" i="1">
                                  <a:latin typeface="Cambria Math" panose="02040503050406030204" pitchFamily="18" charset="0"/>
                                </a:rPr>
                                <m:t>𝑡</m:t>
                              </m:r>
                            </m:sub>
                          </m:sSub>
                          <m:d>
                            <m:dPr>
                              <m:ctrlPr>
                                <a:rPr lang="en-US" sz="1050" i="1">
                                  <a:latin typeface="Cambria Math" panose="02040503050406030204" pitchFamily="18" charset="0"/>
                                </a:rPr>
                              </m:ctrlPr>
                            </m:dPr>
                            <m:e>
                              <m:r>
                                <a:rPr lang="en-US" sz="1050" i="1">
                                  <a:latin typeface="Cambria Math" panose="02040503050406030204" pitchFamily="18" charset="0"/>
                                </a:rPr>
                                <m:t>𝑘</m:t>
                              </m:r>
                            </m:e>
                          </m:d>
                          <m:r>
                            <a:rPr lang="en-US" sz="1050" i="1">
                              <a:latin typeface="Cambria Math" panose="02040503050406030204" pitchFamily="18" charset="0"/>
                              <a:ea typeface="Cambria Math" panose="02040503050406030204" pitchFamily="18" charset="0"/>
                            </a:rPr>
                            <m:t>∙</m:t>
                          </m:r>
                          <m:sSub>
                            <m:sSubPr>
                              <m:ctrlPr>
                                <a:rPr lang="en-US" sz="1050" i="1">
                                  <a:latin typeface="Cambria Math" panose="02040503050406030204" pitchFamily="18" charset="0"/>
                                </a:rPr>
                              </m:ctrlPr>
                            </m:sSubPr>
                            <m:e>
                              <m:r>
                                <a:rPr lang="en-US" sz="1050" i="1">
                                  <a:latin typeface="Cambria Math" panose="02040503050406030204" pitchFamily="18" charset="0"/>
                                  <a:ea typeface="Cambria Math" panose="02040503050406030204" pitchFamily="18" charset="0"/>
                                </a:rPr>
                                <m:t>𝛽</m:t>
                              </m:r>
                            </m:e>
                            <m:sub>
                              <m:r>
                                <a:rPr lang="en-US" sz="1050" i="1">
                                  <a:latin typeface="Cambria Math" panose="02040503050406030204" pitchFamily="18" charset="0"/>
                                </a:rPr>
                                <m:t>𝑡</m:t>
                              </m:r>
                            </m:sub>
                          </m:sSub>
                          <m:d>
                            <m:dPr>
                              <m:ctrlPr>
                                <a:rPr lang="en-US" sz="1050" i="1">
                                  <a:latin typeface="Cambria Math" panose="02040503050406030204" pitchFamily="18" charset="0"/>
                                </a:rPr>
                              </m:ctrlPr>
                            </m:dPr>
                            <m:e>
                              <m:r>
                                <a:rPr lang="en-US" sz="1050" i="1">
                                  <a:latin typeface="Cambria Math" panose="02040503050406030204" pitchFamily="18" charset="0"/>
                                </a:rPr>
                                <m:t>𝑘</m:t>
                              </m:r>
                            </m:e>
                          </m:d>
                        </m:num>
                        <m:den>
                          <m:nary>
                            <m:naryPr>
                              <m:chr m:val="∑"/>
                              <m:limLoc m:val="subSup"/>
                              <m:supHide m:val="on"/>
                              <m:ctrlPr>
                                <a:rPr lang="en-US" sz="1050" i="1">
                                  <a:latin typeface="Cambria Math" panose="02040503050406030204" pitchFamily="18" charset="0"/>
                                </a:rPr>
                              </m:ctrlPr>
                            </m:naryPr>
                            <m:sub>
                              <m:sSup>
                                <m:sSupPr>
                                  <m:ctrlPr>
                                    <a:rPr lang="en-US" sz="1050" i="1">
                                      <a:latin typeface="Cambria Math" panose="02040503050406030204" pitchFamily="18" charset="0"/>
                                    </a:rPr>
                                  </m:ctrlPr>
                                </m:sSupPr>
                                <m:e>
                                  <m:r>
                                    <a:rPr lang="en-US" sz="1050" i="1">
                                      <a:latin typeface="Cambria Math" panose="02040503050406030204" pitchFamily="18" charset="0"/>
                                    </a:rPr>
                                    <m:t>𝑘</m:t>
                                  </m:r>
                                </m:e>
                                <m:sup>
                                  <m:r>
                                    <a:rPr lang="en-US" sz="1050" i="1">
                                      <a:latin typeface="Cambria Math" panose="02040503050406030204" pitchFamily="18" charset="0"/>
                                    </a:rPr>
                                    <m:t>′</m:t>
                                  </m:r>
                                </m:sup>
                              </m:sSup>
                            </m:sub>
                            <m:sup/>
                            <m:e>
                              <m:sSub>
                                <m:sSubPr>
                                  <m:ctrlPr>
                                    <a:rPr lang="en-US" sz="1050" i="1">
                                      <a:latin typeface="Cambria Math" panose="02040503050406030204" pitchFamily="18" charset="0"/>
                                    </a:rPr>
                                  </m:ctrlPr>
                                </m:sSubPr>
                                <m:e>
                                  <m:r>
                                    <a:rPr lang="en-US" sz="1050" i="1">
                                      <a:latin typeface="Cambria Math" panose="02040503050406030204" pitchFamily="18" charset="0"/>
                                      <a:ea typeface="Cambria Math" panose="02040503050406030204" pitchFamily="18" charset="0"/>
                                    </a:rPr>
                                    <m:t>𝛼</m:t>
                                  </m:r>
                                </m:e>
                                <m:sub>
                                  <m:r>
                                    <a:rPr lang="en-US" sz="1050" i="1">
                                      <a:latin typeface="Cambria Math" panose="02040503050406030204" pitchFamily="18" charset="0"/>
                                    </a:rPr>
                                    <m:t>𝑡</m:t>
                                  </m:r>
                                </m:sub>
                              </m:sSub>
                              <m:d>
                                <m:dPr>
                                  <m:ctrlPr>
                                    <a:rPr lang="en-US" sz="1050" i="1">
                                      <a:latin typeface="Cambria Math" panose="02040503050406030204" pitchFamily="18" charset="0"/>
                                    </a:rPr>
                                  </m:ctrlPr>
                                </m:dPr>
                                <m:e>
                                  <m:sSup>
                                    <m:sSupPr>
                                      <m:ctrlPr>
                                        <a:rPr lang="en-US" sz="1050" i="1">
                                          <a:latin typeface="Cambria Math" panose="02040503050406030204" pitchFamily="18" charset="0"/>
                                        </a:rPr>
                                      </m:ctrlPr>
                                    </m:sSupPr>
                                    <m:e>
                                      <m:r>
                                        <a:rPr lang="en-US" sz="1050" i="1">
                                          <a:latin typeface="Cambria Math" panose="02040503050406030204" pitchFamily="18" charset="0"/>
                                        </a:rPr>
                                        <m:t>𝑘</m:t>
                                      </m:r>
                                    </m:e>
                                    <m:sup>
                                      <m:r>
                                        <a:rPr lang="en-US" sz="1050" i="1">
                                          <a:latin typeface="Cambria Math" panose="02040503050406030204" pitchFamily="18" charset="0"/>
                                        </a:rPr>
                                        <m:t>′</m:t>
                                      </m:r>
                                    </m:sup>
                                  </m:sSup>
                                </m:e>
                              </m:d>
                              <m:r>
                                <a:rPr lang="en-US" sz="1050" i="1">
                                  <a:latin typeface="Cambria Math" panose="02040503050406030204" pitchFamily="18" charset="0"/>
                                  <a:ea typeface="Cambria Math" panose="02040503050406030204" pitchFamily="18" charset="0"/>
                                </a:rPr>
                                <m:t>∙</m:t>
                              </m:r>
                              <m:sSub>
                                <m:sSubPr>
                                  <m:ctrlPr>
                                    <a:rPr lang="en-US" sz="1050" i="1">
                                      <a:latin typeface="Cambria Math" panose="02040503050406030204" pitchFamily="18" charset="0"/>
                                    </a:rPr>
                                  </m:ctrlPr>
                                </m:sSubPr>
                                <m:e>
                                  <m:r>
                                    <a:rPr lang="en-US" sz="1050" i="1">
                                      <a:latin typeface="Cambria Math" panose="02040503050406030204" pitchFamily="18" charset="0"/>
                                      <a:ea typeface="Cambria Math" panose="02040503050406030204" pitchFamily="18" charset="0"/>
                                    </a:rPr>
                                    <m:t>𝛽</m:t>
                                  </m:r>
                                </m:e>
                                <m:sub>
                                  <m:r>
                                    <a:rPr lang="en-US" sz="1050" i="1">
                                      <a:latin typeface="Cambria Math" panose="02040503050406030204" pitchFamily="18" charset="0"/>
                                    </a:rPr>
                                    <m:t>𝑡</m:t>
                                  </m:r>
                                </m:sub>
                              </m:sSub>
                              <m:d>
                                <m:dPr>
                                  <m:ctrlPr>
                                    <a:rPr lang="en-US" sz="1050" i="1">
                                      <a:latin typeface="Cambria Math" panose="02040503050406030204" pitchFamily="18" charset="0"/>
                                    </a:rPr>
                                  </m:ctrlPr>
                                </m:dPr>
                                <m:e>
                                  <m:sSup>
                                    <m:sSupPr>
                                      <m:ctrlPr>
                                        <a:rPr lang="en-US" sz="1050" i="1">
                                          <a:latin typeface="Cambria Math" panose="02040503050406030204" pitchFamily="18" charset="0"/>
                                        </a:rPr>
                                      </m:ctrlPr>
                                    </m:sSupPr>
                                    <m:e>
                                      <m:r>
                                        <a:rPr lang="en-US" sz="1050" i="1">
                                          <a:latin typeface="Cambria Math" panose="02040503050406030204" pitchFamily="18" charset="0"/>
                                        </a:rPr>
                                        <m:t>𝑘</m:t>
                                      </m:r>
                                    </m:e>
                                    <m:sup>
                                      <m:r>
                                        <a:rPr lang="en-US" sz="1050" i="1">
                                          <a:latin typeface="Cambria Math" panose="02040503050406030204" pitchFamily="18" charset="0"/>
                                        </a:rPr>
                                        <m:t>′</m:t>
                                      </m:r>
                                    </m:sup>
                                  </m:sSup>
                                </m:e>
                              </m:d>
                            </m:e>
                          </m:nary>
                        </m:den>
                      </m:f>
                    </m:oMath>
                  </m:oMathPara>
                </a14:m>
                <a:endParaRPr lang="en-US" sz="1050" dirty="0"/>
              </a:p>
            </p:txBody>
          </p:sp>
        </mc:Choice>
        <mc:Fallback xmlns="">
          <p:sp>
            <p:nvSpPr>
              <p:cNvPr id="106" name="TextBox 105">
                <a:extLst>
                  <a:ext uri="{FF2B5EF4-FFF2-40B4-BE49-F238E27FC236}">
                    <a16:creationId xmlns:a16="http://schemas.microsoft.com/office/drawing/2014/main" id="{07143B5E-4AAA-70BE-EE1A-EE11B6CCCC02}"/>
                  </a:ext>
                </a:extLst>
              </p:cNvPr>
              <p:cNvSpPr txBox="1">
                <a:spLocks noRot="1" noChangeAspect="1" noMove="1" noResize="1" noEditPoints="1" noAdjustHandles="1" noChangeArrowheads="1" noChangeShapeType="1" noTextEdit="1"/>
              </p:cNvSpPr>
              <p:nvPr/>
            </p:nvSpPr>
            <p:spPr>
              <a:xfrm>
                <a:off x="388375" y="5158413"/>
                <a:ext cx="4054348" cy="1890454"/>
              </a:xfrm>
              <a:prstGeom prst="rect">
                <a:avLst/>
              </a:prstGeom>
              <a:blipFill>
                <a:blip r:embed="rId20"/>
                <a:stretch>
                  <a:fillRect t="-15436" b="-19463"/>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3082625E-9CC2-AE0F-FB0E-C6E3B7034414}"/>
              </a:ext>
            </a:extLst>
          </p:cNvPr>
          <p:cNvGrpSpPr/>
          <p:nvPr/>
        </p:nvGrpSpPr>
        <p:grpSpPr>
          <a:xfrm>
            <a:off x="559509" y="7323874"/>
            <a:ext cx="3712081" cy="1051172"/>
            <a:chOff x="598934" y="7323874"/>
            <a:chExt cx="3712081" cy="1051172"/>
          </a:xfrm>
        </p:grpSpPr>
        <p:cxnSp>
          <p:nvCxnSpPr>
            <p:cNvPr id="108" name="Straight Arrow Connector 107">
              <a:extLst>
                <a:ext uri="{FF2B5EF4-FFF2-40B4-BE49-F238E27FC236}">
                  <a16:creationId xmlns:a16="http://schemas.microsoft.com/office/drawing/2014/main" id="{6872CFCA-884F-EE8B-AA40-61C0B9E7311C}"/>
                </a:ext>
              </a:extLst>
            </p:cNvPr>
            <p:cNvCxnSpPr>
              <a:cxnSpLocks/>
            </p:cNvCxnSpPr>
            <p:nvPr/>
          </p:nvCxnSpPr>
          <p:spPr>
            <a:xfrm>
              <a:off x="677496" y="7574393"/>
              <a:ext cx="3633519" cy="0"/>
            </a:xfrm>
            <a:prstGeom prst="straightConnector1">
              <a:avLst/>
            </a:prstGeom>
            <a:ln w="190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7DBB1D26-B16C-090C-1DEE-A63DE539A8CB}"/>
                </a:ext>
              </a:extLst>
            </p:cNvPr>
            <p:cNvSpPr txBox="1"/>
            <p:nvPr/>
          </p:nvSpPr>
          <p:spPr>
            <a:xfrm>
              <a:off x="2203633" y="7533347"/>
              <a:ext cx="227948" cy="246221"/>
            </a:xfrm>
            <a:prstGeom prst="rect">
              <a:avLst/>
            </a:prstGeom>
            <a:noFill/>
          </p:spPr>
          <p:txBody>
            <a:bodyPr wrap="none" rtlCol="0">
              <a:spAutoFit/>
            </a:bodyPr>
            <a:lstStyle/>
            <a:p>
              <a:r>
                <a:rPr lang="en-US" sz="1000" dirty="0"/>
                <a:t>t</a:t>
              </a:r>
            </a:p>
          </p:txBody>
        </p:sp>
        <p:cxnSp>
          <p:nvCxnSpPr>
            <p:cNvPr id="112" name="Straight Connector 111">
              <a:extLst>
                <a:ext uri="{FF2B5EF4-FFF2-40B4-BE49-F238E27FC236}">
                  <a16:creationId xmlns:a16="http://schemas.microsoft.com/office/drawing/2014/main" id="{1CA6544F-91BB-111E-4D82-7B5E778B37A4}"/>
                </a:ext>
              </a:extLst>
            </p:cNvPr>
            <p:cNvCxnSpPr>
              <a:cxnSpLocks/>
            </p:cNvCxnSpPr>
            <p:nvPr/>
          </p:nvCxnSpPr>
          <p:spPr>
            <a:xfrm>
              <a:off x="2309838" y="7472047"/>
              <a:ext cx="0" cy="89534"/>
            </a:xfrm>
            <a:prstGeom prst="line">
              <a:avLst/>
            </a:prstGeom>
            <a:ln w="127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6FAF1F8F-CA33-E910-DF42-2427454C6146}"/>
                </a:ext>
              </a:extLst>
            </p:cNvPr>
            <p:cNvSpPr txBox="1"/>
            <p:nvPr/>
          </p:nvSpPr>
          <p:spPr>
            <a:xfrm>
              <a:off x="962063" y="7323874"/>
              <a:ext cx="1314784" cy="261610"/>
            </a:xfrm>
            <a:prstGeom prst="rect">
              <a:avLst/>
            </a:prstGeom>
            <a:noFill/>
          </p:spPr>
          <p:txBody>
            <a:bodyPr wrap="none" rtlCol="0">
              <a:spAutoFit/>
            </a:bodyPr>
            <a:lstStyle/>
            <a:p>
              <a:r>
                <a:rPr lang="en-US" sz="1100" dirty="0"/>
                <a:t>Forward probability</a:t>
              </a:r>
            </a:p>
          </p:txBody>
        </p:sp>
        <p:sp>
          <p:nvSpPr>
            <p:cNvPr id="116" name="TextBox 115">
              <a:extLst>
                <a:ext uri="{FF2B5EF4-FFF2-40B4-BE49-F238E27FC236}">
                  <a16:creationId xmlns:a16="http://schemas.microsoft.com/office/drawing/2014/main" id="{F3BD65EC-1B13-EE96-0202-738DF8BCA43F}"/>
                </a:ext>
              </a:extLst>
            </p:cNvPr>
            <p:cNvSpPr txBox="1"/>
            <p:nvPr/>
          </p:nvSpPr>
          <p:spPr>
            <a:xfrm>
              <a:off x="2517142" y="7323874"/>
              <a:ext cx="1394934" cy="261610"/>
            </a:xfrm>
            <a:prstGeom prst="rect">
              <a:avLst/>
            </a:prstGeom>
            <a:noFill/>
          </p:spPr>
          <p:txBody>
            <a:bodyPr wrap="none" rtlCol="0">
              <a:spAutoFit/>
            </a:bodyPr>
            <a:lstStyle/>
            <a:p>
              <a:r>
                <a:rPr lang="en-US" sz="1100" dirty="0"/>
                <a:t>Backward probability</a:t>
              </a:r>
            </a:p>
          </p:txBody>
        </p:sp>
        <p:cxnSp>
          <p:nvCxnSpPr>
            <p:cNvPr id="117" name="Straight Connector 116">
              <a:extLst>
                <a:ext uri="{FF2B5EF4-FFF2-40B4-BE49-F238E27FC236}">
                  <a16:creationId xmlns:a16="http://schemas.microsoft.com/office/drawing/2014/main" id="{B118CA32-CEDE-7957-7D48-226302A6AA59}"/>
                </a:ext>
              </a:extLst>
            </p:cNvPr>
            <p:cNvCxnSpPr>
              <a:cxnSpLocks/>
            </p:cNvCxnSpPr>
            <p:nvPr/>
          </p:nvCxnSpPr>
          <p:spPr>
            <a:xfrm>
              <a:off x="721713" y="7469275"/>
              <a:ext cx="0" cy="95079"/>
            </a:xfrm>
            <a:prstGeom prst="line">
              <a:avLst/>
            </a:prstGeom>
            <a:ln w="127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BA609E9-6451-362C-35B4-12A095029A87}"/>
                </a:ext>
              </a:extLst>
            </p:cNvPr>
            <p:cNvCxnSpPr>
              <a:cxnSpLocks/>
            </p:cNvCxnSpPr>
            <p:nvPr/>
          </p:nvCxnSpPr>
          <p:spPr>
            <a:xfrm>
              <a:off x="4181381" y="7469275"/>
              <a:ext cx="0" cy="95079"/>
            </a:xfrm>
            <a:prstGeom prst="line">
              <a:avLst/>
            </a:prstGeom>
            <a:ln w="127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93E001A7-7919-0E8B-5C8C-6F0901322C93}"/>
                </a:ext>
              </a:extLst>
            </p:cNvPr>
            <p:cNvSpPr txBox="1"/>
            <p:nvPr/>
          </p:nvSpPr>
          <p:spPr>
            <a:xfrm>
              <a:off x="598934" y="7533347"/>
              <a:ext cx="250390" cy="246221"/>
            </a:xfrm>
            <a:prstGeom prst="rect">
              <a:avLst/>
            </a:prstGeom>
            <a:noFill/>
          </p:spPr>
          <p:txBody>
            <a:bodyPr wrap="none" rtlCol="0">
              <a:spAutoFit/>
            </a:bodyPr>
            <a:lstStyle/>
            <a:p>
              <a:r>
                <a:rPr lang="en-US" sz="1000" dirty="0"/>
                <a:t>1</a:t>
              </a:r>
            </a:p>
          </p:txBody>
        </p:sp>
        <p:sp>
          <p:nvSpPr>
            <p:cNvPr id="120" name="TextBox 119">
              <a:extLst>
                <a:ext uri="{FF2B5EF4-FFF2-40B4-BE49-F238E27FC236}">
                  <a16:creationId xmlns:a16="http://schemas.microsoft.com/office/drawing/2014/main" id="{E23550FC-F9D0-FA7B-9644-494673BA3B92}"/>
                </a:ext>
              </a:extLst>
            </p:cNvPr>
            <p:cNvSpPr txBox="1"/>
            <p:nvPr/>
          </p:nvSpPr>
          <p:spPr>
            <a:xfrm>
              <a:off x="4063831" y="7533347"/>
              <a:ext cx="247184" cy="246221"/>
            </a:xfrm>
            <a:prstGeom prst="rect">
              <a:avLst/>
            </a:prstGeom>
            <a:noFill/>
          </p:spPr>
          <p:txBody>
            <a:bodyPr wrap="none" rtlCol="0">
              <a:spAutoFit/>
            </a:bodyPr>
            <a:lstStyle/>
            <a:p>
              <a:r>
                <a:rPr lang="en-US" sz="1000" dirty="0"/>
                <a:t>T</a:t>
              </a:r>
            </a:p>
          </p:txBody>
        </p:sp>
        <p:sp>
          <p:nvSpPr>
            <p:cNvPr id="121" name="Left Brace 120">
              <a:extLst>
                <a:ext uri="{FF2B5EF4-FFF2-40B4-BE49-F238E27FC236}">
                  <a16:creationId xmlns:a16="http://schemas.microsoft.com/office/drawing/2014/main" id="{EA0F9968-5CCE-E36D-434D-53335FD27B14}"/>
                </a:ext>
              </a:extLst>
            </p:cNvPr>
            <p:cNvSpPr/>
            <p:nvPr/>
          </p:nvSpPr>
          <p:spPr>
            <a:xfrm rot="16200000">
              <a:off x="1450709" y="7088246"/>
              <a:ext cx="177444" cy="1522746"/>
            </a:xfrm>
            <a:prstGeom prst="leftBrac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2" name="Left Brace 121">
              <a:extLst>
                <a:ext uri="{FF2B5EF4-FFF2-40B4-BE49-F238E27FC236}">
                  <a16:creationId xmlns:a16="http://schemas.microsoft.com/office/drawing/2014/main" id="{E25667FD-A5C5-83D9-1EB1-F0A70C2B3A33}"/>
                </a:ext>
              </a:extLst>
            </p:cNvPr>
            <p:cNvSpPr/>
            <p:nvPr/>
          </p:nvSpPr>
          <p:spPr>
            <a:xfrm rot="16200000">
              <a:off x="3152612" y="6924777"/>
              <a:ext cx="177444" cy="1849683"/>
            </a:xfrm>
            <a:prstGeom prst="leftBrac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3" name="TextBox 122">
              <a:extLst>
                <a:ext uri="{FF2B5EF4-FFF2-40B4-BE49-F238E27FC236}">
                  <a16:creationId xmlns:a16="http://schemas.microsoft.com/office/drawing/2014/main" id="{4EABFAA4-7314-7039-77E7-87E91E585B66}"/>
                </a:ext>
              </a:extLst>
            </p:cNvPr>
            <p:cNvSpPr txBox="1"/>
            <p:nvPr/>
          </p:nvSpPr>
          <p:spPr>
            <a:xfrm>
              <a:off x="890856" y="7913381"/>
              <a:ext cx="1297150" cy="461665"/>
            </a:xfrm>
            <a:prstGeom prst="rect">
              <a:avLst/>
            </a:prstGeom>
            <a:noFill/>
          </p:spPr>
          <p:txBody>
            <a:bodyPr wrap="none" rtlCol="0">
              <a:spAutoFit/>
            </a:bodyPr>
            <a:lstStyle/>
            <a:p>
              <a:pPr algn="ctr"/>
              <a:r>
                <a:rPr lang="en-US" sz="1200" dirty="0"/>
                <a:t>Information from </a:t>
              </a:r>
            </a:p>
            <a:p>
              <a:pPr algn="ctr"/>
              <a:r>
                <a:rPr lang="en-US" sz="1200" b="1" dirty="0"/>
                <a:t>past</a:t>
              </a:r>
              <a:r>
                <a:rPr lang="en-US" sz="1200" dirty="0"/>
                <a:t> observations</a:t>
              </a:r>
            </a:p>
          </p:txBody>
        </p:sp>
        <p:sp>
          <p:nvSpPr>
            <p:cNvPr id="124" name="TextBox 123">
              <a:extLst>
                <a:ext uri="{FF2B5EF4-FFF2-40B4-BE49-F238E27FC236}">
                  <a16:creationId xmlns:a16="http://schemas.microsoft.com/office/drawing/2014/main" id="{870E72CC-3075-F1F7-5EE1-5DD86984F05A}"/>
                </a:ext>
              </a:extLst>
            </p:cNvPr>
            <p:cNvSpPr txBox="1"/>
            <p:nvPr/>
          </p:nvSpPr>
          <p:spPr>
            <a:xfrm>
              <a:off x="2537584" y="7913381"/>
              <a:ext cx="1407501" cy="461665"/>
            </a:xfrm>
            <a:prstGeom prst="rect">
              <a:avLst/>
            </a:prstGeom>
            <a:noFill/>
          </p:spPr>
          <p:txBody>
            <a:bodyPr wrap="none" rtlCol="0">
              <a:spAutoFit/>
            </a:bodyPr>
            <a:lstStyle/>
            <a:p>
              <a:pPr algn="ctr"/>
              <a:r>
                <a:rPr lang="en-US" sz="1200" dirty="0"/>
                <a:t>Information from </a:t>
              </a:r>
            </a:p>
            <a:p>
              <a:pPr algn="ctr"/>
              <a:r>
                <a:rPr lang="en-US" sz="1200" b="1" dirty="0"/>
                <a:t>future</a:t>
              </a:r>
              <a:r>
                <a:rPr lang="en-US" sz="1200" dirty="0"/>
                <a:t> observations</a:t>
              </a:r>
            </a:p>
          </p:txBody>
        </p:sp>
        <p:sp>
          <p:nvSpPr>
            <p:cNvPr id="125" name="Right Arrow 124">
              <a:extLst>
                <a:ext uri="{FF2B5EF4-FFF2-40B4-BE49-F238E27FC236}">
                  <a16:creationId xmlns:a16="http://schemas.microsoft.com/office/drawing/2014/main" id="{6F1498CD-491C-CF7D-FB87-CEA7D23D9889}"/>
                </a:ext>
              </a:extLst>
            </p:cNvPr>
            <p:cNvSpPr/>
            <p:nvPr/>
          </p:nvSpPr>
          <p:spPr>
            <a:xfrm>
              <a:off x="1539431" y="7633598"/>
              <a:ext cx="656524" cy="45719"/>
            </a:xfrm>
            <a:prstGeom prst="rightArrow">
              <a:avLst/>
            </a:prstGeom>
            <a:solidFill>
              <a:schemeClr val="accent2">
                <a:lumMod val="40000"/>
                <a:lumOff val="60000"/>
              </a:schemeClr>
            </a:solidFill>
            <a:ln>
              <a:solidFill>
                <a:schemeClr val="accent2">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6" name="Right Arrow 125">
              <a:extLst>
                <a:ext uri="{FF2B5EF4-FFF2-40B4-BE49-F238E27FC236}">
                  <a16:creationId xmlns:a16="http://schemas.microsoft.com/office/drawing/2014/main" id="{7BF35BCC-6F89-B874-CC82-E2A6F299111F}"/>
                </a:ext>
              </a:extLst>
            </p:cNvPr>
            <p:cNvSpPr/>
            <p:nvPr/>
          </p:nvSpPr>
          <p:spPr>
            <a:xfrm rot="10800000">
              <a:off x="2439259" y="7633598"/>
              <a:ext cx="656524" cy="45719"/>
            </a:xfrm>
            <a:prstGeom prst="rightArrow">
              <a:avLst/>
            </a:prstGeom>
            <a:solidFill>
              <a:schemeClr val="accent2">
                <a:lumMod val="40000"/>
                <a:lumOff val="60000"/>
              </a:schemeClr>
            </a:solidFill>
            <a:ln>
              <a:solidFill>
                <a:schemeClr val="accent2">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grpSp>
      <p:graphicFrame>
        <p:nvGraphicFramePr>
          <p:cNvPr id="129" name="Table 128">
            <a:extLst>
              <a:ext uri="{FF2B5EF4-FFF2-40B4-BE49-F238E27FC236}">
                <a16:creationId xmlns:a16="http://schemas.microsoft.com/office/drawing/2014/main" id="{98252CF9-B58C-9152-CF6F-04B023F11F7F}"/>
              </a:ext>
            </a:extLst>
          </p:cNvPr>
          <p:cNvGraphicFramePr>
            <a:graphicFrameLocks noGrp="1"/>
          </p:cNvGraphicFramePr>
          <p:nvPr>
            <p:extLst>
              <p:ext uri="{D42A27DB-BD31-4B8C-83A1-F6EECF244321}">
                <p14:modId xmlns:p14="http://schemas.microsoft.com/office/powerpoint/2010/main" val="2342255686"/>
              </p:ext>
            </p:extLst>
          </p:nvPr>
        </p:nvGraphicFramePr>
        <p:xfrm>
          <a:off x="5049874" y="5191690"/>
          <a:ext cx="3401321" cy="3095222"/>
        </p:xfrm>
        <a:graphic>
          <a:graphicData uri="http://schemas.openxmlformats.org/drawingml/2006/table">
            <a:tbl>
              <a:tblPr firstRow="1" bandRow="1">
                <a:tableStyleId>{5C22544A-7EE6-4342-B048-85BDC9FD1C3A}</a:tableStyleId>
              </a:tblPr>
              <a:tblGrid>
                <a:gridCol w="923602">
                  <a:extLst>
                    <a:ext uri="{9D8B030D-6E8A-4147-A177-3AD203B41FA5}">
                      <a16:colId xmlns:a16="http://schemas.microsoft.com/office/drawing/2014/main" val="4092185816"/>
                    </a:ext>
                  </a:extLst>
                </a:gridCol>
                <a:gridCol w="1143559">
                  <a:extLst>
                    <a:ext uri="{9D8B030D-6E8A-4147-A177-3AD203B41FA5}">
                      <a16:colId xmlns:a16="http://schemas.microsoft.com/office/drawing/2014/main" val="2188030466"/>
                    </a:ext>
                  </a:extLst>
                </a:gridCol>
                <a:gridCol w="1334160">
                  <a:extLst>
                    <a:ext uri="{9D8B030D-6E8A-4147-A177-3AD203B41FA5}">
                      <a16:colId xmlns:a16="http://schemas.microsoft.com/office/drawing/2014/main" val="4148955299"/>
                    </a:ext>
                  </a:extLst>
                </a:gridCol>
              </a:tblGrid>
              <a:tr h="471558">
                <a:tc>
                  <a:txBody>
                    <a:bodyPr/>
                    <a:lstStyle/>
                    <a:p>
                      <a:pPr algn="ctr"/>
                      <a:endParaRPr lang="en-US" sz="1200" dirty="0"/>
                    </a:p>
                  </a:txBody>
                  <a:tcPr anchor="ctr"/>
                </a:tc>
                <a:tc>
                  <a:txBody>
                    <a:bodyPr/>
                    <a:lstStyle/>
                    <a:p>
                      <a:pPr algn="ctr"/>
                      <a:r>
                        <a:rPr lang="en-US" sz="1200" b="1" dirty="0"/>
                        <a:t>Local Ancestry Inference</a:t>
                      </a:r>
                    </a:p>
                  </a:txBody>
                  <a:tcPr anchor="ctr"/>
                </a:tc>
                <a:tc>
                  <a:txBody>
                    <a:bodyPr/>
                    <a:lstStyle/>
                    <a:p>
                      <a:pPr algn="ctr"/>
                      <a:r>
                        <a:rPr lang="en-US" sz="1200" b="1" dirty="0"/>
                        <a:t>Genotype imputation</a:t>
                      </a:r>
                    </a:p>
                  </a:txBody>
                  <a:tcPr anchor="ctr"/>
                </a:tc>
                <a:extLst>
                  <a:ext uri="{0D108BD9-81ED-4DB2-BD59-A6C34878D82A}">
                    <a16:rowId xmlns:a16="http://schemas.microsoft.com/office/drawing/2014/main" val="812406041"/>
                  </a:ext>
                </a:extLst>
              </a:tr>
              <a:tr h="691701">
                <a:tc>
                  <a:txBody>
                    <a:bodyPr/>
                    <a:lstStyle/>
                    <a:p>
                      <a:pPr algn="ctr"/>
                      <a:r>
                        <a:rPr lang="en-US" sz="1200" b="1" dirty="0"/>
                        <a:t>What’s hidden?</a:t>
                      </a:r>
                    </a:p>
                  </a:txBody>
                  <a:tcPr anchor="ctr"/>
                </a:tc>
                <a:tc>
                  <a:txBody>
                    <a:bodyPr/>
                    <a:lstStyle/>
                    <a:p>
                      <a:pPr algn="ctr"/>
                      <a:r>
                        <a:rPr lang="en-US" sz="1200" dirty="0"/>
                        <a:t>Population ancestry</a:t>
                      </a:r>
                    </a:p>
                  </a:txBody>
                  <a:tcPr anchor="ctr"/>
                </a:tc>
                <a:tc>
                  <a:txBody>
                    <a:bodyPr/>
                    <a:lstStyle/>
                    <a:p>
                      <a:pPr algn="ctr"/>
                      <a:r>
                        <a:rPr lang="en-US" sz="1200" b="0" i="0" u="none" strike="noStrike" kern="1200" dirty="0">
                          <a:solidFill>
                            <a:schemeClr val="dk1"/>
                          </a:solidFill>
                          <a:effectLst/>
                          <a:latin typeface="+mn-lt"/>
                          <a:ea typeface="+mn-ea"/>
                          <a:cs typeface="+mn-cs"/>
                        </a:rPr>
                        <a:t>Reference haplotype</a:t>
                      </a:r>
                      <a:endParaRPr lang="en-US" sz="1200" dirty="0"/>
                    </a:p>
                  </a:txBody>
                  <a:tcPr anchor="ctr"/>
                </a:tc>
                <a:extLst>
                  <a:ext uri="{0D108BD9-81ED-4DB2-BD59-A6C34878D82A}">
                    <a16:rowId xmlns:a16="http://schemas.microsoft.com/office/drawing/2014/main" val="2743661216"/>
                  </a:ext>
                </a:extLst>
              </a:tr>
              <a:tr h="691701">
                <a:tc>
                  <a:txBody>
                    <a:bodyPr/>
                    <a:lstStyle/>
                    <a:p>
                      <a:pPr algn="ctr"/>
                      <a:r>
                        <a:rPr lang="en-US" sz="1200" b="1" dirty="0"/>
                        <a:t>What’s observed?</a:t>
                      </a:r>
                    </a:p>
                  </a:txBody>
                  <a:tcPr anchor="ctr"/>
                </a:tc>
                <a:tc>
                  <a:txBody>
                    <a:bodyPr/>
                    <a:lstStyle/>
                    <a:p>
                      <a:pPr algn="ctr"/>
                      <a:r>
                        <a:rPr lang="en-US" sz="1200" dirty="0"/>
                        <a:t>All genotypes</a:t>
                      </a:r>
                    </a:p>
                  </a:txBody>
                  <a:tcPr anchor="ctr"/>
                </a:tc>
                <a:tc>
                  <a:txBody>
                    <a:bodyPr/>
                    <a:lstStyle/>
                    <a:p>
                      <a:pPr algn="ctr"/>
                      <a:r>
                        <a:rPr lang="en-US" sz="1200" dirty="0"/>
                        <a:t>Subset of genotypes</a:t>
                      </a:r>
                    </a:p>
                  </a:txBody>
                  <a:tcPr anchor="ctr"/>
                </a:tc>
                <a:extLst>
                  <a:ext uri="{0D108BD9-81ED-4DB2-BD59-A6C34878D82A}">
                    <a16:rowId xmlns:a16="http://schemas.microsoft.com/office/drawing/2014/main" val="3048764763"/>
                  </a:ext>
                </a:extLst>
              </a:tr>
              <a:tr h="620131">
                <a:tc>
                  <a:txBody>
                    <a:bodyPr/>
                    <a:lstStyle/>
                    <a:p>
                      <a:pPr algn="ctr"/>
                      <a:r>
                        <a:rPr lang="en-US" sz="1200" b="1" dirty="0"/>
                        <a:t>What do we infer?</a:t>
                      </a:r>
                    </a:p>
                  </a:txBody>
                  <a:tcPr anchor="ctr"/>
                </a:tc>
                <a:tc>
                  <a:txBody>
                    <a:bodyPr/>
                    <a:lstStyle/>
                    <a:p>
                      <a:pPr algn="ctr"/>
                      <a:r>
                        <a:rPr lang="en-US" sz="1200" dirty="0"/>
                        <a:t>Ancestry labels for variants</a:t>
                      </a:r>
                    </a:p>
                  </a:txBody>
                  <a:tcPr anchor="ctr"/>
                </a:tc>
                <a:tc>
                  <a:txBody>
                    <a:bodyPr/>
                    <a:lstStyle/>
                    <a:p>
                      <a:pPr algn="ctr"/>
                      <a:r>
                        <a:rPr lang="en-US" sz="1200" dirty="0"/>
                        <a:t>Missing genotypes</a:t>
                      </a:r>
                    </a:p>
                  </a:txBody>
                  <a:tcPr anchor="ctr"/>
                </a:tc>
                <a:extLst>
                  <a:ext uri="{0D108BD9-81ED-4DB2-BD59-A6C34878D82A}">
                    <a16:rowId xmlns:a16="http://schemas.microsoft.com/office/drawing/2014/main" val="2439996053"/>
                  </a:ext>
                </a:extLst>
              </a:tr>
              <a:tr h="620131">
                <a:tc>
                  <a:txBody>
                    <a:bodyPr/>
                    <a:lstStyle/>
                    <a:p>
                      <a:pPr algn="ctr"/>
                      <a:r>
                        <a:rPr lang="en-US" sz="1200" b="1" i="0" u="none" strike="noStrike" kern="1200" dirty="0">
                          <a:solidFill>
                            <a:schemeClr val="dk1"/>
                          </a:solidFill>
                          <a:effectLst/>
                          <a:latin typeface="+mn-lt"/>
                          <a:ea typeface="+mn-ea"/>
                          <a:cs typeface="+mn-cs"/>
                        </a:rPr>
                        <a:t>Reference panel</a:t>
                      </a:r>
                      <a:endParaRPr lang="en-US" sz="1200" b="1" dirty="0"/>
                    </a:p>
                  </a:txBody>
                  <a:tcPr anchor="ctr"/>
                </a:tc>
                <a:tc>
                  <a:txBody>
                    <a:bodyPr/>
                    <a:lstStyle/>
                    <a:p>
                      <a:pPr algn="ctr"/>
                      <a:r>
                        <a:rPr lang="en-US" sz="1200" dirty="0"/>
                        <a:t>From ancestral populations</a:t>
                      </a:r>
                    </a:p>
                  </a:txBody>
                  <a:tcPr anchor="ctr"/>
                </a:tc>
                <a:tc>
                  <a:txBody>
                    <a:bodyPr/>
                    <a:lstStyle/>
                    <a:p>
                      <a:pPr algn="ctr"/>
                      <a:r>
                        <a:rPr lang="en-US" sz="1200" b="0" i="0" u="none" strike="noStrike" kern="1200" dirty="0">
                          <a:solidFill>
                            <a:schemeClr val="dk1"/>
                          </a:solidFill>
                          <a:effectLst/>
                          <a:latin typeface="+mn-lt"/>
                          <a:ea typeface="+mn-ea"/>
                          <a:cs typeface="+mn-cs"/>
                        </a:rPr>
                        <a:t>From same population</a:t>
                      </a:r>
                      <a:endParaRPr lang="en-US" sz="1200" dirty="0"/>
                    </a:p>
                  </a:txBody>
                  <a:tcPr anchor="ctr"/>
                </a:tc>
                <a:extLst>
                  <a:ext uri="{0D108BD9-81ED-4DB2-BD59-A6C34878D82A}">
                    <a16:rowId xmlns:a16="http://schemas.microsoft.com/office/drawing/2014/main" val="2532904907"/>
                  </a:ext>
                </a:extLst>
              </a:tr>
            </a:tbl>
          </a:graphicData>
        </a:graphic>
      </p:graphicFrame>
    </p:spTree>
    <p:extLst>
      <p:ext uri="{BB962C8B-B14F-4D97-AF65-F5344CB8AC3E}">
        <p14:creationId xmlns:p14="http://schemas.microsoft.com/office/powerpoint/2010/main" val="865749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10239</TotalTime>
  <Words>5656</Words>
  <Application>Microsoft Macintosh PowerPoint</Application>
  <PresentationFormat>Custom</PresentationFormat>
  <Paragraphs>1171</Paragraphs>
  <Slides>32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Cambria Math</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Rui Dong</dc:creator>
  <cp:lastModifiedBy>Rui Dong</cp:lastModifiedBy>
  <cp:revision>527</cp:revision>
  <cp:lastPrinted>2025-12-28T20:39:40Z</cp:lastPrinted>
  <dcterms:created xsi:type="dcterms:W3CDTF">2025-05-31T15:31:52Z</dcterms:created>
  <dcterms:modified xsi:type="dcterms:W3CDTF">2026-03-02T17:05:04Z</dcterms:modified>
</cp:coreProperties>
</file>